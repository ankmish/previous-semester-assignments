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Default Extension="vml" ContentType="application/vnd.openxmlformats-officedocument.vmlDrawing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3">
  <p:sldMasterIdLst>
    <p:sldMasterId id="2147483648" r:id="rId1"/>
  </p:sldMasterIdLst>
  <p:notesMasterIdLst>
    <p:notesMasterId r:id="rId55"/>
  </p:notesMasterIdLst>
  <p:sldIdLst>
    <p:sldId id="256" r:id="rId2"/>
    <p:sldId id="677" r:id="rId3"/>
    <p:sldId id="678" r:id="rId4"/>
    <p:sldId id="679" r:id="rId5"/>
    <p:sldId id="680" r:id="rId6"/>
    <p:sldId id="681" r:id="rId7"/>
    <p:sldId id="682" r:id="rId8"/>
    <p:sldId id="683" r:id="rId9"/>
    <p:sldId id="684" r:id="rId10"/>
    <p:sldId id="685" r:id="rId11"/>
    <p:sldId id="686" r:id="rId12"/>
    <p:sldId id="687" r:id="rId13"/>
    <p:sldId id="688" r:id="rId14"/>
    <p:sldId id="689" r:id="rId15"/>
    <p:sldId id="690" r:id="rId16"/>
    <p:sldId id="691" r:id="rId17"/>
    <p:sldId id="692" r:id="rId18"/>
    <p:sldId id="693" r:id="rId19"/>
    <p:sldId id="694" r:id="rId20"/>
    <p:sldId id="695" r:id="rId21"/>
    <p:sldId id="696" r:id="rId22"/>
    <p:sldId id="697" r:id="rId23"/>
    <p:sldId id="698" r:id="rId24"/>
    <p:sldId id="699" r:id="rId25"/>
    <p:sldId id="700" r:id="rId26"/>
    <p:sldId id="701" r:id="rId27"/>
    <p:sldId id="702" r:id="rId28"/>
    <p:sldId id="703" r:id="rId29"/>
    <p:sldId id="704" r:id="rId30"/>
    <p:sldId id="705" r:id="rId31"/>
    <p:sldId id="706" r:id="rId32"/>
    <p:sldId id="707" r:id="rId33"/>
    <p:sldId id="708" r:id="rId34"/>
    <p:sldId id="709" r:id="rId35"/>
    <p:sldId id="710" r:id="rId36"/>
    <p:sldId id="711" r:id="rId37"/>
    <p:sldId id="712" r:id="rId38"/>
    <p:sldId id="713" r:id="rId39"/>
    <p:sldId id="714" r:id="rId40"/>
    <p:sldId id="715" r:id="rId41"/>
    <p:sldId id="716" r:id="rId42"/>
    <p:sldId id="717" r:id="rId43"/>
    <p:sldId id="718" r:id="rId44"/>
    <p:sldId id="719" r:id="rId45"/>
    <p:sldId id="720" r:id="rId46"/>
    <p:sldId id="721" r:id="rId47"/>
    <p:sldId id="722" r:id="rId48"/>
    <p:sldId id="723" r:id="rId49"/>
    <p:sldId id="724" r:id="rId50"/>
    <p:sldId id="725" r:id="rId51"/>
    <p:sldId id="726" r:id="rId52"/>
    <p:sldId id="727" r:id="rId53"/>
    <p:sldId id="728" r:id="rId5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5619" autoAdjust="0"/>
    <p:restoredTop sz="94709" autoAdjust="0"/>
  </p:normalViewPr>
  <p:slideViewPr>
    <p:cSldViewPr>
      <p:cViewPr>
        <p:scale>
          <a:sx n="66" d="100"/>
          <a:sy n="66" d="100"/>
        </p:scale>
        <p:origin x="-1236" y="-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2672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9DEB3F7B-D41C-4C9D-A514-6E5B97F10D00}" type="datetimeFigureOut">
              <a:rPr lang="en-US"/>
              <a:pPr>
                <a:defRPr/>
              </a:pPr>
              <a:t>3/28/2016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EFBAE4B7-8DA3-4DEE-9383-251B6AEC0DF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CCCAC59-415A-4BB9-89DD-006DA5182797}" type="slidenum">
              <a:rPr lang="en-US"/>
              <a:pPr/>
              <a:t>2</a:t>
            </a:fld>
            <a:endParaRPr lang="en-US"/>
          </a:p>
        </p:txBody>
      </p:sp>
      <p:sp>
        <p:nvSpPr>
          <p:cNvPr id="361474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183" y="4343144"/>
            <a:ext cx="5029635" cy="4115019"/>
          </a:xfrm>
          <a:prstGeom prst="rect">
            <a:avLst/>
          </a:prstGeom>
          <a:noFill/>
          <a:ln w="12700">
            <a:miter lim="800000"/>
            <a:headEnd/>
            <a:tailEnd/>
          </a:ln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361475" name="Rectangle 3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2525" y="692150"/>
            <a:ext cx="4554538" cy="3416300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AD419C0-8946-4CF1-ADB9-56806DB267E4}" type="slidenum">
              <a:rPr lang="en-US"/>
              <a:pPr/>
              <a:t>3</a:t>
            </a:fld>
            <a:endParaRPr lang="en-US"/>
          </a:p>
        </p:txBody>
      </p:sp>
      <p:sp>
        <p:nvSpPr>
          <p:cNvPr id="363522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183" y="4343144"/>
            <a:ext cx="5029635" cy="4115019"/>
          </a:xfrm>
          <a:prstGeom prst="rect">
            <a:avLst/>
          </a:prstGeom>
          <a:noFill/>
          <a:ln w="12700">
            <a:miter lim="800000"/>
            <a:headEnd/>
            <a:tailEnd/>
          </a:ln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363523" name="Rectangle 3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2525" y="692150"/>
            <a:ext cx="4554538" cy="3416300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BB44651-84ED-4D45-9A49-7FCEDB3ED7E3}" type="slidenum">
              <a:rPr lang="en-US"/>
              <a:pPr/>
              <a:t>5</a:t>
            </a:fld>
            <a:endParaRPr lang="en-US"/>
          </a:p>
        </p:txBody>
      </p:sp>
      <p:sp>
        <p:nvSpPr>
          <p:cNvPr id="365570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183" y="4343144"/>
            <a:ext cx="5029635" cy="4115019"/>
          </a:xfrm>
          <a:prstGeom prst="rect">
            <a:avLst/>
          </a:prstGeom>
          <a:noFill/>
          <a:ln w="12700">
            <a:miter lim="800000"/>
            <a:headEnd/>
            <a:tailEnd/>
          </a:ln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365571" name="Rectangle 3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2525" y="692150"/>
            <a:ext cx="4554538" cy="3416300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96B73CA-4EB1-4981-8B11-DF1F05C46A24}" type="slidenum">
              <a:rPr lang="en-US"/>
              <a:pPr/>
              <a:t>6</a:t>
            </a:fld>
            <a:endParaRPr lang="en-US"/>
          </a:p>
        </p:txBody>
      </p:sp>
      <p:sp>
        <p:nvSpPr>
          <p:cNvPr id="367618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183" y="4343144"/>
            <a:ext cx="5029635" cy="4115019"/>
          </a:xfrm>
          <a:prstGeom prst="rect">
            <a:avLst/>
          </a:prstGeom>
          <a:noFill/>
          <a:ln w="12700">
            <a:miter lim="800000"/>
            <a:headEnd/>
            <a:tailEnd/>
          </a:ln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367619" name="Rectangle 3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2525" y="692150"/>
            <a:ext cx="4554538" cy="3416300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8E7BDD6-6E3A-4BB0-B8C1-0F56008FFD7A}" type="slidenum">
              <a:rPr lang="en-US"/>
              <a:pPr/>
              <a:t>9</a:t>
            </a:fld>
            <a:endParaRPr lang="en-US"/>
          </a:p>
        </p:txBody>
      </p:sp>
      <p:sp>
        <p:nvSpPr>
          <p:cNvPr id="36966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183" y="4343144"/>
            <a:ext cx="5029635" cy="4115019"/>
          </a:xfrm>
          <a:prstGeom prst="rect">
            <a:avLst/>
          </a:prstGeom>
          <a:noFill/>
          <a:ln w="12700">
            <a:miter lim="800000"/>
            <a:headEnd/>
            <a:tailEnd/>
          </a:ln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369667" name="Rectangle 3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2525" y="692150"/>
            <a:ext cx="4554538" cy="3416300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C1BDA98-867A-4CF8-A26C-C6E62F6363D4}" type="slidenum">
              <a:rPr lang="en-US"/>
              <a:pPr/>
              <a:t>11</a:t>
            </a:fld>
            <a:endParaRPr lang="en-US"/>
          </a:p>
        </p:txBody>
      </p:sp>
      <p:sp>
        <p:nvSpPr>
          <p:cNvPr id="53251" name="Rectangle 2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0488" tIns="44450" rIns="90488" bIns="44450"/>
          <a:lstStyle/>
          <a:p>
            <a:endParaRPr lang="en-US" smtClean="0"/>
          </a:p>
        </p:txBody>
      </p:sp>
      <p:sp>
        <p:nvSpPr>
          <p:cNvPr id="53252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noFill/>
          <a:ln w="12700" cap="flat">
            <a:solidFill>
              <a:schemeClr val="tx1"/>
            </a:solidFill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C066A409-4220-4F06-94F3-590A0268E54D}" type="slidenum">
              <a:rPr lang="en-US"/>
              <a:pPr/>
              <a:t>12</a:t>
            </a:fld>
            <a:endParaRPr lang="en-US"/>
          </a:p>
        </p:txBody>
      </p:sp>
      <p:sp>
        <p:nvSpPr>
          <p:cNvPr id="54275" name="Rectangle 2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0488" tIns="44450" rIns="90488" bIns="44450"/>
          <a:lstStyle/>
          <a:p>
            <a:endParaRPr lang="en-US" smtClean="0"/>
          </a:p>
        </p:txBody>
      </p:sp>
      <p:sp>
        <p:nvSpPr>
          <p:cNvPr id="54276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noFill/>
          <a:ln w="12700" cap="flat">
            <a:solidFill>
              <a:schemeClr val="tx1"/>
            </a:solidFill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F91D6D61-8A01-4997-8E38-CF1A8438A119}" type="slidenum">
              <a:rPr lang="en-US"/>
              <a:pPr/>
              <a:t>15</a:t>
            </a:fld>
            <a:endParaRPr lang="en-US"/>
          </a:p>
        </p:txBody>
      </p:sp>
      <p:sp>
        <p:nvSpPr>
          <p:cNvPr id="55299" name="Rectangle 2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0488" tIns="44450" rIns="90488" bIns="44450"/>
          <a:lstStyle/>
          <a:p>
            <a:endParaRPr lang="en-US" smtClean="0"/>
          </a:p>
        </p:txBody>
      </p:sp>
      <p:sp>
        <p:nvSpPr>
          <p:cNvPr id="55300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noFill/>
          <a:ln w="12700" cap="flat">
            <a:solidFill>
              <a:schemeClr val="tx1"/>
            </a:solidFill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6A6C1E3F-0664-45BE-845B-441E81419A11}" type="slidenum">
              <a:rPr lang="en-US"/>
              <a:pPr/>
              <a:t>18</a:t>
            </a:fld>
            <a:endParaRPr lang="en-US"/>
          </a:p>
        </p:txBody>
      </p:sp>
      <p:sp>
        <p:nvSpPr>
          <p:cNvPr id="56323" name="Rectangle 2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0488" tIns="44450" rIns="90488" bIns="44450"/>
          <a:lstStyle/>
          <a:p>
            <a:endParaRPr lang="en-US" smtClean="0"/>
          </a:p>
        </p:txBody>
      </p:sp>
      <p:sp>
        <p:nvSpPr>
          <p:cNvPr id="56324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noFill/>
          <a:ln w="12700" cap="flat">
            <a:solidFill>
              <a:schemeClr val="tx1"/>
            </a:solidFill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F378C5C2-CAA2-4F50-87A2-C4047E5C135E}" type="slidenum">
              <a:rPr lang="en-US"/>
              <a:pPr/>
              <a:t>19</a:t>
            </a:fld>
            <a:endParaRPr lang="en-US"/>
          </a:p>
        </p:txBody>
      </p:sp>
      <p:sp>
        <p:nvSpPr>
          <p:cNvPr id="57347" name="Rectangle 2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0488" tIns="44450" rIns="90488" bIns="44450"/>
          <a:lstStyle/>
          <a:p>
            <a:endParaRPr lang="en-US" smtClean="0"/>
          </a:p>
        </p:txBody>
      </p:sp>
      <p:sp>
        <p:nvSpPr>
          <p:cNvPr id="57348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noFill/>
          <a:ln w="12700" cap="flat">
            <a:solidFill>
              <a:schemeClr val="tx1"/>
            </a:solidFill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3496B602-1B79-4BDB-A517-60C86186A1F6}" type="slidenum">
              <a:rPr lang="en-US"/>
              <a:pPr/>
              <a:t>25</a:t>
            </a:fld>
            <a:endParaRPr lang="en-US"/>
          </a:p>
        </p:txBody>
      </p:sp>
      <p:sp>
        <p:nvSpPr>
          <p:cNvPr id="58371" name="Rectangle 2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0488" tIns="44450" rIns="90488" bIns="44450"/>
          <a:lstStyle/>
          <a:p>
            <a:endParaRPr lang="en-US" smtClean="0"/>
          </a:p>
        </p:txBody>
      </p:sp>
      <p:sp>
        <p:nvSpPr>
          <p:cNvPr id="58372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noFill/>
          <a:ln w="12700" cap="flat">
            <a:solidFill>
              <a:schemeClr val="tx1"/>
            </a:solidFill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18BB2C4F-4150-4D29-83A3-5B975CB8D343}" type="slidenum">
              <a:rPr lang="en-US"/>
              <a:pPr/>
              <a:t>26</a:t>
            </a:fld>
            <a:endParaRPr lang="en-US"/>
          </a:p>
        </p:txBody>
      </p:sp>
      <p:sp>
        <p:nvSpPr>
          <p:cNvPr id="59395" name="Rectangle 2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0488" tIns="44450" rIns="90488" bIns="44450"/>
          <a:lstStyle/>
          <a:p>
            <a:endParaRPr lang="en-US" smtClean="0"/>
          </a:p>
        </p:txBody>
      </p:sp>
      <p:sp>
        <p:nvSpPr>
          <p:cNvPr id="59396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noFill/>
          <a:ln w="12700" cap="flat">
            <a:solidFill>
              <a:schemeClr val="tx1"/>
            </a:solidFill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258E747-5D38-4752-A2E3-F46C672907FB}" type="slidenum">
              <a:rPr lang="en-US"/>
              <a:pPr/>
              <a:t>27</a:t>
            </a:fld>
            <a:endParaRPr lang="en-US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noFill/>
          <a:ln w="12700" cap="flat">
            <a:solidFill>
              <a:schemeClr val="tx1"/>
            </a:solidFill>
          </a:ln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0488" tIns="44450" rIns="90488" bIns="44450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404F66EE-AB51-4AED-9B14-2C83D810C634}" type="slidenum">
              <a:rPr lang="en-US"/>
              <a:pPr/>
              <a:t>33</a:t>
            </a:fld>
            <a:endParaRPr lang="en-US"/>
          </a:p>
        </p:txBody>
      </p:sp>
      <p:sp>
        <p:nvSpPr>
          <p:cNvPr id="61443" name="Rectangle 2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0488" tIns="44450" rIns="90488" bIns="44450"/>
          <a:lstStyle/>
          <a:p>
            <a:endParaRPr lang="en-US" smtClean="0"/>
          </a:p>
        </p:txBody>
      </p:sp>
      <p:sp>
        <p:nvSpPr>
          <p:cNvPr id="61444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noFill/>
          <a:ln w="12700" cap="flat">
            <a:solidFill>
              <a:schemeClr val="tx1"/>
            </a:solidFill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1558BDB1-6A2B-4D9F-B36E-6C68B019E468}" type="slidenum">
              <a:rPr lang="en-US"/>
              <a:pPr/>
              <a:t>39</a:t>
            </a:fld>
            <a:endParaRPr lang="en-US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noFill/>
          <a:ln w="12700" cap="flat">
            <a:solidFill>
              <a:schemeClr val="tx1"/>
            </a:solidFill>
          </a:ln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0488" tIns="44450" rIns="90488" bIns="44450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E3122123-19F6-45A8-A416-277F56567339}" type="slidenum">
              <a:rPr lang="en-US"/>
              <a:pPr/>
              <a:t>40</a:t>
            </a:fld>
            <a:endParaRPr lang="en-US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noFill/>
          <a:ln w="12700" cap="flat">
            <a:solidFill>
              <a:schemeClr val="tx1"/>
            </a:solidFill>
          </a:ln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0488" tIns="44450" rIns="90488" bIns="44450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685C6EB9-C4B2-45E3-8B70-8C55ED159E42}" type="slidenum">
              <a:rPr lang="en-US"/>
              <a:pPr/>
              <a:t>41</a:t>
            </a:fld>
            <a:endParaRPr lang="en-US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noFill/>
          <a:ln w="12700" cap="flat">
            <a:solidFill>
              <a:schemeClr val="tx1"/>
            </a:solidFill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0488" tIns="44450" rIns="90488" bIns="44450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7D7EC484-3DCA-44E2-BA5B-EDF651CCEE5D}" type="slidenum">
              <a:rPr lang="en-US"/>
              <a:pPr/>
              <a:t>46</a:t>
            </a:fld>
            <a:endParaRPr lang="en-US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noFill/>
          <a:ln w="12700" cap="flat">
            <a:solidFill>
              <a:schemeClr val="tx1"/>
            </a:solidFill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0488" tIns="44450" rIns="90488" bIns="44450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66B5299C-D6D5-4B5F-BD67-1EF456D9117F}" type="slidenum">
              <a:rPr lang="en-US"/>
              <a:pPr/>
              <a:t>49</a:t>
            </a:fld>
            <a:endParaRPr lang="en-US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noFill/>
          <a:ln w="12700" cap="flat">
            <a:solidFill>
              <a:schemeClr val="tx1"/>
            </a:solidFill>
          </a:ln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0488" tIns="44450" rIns="90488" bIns="44450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252837FD-9F17-4A90-8DFF-4AF4595F4977}" type="slidenum">
              <a:rPr lang="en-US"/>
              <a:pPr/>
              <a:t>51</a:t>
            </a:fld>
            <a:endParaRPr lang="en-US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noFill/>
          <a:ln w="12700" cap="flat">
            <a:solidFill>
              <a:schemeClr val="tx1"/>
            </a:solidFill>
          </a:ln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0488" tIns="44450" rIns="90488" bIns="44450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4D03FE6A-0CCF-4241-BFC6-E425CDA7C875}" type="slidenum">
              <a:rPr lang="en-US"/>
              <a:pPr/>
              <a:t>53</a:t>
            </a:fld>
            <a:endParaRPr lang="en-US"/>
          </a:p>
        </p:txBody>
      </p:sp>
      <p:sp>
        <p:nvSpPr>
          <p:cNvPr id="68611" name="Rectangle 2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0488" tIns="44450" rIns="90488" bIns="44450"/>
          <a:lstStyle/>
          <a:p>
            <a:endParaRPr lang="en-US" smtClean="0"/>
          </a:p>
        </p:txBody>
      </p:sp>
      <p:sp>
        <p:nvSpPr>
          <p:cNvPr id="68612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noFill/>
          <a:ln w="12700" cap="flat">
            <a:solidFill>
              <a:schemeClr val="tx1"/>
            </a:solidFill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C648A25C-FCF3-4DBB-9214-AEA43D2C0520}" type="datetime1">
              <a:rPr lang="en-US" smtClean="0"/>
              <a:pPr>
                <a:defRPr/>
              </a:pPr>
              <a:t>3/28/2016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Mayank Pandey, MNNIT, Allahabad, India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5C0621B2-81DD-473B-99E3-45172ABFB9CD}" type="datetime1">
              <a:rPr lang="en-US" smtClean="0"/>
              <a:pPr>
                <a:defRPr/>
              </a:pPr>
              <a:t>3/28/2016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Mayank Pandey, MNNIT, Allahabad, India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01000" y="6356350"/>
            <a:ext cx="685800" cy="365125"/>
          </a:xfrm>
          <a:prstGeom prst="rect">
            <a:avLst/>
          </a:prstGeom>
        </p:spPr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C54A3ABE-7EE8-428A-9823-130E8679AB4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1D342B87-F441-4BFB-95F0-EF84FD3743BA}" type="datetime1">
              <a:rPr lang="en-US" smtClean="0"/>
              <a:pPr>
                <a:defRPr/>
              </a:pPr>
              <a:t>3/28/2016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Mayank Pandey, MNNIT, Allahabad, India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BFA83D4B-0D85-4DEE-B0D9-20DFC9F1856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ADA8B187-AA24-437E-802A-57AD67E28F47}" type="datetime1">
              <a:rPr lang="en-US" smtClean="0"/>
              <a:pPr>
                <a:defRPr/>
              </a:pPr>
              <a:t>3/28/2016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Mayank Pandey, MNNIT, Allahabad, India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34278836-F49B-470B-BFB1-898E12B0021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DE650ABE-C8D8-42B8-B1EF-98D53D2C9B8A}" type="datetime1">
              <a:rPr lang="en-US" smtClean="0"/>
              <a:pPr>
                <a:defRPr/>
              </a:pPr>
              <a:t>3/28/2016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Mayank Pandey, MNNIT, Allahabad, India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469E6981-811E-47B2-9046-C217D6C410A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6BBFACF1-86F4-4CED-BEAE-C65FDC78E652}" type="datetime1">
              <a:rPr lang="en-US" smtClean="0"/>
              <a:pPr>
                <a:defRPr/>
              </a:pPr>
              <a:t>3/28/2016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Mayank Pandey, MNNIT, Allahabad, India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CB326667-E6E6-4DE2-8E19-42096EDF669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003756D1-0BB1-48B7-95FB-6EC96D93C751}" type="datetime1">
              <a:rPr lang="en-US" smtClean="0"/>
              <a:pPr>
                <a:defRPr/>
              </a:pPr>
              <a:t>3/28/2016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Mayank Pandey, MNNIT, Allahabad, India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423520D8-1D15-44DA-9B9B-C6653470A34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BC283A8A-3C66-4C1A-9CBB-9B2CFA349535}" type="datetime1">
              <a:rPr lang="en-US" smtClean="0"/>
              <a:pPr>
                <a:defRPr/>
              </a:pPr>
              <a:t>3/28/2016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Mayank Pandey, MNNIT, Allahabad, India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BE8923A6-2C91-411D-9098-2017475A8ED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14E77F2D-20B2-45C3-857E-132E1F3F31C7}" type="datetime1">
              <a:rPr lang="en-US" smtClean="0"/>
              <a:pPr>
                <a:defRPr/>
              </a:pPr>
              <a:t>3/28/2016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Mayank Pandey, MNNIT, Allahabad, India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7DACD366-71D5-4389-B748-80782993399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08D594D5-F455-4418-A10E-7D7C778A3FA4}" type="datetime1">
              <a:rPr lang="en-US" smtClean="0"/>
              <a:pPr>
                <a:defRPr/>
              </a:pPr>
              <a:t>3/28/2016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Mayank Pandey, MNNIT, Allahabad, India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0723250C-09C2-414F-90C5-9BE50CF0EDD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C9FF43E7-5250-49A0-A26D-B79B48437CB9}" type="datetime1">
              <a:rPr lang="en-US" smtClean="0"/>
              <a:pPr>
                <a:defRPr/>
              </a:pPr>
              <a:t>3/28/2016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Mayank Pandey, MNNIT, Allahabad, India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CA6685EB-3D78-4579-94C3-EDBAD86D82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3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152400"/>
            <a:ext cx="82296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371600"/>
            <a:ext cx="8229600" cy="4754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Mayank Pandey, MNNIT, Allahabad, India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533400" y="1295400"/>
            <a:ext cx="81534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7" r:id="rId1"/>
    <p:sldLayoutId id="2147483848" r:id="rId2"/>
    <p:sldLayoutId id="2147483849" r:id="rId3"/>
    <p:sldLayoutId id="2147483850" r:id="rId4"/>
    <p:sldLayoutId id="2147483851" r:id="rId5"/>
    <p:sldLayoutId id="2147483852" r:id="rId6"/>
    <p:sldLayoutId id="2147483853" r:id="rId7"/>
    <p:sldLayoutId id="2147483854" r:id="rId8"/>
    <p:sldLayoutId id="2147483855" r:id="rId9"/>
    <p:sldLayoutId id="2147483856" r:id="rId10"/>
    <p:sldLayoutId id="2147483857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w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1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oleObject" Target="../embeddings/oleObject3.bin"/><Relationship Id="rId4" Type="http://schemas.openxmlformats.org/officeDocument/2006/relationships/image" Target="../media/image20.wmf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7" name="Rectangle 5"/>
          <p:cNvSpPr>
            <a:spLocks noChangeArrowheads="1"/>
          </p:cNvSpPr>
          <p:nvPr/>
        </p:nvSpPr>
        <p:spPr bwMode="auto">
          <a:xfrm>
            <a:off x="381000" y="2618602"/>
            <a:ext cx="8382000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600" b="1" u="none" strike="noStrike" cap="none" normalizeH="0" baseline="0" dirty="0" smtClean="0" bmk="OLE_LINK2">
                <a:ln>
                  <a:noFill/>
                </a:ln>
                <a:solidFill>
                  <a:schemeClr val="tx2"/>
                </a:solidFill>
                <a:effectLst/>
                <a:latin typeface="Garamond" pitchFamily="18" charset="0"/>
                <a:ea typeface="Calibri" pitchFamily="34" charset="0"/>
                <a:cs typeface="Times New Roman" pitchFamily="18" charset="0"/>
              </a:rPr>
              <a:t>Computer Organization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3600" b="1" dirty="0" smtClean="0" bmk="OLE_LINK2">
                <a:solidFill>
                  <a:schemeClr val="tx2"/>
                </a:solidFill>
                <a:latin typeface="Garamond" pitchFamily="18" charset="0"/>
                <a:cs typeface="Times New Roman" pitchFamily="18" charset="0"/>
              </a:rPr>
              <a:t>CS1403</a:t>
            </a:r>
          </a:p>
          <a:p>
            <a:pPr lvl="0" algn="ctr" eaLnBrk="0" hangingPunct="0"/>
            <a:r>
              <a:rPr lang="en-US" sz="3600" b="1" dirty="0" smtClean="0" bmk="OLE_LINK2">
                <a:solidFill>
                  <a:schemeClr val="tx2"/>
                </a:solidFill>
                <a:latin typeface="Garamond" pitchFamily="18" charset="0"/>
                <a:cs typeface="Times New Roman" pitchFamily="18" charset="0"/>
              </a:rPr>
              <a:t>Memory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450" name="Rectangle 5122"/>
          <p:cNvSpPr>
            <a:spLocks noChangeArrowheads="1"/>
          </p:cNvSpPr>
          <p:nvPr/>
        </p:nvSpPr>
        <p:spPr bwMode="auto">
          <a:xfrm>
            <a:off x="225425" y="312738"/>
            <a:ext cx="4284663" cy="4778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360451" name="Rectangle 5123"/>
          <p:cNvSpPr>
            <a:spLocks noGrp="1" noChangeArrowheads="1"/>
          </p:cNvSpPr>
          <p:nvPr>
            <p:ph type="body" idx="1"/>
          </p:nvPr>
        </p:nvSpPr>
        <p:spPr>
          <a:xfrm>
            <a:off x="533400" y="1371600"/>
            <a:ext cx="7772400" cy="4114800"/>
          </a:xfrm>
          <a:noFill/>
          <a:ln/>
        </p:spPr>
        <p:txBody>
          <a:bodyPr lIns="90488" tIns="44450" rIns="90488" bIns="44450"/>
          <a:lstStyle/>
          <a:p>
            <a:r>
              <a:rPr lang="en-US" sz="2400" dirty="0"/>
              <a:t>Users want large and fast memories…</a:t>
            </a:r>
          </a:p>
          <a:p>
            <a:pPr lvl="1"/>
            <a:r>
              <a:rPr lang="en-US" sz="2000" dirty="0"/>
              <a:t>expensive and they don’t like to pay…</a:t>
            </a:r>
            <a:endParaRPr lang="en-US" sz="2400" dirty="0"/>
          </a:p>
          <a:p>
            <a:r>
              <a:rPr lang="en-US" sz="2400" dirty="0"/>
              <a:t>Make it seem like they have what they want…</a:t>
            </a:r>
          </a:p>
          <a:p>
            <a:pPr lvl="1"/>
            <a:r>
              <a:rPr lang="en-US" sz="2000" i="1" dirty="0"/>
              <a:t>memory hierarchy</a:t>
            </a:r>
          </a:p>
          <a:p>
            <a:pPr lvl="1"/>
            <a:r>
              <a:rPr lang="en-US" sz="2000" dirty="0"/>
              <a:t>hierarchy is </a:t>
            </a:r>
            <a:r>
              <a:rPr lang="en-US" sz="2000" i="1" dirty="0"/>
              <a:t>inclusive</a:t>
            </a:r>
            <a:r>
              <a:rPr lang="en-US" sz="2000" dirty="0"/>
              <a:t>, every level is </a:t>
            </a:r>
            <a:r>
              <a:rPr lang="en-US" sz="2000" i="1" dirty="0"/>
              <a:t>subset</a:t>
            </a:r>
            <a:r>
              <a:rPr lang="en-US" sz="2000" dirty="0"/>
              <a:t> of lower level</a:t>
            </a:r>
          </a:p>
          <a:p>
            <a:pPr lvl="1"/>
            <a:r>
              <a:rPr lang="en-US" sz="2000" dirty="0"/>
              <a:t>performance depends on </a:t>
            </a:r>
            <a:r>
              <a:rPr lang="en-US" sz="2000" i="1" dirty="0"/>
              <a:t>hit rates</a:t>
            </a:r>
          </a:p>
        </p:txBody>
      </p:sp>
      <p:sp>
        <p:nvSpPr>
          <p:cNvPr id="360452" name="Rectangle 5124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7793038" cy="1143000"/>
          </a:xfrm>
          <a:noFill/>
          <a:ln/>
        </p:spPr>
        <p:txBody>
          <a:bodyPr lIns="90488" tIns="44450" rIns="90488" bIns="44450" anchor="ctr"/>
          <a:lstStyle/>
          <a:p>
            <a:r>
              <a:rPr lang="en-US" dirty="0"/>
              <a:t>Memory Hierarchy</a:t>
            </a:r>
          </a:p>
        </p:txBody>
      </p:sp>
      <p:pic>
        <p:nvPicPr>
          <p:cNvPr id="360455" name="Picture 5127" descr="C:\Work\Architecture\CODbookFigures\F0702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8200" y="3886200"/>
            <a:ext cx="2332038" cy="2438400"/>
          </a:xfrm>
          <a:prstGeom prst="rect">
            <a:avLst/>
          </a:prstGeom>
          <a:noFill/>
        </p:spPr>
      </p:pic>
      <p:pic>
        <p:nvPicPr>
          <p:cNvPr id="360456" name="Picture 5128" descr="C:\Work\Architecture\CODbookFigures\F0703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810000" y="3657600"/>
            <a:ext cx="4572000" cy="2917825"/>
          </a:xfrm>
          <a:prstGeom prst="rect">
            <a:avLst/>
          </a:prstGeom>
          <a:noFill/>
        </p:spPr>
      </p:pic>
      <p:sp>
        <p:nvSpPr>
          <p:cNvPr id="360458" name="Line 5130"/>
          <p:cNvSpPr>
            <a:spLocks noChangeShapeType="1"/>
          </p:cNvSpPr>
          <p:nvPr/>
        </p:nvSpPr>
        <p:spPr bwMode="auto">
          <a:xfrm flipH="1">
            <a:off x="1447800" y="4191000"/>
            <a:ext cx="152400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IN"/>
          </a:p>
        </p:txBody>
      </p:sp>
      <p:sp>
        <p:nvSpPr>
          <p:cNvPr id="360459" name="Text Box 5131"/>
          <p:cNvSpPr txBox="1">
            <a:spLocks noChangeArrowheads="1"/>
          </p:cNvSpPr>
          <p:nvPr/>
        </p:nvSpPr>
        <p:spPr bwMode="auto">
          <a:xfrm>
            <a:off x="2906713" y="4038600"/>
            <a:ext cx="1649412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/>
              <a:t>Block of data</a:t>
            </a:r>
          </a:p>
          <a:p>
            <a:r>
              <a:rPr lang="en-US" sz="1400"/>
              <a:t>(unit of data copy)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2819400" y="6492875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Mayank Pandey, MNNIT, Allahabad, India</a:t>
            </a:r>
            <a:endParaRPr lang="en-US" dirty="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229600" cy="1143000"/>
          </a:xfrm>
          <a:noFill/>
          <a:ln/>
        </p:spPr>
        <p:txBody>
          <a:bodyPr lIns="90488" tIns="44450" rIns="90488" bIns="44450" anchor="ctr"/>
          <a:lstStyle/>
          <a:p>
            <a:r>
              <a:rPr lang="en-US" dirty="0"/>
              <a:t>Locality</a:t>
            </a:r>
          </a:p>
        </p:txBody>
      </p:sp>
      <p:sp>
        <p:nvSpPr>
          <p:cNvPr id="362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7772400" cy="4114800"/>
          </a:xfrm>
          <a:noFill/>
          <a:ln/>
        </p:spPr>
        <p:txBody>
          <a:bodyPr lIns="90488" tIns="44450" rIns="90488" bIns="44450"/>
          <a:lstStyle/>
          <a:p>
            <a:r>
              <a:rPr lang="en-US" sz="2400" i="1" dirty="0"/>
              <a:t>Locality</a:t>
            </a:r>
            <a:r>
              <a:rPr lang="en-US" sz="2400" dirty="0"/>
              <a:t> is a principle that makes having a memory hierarchy a good idea</a:t>
            </a:r>
          </a:p>
          <a:p>
            <a:r>
              <a:rPr lang="en-US" sz="2400" dirty="0"/>
              <a:t>If an item is referenced then because of</a:t>
            </a:r>
          </a:p>
          <a:p>
            <a:pPr lvl="1"/>
            <a:r>
              <a:rPr lang="en-US" sz="2000" i="1" dirty="0"/>
              <a:t>temporal locality</a:t>
            </a:r>
            <a:r>
              <a:rPr lang="en-US" sz="2000" dirty="0"/>
              <a:t>:  it will tend to be</a:t>
            </a:r>
            <a:r>
              <a:rPr lang="en-US" sz="2000" i="1" dirty="0"/>
              <a:t> again</a:t>
            </a:r>
            <a:r>
              <a:rPr lang="en-US" sz="2000" dirty="0"/>
              <a:t> referenced soon</a:t>
            </a:r>
          </a:p>
          <a:p>
            <a:pPr lvl="1"/>
            <a:r>
              <a:rPr lang="en-US" sz="2000" i="1" dirty="0"/>
              <a:t>spatial locality</a:t>
            </a:r>
            <a:r>
              <a:rPr lang="en-US" sz="2000" dirty="0"/>
              <a:t>:   </a:t>
            </a:r>
            <a:r>
              <a:rPr lang="en-US" sz="2000" i="1" dirty="0"/>
              <a:t>nearby items</a:t>
            </a:r>
            <a:r>
              <a:rPr lang="en-US" sz="2000" dirty="0"/>
              <a:t> will tend to be referenced soon</a:t>
            </a:r>
          </a:p>
          <a:p>
            <a:pPr lvl="1"/>
            <a:r>
              <a:rPr lang="en-US" sz="2400" i="1" dirty="0">
                <a:latin typeface="Times New Roman" pitchFamily="18" charset="0"/>
              </a:rPr>
              <a:t>why does code have locality  – consider instruction and data?</a:t>
            </a:r>
          </a:p>
          <a:p>
            <a:pPr>
              <a:buFont typeface="Wingdings" pitchFamily="2" charset="2"/>
              <a:buNone/>
            </a:pPr>
            <a:endParaRPr lang="en-US" sz="2000" dirty="0">
              <a:solidFill>
                <a:srgbClr val="000000"/>
              </a:solidFill>
            </a:endParaRPr>
          </a:p>
          <a:p>
            <a:pPr>
              <a:buFont typeface="Wingdings" pitchFamily="2" charset="2"/>
              <a:buNone/>
            </a:pP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Mayank Pandey, MNNIT, Allahabad, India</a:t>
            </a:r>
            <a:endParaRPr lang="en-US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7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36563" y="304800"/>
            <a:ext cx="7793037" cy="1143000"/>
          </a:xfrm>
        </p:spPr>
        <p:txBody>
          <a:bodyPr/>
          <a:lstStyle/>
          <a:p>
            <a:r>
              <a:rPr lang="en-US" dirty="0"/>
              <a:t>Hit and Miss</a:t>
            </a:r>
          </a:p>
        </p:txBody>
      </p:sp>
      <p:sp>
        <p:nvSpPr>
          <p:cNvPr id="412675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7848600" cy="4800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000" dirty="0"/>
              <a:t>Focus on </a:t>
            </a:r>
            <a:r>
              <a:rPr lang="en-US" sz="2000" i="1" dirty="0"/>
              <a:t>any</a:t>
            </a:r>
            <a:r>
              <a:rPr lang="en-US" sz="2000" dirty="0"/>
              <a:t> </a:t>
            </a:r>
            <a:r>
              <a:rPr lang="en-US" sz="2000" i="1" dirty="0"/>
              <a:t>two adjacent</a:t>
            </a:r>
            <a:r>
              <a:rPr lang="en-US" sz="2000" dirty="0"/>
              <a:t> levels – called, </a:t>
            </a:r>
            <a:r>
              <a:rPr lang="en-US" sz="2000" i="1" dirty="0"/>
              <a:t>upper</a:t>
            </a:r>
            <a:r>
              <a:rPr lang="en-US" sz="2000" dirty="0"/>
              <a:t> (closer to CPU) and</a:t>
            </a:r>
            <a:r>
              <a:rPr lang="en-US" sz="2000" i="1" dirty="0"/>
              <a:t> lower </a:t>
            </a:r>
            <a:r>
              <a:rPr lang="en-US" sz="2000" dirty="0"/>
              <a:t>(farther from CPU) – in the memory hierarchy, because each block copy is always between two adjacent levels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Terminology: </a:t>
            </a:r>
          </a:p>
          <a:p>
            <a:pPr lvl="1">
              <a:lnSpc>
                <a:spcPct val="90000"/>
              </a:lnSpc>
            </a:pPr>
            <a:r>
              <a:rPr lang="en-US" sz="1800" i="1" dirty="0"/>
              <a:t>block</a:t>
            </a:r>
            <a:r>
              <a:rPr lang="en-US" sz="1800" dirty="0"/>
              <a:t>: minimum unit of data to move between levels</a:t>
            </a:r>
          </a:p>
          <a:p>
            <a:pPr lvl="1">
              <a:lnSpc>
                <a:spcPct val="90000"/>
              </a:lnSpc>
            </a:pPr>
            <a:r>
              <a:rPr lang="en-US" sz="1800" i="1" dirty="0"/>
              <a:t>hit</a:t>
            </a:r>
            <a:r>
              <a:rPr lang="en-US" sz="1800" dirty="0"/>
              <a:t>: data requested is in upper level</a:t>
            </a:r>
          </a:p>
          <a:p>
            <a:pPr lvl="1">
              <a:lnSpc>
                <a:spcPct val="90000"/>
              </a:lnSpc>
            </a:pPr>
            <a:r>
              <a:rPr lang="en-US" sz="1800" i="1" dirty="0"/>
              <a:t>miss</a:t>
            </a:r>
            <a:r>
              <a:rPr lang="en-US" sz="1800" dirty="0"/>
              <a:t>: data requested is not in upper level</a:t>
            </a:r>
          </a:p>
          <a:p>
            <a:pPr lvl="1">
              <a:lnSpc>
                <a:spcPct val="90000"/>
              </a:lnSpc>
            </a:pPr>
            <a:r>
              <a:rPr lang="en-US" sz="1800" i="1" dirty="0"/>
              <a:t>hit rate</a:t>
            </a:r>
            <a:r>
              <a:rPr lang="en-US" sz="1800" dirty="0"/>
              <a:t>: fraction of memory accesses that are hits (i.e., found at upper level)</a:t>
            </a:r>
          </a:p>
          <a:p>
            <a:pPr lvl="1">
              <a:lnSpc>
                <a:spcPct val="90000"/>
              </a:lnSpc>
            </a:pPr>
            <a:r>
              <a:rPr lang="en-US" sz="1800" i="1" dirty="0"/>
              <a:t>miss rate</a:t>
            </a:r>
            <a:r>
              <a:rPr lang="en-US" sz="1800" dirty="0"/>
              <a:t>: fraction of memory accesses that are not hits</a:t>
            </a:r>
          </a:p>
          <a:p>
            <a:pPr lvl="2">
              <a:lnSpc>
                <a:spcPct val="90000"/>
              </a:lnSpc>
            </a:pPr>
            <a:r>
              <a:rPr lang="en-US" sz="1600" dirty="0"/>
              <a:t>miss rate = 1 – hit rate</a:t>
            </a:r>
          </a:p>
          <a:p>
            <a:pPr lvl="1">
              <a:lnSpc>
                <a:spcPct val="90000"/>
              </a:lnSpc>
            </a:pPr>
            <a:r>
              <a:rPr lang="en-US" sz="1800" i="1" dirty="0"/>
              <a:t>hit time</a:t>
            </a:r>
            <a:r>
              <a:rPr lang="en-US" sz="1800" dirty="0"/>
              <a:t>: time to determine if the access is indeed a hit + time to access and deliver the data from the upper level to the CPU</a:t>
            </a:r>
          </a:p>
          <a:p>
            <a:pPr lvl="1">
              <a:lnSpc>
                <a:spcPct val="90000"/>
              </a:lnSpc>
            </a:pPr>
            <a:r>
              <a:rPr lang="en-US" sz="1800" i="1" dirty="0"/>
              <a:t>miss penalty</a:t>
            </a:r>
            <a:r>
              <a:rPr lang="en-US" sz="1800" dirty="0"/>
              <a:t>: time to determine if the access is a miss + time to replace block at upper level with corresponding block at lower level + time to deliver the block to the CPU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endParaRPr lang="en-US" sz="1800" dirty="0"/>
          </a:p>
          <a:p>
            <a:pPr>
              <a:lnSpc>
                <a:spcPct val="90000"/>
              </a:lnSpc>
            </a:pPr>
            <a:endParaRPr lang="en-US" sz="2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Mayank Pandey, MNNIT, Allahabad, India</a:t>
            </a:r>
            <a:endParaRPr lang="en-US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546" name="Rectangle 2"/>
          <p:cNvSpPr>
            <a:spLocks noChangeArrowheads="1"/>
          </p:cNvSpPr>
          <p:nvPr/>
        </p:nvSpPr>
        <p:spPr bwMode="auto">
          <a:xfrm>
            <a:off x="225425" y="312738"/>
            <a:ext cx="1027113" cy="4778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3645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371600"/>
            <a:ext cx="8153400" cy="5105400"/>
          </a:xfrm>
          <a:noFill/>
          <a:ln/>
        </p:spPr>
        <p:txBody>
          <a:bodyPr lIns="90488" tIns="44450" rIns="90488" bIns="44450"/>
          <a:lstStyle/>
          <a:p>
            <a:pPr>
              <a:lnSpc>
                <a:spcPct val="90000"/>
              </a:lnSpc>
            </a:pPr>
            <a:r>
              <a:rPr lang="en-US" sz="2000" dirty="0"/>
              <a:t>By simple example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assume block size = one word of data</a:t>
            </a:r>
          </a:p>
          <a:p>
            <a:pPr lvl="1">
              <a:lnSpc>
                <a:spcPct val="90000"/>
              </a:lnSpc>
            </a:pPr>
            <a:endParaRPr lang="en-US" sz="1800" dirty="0"/>
          </a:p>
          <a:p>
            <a:pPr lvl="1">
              <a:lnSpc>
                <a:spcPct val="90000"/>
              </a:lnSpc>
            </a:pPr>
            <a:endParaRPr lang="en-US" sz="1800" dirty="0"/>
          </a:p>
          <a:p>
            <a:pPr lvl="1">
              <a:lnSpc>
                <a:spcPct val="90000"/>
              </a:lnSpc>
            </a:pPr>
            <a:endParaRPr lang="en-US" sz="1800" dirty="0"/>
          </a:p>
          <a:p>
            <a:pPr lvl="1">
              <a:lnSpc>
                <a:spcPct val="90000"/>
              </a:lnSpc>
            </a:pPr>
            <a:endParaRPr lang="en-US" sz="1800" dirty="0"/>
          </a:p>
          <a:p>
            <a:pPr lvl="1">
              <a:lnSpc>
                <a:spcPct val="90000"/>
              </a:lnSpc>
            </a:pPr>
            <a:endParaRPr lang="en-US" sz="1800" dirty="0"/>
          </a:p>
          <a:p>
            <a:pPr lvl="1">
              <a:lnSpc>
                <a:spcPct val="90000"/>
              </a:lnSpc>
            </a:pPr>
            <a:endParaRPr lang="en-US" sz="1800" dirty="0"/>
          </a:p>
          <a:p>
            <a:pPr lvl="1">
              <a:lnSpc>
                <a:spcPct val="90000"/>
              </a:lnSpc>
            </a:pPr>
            <a:endParaRPr lang="en-US" sz="1800" dirty="0"/>
          </a:p>
          <a:p>
            <a:pPr>
              <a:lnSpc>
                <a:spcPct val="90000"/>
              </a:lnSpc>
            </a:pPr>
            <a:endParaRPr lang="en-US" sz="1800" dirty="0"/>
          </a:p>
          <a:p>
            <a:pPr>
              <a:lnSpc>
                <a:spcPct val="90000"/>
              </a:lnSpc>
            </a:pPr>
            <a:endParaRPr lang="en-US" sz="2000" dirty="0"/>
          </a:p>
          <a:p>
            <a:pPr>
              <a:lnSpc>
                <a:spcPct val="90000"/>
              </a:lnSpc>
            </a:pPr>
            <a:r>
              <a:rPr lang="en-US" sz="2000" dirty="0"/>
              <a:t>Issues:</a:t>
            </a:r>
          </a:p>
          <a:p>
            <a:pPr lvl="1">
              <a:lnSpc>
                <a:spcPct val="90000"/>
              </a:lnSpc>
            </a:pPr>
            <a:r>
              <a:rPr lang="en-US" sz="2000" i="1" dirty="0">
                <a:latin typeface="Times New Roman" pitchFamily="18" charset="0"/>
              </a:rPr>
              <a:t>how do we know if a data item is in the cache?</a:t>
            </a:r>
          </a:p>
          <a:p>
            <a:pPr lvl="1">
              <a:lnSpc>
                <a:spcPct val="90000"/>
              </a:lnSpc>
            </a:pPr>
            <a:r>
              <a:rPr lang="en-US" sz="2000" i="1" dirty="0">
                <a:latin typeface="Times New Roman" pitchFamily="18" charset="0"/>
              </a:rPr>
              <a:t>if it is, how do we find it?</a:t>
            </a:r>
          </a:p>
          <a:p>
            <a:pPr lvl="1">
              <a:lnSpc>
                <a:spcPct val="90000"/>
              </a:lnSpc>
            </a:pPr>
            <a:r>
              <a:rPr lang="en-US" sz="2000" i="1" dirty="0">
                <a:latin typeface="Times New Roman" pitchFamily="18" charset="0"/>
              </a:rPr>
              <a:t>if not, what do we do?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Solution depends on </a:t>
            </a:r>
            <a:r>
              <a:rPr lang="en-US" sz="2000" i="1" dirty="0"/>
              <a:t>cache addressing scheme</a:t>
            </a:r>
            <a:r>
              <a:rPr lang="en-US" sz="2000" dirty="0"/>
              <a:t>…</a:t>
            </a:r>
          </a:p>
        </p:txBody>
      </p:sp>
      <p:sp>
        <p:nvSpPr>
          <p:cNvPr id="364550" name="Rectangle 6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7793038" cy="1143000"/>
          </a:xfrm>
          <a:noFill/>
          <a:ln/>
        </p:spPr>
        <p:txBody>
          <a:bodyPr lIns="90488" tIns="44450" rIns="90488" bIns="44450" anchor="ctr"/>
          <a:lstStyle/>
          <a:p>
            <a:r>
              <a:rPr lang="en-US" dirty="0" smtClean="0"/>
              <a:t>Caches</a:t>
            </a:r>
            <a:endParaRPr lang="en-US" dirty="0"/>
          </a:p>
        </p:txBody>
      </p:sp>
      <p:pic>
        <p:nvPicPr>
          <p:cNvPr id="364551" name="Picture 7" descr="C:\Work\Architecture\CODbookFigures\F0704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33600" y="2362200"/>
            <a:ext cx="3505200" cy="2332038"/>
          </a:xfrm>
          <a:prstGeom prst="rect">
            <a:avLst/>
          </a:prstGeom>
          <a:noFill/>
        </p:spPr>
      </p:pic>
      <p:sp>
        <p:nvSpPr>
          <p:cNvPr id="364552" name="Text Box 8"/>
          <p:cNvSpPr txBox="1">
            <a:spLocks noChangeArrowheads="1"/>
          </p:cNvSpPr>
          <p:nvPr/>
        </p:nvSpPr>
        <p:spPr bwMode="auto">
          <a:xfrm>
            <a:off x="6272213" y="2486025"/>
            <a:ext cx="1576387" cy="94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/>
              <a:t>Reference to X</a:t>
            </a:r>
            <a:r>
              <a:rPr lang="en-US" sz="1400" baseline="-25000"/>
              <a:t>n</a:t>
            </a:r>
          </a:p>
          <a:p>
            <a:r>
              <a:rPr lang="en-US" sz="1400"/>
              <a:t>causes miss so </a:t>
            </a:r>
          </a:p>
          <a:p>
            <a:r>
              <a:rPr lang="en-US" sz="1400"/>
              <a:t>it is fetched from </a:t>
            </a:r>
          </a:p>
          <a:p>
            <a:r>
              <a:rPr lang="en-US" sz="1400"/>
              <a:t>memory</a:t>
            </a:r>
          </a:p>
        </p:txBody>
      </p:sp>
      <p:sp>
        <p:nvSpPr>
          <p:cNvPr id="364553" name="Line 9"/>
          <p:cNvSpPr>
            <a:spLocks noChangeShapeType="1"/>
          </p:cNvSpPr>
          <p:nvPr/>
        </p:nvSpPr>
        <p:spPr bwMode="auto">
          <a:xfrm flipH="1">
            <a:off x="5334000" y="2819400"/>
            <a:ext cx="990600" cy="12192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Mayank Pandey, MNNIT, Allahabad, India</a:t>
            </a:r>
            <a:endParaRPr lang="en-US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594" name="Rectangle 2"/>
          <p:cNvSpPr>
            <a:spLocks noChangeArrowheads="1"/>
          </p:cNvSpPr>
          <p:nvPr/>
        </p:nvSpPr>
        <p:spPr bwMode="auto">
          <a:xfrm>
            <a:off x="225425" y="312738"/>
            <a:ext cx="3168650" cy="4778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366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497888" cy="4114800"/>
          </a:xfrm>
          <a:noFill/>
          <a:ln/>
        </p:spPr>
        <p:txBody>
          <a:bodyPr lIns="90488" tIns="44450" rIns="90488" bIns="44450"/>
          <a:lstStyle/>
          <a:p>
            <a:r>
              <a:rPr lang="en-US" sz="2000" dirty="0"/>
              <a:t>Addressing scheme in </a:t>
            </a:r>
            <a:r>
              <a:rPr lang="en-US" sz="2000" i="1" dirty="0"/>
              <a:t>direct mapped</a:t>
            </a:r>
            <a:r>
              <a:rPr lang="en-US" sz="2000" dirty="0"/>
              <a:t> cache:</a:t>
            </a:r>
          </a:p>
          <a:p>
            <a:pPr lvl="1"/>
            <a:r>
              <a:rPr lang="en-US" sz="1800" dirty="0"/>
              <a:t>cache block address = memory block address </a:t>
            </a:r>
            <a:r>
              <a:rPr lang="en-US" sz="1800" i="1" dirty="0"/>
              <a:t>mod</a:t>
            </a:r>
            <a:r>
              <a:rPr lang="en-US" sz="1800" dirty="0"/>
              <a:t> cache size (</a:t>
            </a:r>
            <a:r>
              <a:rPr lang="en-US" sz="1800" i="1" dirty="0"/>
              <a:t>unique</a:t>
            </a:r>
            <a:r>
              <a:rPr lang="en-US" sz="1800" dirty="0"/>
              <a:t>)</a:t>
            </a:r>
          </a:p>
          <a:p>
            <a:pPr lvl="1"/>
            <a:r>
              <a:rPr lang="en-US" sz="1800" dirty="0"/>
              <a:t>if cache size = 2</a:t>
            </a:r>
            <a:r>
              <a:rPr lang="en-US" sz="1800" baseline="30000" dirty="0"/>
              <a:t>m</a:t>
            </a:r>
            <a:r>
              <a:rPr lang="en-US" sz="1800" dirty="0"/>
              <a:t>, cache address = lower m bits of n-bit memory address</a:t>
            </a:r>
          </a:p>
          <a:p>
            <a:pPr lvl="1"/>
            <a:r>
              <a:rPr lang="en-US" sz="1800" dirty="0"/>
              <a:t>remaining upper n-m bits kept </a:t>
            </a:r>
            <a:r>
              <a:rPr lang="en-US" sz="1800" dirty="0" smtClean="0"/>
              <a:t>as </a:t>
            </a:r>
            <a:r>
              <a:rPr lang="en-US" sz="1800" i="1" dirty="0"/>
              <a:t>tag bits</a:t>
            </a:r>
            <a:r>
              <a:rPr lang="en-US" sz="1800" dirty="0"/>
              <a:t> at each cache block</a:t>
            </a:r>
          </a:p>
          <a:p>
            <a:pPr lvl="1"/>
            <a:r>
              <a:rPr lang="en-US" sz="1800" dirty="0"/>
              <a:t>also need a </a:t>
            </a:r>
            <a:r>
              <a:rPr lang="en-US" sz="1800" i="1" dirty="0"/>
              <a:t>valid bit</a:t>
            </a:r>
            <a:r>
              <a:rPr lang="en-US" sz="1800" dirty="0"/>
              <a:t> to </a:t>
            </a:r>
          </a:p>
          <a:p>
            <a:pPr lvl="1">
              <a:buFont typeface="Wingdings" pitchFamily="2" charset="2"/>
              <a:buNone/>
            </a:pPr>
            <a:r>
              <a:rPr lang="en-US" sz="1800" dirty="0"/>
              <a:t>    recognize valid entry</a:t>
            </a:r>
          </a:p>
        </p:txBody>
      </p:sp>
      <p:sp>
        <p:nvSpPr>
          <p:cNvPr id="366596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229600" cy="1143000"/>
          </a:xfrm>
          <a:noFill/>
          <a:ln/>
        </p:spPr>
        <p:txBody>
          <a:bodyPr lIns="90488" tIns="44450" rIns="90488" bIns="44450" anchor="ctr"/>
          <a:lstStyle/>
          <a:p>
            <a:r>
              <a:rPr lang="en-US" dirty="0"/>
              <a:t>Direct Mapped Cache</a:t>
            </a:r>
          </a:p>
        </p:txBody>
      </p:sp>
      <p:pic>
        <p:nvPicPr>
          <p:cNvPr id="366597" name="Picture 5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81200" y="2827338"/>
            <a:ext cx="5257800" cy="34972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Mayank Pandey, MNNIT, Allahabad, India</a:t>
            </a:r>
            <a:endParaRPr lang="en-US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Rectangle 307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Accessing Cache</a:t>
            </a:r>
          </a:p>
        </p:txBody>
      </p:sp>
      <p:sp>
        <p:nvSpPr>
          <p:cNvPr id="405507" name="Rectangle 307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000"/>
              <a:t>Example:                  </a:t>
            </a:r>
          </a:p>
          <a:p>
            <a:pPr>
              <a:buFont typeface="Wingdings" pitchFamily="2" charset="2"/>
              <a:buNone/>
            </a:pPr>
            <a:endParaRPr lang="en-US" sz="1800"/>
          </a:p>
        </p:txBody>
      </p:sp>
      <p:sp>
        <p:nvSpPr>
          <p:cNvPr id="405508" name="Text Box 3076"/>
          <p:cNvSpPr txBox="1">
            <a:spLocks noChangeArrowheads="1"/>
          </p:cNvSpPr>
          <p:nvPr/>
        </p:nvSpPr>
        <p:spPr bwMode="auto">
          <a:xfrm>
            <a:off x="822325" y="2927350"/>
            <a:ext cx="2301875" cy="2563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/>
            <a:r>
              <a:rPr lang="en-US" sz="1800"/>
              <a:t>Index  V  Tag   Data</a:t>
            </a:r>
          </a:p>
          <a:p>
            <a:pPr marL="457200" indent="-457200"/>
            <a:r>
              <a:rPr lang="en-US" sz="1800">
                <a:latin typeface="Courier New" pitchFamily="49" charset="0"/>
              </a:rPr>
              <a:t>000  N         </a:t>
            </a:r>
          </a:p>
          <a:p>
            <a:pPr marL="457200" indent="-457200"/>
            <a:r>
              <a:rPr lang="en-US" sz="1800">
                <a:latin typeface="Courier New" pitchFamily="49" charset="0"/>
              </a:rPr>
              <a:t>001  N</a:t>
            </a:r>
          </a:p>
          <a:p>
            <a:pPr marL="457200" indent="-457200"/>
            <a:r>
              <a:rPr lang="en-US" sz="1800">
                <a:latin typeface="Courier New" pitchFamily="49" charset="0"/>
              </a:rPr>
              <a:t>010  N</a:t>
            </a:r>
          </a:p>
          <a:p>
            <a:pPr marL="457200" indent="-457200"/>
            <a:r>
              <a:rPr lang="en-US" sz="1800">
                <a:latin typeface="Courier New" pitchFamily="49" charset="0"/>
              </a:rPr>
              <a:t>011  N</a:t>
            </a:r>
          </a:p>
          <a:p>
            <a:pPr marL="457200" indent="-457200"/>
            <a:r>
              <a:rPr lang="en-US" sz="1800">
                <a:latin typeface="Courier New" pitchFamily="49" charset="0"/>
              </a:rPr>
              <a:t>100  N</a:t>
            </a:r>
          </a:p>
          <a:p>
            <a:pPr marL="457200" indent="-457200"/>
            <a:r>
              <a:rPr lang="en-US" sz="1800">
                <a:latin typeface="Courier New" pitchFamily="49" charset="0"/>
              </a:rPr>
              <a:t>101  N</a:t>
            </a:r>
          </a:p>
          <a:p>
            <a:pPr marL="457200" indent="-457200"/>
            <a:r>
              <a:rPr lang="en-US" sz="1800">
                <a:latin typeface="Courier New" pitchFamily="49" charset="0"/>
              </a:rPr>
              <a:t>110  N</a:t>
            </a:r>
          </a:p>
          <a:p>
            <a:pPr marL="457200" indent="-457200"/>
            <a:r>
              <a:rPr lang="en-US" sz="1800">
                <a:latin typeface="Courier New" pitchFamily="49" charset="0"/>
              </a:rPr>
              <a:t>111  N</a:t>
            </a:r>
          </a:p>
        </p:txBody>
      </p:sp>
      <p:sp>
        <p:nvSpPr>
          <p:cNvPr id="405509" name="Text Box 3077"/>
          <p:cNvSpPr txBox="1">
            <a:spLocks noChangeArrowheads="1"/>
          </p:cNvSpPr>
          <p:nvPr/>
        </p:nvSpPr>
        <p:spPr bwMode="auto">
          <a:xfrm>
            <a:off x="4572000" y="2895600"/>
            <a:ext cx="3276600" cy="2563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/>
            <a:r>
              <a:rPr lang="en-US" sz="1800"/>
              <a:t>Index  V  Tag   Data</a:t>
            </a:r>
          </a:p>
          <a:p>
            <a:pPr marL="457200" indent="-457200"/>
            <a:r>
              <a:rPr lang="en-US" sz="1800">
                <a:latin typeface="Courier New" pitchFamily="49" charset="0"/>
              </a:rPr>
              <a:t>000  N         </a:t>
            </a:r>
          </a:p>
          <a:p>
            <a:pPr marL="457200" indent="-457200"/>
            <a:r>
              <a:rPr lang="en-US" sz="1800">
                <a:latin typeface="Courier New" pitchFamily="49" charset="0"/>
              </a:rPr>
              <a:t>001  N</a:t>
            </a:r>
          </a:p>
          <a:p>
            <a:pPr marL="457200" indent="-457200"/>
            <a:r>
              <a:rPr lang="en-US" sz="1800">
                <a:latin typeface="Courier New" pitchFamily="49" charset="0"/>
              </a:rPr>
              <a:t>010  N</a:t>
            </a:r>
          </a:p>
          <a:p>
            <a:pPr marL="457200" indent="-457200"/>
            <a:r>
              <a:rPr lang="en-US" sz="1800">
                <a:latin typeface="Courier New" pitchFamily="49" charset="0"/>
              </a:rPr>
              <a:t>011  N</a:t>
            </a:r>
          </a:p>
          <a:p>
            <a:pPr marL="457200" indent="-457200"/>
            <a:r>
              <a:rPr lang="en-US" sz="1800">
                <a:latin typeface="Courier New" pitchFamily="49" charset="0"/>
              </a:rPr>
              <a:t>100  N</a:t>
            </a:r>
          </a:p>
          <a:p>
            <a:pPr marL="457200" indent="-457200"/>
            <a:r>
              <a:rPr lang="en-US" sz="1800">
                <a:latin typeface="Courier New" pitchFamily="49" charset="0"/>
              </a:rPr>
              <a:t>101  N</a:t>
            </a:r>
          </a:p>
          <a:p>
            <a:pPr marL="457200" indent="-457200"/>
            <a:r>
              <a:rPr lang="en-US" sz="1800">
                <a:latin typeface="Courier New" pitchFamily="49" charset="0"/>
              </a:rPr>
              <a:t>110  </a:t>
            </a:r>
            <a:r>
              <a:rPr lang="en-US" sz="1800">
                <a:solidFill>
                  <a:schemeClr val="hlink"/>
                </a:solidFill>
                <a:latin typeface="Courier New" pitchFamily="49" charset="0"/>
              </a:rPr>
              <a:t>Y  10 Mem(10110)</a:t>
            </a:r>
          </a:p>
          <a:p>
            <a:pPr marL="457200" indent="-457200"/>
            <a:r>
              <a:rPr lang="en-US" sz="1800">
                <a:latin typeface="Courier New" pitchFamily="49" charset="0"/>
              </a:rPr>
              <a:t>111  N</a:t>
            </a:r>
          </a:p>
        </p:txBody>
      </p:sp>
      <p:sp>
        <p:nvSpPr>
          <p:cNvPr id="405511" name="Text Box 3079"/>
          <p:cNvSpPr txBox="1">
            <a:spLocks noChangeArrowheads="1"/>
          </p:cNvSpPr>
          <p:nvPr/>
        </p:nvSpPr>
        <p:spPr bwMode="auto">
          <a:xfrm>
            <a:off x="838200" y="2514600"/>
            <a:ext cx="19478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(0) Initial state:</a:t>
            </a:r>
          </a:p>
        </p:txBody>
      </p:sp>
      <p:sp>
        <p:nvSpPr>
          <p:cNvPr id="405512" name="Text Box 3080"/>
          <p:cNvSpPr txBox="1">
            <a:spLocks noChangeArrowheads="1"/>
          </p:cNvSpPr>
          <p:nvPr/>
        </p:nvSpPr>
        <p:spPr bwMode="auto">
          <a:xfrm>
            <a:off x="4572000" y="2438400"/>
            <a:ext cx="40846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(1) Address referred 10110 (</a:t>
            </a:r>
            <a:r>
              <a:rPr lang="en-US" i="1"/>
              <a:t>miss</a:t>
            </a:r>
            <a:r>
              <a:rPr lang="en-US"/>
              <a:t>):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Mayank Pandey, MNNIT, Allahabad, India</a:t>
            </a:r>
            <a:endParaRPr lang="en-US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530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406534" name="Text Box 1030"/>
          <p:cNvSpPr txBox="1">
            <a:spLocks noChangeArrowheads="1"/>
          </p:cNvSpPr>
          <p:nvPr/>
        </p:nvSpPr>
        <p:spPr bwMode="auto">
          <a:xfrm>
            <a:off x="838200" y="1066800"/>
            <a:ext cx="3276600" cy="2563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/>
            <a:r>
              <a:rPr lang="en-US" sz="1800"/>
              <a:t>Index  V  Tag   Data</a:t>
            </a:r>
          </a:p>
          <a:p>
            <a:pPr marL="457200" indent="-457200"/>
            <a:r>
              <a:rPr lang="en-US" sz="1800">
                <a:latin typeface="Courier New" pitchFamily="49" charset="0"/>
              </a:rPr>
              <a:t>000  N         </a:t>
            </a:r>
          </a:p>
          <a:p>
            <a:pPr marL="457200" indent="-457200"/>
            <a:r>
              <a:rPr lang="en-US" sz="1800">
                <a:latin typeface="Courier New" pitchFamily="49" charset="0"/>
              </a:rPr>
              <a:t>001  N</a:t>
            </a:r>
          </a:p>
          <a:p>
            <a:pPr marL="457200" indent="-457200"/>
            <a:r>
              <a:rPr lang="en-US" sz="1800">
                <a:latin typeface="Courier New" pitchFamily="49" charset="0"/>
              </a:rPr>
              <a:t>010  </a:t>
            </a:r>
            <a:r>
              <a:rPr lang="en-US" sz="1800">
                <a:solidFill>
                  <a:schemeClr val="hlink"/>
                </a:solidFill>
                <a:latin typeface="Courier New" pitchFamily="49" charset="0"/>
              </a:rPr>
              <a:t>Y  11 Mem(11010)</a:t>
            </a:r>
          </a:p>
          <a:p>
            <a:pPr marL="457200" indent="-457200"/>
            <a:r>
              <a:rPr lang="en-US" sz="1800">
                <a:latin typeface="Courier New" pitchFamily="49" charset="0"/>
              </a:rPr>
              <a:t>011  N</a:t>
            </a:r>
          </a:p>
          <a:p>
            <a:pPr marL="457200" indent="-457200"/>
            <a:r>
              <a:rPr lang="en-US" sz="1800">
                <a:latin typeface="Courier New" pitchFamily="49" charset="0"/>
              </a:rPr>
              <a:t>100  N</a:t>
            </a:r>
          </a:p>
          <a:p>
            <a:pPr marL="457200" indent="-457200"/>
            <a:r>
              <a:rPr lang="en-US" sz="1800">
                <a:latin typeface="Courier New" pitchFamily="49" charset="0"/>
              </a:rPr>
              <a:t>101  N</a:t>
            </a:r>
          </a:p>
          <a:p>
            <a:pPr marL="457200" indent="-457200"/>
            <a:r>
              <a:rPr lang="en-US" sz="1800">
                <a:latin typeface="Courier New" pitchFamily="49" charset="0"/>
              </a:rPr>
              <a:t>110  Y  10 Mem(10110)</a:t>
            </a:r>
          </a:p>
          <a:p>
            <a:pPr marL="457200" indent="-457200"/>
            <a:r>
              <a:rPr lang="en-US" sz="1800">
                <a:latin typeface="Courier New" pitchFamily="49" charset="0"/>
              </a:rPr>
              <a:t>111  N</a:t>
            </a:r>
          </a:p>
        </p:txBody>
      </p:sp>
      <p:sp>
        <p:nvSpPr>
          <p:cNvPr id="406535" name="Text Box 1031"/>
          <p:cNvSpPr txBox="1">
            <a:spLocks noGrp="1" noChangeArrowheads="1"/>
          </p:cNvSpPr>
          <p:nvPr>
            <p:ph type="body" idx="1"/>
          </p:nvPr>
        </p:nvSpPr>
        <p:spPr>
          <a:xfrm>
            <a:off x="838200" y="609600"/>
            <a:ext cx="7772400" cy="4114800"/>
          </a:xfrm>
          <a:noFill/>
          <a:ln/>
        </p:spPr>
        <p:txBody>
          <a:bodyPr/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2000"/>
              <a:t>(2) Address referred 11010 (</a:t>
            </a:r>
            <a:r>
              <a:rPr lang="en-US" sz="2000" i="1"/>
              <a:t>miss</a:t>
            </a:r>
            <a:r>
              <a:rPr lang="en-US" sz="2000"/>
              <a:t>):</a:t>
            </a:r>
          </a:p>
        </p:txBody>
      </p:sp>
      <p:sp>
        <p:nvSpPr>
          <p:cNvPr id="406536" name="Text Box 1032"/>
          <p:cNvSpPr txBox="1">
            <a:spLocks noChangeArrowheads="1"/>
          </p:cNvSpPr>
          <p:nvPr/>
        </p:nvSpPr>
        <p:spPr bwMode="auto">
          <a:xfrm>
            <a:off x="5105400" y="1066800"/>
            <a:ext cx="3276600" cy="2563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/>
            <a:r>
              <a:rPr lang="en-US" sz="1800"/>
              <a:t>Index  V  Tag   Data</a:t>
            </a:r>
          </a:p>
          <a:p>
            <a:pPr marL="457200" indent="-457200"/>
            <a:r>
              <a:rPr lang="en-US" sz="1800">
                <a:latin typeface="Courier New" pitchFamily="49" charset="0"/>
              </a:rPr>
              <a:t>000  N         </a:t>
            </a:r>
          </a:p>
          <a:p>
            <a:pPr marL="457200" indent="-457200"/>
            <a:r>
              <a:rPr lang="en-US" sz="1800">
                <a:latin typeface="Courier New" pitchFamily="49" charset="0"/>
              </a:rPr>
              <a:t>001  N</a:t>
            </a:r>
          </a:p>
          <a:p>
            <a:pPr marL="457200" indent="-457200"/>
            <a:r>
              <a:rPr lang="en-US" sz="1800">
                <a:latin typeface="Courier New" pitchFamily="49" charset="0"/>
              </a:rPr>
              <a:t>010  Y  11 Mem(11010)</a:t>
            </a:r>
          </a:p>
          <a:p>
            <a:pPr marL="457200" indent="-457200"/>
            <a:r>
              <a:rPr lang="en-US" sz="1800">
                <a:latin typeface="Courier New" pitchFamily="49" charset="0"/>
              </a:rPr>
              <a:t>011  N</a:t>
            </a:r>
          </a:p>
          <a:p>
            <a:pPr marL="457200" indent="-457200"/>
            <a:r>
              <a:rPr lang="en-US" sz="1800">
                <a:latin typeface="Courier New" pitchFamily="49" charset="0"/>
              </a:rPr>
              <a:t>100  N</a:t>
            </a:r>
          </a:p>
          <a:p>
            <a:pPr marL="457200" indent="-457200"/>
            <a:r>
              <a:rPr lang="en-US" sz="1800">
                <a:latin typeface="Courier New" pitchFamily="49" charset="0"/>
              </a:rPr>
              <a:t>101  N</a:t>
            </a:r>
          </a:p>
          <a:p>
            <a:pPr marL="457200" indent="-457200"/>
            <a:r>
              <a:rPr lang="en-US" sz="1800">
                <a:latin typeface="Courier New" pitchFamily="49" charset="0"/>
              </a:rPr>
              <a:t>110  Y  10 Mem(10110)</a:t>
            </a:r>
          </a:p>
          <a:p>
            <a:pPr marL="457200" indent="-457200"/>
            <a:r>
              <a:rPr lang="en-US" sz="1800">
                <a:latin typeface="Courier New" pitchFamily="49" charset="0"/>
              </a:rPr>
              <a:t>111  N</a:t>
            </a:r>
          </a:p>
        </p:txBody>
      </p:sp>
      <p:sp>
        <p:nvSpPr>
          <p:cNvPr id="406538" name="Text Box 1034"/>
          <p:cNvSpPr txBox="1">
            <a:spLocks noChangeArrowheads="1"/>
          </p:cNvSpPr>
          <p:nvPr/>
        </p:nvSpPr>
        <p:spPr bwMode="auto">
          <a:xfrm>
            <a:off x="5105400" y="609600"/>
            <a:ext cx="38735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(3) Address referred 10110 (</a:t>
            </a:r>
            <a:r>
              <a:rPr lang="en-US" i="1"/>
              <a:t>hit</a:t>
            </a:r>
            <a:r>
              <a:rPr lang="en-US"/>
              <a:t>):</a:t>
            </a:r>
          </a:p>
        </p:txBody>
      </p:sp>
      <p:sp>
        <p:nvSpPr>
          <p:cNvPr id="406539" name="Text Box 1035"/>
          <p:cNvSpPr txBox="1">
            <a:spLocks noChangeArrowheads="1"/>
          </p:cNvSpPr>
          <p:nvPr/>
        </p:nvSpPr>
        <p:spPr bwMode="auto">
          <a:xfrm>
            <a:off x="914400" y="4114800"/>
            <a:ext cx="3276600" cy="2563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/>
            <a:r>
              <a:rPr lang="en-US" sz="1800"/>
              <a:t>Index  V  Tag   Data</a:t>
            </a:r>
          </a:p>
          <a:p>
            <a:pPr marL="457200" indent="-457200"/>
            <a:r>
              <a:rPr lang="en-US" sz="1800">
                <a:latin typeface="Courier New" pitchFamily="49" charset="0"/>
              </a:rPr>
              <a:t>000  N         </a:t>
            </a:r>
          </a:p>
          <a:p>
            <a:pPr marL="457200" indent="-457200"/>
            <a:r>
              <a:rPr lang="en-US" sz="1800">
                <a:latin typeface="Courier New" pitchFamily="49" charset="0"/>
              </a:rPr>
              <a:t>001  N</a:t>
            </a:r>
          </a:p>
          <a:p>
            <a:pPr marL="457200" indent="-457200"/>
            <a:r>
              <a:rPr lang="en-US" sz="1800">
                <a:latin typeface="Courier New" pitchFamily="49" charset="0"/>
              </a:rPr>
              <a:t>010  Y  </a:t>
            </a:r>
            <a:r>
              <a:rPr lang="en-US" sz="1800">
                <a:solidFill>
                  <a:schemeClr val="hlink"/>
                </a:solidFill>
                <a:latin typeface="Courier New" pitchFamily="49" charset="0"/>
              </a:rPr>
              <a:t>10</a:t>
            </a:r>
            <a:r>
              <a:rPr lang="en-US" sz="1800">
                <a:latin typeface="Courier New" pitchFamily="49" charset="0"/>
              </a:rPr>
              <a:t> Mem(</a:t>
            </a:r>
            <a:r>
              <a:rPr lang="en-US" sz="1800">
                <a:solidFill>
                  <a:schemeClr val="hlink"/>
                </a:solidFill>
                <a:latin typeface="Courier New" pitchFamily="49" charset="0"/>
              </a:rPr>
              <a:t>10</a:t>
            </a:r>
            <a:r>
              <a:rPr lang="en-US" sz="1800">
                <a:latin typeface="Courier New" pitchFamily="49" charset="0"/>
              </a:rPr>
              <a:t>010)</a:t>
            </a:r>
          </a:p>
          <a:p>
            <a:pPr marL="457200" indent="-457200"/>
            <a:r>
              <a:rPr lang="en-US" sz="1800">
                <a:latin typeface="Courier New" pitchFamily="49" charset="0"/>
              </a:rPr>
              <a:t>011  N</a:t>
            </a:r>
          </a:p>
          <a:p>
            <a:pPr marL="457200" indent="-457200"/>
            <a:r>
              <a:rPr lang="en-US" sz="1800">
                <a:latin typeface="Courier New" pitchFamily="49" charset="0"/>
              </a:rPr>
              <a:t>100  N</a:t>
            </a:r>
          </a:p>
          <a:p>
            <a:pPr marL="457200" indent="-457200"/>
            <a:r>
              <a:rPr lang="en-US" sz="1800">
                <a:latin typeface="Courier New" pitchFamily="49" charset="0"/>
              </a:rPr>
              <a:t>101  N</a:t>
            </a:r>
          </a:p>
          <a:p>
            <a:pPr marL="457200" indent="-457200"/>
            <a:r>
              <a:rPr lang="en-US" sz="1800">
                <a:latin typeface="Courier New" pitchFamily="49" charset="0"/>
              </a:rPr>
              <a:t>110  Y  10 Mem(10110)</a:t>
            </a:r>
          </a:p>
          <a:p>
            <a:pPr marL="457200" indent="-457200"/>
            <a:r>
              <a:rPr lang="en-US" sz="1800">
                <a:latin typeface="Courier New" pitchFamily="49" charset="0"/>
              </a:rPr>
              <a:t>111  N</a:t>
            </a:r>
          </a:p>
        </p:txBody>
      </p:sp>
      <p:sp>
        <p:nvSpPr>
          <p:cNvPr id="406540" name="Text Box 1036"/>
          <p:cNvSpPr txBox="1">
            <a:spLocks noChangeArrowheads="1"/>
          </p:cNvSpPr>
          <p:nvPr/>
        </p:nvSpPr>
        <p:spPr bwMode="auto">
          <a:xfrm>
            <a:off x="914400" y="3657600"/>
            <a:ext cx="40846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(4) Address referred 10010 (</a:t>
            </a:r>
            <a:r>
              <a:rPr lang="en-US" i="1"/>
              <a:t>miss</a:t>
            </a:r>
            <a:r>
              <a:rPr lang="en-US"/>
              <a:t>):</a:t>
            </a:r>
          </a:p>
        </p:txBody>
      </p:sp>
      <p:sp>
        <p:nvSpPr>
          <p:cNvPr id="406541" name="Freeform 1037"/>
          <p:cNvSpPr>
            <a:spLocks/>
          </p:cNvSpPr>
          <p:nvPr/>
        </p:nvSpPr>
        <p:spPr bwMode="auto">
          <a:xfrm>
            <a:off x="7391400" y="2730500"/>
            <a:ext cx="1219200" cy="317500"/>
          </a:xfrm>
          <a:custGeom>
            <a:avLst/>
            <a:gdLst/>
            <a:ahLst/>
            <a:cxnLst>
              <a:cxn ang="0">
                <a:pos x="0" y="200"/>
              </a:cxn>
              <a:cxn ang="0">
                <a:pos x="336" y="8"/>
              </a:cxn>
              <a:cxn ang="0">
                <a:pos x="768" y="152"/>
              </a:cxn>
            </a:cxnLst>
            <a:rect l="0" t="0" r="r" b="b"/>
            <a:pathLst>
              <a:path w="768" h="200">
                <a:moveTo>
                  <a:pt x="0" y="200"/>
                </a:moveTo>
                <a:cubicBezTo>
                  <a:pt x="104" y="108"/>
                  <a:pt x="208" y="16"/>
                  <a:pt x="336" y="8"/>
                </a:cubicBezTo>
                <a:cubicBezTo>
                  <a:pt x="464" y="0"/>
                  <a:pt x="616" y="76"/>
                  <a:pt x="768" y="15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endParaRPr lang="en-IN"/>
          </a:p>
        </p:txBody>
      </p:sp>
      <p:sp>
        <p:nvSpPr>
          <p:cNvPr id="406542" name="Text Box 1038"/>
          <p:cNvSpPr txBox="1">
            <a:spLocks noChangeArrowheads="1"/>
          </p:cNvSpPr>
          <p:nvPr/>
        </p:nvSpPr>
        <p:spPr bwMode="auto">
          <a:xfrm>
            <a:off x="7664450" y="2468563"/>
            <a:ext cx="64135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to CPU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Mayank Pandey, MNNIT, Allahabad, India</a:t>
            </a:r>
            <a:endParaRPr lang="en-US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42" name="Rectangle 2"/>
          <p:cNvSpPr>
            <a:spLocks noChangeArrowheads="1"/>
          </p:cNvSpPr>
          <p:nvPr/>
        </p:nvSpPr>
        <p:spPr bwMode="auto">
          <a:xfrm>
            <a:off x="225425" y="312738"/>
            <a:ext cx="3168650" cy="4778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3686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0488" tIns="44450" rIns="90488" bIns="44450"/>
          <a:lstStyle/>
          <a:p>
            <a:pPr>
              <a:lnSpc>
                <a:spcPct val="90000"/>
              </a:lnSpc>
            </a:pPr>
            <a:r>
              <a:rPr lang="en-US" sz="2000" dirty="0"/>
              <a:t>MIPS style: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endParaRPr lang="en-US" sz="2800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sz="2800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endParaRPr lang="en-US" sz="2800" i="1" dirty="0">
              <a:latin typeface="Times New Roman" pitchFamily="18" charset="0"/>
            </a:endParaRPr>
          </a:p>
        </p:txBody>
      </p:sp>
      <p:sp>
        <p:nvSpPr>
          <p:cNvPr id="368644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990600"/>
          </a:xfrm>
          <a:noFill/>
          <a:ln/>
        </p:spPr>
        <p:txBody>
          <a:bodyPr lIns="90488" tIns="44450" rIns="90488" bIns="44450" anchor="ctr"/>
          <a:lstStyle/>
          <a:p>
            <a:r>
              <a:rPr lang="en-US" dirty="0"/>
              <a:t>Direct Mapped Cache</a:t>
            </a:r>
          </a:p>
        </p:txBody>
      </p:sp>
      <p:pic>
        <p:nvPicPr>
          <p:cNvPr id="368646" name="Picture 6" descr="C:\Work\Architecture\CODbookFigures\F0707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76488" y="1600200"/>
            <a:ext cx="4391025" cy="4664075"/>
          </a:xfrm>
          <a:prstGeom prst="rect">
            <a:avLst/>
          </a:prstGeom>
          <a:noFill/>
        </p:spPr>
      </p:pic>
      <p:sp>
        <p:nvSpPr>
          <p:cNvPr id="368647" name="Text Box 7"/>
          <p:cNvSpPr txBox="1">
            <a:spLocks noChangeArrowheads="1"/>
          </p:cNvSpPr>
          <p:nvPr/>
        </p:nvSpPr>
        <p:spPr bwMode="auto">
          <a:xfrm>
            <a:off x="3429000" y="1371600"/>
            <a:ext cx="250348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/>
              <a:t>Address showing bit positions</a:t>
            </a:r>
          </a:p>
        </p:txBody>
      </p:sp>
      <p:sp>
        <p:nvSpPr>
          <p:cNvPr id="368648" name="Text Box 8"/>
          <p:cNvSpPr txBox="1">
            <a:spLocks noChangeArrowheads="1"/>
          </p:cNvSpPr>
          <p:nvPr/>
        </p:nvSpPr>
        <p:spPr bwMode="auto">
          <a:xfrm>
            <a:off x="4343400" y="5410200"/>
            <a:ext cx="4648200" cy="82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b="1"/>
              <a:t>Cache with 1024 1-word blocks: </a:t>
            </a:r>
            <a:r>
              <a:rPr lang="en-US" sz="1600" b="1" i="1"/>
              <a:t>byte offset</a:t>
            </a:r>
          </a:p>
          <a:p>
            <a:r>
              <a:rPr lang="en-US" sz="1600" b="1"/>
              <a:t>(least 2 significant bits) is ignored and </a:t>
            </a:r>
          </a:p>
          <a:p>
            <a:r>
              <a:rPr lang="en-US" sz="1600" b="1"/>
              <a:t>next 10 bits used to index into cache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416675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Mayank Pandey, MNNIT, Allahabad, India</a:t>
            </a:r>
            <a:endParaRPr lang="en-US" dirty="0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Cache Read Hit/Miss</a:t>
            </a:r>
          </a:p>
        </p:txBody>
      </p:sp>
      <p:sp>
        <p:nvSpPr>
          <p:cNvPr id="407555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>
              <a:lnSpc>
                <a:spcPct val="90000"/>
              </a:lnSpc>
            </a:pPr>
            <a:r>
              <a:rPr lang="en-US" sz="2000" i="1"/>
              <a:t>Cache read hit</a:t>
            </a:r>
            <a:r>
              <a:rPr lang="en-US" sz="2000"/>
              <a:t>: no action needed</a:t>
            </a:r>
          </a:p>
          <a:p>
            <a:pPr marL="609600" indent="-609600">
              <a:lnSpc>
                <a:spcPct val="90000"/>
              </a:lnSpc>
            </a:pPr>
            <a:r>
              <a:rPr lang="en-US" sz="2000" i="1"/>
              <a:t>Instruction cache read miss</a:t>
            </a:r>
            <a:r>
              <a:rPr lang="en-US" sz="2000"/>
              <a:t>:</a:t>
            </a:r>
          </a:p>
          <a:p>
            <a:pPr marL="990600" lvl="1" indent="-533400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sz="1800" i="1"/>
              <a:t>Send original PC value</a:t>
            </a:r>
            <a:r>
              <a:rPr lang="en-US" sz="1800"/>
              <a:t> (</a:t>
            </a:r>
            <a:r>
              <a:rPr lang="en-US" sz="1800" i="1"/>
              <a:t>current PC – 4</a:t>
            </a:r>
            <a:r>
              <a:rPr lang="en-US" sz="1800"/>
              <a:t>, as PC has already been incremented in first step of instruction cycle) to memory</a:t>
            </a:r>
          </a:p>
          <a:p>
            <a:pPr marL="990600" lvl="1" indent="-533400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sz="1800"/>
              <a:t>Instruct main memory to perform read and wait for memory to complete access – </a:t>
            </a:r>
            <a:r>
              <a:rPr lang="en-US" sz="1800" i="1"/>
              <a:t>stall </a:t>
            </a:r>
            <a:r>
              <a:rPr lang="en-US" sz="1800"/>
              <a:t>on read</a:t>
            </a:r>
          </a:p>
          <a:p>
            <a:pPr marL="990600" lvl="1" indent="-533400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sz="1800"/>
              <a:t>After read completes </a:t>
            </a:r>
            <a:r>
              <a:rPr lang="en-US" sz="1800" i="1"/>
              <a:t>write cache</a:t>
            </a:r>
            <a:r>
              <a:rPr lang="en-US" sz="1800"/>
              <a:t> entry</a:t>
            </a:r>
          </a:p>
          <a:p>
            <a:pPr marL="990600" lvl="1" indent="-533400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sz="1800" i="1"/>
              <a:t>Restart</a:t>
            </a:r>
            <a:r>
              <a:rPr lang="en-US" sz="1800"/>
              <a:t> instruction execution at first step to refetch instruction</a:t>
            </a:r>
          </a:p>
          <a:p>
            <a:pPr marL="609600" indent="-609600">
              <a:lnSpc>
                <a:spcPct val="90000"/>
              </a:lnSpc>
            </a:pPr>
            <a:r>
              <a:rPr lang="en-US" sz="2000" i="1"/>
              <a:t>Data cache read miss</a:t>
            </a:r>
            <a:r>
              <a:rPr lang="en-US" sz="2000"/>
              <a:t>:</a:t>
            </a:r>
          </a:p>
          <a:p>
            <a:pPr marL="990600" lvl="1" indent="-533400">
              <a:lnSpc>
                <a:spcPct val="90000"/>
              </a:lnSpc>
            </a:pPr>
            <a:r>
              <a:rPr lang="en-US" sz="1800"/>
              <a:t>Similar to instruction cache miss</a:t>
            </a:r>
          </a:p>
          <a:p>
            <a:pPr marL="990600" lvl="1" indent="-533400">
              <a:lnSpc>
                <a:spcPct val="90000"/>
              </a:lnSpc>
            </a:pPr>
            <a:r>
              <a:rPr lang="en-US" sz="1800"/>
              <a:t>To reduce data miss penalty allow processor to execute instructions while waiting for the read to complete</a:t>
            </a:r>
            <a:r>
              <a:rPr lang="en-US" sz="1800" i="1"/>
              <a:t> until</a:t>
            </a:r>
            <a:r>
              <a:rPr lang="en-US" sz="1800"/>
              <a:t> the word is required – </a:t>
            </a:r>
            <a:r>
              <a:rPr lang="en-US" sz="1800" i="1"/>
              <a:t>stall on use</a:t>
            </a:r>
            <a:r>
              <a:rPr lang="en-US" sz="1800"/>
              <a:t> (why won’t this work for instruction misses?)</a:t>
            </a:r>
          </a:p>
          <a:p>
            <a:pPr marL="990600" lvl="1" indent="-533400">
              <a:lnSpc>
                <a:spcPct val="90000"/>
              </a:lnSpc>
              <a:buFont typeface="Wingdings" pitchFamily="2" charset="2"/>
              <a:buAutoNum type="arabicPeriod"/>
            </a:pPr>
            <a:endParaRPr lang="en-US" sz="180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Mayank Pandey, MNNIT, Allahabad, India</a:t>
            </a:r>
            <a:endParaRPr lang="en-US"/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225425" y="312738"/>
            <a:ext cx="1027113" cy="4778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371600"/>
            <a:ext cx="8153400" cy="5105400"/>
          </a:xfrm>
          <a:noFill/>
        </p:spPr>
        <p:txBody>
          <a:bodyPr lIns="90488" tIns="44450" rIns="90488" bIns="44450"/>
          <a:lstStyle/>
          <a:p>
            <a:pPr eaLnBrk="1" hangingPunct="1">
              <a:lnSpc>
                <a:spcPct val="90000"/>
              </a:lnSpc>
            </a:pPr>
            <a:r>
              <a:rPr lang="en-US" sz="2000" dirty="0" smtClean="0"/>
              <a:t>By simple example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800" dirty="0" smtClean="0"/>
              <a:t>assume block size = one word of data</a:t>
            </a:r>
          </a:p>
          <a:p>
            <a:pPr lvl="1" eaLnBrk="1" hangingPunct="1">
              <a:lnSpc>
                <a:spcPct val="90000"/>
              </a:lnSpc>
            </a:pPr>
            <a:endParaRPr lang="en-US" sz="1800" dirty="0" smtClean="0"/>
          </a:p>
          <a:p>
            <a:pPr lvl="1" eaLnBrk="1" hangingPunct="1">
              <a:lnSpc>
                <a:spcPct val="90000"/>
              </a:lnSpc>
            </a:pPr>
            <a:endParaRPr lang="en-US" sz="1800" dirty="0" smtClean="0"/>
          </a:p>
          <a:p>
            <a:pPr lvl="1" eaLnBrk="1" hangingPunct="1">
              <a:lnSpc>
                <a:spcPct val="90000"/>
              </a:lnSpc>
            </a:pPr>
            <a:endParaRPr lang="en-US" sz="1800" dirty="0" smtClean="0"/>
          </a:p>
          <a:p>
            <a:pPr lvl="1" eaLnBrk="1" hangingPunct="1">
              <a:lnSpc>
                <a:spcPct val="90000"/>
              </a:lnSpc>
            </a:pPr>
            <a:endParaRPr lang="en-US" sz="1800" dirty="0" smtClean="0"/>
          </a:p>
          <a:p>
            <a:pPr lvl="1" eaLnBrk="1" hangingPunct="1">
              <a:lnSpc>
                <a:spcPct val="90000"/>
              </a:lnSpc>
            </a:pPr>
            <a:endParaRPr lang="en-US" sz="1800" dirty="0" smtClean="0"/>
          </a:p>
          <a:p>
            <a:pPr lvl="1" eaLnBrk="1" hangingPunct="1">
              <a:lnSpc>
                <a:spcPct val="90000"/>
              </a:lnSpc>
            </a:pPr>
            <a:endParaRPr lang="en-US" sz="1800" dirty="0" smtClean="0"/>
          </a:p>
          <a:p>
            <a:pPr lvl="1" eaLnBrk="1" hangingPunct="1">
              <a:lnSpc>
                <a:spcPct val="90000"/>
              </a:lnSpc>
            </a:pPr>
            <a:endParaRPr lang="en-US" sz="1800" dirty="0" smtClean="0"/>
          </a:p>
          <a:p>
            <a:pPr eaLnBrk="1" hangingPunct="1">
              <a:lnSpc>
                <a:spcPct val="90000"/>
              </a:lnSpc>
            </a:pPr>
            <a:endParaRPr lang="en-US" sz="1800" dirty="0" smtClean="0"/>
          </a:p>
          <a:p>
            <a:pPr eaLnBrk="1" hangingPunct="1">
              <a:lnSpc>
                <a:spcPct val="90000"/>
              </a:lnSpc>
            </a:pPr>
            <a:endParaRPr lang="en-US" sz="2000" dirty="0" smtClean="0"/>
          </a:p>
          <a:p>
            <a:pPr eaLnBrk="1" hangingPunct="1">
              <a:lnSpc>
                <a:spcPct val="90000"/>
              </a:lnSpc>
            </a:pPr>
            <a:r>
              <a:rPr lang="en-US" sz="2000" dirty="0" smtClean="0"/>
              <a:t>Issues: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i="1" dirty="0" smtClean="0">
                <a:latin typeface="Times New Roman" pitchFamily="18" charset="0"/>
              </a:rPr>
              <a:t>how do we know if a data item is in the cache?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i="1" dirty="0" smtClean="0">
                <a:latin typeface="Times New Roman" pitchFamily="18" charset="0"/>
              </a:rPr>
              <a:t>if it is, how do we find it?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i="1" dirty="0" smtClean="0">
                <a:latin typeface="Times New Roman" pitchFamily="18" charset="0"/>
              </a:rPr>
              <a:t>if not, what do we do?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 smtClean="0"/>
              <a:t>Solution depends on </a:t>
            </a:r>
            <a:r>
              <a:rPr lang="en-US" sz="2000" i="1" dirty="0" smtClean="0"/>
              <a:t>cache addressing scheme</a:t>
            </a:r>
            <a:r>
              <a:rPr lang="en-US" sz="2000" dirty="0" smtClean="0"/>
              <a:t>…</a:t>
            </a:r>
          </a:p>
        </p:txBody>
      </p:sp>
      <p:sp>
        <p:nvSpPr>
          <p:cNvPr id="6148" name="Rectangle 6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7793038" cy="1143000"/>
          </a:xfrm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dirty="0" smtClean="0"/>
              <a:t>Caches</a:t>
            </a:r>
          </a:p>
        </p:txBody>
      </p:sp>
      <p:pic>
        <p:nvPicPr>
          <p:cNvPr id="6149" name="Picture 7" descr="C:\Work\Architecture\CODbookFigures\F0704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33600" y="2362200"/>
            <a:ext cx="3505200" cy="2332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50" name="Text Box 8"/>
          <p:cNvSpPr txBox="1">
            <a:spLocks noChangeArrowheads="1"/>
          </p:cNvSpPr>
          <p:nvPr/>
        </p:nvSpPr>
        <p:spPr bwMode="auto">
          <a:xfrm>
            <a:off x="6272213" y="2486025"/>
            <a:ext cx="1576387" cy="94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/>
              <a:t>Reference to X</a:t>
            </a:r>
            <a:r>
              <a:rPr lang="en-US" sz="1400" baseline="-25000"/>
              <a:t>n</a:t>
            </a:r>
          </a:p>
          <a:p>
            <a:r>
              <a:rPr lang="en-US" sz="1400"/>
              <a:t>causes miss so </a:t>
            </a:r>
          </a:p>
          <a:p>
            <a:r>
              <a:rPr lang="en-US" sz="1400"/>
              <a:t>it is fetched from </a:t>
            </a:r>
          </a:p>
          <a:p>
            <a:r>
              <a:rPr lang="en-US" sz="1400"/>
              <a:t>memory</a:t>
            </a:r>
          </a:p>
        </p:txBody>
      </p:sp>
      <p:sp>
        <p:nvSpPr>
          <p:cNvPr id="6151" name="Line 9"/>
          <p:cNvSpPr>
            <a:spLocks noChangeShapeType="1"/>
          </p:cNvSpPr>
          <p:nvPr/>
        </p:nvSpPr>
        <p:spPr bwMode="auto">
          <a:xfrm flipH="1">
            <a:off x="5334000" y="2819400"/>
            <a:ext cx="990600" cy="12192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492875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Mayank Pandey, MNNIT, Allahabad, India</a:t>
            </a:r>
            <a:endParaRPr lang="en-US" dirty="0"/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225425" y="312738"/>
            <a:ext cx="3168650" cy="4778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497888" cy="4114800"/>
          </a:xfrm>
          <a:noFill/>
        </p:spPr>
        <p:txBody>
          <a:bodyPr lIns="90488" tIns="44450" rIns="90488" bIns="44450"/>
          <a:lstStyle/>
          <a:p>
            <a:pPr eaLnBrk="1" hangingPunct="1"/>
            <a:r>
              <a:rPr lang="en-US" sz="2000" dirty="0" smtClean="0"/>
              <a:t>Addressing scheme in </a:t>
            </a:r>
            <a:r>
              <a:rPr lang="en-US" sz="2000" i="1" dirty="0" smtClean="0"/>
              <a:t>direct mapped</a:t>
            </a:r>
            <a:r>
              <a:rPr lang="en-US" sz="2000" dirty="0" smtClean="0"/>
              <a:t> cache:</a:t>
            </a:r>
          </a:p>
          <a:p>
            <a:pPr lvl="1" eaLnBrk="1" hangingPunct="1"/>
            <a:r>
              <a:rPr lang="en-US" sz="1800" dirty="0" smtClean="0"/>
              <a:t>cache block address = memory block address </a:t>
            </a:r>
            <a:r>
              <a:rPr lang="en-US" sz="1800" i="1" dirty="0" smtClean="0"/>
              <a:t>mod</a:t>
            </a:r>
            <a:r>
              <a:rPr lang="en-US" sz="1800" dirty="0" smtClean="0"/>
              <a:t> cache size (</a:t>
            </a:r>
            <a:r>
              <a:rPr lang="en-US" sz="1800" i="1" dirty="0" smtClean="0"/>
              <a:t>unique</a:t>
            </a:r>
            <a:r>
              <a:rPr lang="en-US" sz="1800" dirty="0" smtClean="0"/>
              <a:t>)</a:t>
            </a:r>
          </a:p>
          <a:p>
            <a:pPr lvl="1" eaLnBrk="1" hangingPunct="1"/>
            <a:r>
              <a:rPr lang="en-US" sz="1800" dirty="0" smtClean="0"/>
              <a:t>if cache size = 2</a:t>
            </a:r>
            <a:r>
              <a:rPr lang="en-US" sz="1800" baseline="30000" dirty="0" smtClean="0"/>
              <a:t>m</a:t>
            </a:r>
            <a:r>
              <a:rPr lang="en-US" sz="1800" dirty="0" smtClean="0"/>
              <a:t>, cache address = lower m bits of n-bit memory address</a:t>
            </a:r>
          </a:p>
          <a:p>
            <a:pPr lvl="1" eaLnBrk="1" hangingPunct="1"/>
            <a:r>
              <a:rPr lang="en-US" sz="1800" dirty="0" smtClean="0"/>
              <a:t>remaining upper n-m bits kept </a:t>
            </a:r>
            <a:r>
              <a:rPr lang="en-US" sz="1800" dirty="0" err="1" smtClean="0"/>
              <a:t>kept</a:t>
            </a:r>
            <a:r>
              <a:rPr lang="en-US" sz="1800" dirty="0" smtClean="0"/>
              <a:t> as </a:t>
            </a:r>
            <a:r>
              <a:rPr lang="en-US" sz="1800" i="1" dirty="0" smtClean="0"/>
              <a:t>tag bits</a:t>
            </a:r>
            <a:r>
              <a:rPr lang="en-US" sz="1800" dirty="0" smtClean="0"/>
              <a:t> at each cache block</a:t>
            </a:r>
          </a:p>
          <a:p>
            <a:pPr lvl="1" eaLnBrk="1" hangingPunct="1"/>
            <a:r>
              <a:rPr lang="en-US" sz="1800" dirty="0" smtClean="0"/>
              <a:t>also need a </a:t>
            </a:r>
            <a:r>
              <a:rPr lang="en-US" sz="1800" i="1" dirty="0" smtClean="0"/>
              <a:t>valid bit</a:t>
            </a:r>
            <a:r>
              <a:rPr lang="en-US" sz="1800" dirty="0" smtClean="0"/>
              <a:t> to 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1800" dirty="0" smtClean="0"/>
              <a:t>    recognize valid entry</a:t>
            </a:r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229600" cy="1143000"/>
          </a:xfrm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dirty="0" smtClean="0"/>
              <a:t>Direct Mapped Cache</a:t>
            </a:r>
          </a:p>
        </p:txBody>
      </p:sp>
      <p:pic>
        <p:nvPicPr>
          <p:cNvPr id="7173" name="Picture 5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81200" y="2895600"/>
            <a:ext cx="5257800" cy="34972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Mayank Pandey, MNNIT, Allahabad, India</a:t>
            </a:r>
            <a:endParaRPr lang="en-US"/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07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Accessing Cache</a:t>
            </a:r>
          </a:p>
        </p:txBody>
      </p:sp>
      <p:sp>
        <p:nvSpPr>
          <p:cNvPr id="8195" name="Rectangle 307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000" dirty="0" smtClean="0"/>
              <a:t>Example:                 </a:t>
            </a:r>
          </a:p>
        </p:txBody>
      </p:sp>
      <p:sp>
        <p:nvSpPr>
          <p:cNvPr id="8196" name="Text Box 3076"/>
          <p:cNvSpPr txBox="1">
            <a:spLocks noChangeArrowheads="1"/>
          </p:cNvSpPr>
          <p:nvPr/>
        </p:nvSpPr>
        <p:spPr bwMode="auto">
          <a:xfrm>
            <a:off x="822325" y="2317750"/>
            <a:ext cx="2301875" cy="2563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/>
            <a:r>
              <a:rPr lang="en-US" sz="1800" dirty="0"/>
              <a:t>Index  V  Tag   Data</a:t>
            </a:r>
          </a:p>
          <a:p>
            <a:pPr marL="457200" indent="-457200"/>
            <a:r>
              <a:rPr lang="en-US" sz="1800" dirty="0">
                <a:latin typeface="Courier New" pitchFamily="49" charset="0"/>
              </a:rPr>
              <a:t>000  N         </a:t>
            </a:r>
          </a:p>
          <a:p>
            <a:pPr marL="457200" indent="-457200"/>
            <a:r>
              <a:rPr lang="en-US" sz="1800" dirty="0">
                <a:latin typeface="Courier New" pitchFamily="49" charset="0"/>
              </a:rPr>
              <a:t>001  N</a:t>
            </a:r>
          </a:p>
          <a:p>
            <a:pPr marL="457200" indent="-457200"/>
            <a:r>
              <a:rPr lang="en-US" sz="1800" dirty="0">
                <a:latin typeface="Courier New" pitchFamily="49" charset="0"/>
              </a:rPr>
              <a:t>010  N</a:t>
            </a:r>
          </a:p>
          <a:p>
            <a:pPr marL="457200" indent="-457200"/>
            <a:r>
              <a:rPr lang="en-US" sz="1800" dirty="0">
                <a:latin typeface="Courier New" pitchFamily="49" charset="0"/>
              </a:rPr>
              <a:t>011  N</a:t>
            </a:r>
          </a:p>
          <a:p>
            <a:pPr marL="457200" indent="-457200"/>
            <a:r>
              <a:rPr lang="en-US" sz="1800" dirty="0">
                <a:latin typeface="Courier New" pitchFamily="49" charset="0"/>
              </a:rPr>
              <a:t>100  N</a:t>
            </a:r>
          </a:p>
          <a:p>
            <a:pPr marL="457200" indent="-457200"/>
            <a:r>
              <a:rPr lang="en-US" sz="1800" dirty="0">
                <a:latin typeface="Courier New" pitchFamily="49" charset="0"/>
              </a:rPr>
              <a:t>101  N</a:t>
            </a:r>
          </a:p>
          <a:p>
            <a:pPr marL="457200" indent="-457200"/>
            <a:r>
              <a:rPr lang="en-US" sz="1800" dirty="0">
                <a:latin typeface="Courier New" pitchFamily="49" charset="0"/>
              </a:rPr>
              <a:t>110  N</a:t>
            </a:r>
          </a:p>
          <a:p>
            <a:pPr marL="457200" indent="-457200"/>
            <a:r>
              <a:rPr lang="en-US" sz="1800" dirty="0">
                <a:latin typeface="Courier New" pitchFamily="49" charset="0"/>
              </a:rPr>
              <a:t>111  N</a:t>
            </a:r>
          </a:p>
        </p:txBody>
      </p:sp>
      <p:sp>
        <p:nvSpPr>
          <p:cNvPr id="8197" name="Text Box 3077"/>
          <p:cNvSpPr txBox="1">
            <a:spLocks noChangeArrowheads="1"/>
          </p:cNvSpPr>
          <p:nvPr/>
        </p:nvSpPr>
        <p:spPr bwMode="auto">
          <a:xfrm>
            <a:off x="4572000" y="2286000"/>
            <a:ext cx="3276600" cy="2563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/>
            <a:r>
              <a:rPr lang="en-US" sz="1800"/>
              <a:t>Index  V  Tag   Data</a:t>
            </a:r>
          </a:p>
          <a:p>
            <a:pPr marL="457200" indent="-457200"/>
            <a:r>
              <a:rPr lang="en-US" sz="1800">
                <a:latin typeface="Courier New" pitchFamily="49" charset="0"/>
              </a:rPr>
              <a:t>000  N         </a:t>
            </a:r>
          </a:p>
          <a:p>
            <a:pPr marL="457200" indent="-457200"/>
            <a:r>
              <a:rPr lang="en-US" sz="1800">
                <a:latin typeface="Courier New" pitchFamily="49" charset="0"/>
              </a:rPr>
              <a:t>001  N</a:t>
            </a:r>
          </a:p>
          <a:p>
            <a:pPr marL="457200" indent="-457200"/>
            <a:r>
              <a:rPr lang="en-US" sz="1800">
                <a:latin typeface="Courier New" pitchFamily="49" charset="0"/>
              </a:rPr>
              <a:t>010  N</a:t>
            </a:r>
          </a:p>
          <a:p>
            <a:pPr marL="457200" indent="-457200"/>
            <a:r>
              <a:rPr lang="en-US" sz="1800">
                <a:latin typeface="Courier New" pitchFamily="49" charset="0"/>
              </a:rPr>
              <a:t>011  N</a:t>
            </a:r>
          </a:p>
          <a:p>
            <a:pPr marL="457200" indent="-457200"/>
            <a:r>
              <a:rPr lang="en-US" sz="1800">
                <a:latin typeface="Courier New" pitchFamily="49" charset="0"/>
              </a:rPr>
              <a:t>100  N</a:t>
            </a:r>
          </a:p>
          <a:p>
            <a:pPr marL="457200" indent="-457200"/>
            <a:r>
              <a:rPr lang="en-US" sz="1800">
                <a:latin typeface="Courier New" pitchFamily="49" charset="0"/>
              </a:rPr>
              <a:t>101  N</a:t>
            </a:r>
          </a:p>
          <a:p>
            <a:pPr marL="457200" indent="-457200"/>
            <a:r>
              <a:rPr lang="en-US" sz="1800">
                <a:latin typeface="Courier New" pitchFamily="49" charset="0"/>
              </a:rPr>
              <a:t>110  </a:t>
            </a:r>
            <a:r>
              <a:rPr lang="en-US" sz="1800">
                <a:solidFill>
                  <a:schemeClr val="hlink"/>
                </a:solidFill>
                <a:latin typeface="Courier New" pitchFamily="49" charset="0"/>
              </a:rPr>
              <a:t>Y  10 Mem(10110)</a:t>
            </a:r>
          </a:p>
          <a:p>
            <a:pPr marL="457200" indent="-457200"/>
            <a:r>
              <a:rPr lang="en-US" sz="1800">
                <a:latin typeface="Courier New" pitchFamily="49" charset="0"/>
              </a:rPr>
              <a:t>111  N</a:t>
            </a:r>
          </a:p>
        </p:txBody>
      </p:sp>
      <p:sp>
        <p:nvSpPr>
          <p:cNvPr id="8198" name="Text Box 3079"/>
          <p:cNvSpPr txBox="1">
            <a:spLocks noChangeArrowheads="1"/>
          </p:cNvSpPr>
          <p:nvPr/>
        </p:nvSpPr>
        <p:spPr bwMode="auto">
          <a:xfrm>
            <a:off x="838200" y="1905000"/>
            <a:ext cx="19478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(0) Initial state:</a:t>
            </a:r>
          </a:p>
        </p:txBody>
      </p:sp>
      <p:sp>
        <p:nvSpPr>
          <p:cNvPr id="8199" name="Text Box 3080"/>
          <p:cNvSpPr txBox="1">
            <a:spLocks noChangeArrowheads="1"/>
          </p:cNvSpPr>
          <p:nvPr/>
        </p:nvSpPr>
        <p:spPr bwMode="auto">
          <a:xfrm>
            <a:off x="4572000" y="1828800"/>
            <a:ext cx="40846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(1) Address referred 10110 (</a:t>
            </a:r>
            <a:r>
              <a:rPr lang="en-US" i="1"/>
              <a:t>miss</a:t>
            </a:r>
            <a:r>
              <a:rPr lang="en-US"/>
              <a:t>):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Mayank Pandey, MNNIT, Allahabad, India</a:t>
            </a:r>
            <a:endParaRPr lang="en-US"/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 </a:t>
            </a:r>
          </a:p>
        </p:txBody>
      </p:sp>
      <p:sp>
        <p:nvSpPr>
          <p:cNvPr id="9219" name="Text Box 1030"/>
          <p:cNvSpPr txBox="1">
            <a:spLocks noChangeArrowheads="1"/>
          </p:cNvSpPr>
          <p:nvPr/>
        </p:nvSpPr>
        <p:spPr bwMode="auto">
          <a:xfrm>
            <a:off x="838200" y="1066800"/>
            <a:ext cx="3276600" cy="2563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/>
            <a:r>
              <a:rPr lang="en-US" sz="1800"/>
              <a:t>Index  V  Tag   Data</a:t>
            </a:r>
          </a:p>
          <a:p>
            <a:pPr marL="457200" indent="-457200"/>
            <a:r>
              <a:rPr lang="en-US" sz="1800">
                <a:latin typeface="Courier New" pitchFamily="49" charset="0"/>
              </a:rPr>
              <a:t>000  N         </a:t>
            </a:r>
          </a:p>
          <a:p>
            <a:pPr marL="457200" indent="-457200"/>
            <a:r>
              <a:rPr lang="en-US" sz="1800">
                <a:latin typeface="Courier New" pitchFamily="49" charset="0"/>
              </a:rPr>
              <a:t>001  N</a:t>
            </a:r>
          </a:p>
          <a:p>
            <a:pPr marL="457200" indent="-457200"/>
            <a:r>
              <a:rPr lang="en-US" sz="1800">
                <a:latin typeface="Courier New" pitchFamily="49" charset="0"/>
              </a:rPr>
              <a:t>010  </a:t>
            </a:r>
            <a:r>
              <a:rPr lang="en-US" sz="1800">
                <a:solidFill>
                  <a:schemeClr val="hlink"/>
                </a:solidFill>
                <a:latin typeface="Courier New" pitchFamily="49" charset="0"/>
              </a:rPr>
              <a:t>Y  11 Mem(11010)</a:t>
            </a:r>
          </a:p>
          <a:p>
            <a:pPr marL="457200" indent="-457200"/>
            <a:r>
              <a:rPr lang="en-US" sz="1800">
                <a:latin typeface="Courier New" pitchFamily="49" charset="0"/>
              </a:rPr>
              <a:t>011  N</a:t>
            </a:r>
          </a:p>
          <a:p>
            <a:pPr marL="457200" indent="-457200"/>
            <a:r>
              <a:rPr lang="en-US" sz="1800">
                <a:latin typeface="Courier New" pitchFamily="49" charset="0"/>
              </a:rPr>
              <a:t>100  N</a:t>
            </a:r>
          </a:p>
          <a:p>
            <a:pPr marL="457200" indent="-457200"/>
            <a:r>
              <a:rPr lang="en-US" sz="1800">
                <a:latin typeface="Courier New" pitchFamily="49" charset="0"/>
              </a:rPr>
              <a:t>101  N</a:t>
            </a:r>
          </a:p>
          <a:p>
            <a:pPr marL="457200" indent="-457200"/>
            <a:r>
              <a:rPr lang="en-US" sz="1800">
                <a:latin typeface="Courier New" pitchFamily="49" charset="0"/>
              </a:rPr>
              <a:t>110  Y  10 Mem(10110)</a:t>
            </a:r>
          </a:p>
          <a:p>
            <a:pPr marL="457200" indent="-457200"/>
            <a:r>
              <a:rPr lang="en-US" sz="1800">
                <a:latin typeface="Courier New" pitchFamily="49" charset="0"/>
              </a:rPr>
              <a:t>111  N</a:t>
            </a:r>
          </a:p>
        </p:txBody>
      </p:sp>
      <p:sp>
        <p:nvSpPr>
          <p:cNvPr id="9220" name="Text Box 1031"/>
          <p:cNvSpPr>
            <a:spLocks noGrp="1" noChangeArrowheads="1"/>
          </p:cNvSpPr>
          <p:nvPr>
            <p:ph type="body" idx="1"/>
          </p:nvPr>
        </p:nvSpPr>
        <p:spPr>
          <a:xfrm>
            <a:off x="838200" y="609600"/>
            <a:ext cx="7772400" cy="4114800"/>
          </a:xfrm>
          <a:noFill/>
        </p:spPr>
        <p:txBody>
          <a:bodyPr/>
          <a:lstStyle/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sz="2000" smtClean="0"/>
              <a:t>(2) Address referred 11010 (</a:t>
            </a:r>
            <a:r>
              <a:rPr lang="en-US" sz="2000" i="1" smtClean="0"/>
              <a:t>miss</a:t>
            </a:r>
            <a:r>
              <a:rPr lang="en-US" sz="2000" smtClean="0"/>
              <a:t>):</a:t>
            </a:r>
          </a:p>
        </p:txBody>
      </p:sp>
      <p:sp>
        <p:nvSpPr>
          <p:cNvPr id="9221" name="Text Box 1032"/>
          <p:cNvSpPr txBox="1">
            <a:spLocks noChangeArrowheads="1"/>
          </p:cNvSpPr>
          <p:nvPr/>
        </p:nvSpPr>
        <p:spPr bwMode="auto">
          <a:xfrm>
            <a:off x="5105400" y="1066800"/>
            <a:ext cx="3276600" cy="2563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/>
            <a:r>
              <a:rPr lang="en-US" sz="1800"/>
              <a:t>Index  V  Tag   Data</a:t>
            </a:r>
          </a:p>
          <a:p>
            <a:pPr marL="457200" indent="-457200"/>
            <a:r>
              <a:rPr lang="en-US" sz="1800">
                <a:latin typeface="Courier New" pitchFamily="49" charset="0"/>
              </a:rPr>
              <a:t>000  N         </a:t>
            </a:r>
          </a:p>
          <a:p>
            <a:pPr marL="457200" indent="-457200"/>
            <a:r>
              <a:rPr lang="en-US" sz="1800">
                <a:latin typeface="Courier New" pitchFamily="49" charset="0"/>
              </a:rPr>
              <a:t>001  N</a:t>
            </a:r>
          </a:p>
          <a:p>
            <a:pPr marL="457200" indent="-457200"/>
            <a:r>
              <a:rPr lang="en-US" sz="1800">
                <a:latin typeface="Courier New" pitchFamily="49" charset="0"/>
              </a:rPr>
              <a:t>010  Y  11 Mem(11010)</a:t>
            </a:r>
          </a:p>
          <a:p>
            <a:pPr marL="457200" indent="-457200"/>
            <a:r>
              <a:rPr lang="en-US" sz="1800">
                <a:latin typeface="Courier New" pitchFamily="49" charset="0"/>
              </a:rPr>
              <a:t>011  N</a:t>
            </a:r>
          </a:p>
          <a:p>
            <a:pPr marL="457200" indent="-457200"/>
            <a:r>
              <a:rPr lang="en-US" sz="1800">
                <a:latin typeface="Courier New" pitchFamily="49" charset="0"/>
              </a:rPr>
              <a:t>100  N</a:t>
            </a:r>
          </a:p>
          <a:p>
            <a:pPr marL="457200" indent="-457200"/>
            <a:r>
              <a:rPr lang="en-US" sz="1800">
                <a:latin typeface="Courier New" pitchFamily="49" charset="0"/>
              </a:rPr>
              <a:t>101  N</a:t>
            </a:r>
          </a:p>
          <a:p>
            <a:pPr marL="457200" indent="-457200"/>
            <a:r>
              <a:rPr lang="en-US" sz="1800">
                <a:latin typeface="Courier New" pitchFamily="49" charset="0"/>
              </a:rPr>
              <a:t>110  Y  10 Mem(10110)</a:t>
            </a:r>
          </a:p>
          <a:p>
            <a:pPr marL="457200" indent="-457200"/>
            <a:r>
              <a:rPr lang="en-US" sz="1800">
                <a:latin typeface="Courier New" pitchFamily="49" charset="0"/>
              </a:rPr>
              <a:t>111  N</a:t>
            </a:r>
          </a:p>
        </p:txBody>
      </p:sp>
      <p:sp>
        <p:nvSpPr>
          <p:cNvPr id="9222" name="Text Box 1034"/>
          <p:cNvSpPr txBox="1">
            <a:spLocks noChangeArrowheads="1"/>
          </p:cNvSpPr>
          <p:nvPr/>
        </p:nvSpPr>
        <p:spPr bwMode="auto">
          <a:xfrm>
            <a:off x="5105400" y="609600"/>
            <a:ext cx="38735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(3) Address referred 10110 (</a:t>
            </a:r>
            <a:r>
              <a:rPr lang="en-US" i="1"/>
              <a:t>hit</a:t>
            </a:r>
            <a:r>
              <a:rPr lang="en-US"/>
              <a:t>):</a:t>
            </a:r>
          </a:p>
        </p:txBody>
      </p:sp>
      <p:sp>
        <p:nvSpPr>
          <p:cNvPr id="9223" name="Text Box 1035"/>
          <p:cNvSpPr txBox="1">
            <a:spLocks noChangeArrowheads="1"/>
          </p:cNvSpPr>
          <p:nvPr/>
        </p:nvSpPr>
        <p:spPr bwMode="auto">
          <a:xfrm>
            <a:off x="914400" y="4114800"/>
            <a:ext cx="3276600" cy="2563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/>
            <a:r>
              <a:rPr lang="en-US" sz="1800"/>
              <a:t>Index  V  Tag   Data</a:t>
            </a:r>
          </a:p>
          <a:p>
            <a:pPr marL="457200" indent="-457200"/>
            <a:r>
              <a:rPr lang="en-US" sz="1800">
                <a:latin typeface="Courier New" pitchFamily="49" charset="0"/>
              </a:rPr>
              <a:t>000  N         </a:t>
            </a:r>
          </a:p>
          <a:p>
            <a:pPr marL="457200" indent="-457200"/>
            <a:r>
              <a:rPr lang="en-US" sz="1800">
                <a:latin typeface="Courier New" pitchFamily="49" charset="0"/>
              </a:rPr>
              <a:t>001  N</a:t>
            </a:r>
          </a:p>
          <a:p>
            <a:pPr marL="457200" indent="-457200"/>
            <a:r>
              <a:rPr lang="en-US" sz="1800">
                <a:latin typeface="Courier New" pitchFamily="49" charset="0"/>
              </a:rPr>
              <a:t>010  Y  </a:t>
            </a:r>
            <a:r>
              <a:rPr lang="en-US" sz="1800">
                <a:solidFill>
                  <a:schemeClr val="hlink"/>
                </a:solidFill>
                <a:latin typeface="Courier New" pitchFamily="49" charset="0"/>
              </a:rPr>
              <a:t>10</a:t>
            </a:r>
            <a:r>
              <a:rPr lang="en-US" sz="1800">
                <a:latin typeface="Courier New" pitchFamily="49" charset="0"/>
              </a:rPr>
              <a:t> Mem(</a:t>
            </a:r>
            <a:r>
              <a:rPr lang="en-US" sz="1800">
                <a:solidFill>
                  <a:schemeClr val="hlink"/>
                </a:solidFill>
                <a:latin typeface="Courier New" pitchFamily="49" charset="0"/>
              </a:rPr>
              <a:t>10</a:t>
            </a:r>
            <a:r>
              <a:rPr lang="en-US" sz="1800">
                <a:latin typeface="Courier New" pitchFamily="49" charset="0"/>
              </a:rPr>
              <a:t>010)</a:t>
            </a:r>
          </a:p>
          <a:p>
            <a:pPr marL="457200" indent="-457200"/>
            <a:r>
              <a:rPr lang="en-US" sz="1800">
                <a:latin typeface="Courier New" pitchFamily="49" charset="0"/>
              </a:rPr>
              <a:t>011  N</a:t>
            </a:r>
          </a:p>
          <a:p>
            <a:pPr marL="457200" indent="-457200"/>
            <a:r>
              <a:rPr lang="en-US" sz="1800">
                <a:latin typeface="Courier New" pitchFamily="49" charset="0"/>
              </a:rPr>
              <a:t>100  N</a:t>
            </a:r>
          </a:p>
          <a:p>
            <a:pPr marL="457200" indent="-457200"/>
            <a:r>
              <a:rPr lang="en-US" sz="1800">
                <a:latin typeface="Courier New" pitchFamily="49" charset="0"/>
              </a:rPr>
              <a:t>101  N</a:t>
            </a:r>
          </a:p>
          <a:p>
            <a:pPr marL="457200" indent="-457200"/>
            <a:r>
              <a:rPr lang="en-US" sz="1800">
                <a:latin typeface="Courier New" pitchFamily="49" charset="0"/>
              </a:rPr>
              <a:t>110  Y  10 Mem(10110)</a:t>
            </a:r>
          </a:p>
          <a:p>
            <a:pPr marL="457200" indent="-457200"/>
            <a:r>
              <a:rPr lang="en-US" sz="1800">
                <a:latin typeface="Courier New" pitchFamily="49" charset="0"/>
              </a:rPr>
              <a:t>111  N</a:t>
            </a:r>
          </a:p>
        </p:txBody>
      </p:sp>
      <p:sp>
        <p:nvSpPr>
          <p:cNvPr id="9224" name="Text Box 1036"/>
          <p:cNvSpPr txBox="1">
            <a:spLocks noChangeArrowheads="1"/>
          </p:cNvSpPr>
          <p:nvPr/>
        </p:nvSpPr>
        <p:spPr bwMode="auto">
          <a:xfrm>
            <a:off x="914400" y="3657600"/>
            <a:ext cx="40846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(4) Address referred 10010 (</a:t>
            </a:r>
            <a:r>
              <a:rPr lang="en-US" i="1"/>
              <a:t>miss</a:t>
            </a:r>
            <a:r>
              <a:rPr lang="en-US"/>
              <a:t>):</a:t>
            </a:r>
          </a:p>
        </p:txBody>
      </p:sp>
      <p:sp>
        <p:nvSpPr>
          <p:cNvPr id="9225" name="Freeform 1037"/>
          <p:cNvSpPr>
            <a:spLocks/>
          </p:cNvSpPr>
          <p:nvPr/>
        </p:nvSpPr>
        <p:spPr bwMode="auto">
          <a:xfrm>
            <a:off x="7391400" y="2730500"/>
            <a:ext cx="1219200" cy="317500"/>
          </a:xfrm>
          <a:custGeom>
            <a:avLst/>
            <a:gdLst>
              <a:gd name="T0" fmla="*/ 0 w 768"/>
              <a:gd name="T1" fmla="*/ 317500 h 200"/>
              <a:gd name="T2" fmla="*/ 533400 w 768"/>
              <a:gd name="T3" fmla="*/ 12700 h 200"/>
              <a:gd name="T4" fmla="*/ 1219200 w 768"/>
              <a:gd name="T5" fmla="*/ 241300 h 2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768" h="200">
                <a:moveTo>
                  <a:pt x="0" y="200"/>
                </a:moveTo>
                <a:cubicBezTo>
                  <a:pt x="104" y="108"/>
                  <a:pt x="208" y="16"/>
                  <a:pt x="336" y="8"/>
                </a:cubicBezTo>
                <a:cubicBezTo>
                  <a:pt x="464" y="0"/>
                  <a:pt x="616" y="76"/>
                  <a:pt x="768" y="15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endParaRPr lang="en-IN"/>
          </a:p>
        </p:txBody>
      </p:sp>
      <p:sp>
        <p:nvSpPr>
          <p:cNvPr id="9226" name="Text Box 1038"/>
          <p:cNvSpPr txBox="1">
            <a:spLocks noChangeArrowheads="1"/>
          </p:cNvSpPr>
          <p:nvPr/>
        </p:nvSpPr>
        <p:spPr bwMode="auto">
          <a:xfrm>
            <a:off x="7664450" y="2468563"/>
            <a:ext cx="64135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to CPU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Mayank Pandey, MNNIT, Allahabad, India</a:t>
            </a:r>
            <a:endParaRPr lang="en-US"/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225425" y="312738"/>
            <a:ext cx="3168650" cy="4778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0488" tIns="44450" rIns="90488" bIns="44450"/>
          <a:lstStyle/>
          <a:p>
            <a:pPr eaLnBrk="1" hangingPunct="1">
              <a:lnSpc>
                <a:spcPct val="90000"/>
              </a:lnSpc>
            </a:pPr>
            <a:r>
              <a:rPr lang="en-US" sz="2000" dirty="0" smtClean="0"/>
              <a:t>MIPS style:</a:t>
            </a: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 smtClean="0"/>
              <a:t/>
            </a:r>
            <a:br>
              <a:rPr lang="en-US" sz="2800" dirty="0" smtClean="0"/>
            </a:br>
            <a:endParaRPr lang="en-US" sz="2800" dirty="0" smtClean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2800" dirty="0" smtClean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 smtClean="0"/>
              <a:t/>
            </a:r>
            <a:br>
              <a:rPr lang="en-US" sz="2800" dirty="0" smtClean="0"/>
            </a:br>
            <a:endParaRPr lang="en-US" sz="2800" i="1" dirty="0" smtClean="0">
              <a:latin typeface="Times New Roman" pitchFamily="18" charset="0"/>
            </a:endParaRPr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smtClean="0"/>
              <a:t>Direct Mapped Cache</a:t>
            </a:r>
          </a:p>
        </p:txBody>
      </p:sp>
      <p:pic>
        <p:nvPicPr>
          <p:cNvPr id="10245" name="Picture 6" descr="C:\Work\Architecture\CODbookFigures\F0707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76488" y="1600200"/>
            <a:ext cx="4391025" cy="466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6" name="Text Box 7"/>
          <p:cNvSpPr txBox="1">
            <a:spLocks noChangeArrowheads="1"/>
          </p:cNvSpPr>
          <p:nvPr/>
        </p:nvSpPr>
        <p:spPr bwMode="auto">
          <a:xfrm>
            <a:off x="3429000" y="1371600"/>
            <a:ext cx="250348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/>
              <a:t>Address showing bit positions</a:t>
            </a:r>
          </a:p>
        </p:txBody>
      </p:sp>
      <p:sp>
        <p:nvSpPr>
          <p:cNvPr id="10247" name="Text Box 8"/>
          <p:cNvSpPr txBox="1">
            <a:spLocks noChangeArrowheads="1"/>
          </p:cNvSpPr>
          <p:nvPr/>
        </p:nvSpPr>
        <p:spPr bwMode="auto">
          <a:xfrm>
            <a:off x="4343400" y="5410200"/>
            <a:ext cx="4648200" cy="82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b="1"/>
              <a:t>Cache with 1024 1-word blocks: </a:t>
            </a:r>
            <a:r>
              <a:rPr lang="en-US" sz="1600" b="1" i="1"/>
              <a:t>byte offset</a:t>
            </a:r>
          </a:p>
          <a:p>
            <a:r>
              <a:rPr lang="en-US" sz="1600" b="1"/>
              <a:t>(least 2 significant bits) is ignored and </a:t>
            </a:r>
          </a:p>
          <a:p>
            <a:r>
              <a:rPr lang="en-US" sz="1600" b="1"/>
              <a:t>next 10 bits used to index into cache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Mayank Pandey, MNNIT, Allahabad, India</a:t>
            </a:r>
            <a:endParaRPr lang="en-US"/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Cache Read Hit/Miss</a:t>
            </a:r>
          </a:p>
        </p:txBody>
      </p:sp>
      <p:sp>
        <p:nvSpPr>
          <p:cNvPr id="11267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lnSpc>
                <a:spcPct val="90000"/>
              </a:lnSpc>
            </a:pPr>
            <a:r>
              <a:rPr lang="en-US" sz="2000" i="1" smtClean="0"/>
              <a:t>Cache read hit</a:t>
            </a:r>
            <a:r>
              <a:rPr lang="en-US" sz="2000" smtClean="0"/>
              <a:t>: no action needed</a:t>
            </a:r>
          </a:p>
          <a:p>
            <a:pPr marL="609600" indent="-609600" eaLnBrk="1" hangingPunct="1">
              <a:lnSpc>
                <a:spcPct val="90000"/>
              </a:lnSpc>
            </a:pPr>
            <a:r>
              <a:rPr lang="en-US" sz="2000" i="1" smtClean="0"/>
              <a:t>Instruction cache read miss</a:t>
            </a:r>
            <a:r>
              <a:rPr lang="en-US" sz="2000" smtClean="0"/>
              <a:t>:</a:t>
            </a:r>
          </a:p>
          <a:p>
            <a:pPr marL="990600" lvl="1" indent="-533400" eaLnBrk="1" hangingPunct="1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sz="1800" i="1" smtClean="0"/>
              <a:t>Send original PC value</a:t>
            </a:r>
            <a:r>
              <a:rPr lang="en-US" sz="1800" smtClean="0"/>
              <a:t> (</a:t>
            </a:r>
            <a:r>
              <a:rPr lang="en-US" sz="1800" i="1" smtClean="0"/>
              <a:t>current PC – 4</a:t>
            </a:r>
            <a:r>
              <a:rPr lang="en-US" sz="1800" smtClean="0"/>
              <a:t>, as PC has already been incremented in first step of instruction cycle) to memory</a:t>
            </a:r>
          </a:p>
          <a:p>
            <a:pPr marL="990600" lvl="1" indent="-533400" eaLnBrk="1" hangingPunct="1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sz="1800" smtClean="0"/>
              <a:t>Instruct main memory to perform read and wait for memory to complete access – </a:t>
            </a:r>
            <a:r>
              <a:rPr lang="en-US" sz="1800" i="1" smtClean="0"/>
              <a:t>stall </a:t>
            </a:r>
            <a:r>
              <a:rPr lang="en-US" sz="1800" smtClean="0"/>
              <a:t>on read</a:t>
            </a:r>
          </a:p>
          <a:p>
            <a:pPr marL="990600" lvl="1" indent="-533400" eaLnBrk="1" hangingPunct="1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sz="1800" smtClean="0"/>
              <a:t>After read completes </a:t>
            </a:r>
            <a:r>
              <a:rPr lang="en-US" sz="1800" i="1" smtClean="0"/>
              <a:t>write cache</a:t>
            </a:r>
            <a:r>
              <a:rPr lang="en-US" sz="1800" smtClean="0"/>
              <a:t> entry</a:t>
            </a:r>
          </a:p>
          <a:p>
            <a:pPr marL="990600" lvl="1" indent="-533400" eaLnBrk="1" hangingPunct="1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sz="1800" i="1" smtClean="0"/>
              <a:t>Restart</a:t>
            </a:r>
            <a:r>
              <a:rPr lang="en-US" sz="1800" smtClean="0"/>
              <a:t> instruction execution at first step to refetch instruction</a:t>
            </a:r>
          </a:p>
          <a:p>
            <a:pPr marL="609600" indent="-609600" eaLnBrk="1" hangingPunct="1">
              <a:lnSpc>
                <a:spcPct val="90000"/>
              </a:lnSpc>
            </a:pPr>
            <a:r>
              <a:rPr lang="en-US" sz="2000" i="1" smtClean="0"/>
              <a:t>Data cache read miss</a:t>
            </a:r>
            <a:r>
              <a:rPr lang="en-US" sz="2000" smtClean="0"/>
              <a:t>:</a:t>
            </a:r>
          </a:p>
          <a:p>
            <a:pPr marL="990600" lvl="1" indent="-533400" eaLnBrk="1" hangingPunct="1">
              <a:lnSpc>
                <a:spcPct val="90000"/>
              </a:lnSpc>
            </a:pPr>
            <a:r>
              <a:rPr lang="en-US" sz="1800" smtClean="0"/>
              <a:t>Similar to instruction cache miss</a:t>
            </a:r>
          </a:p>
          <a:p>
            <a:pPr marL="990600" lvl="1" indent="-533400" eaLnBrk="1" hangingPunct="1">
              <a:lnSpc>
                <a:spcPct val="90000"/>
              </a:lnSpc>
            </a:pPr>
            <a:r>
              <a:rPr lang="en-US" sz="1800" smtClean="0"/>
              <a:t>To reduce data miss penalty allow processor to execute instructions while waiting for the read to complete</a:t>
            </a:r>
            <a:r>
              <a:rPr lang="en-US" sz="1800" i="1" smtClean="0"/>
              <a:t> until</a:t>
            </a:r>
            <a:r>
              <a:rPr lang="en-US" sz="1800" smtClean="0"/>
              <a:t> the word is required – </a:t>
            </a:r>
            <a:r>
              <a:rPr lang="en-US" sz="1800" i="1" smtClean="0"/>
              <a:t>stall on use</a:t>
            </a:r>
            <a:r>
              <a:rPr lang="en-US" sz="1800" smtClean="0"/>
              <a:t> (why won’t this work for instruction misses?)</a:t>
            </a:r>
          </a:p>
          <a:p>
            <a:pPr marL="990600" lvl="1" indent="-533400" eaLnBrk="1" hangingPunct="1">
              <a:lnSpc>
                <a:spcPct val="90000"/>
              </a:lnSpc>
              <a:buFont typeface="Wingdings" pitchFamily="2" charset="2"/>
              <a:buAutoNum type="arabicPeriod"/>
            </a:pPr>
            <a:endParaRPr lang="en-US" sz="180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Mayank Pandey, MNNIT, Allahabad, India</a:t>
            </a:r>
            <a:endParaRPr lang="en-US"/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402638" cy="1143000"/>
          </a:xfrm>
        </p:spPr>
        <p:txBody>
          <a:bodyPr/>
          <a:lstStyle/>
          <a:p>
            <a:pPr eaLnBrk="1" hangingPunct="1"/>
            <a:r>
              <a:rPr lang="en-US" sz="3200" dirty="0" err="1" smtClean="0"/>
              <a:t>DECStation</a:t>
            </a:r>
            <a:r>
              <a:rPr lang="en-US" sz="3200" dirty="0" smtClean="0"/>
              <a:t> 3100 Cache (MIPS R2000 processor) </a:t>
            </a:r>
          </a:p>
        </p:txBody>
      </p:sp>
      <p:pic>
        <p:nvPicPr>
          <p:cNvPr id="12292" name="Picture 4" descr="C:\Work\Architecture\CODbookFigures\F0708.W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7400" y="1524000"/>
            <a:ext cx="4098925" cy="4864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3505200" y="1295400"/>
            <a:ext cx="250348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/>
              <a:t>Address showing bit positions</a:t>
            </a:r>
          </a:p>
        </p:txBody>
      </p:sp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4267200" y="5638800"/>
            <a:ext cx="4529138" cy="82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b="1"/>
              <a:t>Cache with 16K 1-word blocks: </a:t>
            </a:r>
            <a:r>
              <a:rPr lang="en-US" sz="1600" b="1" i="1"/>
              <a:t>byte offset</a:t>
            </a:r>
          </a:p>
          <a:p>
            <a:r>
              <a:rPr lang="en-US" sz="1600" b="1"/>
              <a:t>(least 2 significant bits) is ignored and </a:t>
            </a:r>
          </a:p>
          <a:p>
            <a:r>
              <a:rPr lang="en-US" sz="1600" b="1"/>
              <a:t>next 14 bits used to index into cache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492875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Mayank Pandey, MNNIT, Allahabad, India</a:t>
            </a:r>
            <a:endParaRPr lang="en-US" dirty="0"/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225425" y="312738"/>
            <a:ext cx="2279650" cy="4778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1371600"/>
            <a:ext cx="7772400" cy="5029200"/>
          </a:xfrm>
          <a:noFill/>
        </p:spPr>
        <p:txBody>
          <a:bodyPr lIns="90488" tIns="44450" rIns="90488" bIns="44450"/>
          <a:lstStyle/>
          <a:p>
            <a:pPr eaLnBrk="1" hangingPunct="1">
              <a:lnSpc>
                <a:spcPct val="90000"/>
              </a:lnSpc>
            </a:pPr>
            <a:r>
              <a:rPr lang="en-US" sz="2000" i="1" dirty="0" smtClean="0"/>
              <a:t>Write-through</a:t>
            </a:r>
            <a:r>
              <a:rPr lang="en-US" sz="2000" dirty="0" smtClean="0"/>
              <a:t> scheme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800" dirty="0" smtClean="0"/>
              <a:t>on </a:t>
            </a:r>
            <a:r>
              <a:rPr lang="en-US" sz="1800" i="1" dirty="0" smtClean="0"/>
              <a:t>write</a:t>
            </a:r>
            <a:r>
              <a:rPr lang="en-US" sz="1800" dirty="0" smtClean="0"/>
              <a:t> </a:t>
            </a:r>
            <a:r>
              <a:rPr lang="en-US" sz="1800" i="1" dirty="0" smtClean="0"/>
              <a:t>hit</a:t>
            </a:r>
            <a:r>
              <a:rPr lang="en-US" sz="1800" dirty="0" smtClean="0"/>
              <a:t>: replace data in cache </a:t>
            </a:r>
            <a:r>
              <a:rPr lang="en-US" sz="1800" i="1" dirty="0" smtClean="0"/>
              <a:t>and </a:t>
            </a:r>
            <a:r>
              <a:rPr lang="en-US" sz="1800" dirty="0" smtClean="0"/>
              <a:t>memory with </a:t>
            </a:r>
            <a:r>
              <a:rPr lang="en-US" sz="1800" i="1" dirty="0" smtClean="0"/>
              <a:t>every </a:t>
            </a:r>
            <a:r>
              <a:rPr lang="en-US" sz="1800" dirty="0" smtClean="0"/>
              <a:t>write hit to avoid </a:t>
            </a:r>
            <a:r>
              <a:rPr lang="en-US" sz="1800" i="1" dirty="0" smtClean="0"/>
              <a:t>inconsistency</a:t>
            </a:r>
            <a:r>
              <a:rPr lang="en-US" sz="1800" dirty="0" smtClean="0"/>
              <a:t>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800" dirty="0" smtClean="0"/>
              <a:t>on </a:t>
            </a:r>
            <a:r>
              <a:rPr lang="en-US" sz="1800" i="1" dirty="0" smtClean="0"/>
              <a:t>write</a:t>
            </a:r>
            <a:r>
              <a:rPr lang="en-US" sz="1800" dirty="0" smtClean="0"/>
              <a:t> </a:t>
            </a:r>
            <a:r>
              <a:rPr lang="en-US" sz="1800" i="1" dirty="0" smtClean="0"/>
              <a:t>miss</a:t>
            </a:r>
            <a:r>
              <a:rPr lang="en-US" sz="1800" dirty="0" smtClean="0"/>
              <a:t>: write the word into cache </a:t>
            </a:r>
            <a:r>
              <a:rPr lang="en-US" sz="1800" i="1" dirty="0" smtClean="0"/>
              <a:t>and </a:t>
            </a:r>
            <a:r>
              <a:rPr lang="en-US" sz="1800" dirty="0" smtClean="0"/>
              <a:t>memory – obviously no need to read missed word from memory!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800" dirty="0" smtClean="0"/>
              <a:t>Write-through is slow because of always required memory write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1600" dirty="0" smtClean="0"/>
              <a:t>performance is improved with a </a:t>
            </a:r>
            <a:r>
              <a:rPr lang="en-US" sz="1600" i="1" dirty="0" smtClean="0"/>
              <a:t>write buffer</a:t>
            </a:r>
            <a:r>
              <a:rPr lang="en-US" sz="1600" dirty="0" smtClean="0"/>
              <a:t> where words are stored while waiting to be written to memory – processor can continue execution until write buffer is full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1600" dirty="0" smtClean="0"/>
              <a:t>when a word in the write buffer completes writing into main that buffer slot is freed and becomes available for future writes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1600" dirty="0" smtClean="0"/>
              <a:t>DEC 3100 write buffer has 4 words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i="1" dirty="0" smtClean="0"/>
              <a:t>Write-back</a:t>
            </a:r>
            <a:r>
              <a:rPr lang="en-US" sz="2000" dirty="0" smtClean="0"/>
              <a:t> scheme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800" dirty="0" smtClean="0"/>
              <a:t>write the data block </a:t>
            </a:r>
            <a:r>
              <a:rPr lang="en-US" sz="1800" i="1" dirty="0" smtClean="0"/>
              <a:t>only</a:t>
            </a:r>
            <a:r>
              <a:rPr lang="en-US" sz="1800" dirty="0" smtClean="0"/>
              <a:t> into the cache and </a:t>
            </a:r>
            <a:r>
              <a:rPr lang="en-US" sz="1800" i="1" dirty="0" smtClean="0"/>
              <a:t>write-back</a:t>
            </a:r>
            <a:r>
              <a:rPr lang="en-US" sz="1800" dirty="0" smtClean="0"/>
              <a:t> the block to main </a:t>
            </a:r>
            <a:r>
              <a:rPr lang="en-US" sz="1800" i="1" dirty="0" smtClean="0"/>
              <a:t>only when</a:t>
            </a:r>
            <a:r>
              <a:rPr lang="en-US" sz="1800" dirty="0" smtClean="0"/>
              <a:t> it is replaced in cache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800" dirty="0" smtClean="0"/>
              <a:t>more efficient than write-through, more complex to implement</a:t>
            </a:r>
          </a:p>
        </p:txBody>
      </p:sp>
      <p:sp>
        <p:nvSpPr>
          <p:cNvPr id="13316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smtClean="0"/>
              <a:t>Cache Write Hit/Miss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Mayank Pandey, MNNIT, Allahabad, India</a:t>
            </a:r>
            <a:endParaRPr lang="en-US"/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43000" y="1295400"/>
            <a:ext cx="7772400" cy="4114800"/>
          </a:xfrm>
          <a:noFill/>
        </p:spPr>
        <p:txBody>
          <a:bodyPr lIns="90488" tIns="44450" rIns="90488" bIns="44450"/>
          <a:lstStyle/>
          <a:p>
            <a:pPr eaLnBrk="1" hangingPunct="1"/>
            <a:r>
              <a:rPr lang="en-US" sz="2000" smtClean="0"/>
              <a:t>Taking advantage of spatial locality with </a:t>
            </a:r>
            <a:r>
              <a:rPr lang="en-US" sz="2000" i="1" smtClean="0"/>
              <a:t>larger </a:t>
            </a:r>
            <a:r>
              <a:rPr lang="en-US" sz="2000" smtClean="0"/>
              <a:t>blocks:</a:t>
            </a: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</p:txBody>
      </p:sp>
      <p:sp>
        <p:nvSpPr>
          <p:cNvPr id="14339" name="Rectangle 4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410575" cy="1143000"/>
          </a:xfrm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dirty="0" smtClean="0"/>
              <a:t>Direct Mapped Cache:</a:t>
            </a:r>
          </a:p>
        </p:txBody>
      </p:sp>
      <p:pic>
        <p:nvPicPr>
          <p:cNvPr id="14340" name="Picture 5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85900" y="1849438"/>
            <a:ext cx="6172200" cy="40179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pic>
      <p:sp>
        <p:nvSpPr>
          <p:cNvPr id="14341" name="Text Box 6"/>
          <p:cNvSpPr txBox="1">
            <a:spLocks noChangeArrowheads="1"/>
          </p:cNvSpPr>
          <p:nvPr/>
        </p:nvSpPr>
        <p:spPr bwMode="auto">
          <a:xfrm>
            <a:off x="2895600" y="1600200"/>
            <a:ext cx="250348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/>
              <a:t>Address showing bit positions</a:t>
            </a:r>
          </a:p>
        </p:txBody>
      </p:sp>
      <p:sp>
        <p:nvSpPr>
          <p:cNvPr id="14342" name="Text Box 8"/>
          <p:cNvSpPr txBox="1">
            <a:spLocks noChangeArrowheads="1"/>
          </p:cNvSpPr>
          <p:nvPr/>
        </p:nvSpPr>
        <p:spPr bwMode="auto">
          <a:xfrm>
            <a:off x="609600" y="5819775"/>
            <a:ext cx="8153400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600" b="1"/>
              <a:t>Cache with 4K 4-word blocks: </a:t>
            </a:r>
            <a:r>
              <a:rPr lang="en-US" sz="1600" b="1" i="1"/>
              <a:t>byte offset</a:t>
            </a:r>
            <a:r>
              <a:rPr lang="en-US" sz="1600" b="1"/>
              <a:t> (least 2 significant bits) is ignored, next 2 bits are </a:t>
            </a:r>
            <a:r>
              <a:rPr lang="en-US" sz="1600" b="1" i="1"/>
              <a:t>block offset</a:t>
            </a:r>
            <a:r>
              <a:rPr lang="en-US" sz="1600" b="1"/>
              <a:t>, and the next 12 bits are used to index into cache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Mayank Pandey, MNNIT, Allahabad, India</a:t>
            </a:r>
            <a:endParaRPr lang="en-US"/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Direct Mapped Cache:</a:t>
            </a:r>
          </a:p>
        </p:txBody>
      </p:sp>
      <p:sp>
        <p:nvSpPr>
          <p:cNvPr id="15363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7772400" cy="4114800"/>
          </a:xfrm>
        </p:spPr>
        <p:txBody>
          <a:bodyPr/>
          <a:lstStyle/>
          <a:p>
            <a:pPr eaLnBrk="1" hangingPunct="1">
              <a:buNone/>
            </a:pPr>
            <a:r>
              <a:rPr lang="en-US" sz="2000" b="1" dirty="0" smtClean="0"/>
              <a:t>Taking Advantage of Spatial Locality:</a:t>
            </a:r>
            <a:endParaRPr lang="en-US" sz="2000" b="1" i="1" dirty="0" smtClean="0"/>
          </a:p>
          <a:p>
            <a:pPr eaLnBrk="1" hangingPunct="1"/>
            <a:r>
              <a:rPr lang="en-US" sz="2000" i="1" dirty="0" smtClean="0"/>
              <a:t>Cache replacement</a:t>
            </a:r>
            <a:r>
              <a:rPr lang="en-US" sz="2000" dirty="0" smtClean="0"/>
              <a:t> in large (multiword) blocks:</a:t>
            </a:r>
          </a:p>
          <a:p>
            <a:pPr lvl="1" eaLnBrk="1" hangingPunct="1"/>
            <a:r>
              <a:rPr lang="en-US" sz="1800" dirty="0" smtClean="0"/>
              <a:t>word </a:t>
            </a:r>
            <a:r>
              <a:rPr lang="en-US" sz="1800" i="1" dirty="0" smtClean="0"/>
              <a:t>read miss</a:t>
            </a:r>
            <a:r>
              <a:rPr lang="en-US" sz="1800" dirty="0" smtClean="0"/>
              <a:t>: read entire block from main memory</a:t>
            </a:r>
          </a:p>
          <a:p>
            <a:pPr lvl="1" eaLnBrk="1" hangingPunct="1"/>
            <a:r>
              <a:rPr lang="en-US" sz="1800" dirty="0" smtClean="0"/>
              <a:t>word </a:t>
            </a:r>
            <a:r>
              <a:rPr lang="en-US" sz="1800" i="1" dirty="0" smtClean="0"/>
              <a:t>write miss</a:t>
            </a:r>
            <a:r>
              <a:rPr lang="en-US" sz="1800" dirty="0" smtClean="0"/>
              <a:t>: </a:t>
            </a:r>
            <a:r>
              <a:rPr lang="en-US" sz="1800" i="1" dirty="0" smtClean="0"/>
              <a:t>cannot</a:t>
            </a:r>
            <a:r>
              <a:rPr lang="en-US" sz="1800" dirty="0" smtClean="0"/>
              <a:t> simply write word and tag! </a:t>
            </a:r>
            <a:r>
              <a:rPr lang="en-US" sz="1800" i="1" dirty="0" smtClean="0"/>
              <a:t>Why</a:t>
            </a:r>
            <a:r>
              <a:rPr lang="en-US" sz="1800" dirty="0" smtClean="0"/>
              <a:t>?!</a:t>
            </a:r>
          </a:p>
          <a:p>
            <a:pPr lvl="1" eaLnBrk="1" hangingPunct="1"/>
            <a:r>
              <a:rPr lang="en-US" sz="1800" dirty="0" smtClean="0"/>
              <a:t>writing in a </a:t>
            </a:r>
            <a:r>
              <a:rPr lang="en-US" sz="1800" i="1" dirty="0" smtClean="0"/>
              <a:t>write-through</a:t>
            </a:r>
            <a:r>
              <a:rPr lang="en-US" sz="1800" dirty="0" smtClean="0"/>
              <a:t> cache:</a:t>
            </a:r>
          </a:p>
          <a:p>
            <a:pPr lvl="2" eaLnBrk="1" hangingPunct="1"/>
            <a:r>
              <a:rPr lang="en-US" sz="1600" dirty="0" smtClean="0"/>
              <a:t>if </a:t>
            </a:r>
            <a:r>
              <a:rPr lang="en-US" sz="1600" i="1" dirty="0" smtClean="0"/>
              <a:t>write hit</a:t>
            </a:r>
            <a:r>
              <a:rPr lang="en-US" sz="1600" dirty="0" smtClean="0"/>
              <a:t>, i.e., tag of requested address and </a:t>
            </a:r>
            <a:r>
              <a:rPr lang="en-US" sz="1600" dirty="0" err="1" smtClean="0"/>
              <a:t>and</a:t>
            </a:r>
            <a:r>
              <a:rPr lang="en-US" sz="1600" dirty="0" smtClean="0"/>
              <a:t> cache entry are equal, continue as for 1-word blocks by replacing word and writing block to both cache and memory</a:t>
            </a:r>
          </a:p>
          <a:p>
            <a:pPr lvl="2" eaLnBrk="1" hangingPunct="1"/>
            <a:r>
              <a:rPr lang="en-US" sz="1600" dirty="0" smtClean="0"/>
              <a:t>if </a:t>
            </a:r>
            <a:r>
              <a:rPr lang="en-US" sz="1600" i="1" dirty="0" smtClean="0"/>
              <a:t>write miss</a:t>
            </a:r>
            <a:r>
              <a:rPr lang="en-US" sz="1600" dirty="0" smtClean="0"/>
              <a:t>, i.e., tags are unequal, fetch block from memory, replace word that caused miss, and write block to both cache and memory</a:t>
            </a:r>
          </a:p>
          <a:p>
            <a:pPr lvl="2" eaLnBrk="1" hangingPunct="1"/>
            <a:r>
              <a:rPr lang="en-US" sz="1600" dirty="0" smtClean="0"/>
              <a:t>therefore, unlike case of 1-word blocks, a write miss with a multiword block causes a memory read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Mayank Pandey, MNNIT, Allahabad, India</a:t>
            </a:r>
            <a:endParaRPr lang="en-US"/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7772400" cy="4114800"/>
          </a:xfrm>
        </p:spPr>
        <p:txBody>
          <a:bodyPr/>
          <a:lstStyle/>
          <a:p>
            <a:pPr eaLnBrk="1" hangingPunct="1">
              <a:buNone/>
            </a:pPr>
            <a:r>
              <a:rPr lang="en-US" sz="2000" b="1" dirty="0" smtClean="0"/>
              <a:t>Taking Advantage of Spatial Locality</a:t>
            </a:r>
            <a:endParaRPr lang="en-US" sz="2000" dirty="0" smtClean="0"/>
          </a:p>
          <a:p>
            <a:pPr eaLnBrk="1" hangingPunct="1"/>
            <a:r>
              <a:rPr lang="en-US" sz="1800" dirty="0" smtClean="0"/>
              <a:t>Miss rate falls at first with increasing block size as expected, but, as block size becomes a large fraction of total cache size, miss rate may go up because </a:t>
            </a:r>
          </a:p>
          <a:p>
            <a:pPr lvl="1" eaLnBrk="1" hangingPunct="1"/>
            <a:r>
              <a:rPr lang="en-US" sz="1600" dirty="0" smtClean="0"/>
              <a:t>there are few blocks</a:t>
            </a:r>
          </a:p>
          <a:p>
            <a:pPr lvl="1" eaLnBrk="1" hangingPunct="1"/>
            <a:r>
              <a:rPr lang="en-US" sz="1600" dirty="0" smtClean="0"/>
              <a:t>competition for blocks increases</a:t>
            </a:r>
          </a:p>
          <a:p>
            <a:pPr lvl="1" eaLnBrk="1" hangingPunct="1"/>
            <a:r>
              <a:rPr lang="en-US" sz="1600" dirty="0" smtClean="0"/>
              <a:t>blocks get ejected before most of their words are accessed (</a:t>
            </a:r>
            <a:r>
              <a:rPr lang="en-US" sz="1600" i="1" dirty="0" smtClean="0"/>
              <a:t>thrashing</a:t>
            </a:r>
            <a:r>
              <a:rPr lang="en-US" sz="1600" dirty="0" smtClean="0"/>
              <a:t> in cache)</a:t>
            </a:r>
          </a:p>
        </p:txBody>
      </p:sp>
      <p:sp>
        <p:nvSpPr>
          <p:cNvPr id="16387" name="Rectangle 1028"/>
          <p:cNvSpPr>
            <a:spLocks noGrp="1" noChangeArrowheads="1"/>
          </p:cNvSpPr>
          <p:nvPr>
            <p:ph type="title"/>
          </p:nvPr>
        </p:nvSpPr>
        <p:spPr>
          <a:xfrm>
            <a:off x="609600" y="381000"/>
            <a:ext cx="8334375" cy="1143000"/>
          </a:xfrm>
          <a:noFill/>
        </p:spPr>
        <p:txBody>
          <a:bodyPr/>
          <a:lstStyle/>
          <a:p>
            <a:pPr eaLnBrk="1" hangingPunct="1"/>
            <a:r>
              <a:rPr lang="en-US" dirty="0" smtClean="0"/>
              <a:t>Direct Mapped Cache:</a:t>
            </a:r>
          </a:p>
        </p:txBody>
      </p:sp>
      <p:pic>
        <p:nvPicPr>
          <p:cNvPr id="16388" name="Picture 1029" descr="C:\Work\Architecture\CODbookFigures\F0712.w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00400" y="3276600"/>
            <a:ext cx="4419600" cy="324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389" name="Text Box 1030"/>
          <p:cNvSpPr txBox="1">
            <a:spLocks noChangeArrowheads="1"/>
          </p:cNvSpPr>
          <p:nvPr/>
        </p:nvSpPr>
        <p:spPr bwMode="auto">
          <a:xfrm>
            <a:off x="3833813" y="5972175"/>
            <a:ext cx="2871787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b="1"/>
              <a:t>Miss rate vs. block size for</a:t>
            </a:r>
          </a:p>
          <a:p>
            <a:r>
              <a:rPr lang="en-US" sz="1600" b="1"/>
              <a:t>various cache sizes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Mayank Pandey, MNNIT, Allahabad, India</a:t>
            </a:r>
            <a:endParaRPr lang="en-US"/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Example Problem</a:t>
            </a:r>
          </a:p>
        </p:txBody>
      </p:sp>
      <p:sp>
        <p:nvSpPr>
          <p:cNvPr id="17411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609600" y="1371600"/>
            <a:ext cx="8153400" cy="4114800"/>
          </a:xfrm>
        </p:spPr>
        <p:txBody>
          <a:bodyPr/>
          <a:lstStyle/>
          <a:p>
            <a:pPr eaLnBrk="1" hangingPunct="1"/>
            <a:r>
              <a:rPr lang="en-US" sz="2000" i="1" dirty="0" smtClean="0">
                <a:latin typeface="Times New Roman" pitchFamily="18" charset="0"/>
              </a:rPr>
              <a:t>How many total bits are required for a direct-mapped cache with 128 KB of data and 1-word block size, assuming a 32-bit address?</a:t>
            </a:r>
          </a:p>
          <a:p>
            <a:pPr eaLnBrk="1" hangingPunct="1"/>
            <a:endParaRPr lang="en-US" sz="2000" i="1" dirty="0" smtClean="0">
              <a:latin typeface="Times New Roman" pitchFamily="18" charset="0"/>
            </a:endParaRPr>
          </a:p>
          <a:p>
            <a:pPr eaLnBrk="1" hangingPunct="1"/>
            <a:r>
              <a:rPr lang="en-US" sz="2000" dirty="0" smtClean="0"/>
              <a:t>Cache data = 128 KB = 2</a:t>
            </a:r>
            <a:r>
              <a:rPr lang="en-US" sz="2000" baseline="30000" dirty="0" smtClean="0"/>
              <a:t>17</a:t>
            </a:r>
            <a:r>
              <a:rPr lang="en-US" sz="2000" dirty="0" smtClean="0"/>
              <a:t> bytes = 2</a:t>
            </a:r>
            <a:r>
              <a:rPr lang="en-US" sz="2000" baseline="30000" dirty="0" smtClean="0"/>
              <a:t>15</a:t>
            </a:r>
            <a:r>
              <a:rPr lang="en-US" sz="2000" dirty="0" smtClean="0"/>
              <a:t> words = 2</a:t>
            </a:r>
            <a:r>
              <a:rPr lang="en-US" sz="2000" baseline="30000" dirty="0" smtClean="0"/>
              <a:t>15 </a:t>
            </a:r>
            <a:r>
              <a:rPr lang="en-US" sz="2000" dirty="0" smtClean="0"/>
              <a:t>blocks</a:t>
            </a:r>
          </a:p>
          <a:p>
            <a:pPr eaLnBrk="1" hangingPunct="1"/>
            <a:r>
              <a:rPr lang="en-US" sz="2000" dirty="0" smtClean="0"/>
              <a:t>Cache entry size = block data bits  + tag bits + valid bit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dirty="0" smtClean="0"/>
              <a:t>                   = 32 + (32 – 15 – 2) + 1 = 48 bits</a:t>
            </a:r>
          </a:p>
          <a:p>
            <a:pPr eaLnBrk="1" hangingPunct="1"/>
            <a:r>
              <a:rPr lang="en-US" sz="2000" dirty="0" smtClean="0"/>
              <a:t>Therefore, cache size = 2</a:t>
            </a:r>
            <a:r>
              <a:rPr lang="en-US" sz="2000" baseline="30000" dirty="0" smtClean="0"/>
              <a:t>15</a:t>
            </a:r>
            <a:r>
              <a:rPr lang="en-US" sz="2000" dirty="0" smtClean="0"/>
              <a:t> </a:t>
            </a:r>
            <a:r>
              <a:rPr lang="en-US" sz="2000" b="1" dirty="0" smtClean="0">
                <a:sym typeface="Symbol" pitchFamily="18" charset="2"/>
              </a:rPr>
              <a:t></a:t>
            </a:r>
            <a:r>
              <a:rPr lang="en-US" sz="2000" dirty="0" smtClean="0">
                <a:sym typeface="Symbol" pitchFamily="18" charset="2"/>
              </a:rPr>
              <a:t> 48 bits =  2</a:t>
            </a:r>
            <a:r>
              <a:rPr lang="en-US" sz="2000" baseline="30000" dirty="0" smtClean="0">
                <a:sym typeface="Symbol" pitchFamily="18" charset="2"/>
              </a:rPr>
              <a:t>15</a:t>
            </a:r>
            <a:r>
              <a:rPr lang="en-US" sz="2000" dirty="0" smtClean="0">
                <a:sym typeface="Symbol" pitchFamily="18" charset="2"/>
              </a:rPr>
              <a:t> </a:t>
            </a:r>
            <a:r>
              <a:rPr lang="en-US" sz="2000" b="1" dirty="0" smtClean="0">
                <a:sym typeface="Symbol" pitchFamily="18" charset="2"/>
              </a:rPr>
              <a:t></a:t>
            </a:r>
            <a:r>
              <a:rPr lang="en-US" sz="2000" dirty="0" smtClean="0">
                <a:sym typeface="Symbol" pitchFamily="18" charset="2"/>
              </a:rPr>
              <a:t> (1.5 </a:t>
            </a:r>
            <a:r>
              <a:rPr lang="en-US" sz="2000" b="1" dirty="0" smtClean="0">
                <a:sym typeface="Symbol" pitchFamily="18" charset="2"/>
              </a:rPr>
              <a:t></a:t>
            </a:r>
            <a:r>
              <a:rPr lang="en-US" sz="2000" dirty="0" smtClean="0">
                <a:sym typeface="Symbol" pitchFamily="18" charset="2"/>
              </a:rPr>
              <a:t> 32) bits = 1.5 </a:t>
            </a:r>
            <a:r>
              <a:rPr lang="en-US" sz="2000" b="1" dirty="0" smtClean="0">
                <a:sym typeface="Symbol" pitchFamily="18" charset="2"/>
              </a:rPr>
              <a:t> </a:t>
            </a:r>
            <a:r>
              <a:rPr lang="en-US" sz="2000" dirty="0" smtClean="0">
                <a:sym typeface="Symbol" pitchFamily="18" charset="2"/>
              </a:rPr>
              <a:t>2</a:t>
            </a:r>
            <a:r>
              <a:rPr lang="en-US" sz="2000" baseline="30000" dirty="0" smtClean="0">
                <a:sym typeface="Symbol" pitchFamily="18" charset="2"/>
              </a:rPr>
              <a:t>20</a:t>
            </a:r>
            <a:r>
              <a:rPr lang="en-US" sz="2000" dirty="0" smtClean="0">
                <a:sym typeface="Symbol" pitchFamily="18" charset="2"/>
              </a:rPr>
              <a:t> bits = 1.5 </a:t>
            </a:r>
            <a:r>
              <a:rPr lang="en-US" sz="2000" dirty="0" err="1" smtClean="0">
                <a:sym typeface="Symbol" pitchFamily="18" charset="2"/>
              </a:rPr>
              <a:t>Mbits</a:t>
            </a:r>
            <a:endParaRPr lang="en-US" sz="2000" dirty="0" smtClean="0">
              <a:sym typeface="Symbol" pitchFamily="18" charset="2"/>
            </a:endParaRPr>
          </a:p>
          <a:p>
            <a:pPr lvl="1" eaLnBrk="1" hangingPunct="1"/>
            <a:r>
              <a:rPr lang="en-US" sz="1800" dirty="0" smtClean="0"/>
              <a:t>data bits in cache = 128 KB </a:t>
            </a:r>
            <a:r>
              <a:rPr lang="en-US" sz="1800" b="1" dirty="0" smtClean="0">
                <a:sym typeface="Symbol" pitchFamily="18" charset="2"/>
              </a:rPr>
              <a:t></a:t>
            </a:r>
            <a:r>
              <a:rPr lang="en-US" sz="1800" dirty="0" smtClean="0">
                <a:sym typeface="Symbol" pitchFamily="18" charset="2"/>
              </a:rPr>
              <a:t> 8 = 1 </a:t>
            </a:r>
            <a:r>
              <a:rPr lang="en-US" sz="1800" dirty="0" err="1" smtClean="0">
                <a:sym typeface="Symbol" pitchFamily="18" charset="2"/>
              </a:rPr>
              <a:t>Mbits</a:t>
            </a:r>
            <a:endParaRPr lang="en-US" sz="1800" dirty="0" smtClean="0">
              <a:sym typeface="Symbol" pitchFamily="18" charset="2"/>
            </a:endParaRPr>
          </a:p>
          <a:p>
            <a:pPr lvl="1" eaLnBrk="1" hangingPunct="1"/>
            <a:r>
              <a:rPr lang="en-US" sz="1800" dirty="0" smtClean="0">
                <a:sym typeface="Symbol" pitchFamily="18" charset="2"/>
              </a:rPr>
              <a:t>total cache size/actual cache data = 1.5</a:t>
            </a:r>
            <a:endParaRPr lang="en-US" sz="1800" dirty="0" smtClean="0"/>
          </a:p>
          <a:p>
            <a:pPr eaLnBrk="1" hangingPunct="1">
              <a:buFont typeface="Wingdings" pitchFamily="2" charset="2"/>
              <a:buNone/>
            </a:pPr>
            <a:endParaRPr lang="en-US" sz="2000" dirty="0" smtClean="0"/>
          </a:p>
          <a:p>
            <a:pPr eaLnBrk="1" hangingPunct="1"/>
            <a:endParaRPr lang="en-US" sz="2000" i="1" dirty="0" smtClean="0">
              <a:latin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Mayank Pandey, MNNIT, Allahabad, India</a:t>
            </a:r>
            <a:endParaRPr lang="en-US"/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Example Problem</a:t>
            </a:r>
          </a:p>
        </p:txBody>
      </p:sp>
      <p:sp>
        <p:nvSpPr>
          <p:cNvPr id="18435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7199312" cy="4114800"/>
          </a:xfrm>
        </p:spPr>
        <p:txBody>
          <a:bodyPr/>
          <a:lstStyle/>
          <a:p>
            <a:pPr eaLnBrk="1" hangingPunct="1"/>
            <a:r>
              <a:rPr lang="en-US" sz="2000" i="1" dirty="0" smtClean="0">
                <a:latin typeface="Times New Roman" pitchFamily="18" charset="0"/>
              </a:rPr>
              <a:t>How many total bits are required for a direct-mapped cache with 128 KB of data and 4-word block size, assuming a 32-bit address?</a:t>
            </a:r>
          </a:p>
          <a:p>
            <a:pPr eaLnBrk="1" hangingPunct="1"/>
            <a:endParaRPr lang="en-US" sz="2000" i="1" dirty="0" smtClean="0">
              <a:latin typeface="Times New Roman" pitchFamily="18" charset="0"/>
            </a:endParaRPr>
          </a:p>
          <a:p>
            <a:pPr eaLnBrk="1" hangingPunct="1"/>
            <a:r>
              <a:rPr lang="en-US" sz="2000" dirty="0" smtClean="0"/>
              <a:t>Cache size = 128 KB = 2</a:t>
            </a:r>
            <a:r>
              <a:rPr lang="en-US" sz="2000" baseline="30000" dirty="0" smtClean="0"/>
              <a:t>17</a:t>
            </a:r>
            <a:r>
              <a:rPr lang="en-US" sz="2000" dirty="0" smtClean="0"/>
              <a:t> bytes = 2</a:t>
            </a:r>
            <a:r>
              <a:rPr lang="en-US" sz="2000" baseline="30000" dirty="0" smtClean="0"/>
              <a:t>15</a:t>
            </a:r>
            <a:r>
              <a:rPr lang="en-US" sz="2000" dirty="0" smtClean="0"/>
              <a:t> words = 2</a:t>
            </a:r>
            <a:r>
              <a:rPr lang="en-US" sz="2000" baseline="30000" dirty="0" smtClean="0"/>
              <a:t>13 </a:t>
            </a:r>
            <a:r>
              <a:rPr lang="en-US" sz="2000" dirty="0" smtClean="0"/>
              <a:t>blocks</a:t>
            </a:r>
          </a:p>
          <a:p>
            <a:pPr eaLnBrk="1" hangingPunct="1"/>
            <a:r>
              <a:rPr lang="en-US" sz="2000" dirty="0" smtClean="0"/>
              <a:t>Cache entry size = block data bits  + tag bits + valid bit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dirty="0" smtClean="0"/>
              <a:t>                   = 128 + (32 – 13 – 2 – 2) + 1 = 144 bits</a:t>
            </a:r>
          </a:p>
          <a:p>
            <a:pPr eaLnBrk="1" hangingPunct="1"/>
            <a:r>
              <a:rPr lang="en-US" sz="2000" dirty="0" smtClean="0"/>
              <a:t>Therefore, cache size = 2</a:t>
            </a:r>
            <a:r>
              <a:rPr lang="en-US" sz="2000" baseline="30000" dirty="0" smtClean="0"/>
              <a:t>13</a:t>
            </a:r>
            <a:r>
              <a:rPr lang="en-US" sz="2000" dirty="0" smtClean="0"/>
              <a:t> </a:t>
            </a:r>
            <a:r>
              <a:rPr lang="en-US" sz="2000" b="1" dirty="0" smtClean="0">
                <a:sym typeface="Symbol" pitchFamily="18" charset="2"/>
              </a:rPr>
              <a:t></a:t>
            </a:r>
            <a:r>
              <a:rPr lang="en-US" sz="2000" dirty="0" smtClean="0">
                <a:sym typeface="Symbol" pitchFamily="18" charset="2"/>
              </a:rPr>
              <a:t> 144 bits =   2</a:t>
            </a:r>
            <a:r>
              <a:rPr lang="en-US" sz="2000" baseline="30000" dirty="0" smtClean="0">
                <a:sym typeface="Symbol" pitchFamily="18" charset="2"/>
              </a:rPr>
              <a:t>13</a:t>
            </a:r>
            <a:r>
              <a:rPr lang="en-US" sz="2000" dirty="0" smtClean="0">
                <a:sym typeface="Symbol" pitchFamily="18" charset="2"/>
              </a:rPr>
              <a:t> </a:t>
            </a:r>
            <a:r>
              <a:rPr lang="en-US" sz="2000" b="1" dirty="0" smtClean="0">
                <a:sym typeface="Symbol" pitchFamily="18" charset="2"/>
              </a:rPr>
              <a:t></a:t>
            </a:r>
            <a:r>
              <a:rPr lang="en-US" sz="2000" dirty="0" smtClean="0">
                <a:sym typeface="Symbol" pitchFamily="18" charset="2"/>
              </a:rPr>
              <a:t> (1.25 </a:t>
            </a:r>
            <a:r>
              <a:rPr lang="en-US" sz="2000" b="1" dirty="0" smtClean="0">
                <a:sym typeface="Symbol" pitchFamily="18" charset="2"/>
              </a:rPr>
              <a:t></a:t>
            </a:r>
            <a:r>
              <a:rPr lang="en-US" sz="2000" dirty="0" smtClean="0">
                <a:sym typeface="Symbol" pitchFamily="18" charset="2"/>
              </a:rPr>
              <a:t> 128) bits = 1.25 </a:t>
            </a:r>
            <a:r>
              <a:rPr lang="en-US" sz="2000" b="1" dirty="0" smtClean="0">
                <a:sym typeface="Symbol" pitchFamily="18" charset="2"/>
              </a:rPr>
              <a:t></a:t>
            </a:r>
            <a:r>
              <a:rPr lang="en-US" sz="2000" dirty="0" smtClean="0">
                <a:sym typeface="Symbol" pitchFamily="18" charset="2"/>
              </a:rPr>
              <a:t> 2</a:t>
            </a:r>
            <a:r>
              <a:rPr lang="en-US" sz="2000" baseline="30000" dirty="0" smtClean="0">
                <a:sym typeface="Symbol" pitchFamily="18" charset="2"/>
              </a:rPr>
              <a:t>20</a:t>
            </a:r>
            <a:r>
              <a:rPr lang="en-US" sz="2000" dirty="0" smtClean="0">
                <a:sym typeface="Symbol" pitchFamily="18" charset="2"/>
              </a:rPr>
              <a:t> bits = 1.25 </a:t>
            </a:r>
            <a:r>
              <a:rPr lang="en-US" sz="2000" dirty="0" err="1" smtClean="0">
                <a:sym typeface="Symbol" pitchFamily="18" charset="2"/>
              </a:rPr>
              <a:t>Mbits</a:t>
            </a:r>
            <a:endParaRPr lang="en-US" sz="2000" dirty="0" smtClean="0">
              <a:sym typeface="Symbol" pitchFamily="18" charset="2"/>
            </a:endParaRPr>
          </a:p>
          <a:p>
            <a:pPr lvl="1" eaLnBrk="1" hangingPunct="1"/>
            <a:r>
              <a:rPr lang="en-US" sz="1800" dirty="0" smtClean="0"/>
              <a:t>data bits in cache = 128 KB </a:t>
            </a:r>
            <a:r>
              <a:rPr lang="en-US" sz="1800" b="1" dirty="0" smtClean="0">
                <a:sym typeface="Symbol" pitchFamily="18" charset="2"/>
              </a:rPr>
              <a:t></a:t>
            </a:r>
            <a:r>
              <a:rPr lang="en-US" sz="1800" dirty="0" smtClean="0">
                <a:sym typeface="Symbol" pitchFamily="18" charset="2"/>
              </a:rPr>
              <a:t> 8 = 1 </a:t>
            </a:r>
            <a:r>
              <a:rPr lang="en-US" sz="1800" dirty="0" err="1" smtClean="0">
                <a:sym typeface="Symbol" pitchFamily="18" charset="2"/>
              </a:rPr>
              <a:t>Mbits</a:t>
            </a:r>
            <a:endParaRPr lang="en-US" sz="1800" dirty="0" smtClean="0">
              <a:sym typeface="Symbol" pitchFamily="18" charset="2"/>
            </a:endParaRPr>
          </a:p>
          <a:p>
            <a:pPr lvl="1" eaLnBrk="1" hangingPunct="1"/>
            <a:r>
              <a:rPr lang="en-US" sz="1800" dirty="0" smtClean="0">
                <a:sym typeface="Symbol" pitchFamily="18" charset="2"/>
              </a:rPr>
              <a:t>total cache size/actual cache data = 1.25</a:t>
            </a:r>
            <a:endParaRPr lang="en-US" sz="1800" dirty="0" smtClean="0"/>
          </a:p>
          <a:p>
            <a:pPr eaLnBrk="1" hangingPunct="1">
              <a:buFont typeface="Wingdings" pitchFamily="2" charset="2"/>
              <a:buNone/>
            </a:pPr>
            <a:endParaRPr lang="en-US" sz="2000" i="1" dirty="0" smtClean="0">
              <a:latin typeface="Times New Roman" pitchFamily="18" charset="0"/>
            </a:endParaRPr>
          </a:p>
          <a:p>
            <a:pPr eaLnBrk="1" hangingPunct="1"/>
            <a:endParaRPr lang="en-US" sz="2000" i="1" dirty="0" smtClean="0">
              <a:latin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Mayank Pandey, MNNIT, Allahabad, India</a:t>
            </a:r>
            <a:endParaRPr lang="en-US"/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Example Problem</a:t>
            </a:r>
          </a:p>
        </p:txBody>
      </p:sp>
      <p:sp>
        <p:nvSpPr>
          <p:cNvPr id="19459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000" i="1" smtClean="0">
                <a:latin typeface="Times New Roman" pitchFamily="18" charset="0"/>
              </a:rPr>
              <a:t>Consider a cache with 64 blocks and a block size of 16 bytes. What block number does byte address 1200 map to?</a:t>
            </a:r>
          </a:p>
          <a:p>
            <a:pPr eaLnBrk="1" hangingPunct="1"/>
            <a:endParaRPr lang="en-US" sz="2000" i="1" smtClean="0">
              <a:latin typeface="Times New Roman" pitchFamily="18" charset="0"/>
            </a:endParaRPr>
          </a:p>
          <a:p>
            <a:pPr eaLnBrk="1" hangingPunct="1"/>
            <a:r>
              <a:rPr lang="en-US" sz="2000" smtClean="0"/>
              <a:t>As block size = 16 bytes: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smtClean="0"/>
              <a:t>    byte address 1200 </a:t>
            </a:r>
            <a:r>
              <a:rPr lang="en-US" sz="2000" smtClean="0">
                <a:sym typeface="Symbol" pitchFamily="18" charset="2"/>
              </a:rPr>
              <a:t> block address 1200/16  = 75</a:t>
            </a:r>
            <a:endParaRPr lang="en-US" sz="2000" smtClean="0"/>
          </a:p>
          <a:p>
            <a:pPr eaLnBrk="1" hangingPunct="1"/>
            <a:r>
              <a:rPr lang="en-US" sz="2000" smtClean="0"/>
              <a:t>As cache size = 64 blocks: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smtClean="0"/>
              <a:t>    block address 75 </a:t>
            </a:r>
            <a:r>
              <a:rPr lang="en-US" sz="2000" smtClean="0">
                <a:sym typeface="Symbol" pitchFamily="18" charset="2"/>
              </a:rPr>
              <a:t> cache block (75 </a:t>
            </a:r>
            <a:r>
              <a:rPr lang="en-US" sz="2000" i="1" smtClean="0">
                <a:sym typeface="Symbol" pitchFamily="18" charset="2"/>
              </a:rPr>
              <a:t>mod</a:t>
            </a:r>
            <a:r>
              <a:rPr lang="en-US" sz="2000" smtClean="0">
                <a:sym typeface="Symbol" pitchFamily="18" charset="2"/>
              </a:rPr>
              <a:t> 64) = 11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Mayank Pandey, MNNIT, Allahabad, India</a:t>
            </a:r>
            <a:endParaRPr lang="en-US"/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225425" y="312738"/>
            <a:ext cx="1954213" cy="4778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7772400" cy="4114800"/>
          </a:xfrm>
          <a:noFill/>
        </p:spPr>
        <p:txBody>
          <a:bodyPr lIns="90488" tIns="44450" rIns="90488" bIns="44450"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2000" smtClean="0"/>
          </a:p>
          <a:p>
            <a:pPr eaLnBrk="1" hangingPunct="1">
              <a:lnSpc>
                <a:spcPct val="90000"/>
              </a:lnSpc>
            </a:pPr>
            <a:r>
              <a:rPr lang="en-US" sz="2000" smtClean="0"/>
              <a:t>Use split caches for instruction and data because there is more spatial locality in instruction references:</a:t>
            </a:r>
            <a:r>
              <a:rPr lang="en-US" sz="1800" smtClean="0"/>
              <a:t/>
            </a:r>
            <a:br>
              <a:rPr lang="en-US" sz="1800" smtClean="0"/>
            </a:br>
            <a:endParaRPr lang="en-US" sz="1800" smtClean="0"/>
          </a:p>
          <a:p>
            <a:pPr eaLnBrk="1" hangingPunct="1">
              <a:lnSpc>
                <a:spcPct val="90000"/>
              </a:lnSpc>
            </a:pPr>
            <a:endParaRPr lang="en-US" sz="2000" smtClean="0"/>
          </a:p>
          <a:p>
            <a:pPr eaLnBrk="1" hangingPunct="1">
              <a:lnSpc>
                <a:spcPct val="90000"/>
              </a:lnSpc>
            </a:pPr>
            <a:endParaRPr lang="en-US" sz="2000" smtClean="0"/>
          </a:p>
          <a:p>
            <a:pPr eaLnBrk="1" hangingPunct="1">
              <a:lnSpc>
                <a:spcPct val="90000"/>
              </a:lnSpc>
            </a:pPr>
            <a:endParaRPr lang="en-US" sz="2000" smtClean="0"/>
          </a:p>
          <a:p>
            <a:pPr eaLnBrk="1" hangingPunct="1">
              <a:lnSpc>
                <a:spcPct val="90000"/>
              </a:lnSpc>
            </a:pPr>
            <a:endParaRPr lang="en-US" sz="2000" smtClean="0"/>
          </a:p>
          <a:p>
            <a:pPr eaLnBrk="1" hangingPunct="1">
              <a:lnSpc>
                <a:spcPct val="90000"/>
              </a:lnSpc>
            </a:pPr>
            <a:endParaRPr lang="en-US" sz="2000" smtClean="0"/>
          </a:p>
          <a:p>
            <a:pPr eaLnBrk="1" hangingPunct="1">
              <a:lnSpc>
                <a:spcPct val="90000"/>
              </a:lnSpc>
            </a:pPr>
            <a:endParaRPr lang="en-US" sz="2000" smtClean="0"/>
          </a:p>
          <a:p>
            <a:pPr eaLnBrk="1" hangingPunct="1">
              <a:lnSpc>
                <a:spcPct val="90000"/>
              </a:lnSpc>
            </a:pPr>
            <a:endParaRPr lang="en-US" sz="2000" smtClean="0"/>
          </a:p>
          <a:p>
            <a:pPr eaLnBrk="1" hangingPunct="1">
              <a:lnSpc>
                <a:spcPct val="90000"/>
              </a:lnSpc>
            </a:pPr>
            <a:endParaRPr lang="en-US" sz="2000" smtClean="0"/>
          </a:p>
          <a:p>
            <a:pPr eaLnBrk="1" hangingPunct="1">
              <a:lnSpc>
                <a:spcPct val="90000"/>
              </a:lnSpc>
            </a:pPr>
            <a:r>
              <a:rPr lang="en-US" sz="2000" smtClean="0"/>
              <a:t>Make reading multiple words (higher bandwidth) possible by increasing physical or logical width of the system…</a:t>
            </a:r>
            <a:r>
              <a:rPr lang="en-US" sz="2800" smtClean="0"/>
              <a:t/>
            </a:r>
            <a:br>
              <a:rPr lang="en-US" sz="2800" smtClean="0"/>
            </a:br>
            <a:r>
              <a:rPr lang="en-US" sz="2800" smtClean="0"/>
              <a:t/>
            </a:r>
            <a:br>
              <a:rPr lang="en-US" sz="2800" smtClean="0"/>
            </a:br>
            <a:r>
              <a:rPr lang="en-US" sz="2800" smtClean="0"/>
              <a:t/>
            </a:r>
            <a:br>
              <a:rPr lang="en-US" sz="2800" smtClean="0"/>
            </a:br>
            <a:r>
              <a:rPr lang="en-US" sz="2800" smtClean="0"/>
              <a:t/>
            </a:r>
            <a:br>
              <a:rPr lang="en-US" sz="2800" smtClean="0"/>
            </a:br>
            <a:r>
              <a:rPr lang="en-US" sz="2800" smtClean="0"/>
              <a:t/>
            </a:r>
            <a:br>
              <a:rPr lang="en-US" sz="2800" smtClean="0"/>
            </a:br>
            <a:r>
              <a:rPr lang="en-US" sz="2800" smtClean="0"/>
              <a:t/>
            </a:r>
            <a:br>
              <a:rPr lang="en-US" sz="2800" smtClean="0"/>
            </a:br>
            <a:r>
              <a:rPr lang="en-US" sz="2800" smtClean="0"/>
              <a:t/>
            </a:r>
            <a:br>
              <a:rPr lang="en-US" sz="2800" smtClean="0"/>
            </a:br>
            <a:r>
              <a:rPr lang="en-US" sz="2800" smtClean="0"/>
              <a:t/>
            </a:r>
            <a:br>
              <a:rPr lang="en-US" sz="2800" smtClean="0"/>
            </a:br>
            <a:r>
              <a:rPr lang="en-US" sz="2800" smtClean="0"/>
              <a:t/>
            </a:r>
            <a:br>
              <a:rPr lang="en-US" sz="2800" smtClean="0"/>
            </a:br>
            <a:r>
              <a:rPr lang="en-US" sz="2800" smtClean="0"/>
              <a:t/>
            </a:r>
            <a:br>
              <a:rPr lang="en-US" sz="2800" smtClean="0"/>
            </a:br>
            <a:endParaRPr lang="en-US" sz="2800" smtClean="0"/>
          </a:p>
        </p:txBody>
      </p:sp>
      <p:sp>
        <p:nvSpPr>
          <p:cNvPr id="20484" name="Rectangle 4"/>
          <p:cNvSpPr>
            <a:spLocks noGrp="1" noChangeArrowheads="1"/>
          </p:cNvSpPr>
          <p:nvPr>
            <p:ph type="title"/>
          </p:nvPr>
        </p:nvSpPr>
        <p:spPr>
          <a:xfrm>
            <a:off x="533400" y="152400"/>
            <a:ext cx="7793038" cy="1143000"/>
          </a:xfrm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dirty="0" smtClean="0"/>
              <a:t>Improving Cache Performance</a:t>
            </a:r>
          </a:p>
        </p:txBody>
      </p:sp>
      <p:graphicFrame>
        <p:nvGraphicFramePr>
          <p:cNvPr id="20485" name="Object 6">
            <a:hlinkClick r:id="" action="ppaction://ole?verb=0"/>
          </p:cNvPr>
          <p:cNvGraphicFramePr>
            <a:graphicFrameLocks/>
          </p:cNvGraphicFramePr>
          <p:nvPr/>
        </p:nvGraphicFramePr>
        <p:xfrm>
          <a:off x="658813" y="2452688"/>
          <a:ext cx="7037387" cy="1433512"/>
        </p:xfrm>
        <a:graphic>
          <a:graphicData uri="http://schemas.openxmlformats.org/presentationml/2006/ole">
            <p:oleObj spid="_x0000_s1026" name="Worksheet" r:id="rId4" imgW="7037388" imgH="1433513" progId="Excel.Sheet.8">
              <p:embed/>
            </p:oleObj>
          </a:graphicData>
        </a:graphic>
      </p:graphicFrame>
      <p:sp>
        <p:nvSpPr>
          <p:cNvPr id="20486" name="Text Box 7"/>
          <p:cNvSpPr txBox="1">
            <a:spLocks noChangeArrowheads="1"/>
          </p:cNvSpPr>
          <p:nvPr/>
        </p:nvSpPr>
        <p:spPr bwMode="auto">
          <a:xfrm>
            <a:off x="1828800" y="3914775"/>
            <a:ext cx="4826000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b="1"/>
              <a:t>Miss rates for gcc and spice in a MIPS R2000 </a:t>
            </a:r>
          </a:p>
          <a:p>
            <a:r>
              <a:rPr lang="en-US" sz="1600" b="1"/>
              <a:t>with one and four word block sizes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Mayank Pandey, MNNIT, Allahabad, India</a:t>
            </a:r>
            <a:endParaRPr lang="en-US"/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225425" y="312738"/>
            <a:ext cx="2505075" cy="4778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1371600"/>
            <a:ext cx="7961313" cy="3694113"/>
          </a:xfrm>
          <a:noFill/>
        </p:spPr>
        <p:txBody>
          <a:bodyPr lIns="90488" tIns="44450" rIns="90488" bIns="44450"/>
          <a:lstStyle/>
          <a:p>
            <a:pPr eaLnBrk="1" hangingPunct="1"/>
            <a:r>
              <a:rPr lang="en-US" sz="2000" dirty="0" smtClean="0"/>
              <a:t>Assume:</a:t>
            </a:r>
          </a:p>
          <a:p>
            <a:pPr lvl="1" eaLnBrk="1" hangingPunct="1"/>
            <a:r>
              <a:rPr lang="en-US" sz="1800" dirty="0" smtClean="0"/>
              <a:t>cache block of </a:t>
            </a:r>
            <a:r>
              <a:rPr lang="en-US" sz="1800" u="sng" dirty="0" smtClean="0"/>
              <a:t>4 words</a:t>
            </a:r>
          </a:p>
          <a:p>
            <a:pPr lvl="1" eaLnBrk="1" hangingPunct="1"/>
            <a:r>
              <a:rPr lang="en-US" sz="1800" dirty="0" smtClean="0"/>
              <a:t>1 clock cycle to send address to memory address buffer (1 bus trip) </a:t>
            </a:r>
          </a:p>
          <a:p>
            <a:pPr lvl="1" eaLnBrk="1" hangingPunct="1"/>
            <a:r>
              <a:rPr lang="en-US" sz="1800" dirty="0" smtClean="0"/>
              <a:t>15 clock cycles for each memory data access</a:t>
            </a:r>
          </a:p>
          <a:p>
            <a:pPr lvl="1" eaLnBrk="1" hangingPunct="1"/>
            <a:r>
              <a:rPr lang="en-US" sz="1800" dirty="0" smtClean="0"/>
              <a:t>1 clock cycle to send data to memory data buffer (1 bus trip)</a:t>
            </a:r>
          </a:p>
        </p:txBody>
      </p:sp>
      <p:sp>
        <p:nvSpPr>
          <p:cNvPr id="21508" name="Rectangle 4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610600" cy="1143000"/>
          </a:xfrm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sz="2800" dirty="0" smtClean="0"/>
              <a:t>Improving Cache Performance by Increasing Bandwidth</a:t>
            </a:r>
          </a:p>
        </p:txBody>
      </p:sp>
      <p:pic>
        <p:nvPicPr>
          <p:cNvPr id="21509" name="Picture 5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800" y="3124200"/>
            <a:ext cx="5257800" cy="32432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pic>
      <p:sp>
        <p:nvSpPr>
          <p:cNvPr id="21510" name="Text Box 6"/>
          <p:cNvSpPr txBox="1">
            <a:spLocks noChangeArrowheads="1"/>
          </p:cNvSpPr>
          <p:nvPr/>
        </p:nvSpPr>
        <p:spPr bwMode="auto">
          <a:xfrm>
            <a:off x="4114800" y="6096000"/>
            <a:ext cx="16319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b="1"/>
              <a:t>Miss penalties</a:t>
            </a:r>
          </a:p>
        </p:txBody>
      </p:sp>
      <p:sp>
        <p:nvSpPr>
          <p:cNvPr id="21511" name="Text Box 7"/>
          <p:cNvSpPr txBox="1">
            <a:spLocks noChangeArrowheads="1"/>
          </p:cNvSpPr>
          <p:nvPr/>
        </p:nvSpPr>
        <p:spPr bwMode="auto">
          <a:xfrm>
            <a:off x="152400" y="6278563"/>
            <a:ext cx="207645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1 + 4*15 + 4*1 = 65 cycles</a:t>
            </a:r>
          </a:p>
        </p:txBody>
      </p:sp>
      <p:sp>
        <p:nvSpPr>
          <p:cNvPr id="21512" name="Text Box 9"/>
          <p:cNvSpPr txBox="1">
            <a:spLocks noChangeArrowheads="1"/>
          </p:cNvSpPr>
          <p:nvPr/>
        </p:nvSpPr>
        <p:spPr bwMode="auto">
          <a:xfrm>
            <a:off x="1676400" y="5592763"/>
            <a:ext cx="2028825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1 + 1*15 +1*1 = 17 cycles</a:t>
            </a:r>
          </a:p>
        </p:txBody>
      </p:sp>
      <p:sp>
        <p:nvSpPr>
          <p:cNvPr id="21513" name="AutoShape 10"/>
          <p:cNvSpPr>
            <a:spLocks/>
          </p:cNvSpPr>
          <p:nvPr/>
        </p:nvSpPr>
        <p:spPr bwMode="auto">
          <a:xfrm rot="-5400000">
            <a:off x="2590800" y="4343400"/>
            <a:ext cx="152400" cy="1828800"/>
          </a:xfrm>
          <a:prstGeom prst="leftBrace">
            <a:avLst>
              <a:gd name="adj1" fmla="val 100000"/>
              <a:gd name="adj2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1514" name="Text Box 11"/>
          <p:cNvSpPr txBox="1">
            <a:spLocks noChangeArrowheads="1"/>
          </p:cNvSpPr>
          <p:nvPr/>
        </p:nvSpPr>
        <p:spPr bwMode="auto">
          <a:xfrm>
            <a:off x="1676400" y="5257800"/>
            <a:ext cx="2192338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4 word wide memory and bus</a:t>
            </a:r>
          </a:p>
        </p:txBody>
      </p:sp>
      <p:sp>
        <p:nvSpPr>
          <p:cNvPr id="21515" name="Text Box 12"/>
          <p:cNvSpPr txBox="1">
            <a:spLocks noChangeArrowheads="1"/>
          </p:cNvSpPr>
          <p:nvPr/>
        </p:nvSpPr>
        <p:spPr bwMode="auto">
          <a:xfrm>
            <a:off x="3914775" y="5592763"/>
            <a:ext cx="2028825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1 +1*15 + 4*1 = 20 cycles</a:t>
            </a:r>
          </a:p>
        </p:txBody>
      </p:sp>
      <p:sp>
        <p:nvSpPr>
          <p:cNvPr id="21516" name="Text Box 13"/>
          <p:cNvSpPr txBox="1">
            <a:spLocks noChangeArrowheads="1"/>
          </p:cNvSpPr>
          <p:nvPr/>
        </p:nvSpPr>
        <p:spPr bwMode="auto">
          <a:xfrm>
            <a:off x="4006850" y="5257800"/>
            <a:ext cx="19367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4 word wide memory only</a:t>
            </a:r>
          </a:p>
        </p:txBody>
      </p:sp>
      <p:sp>
        <p:nvSpPr>
          <p:cNvPr id="21517" name="AutoShape 14"/>
          <p:cNvSpPr>
            <a:spLocks/>
          </p:cNvSpPr>
          <p:nvPr/>
        </p:nvSpPr>
        <p:spPr bwMode="auto">
          <a:xfrm rot="-5400000">
            <a:off x="4876800" y="4343400"/>
            <a:ext cx="152400" cy="1828800"/>
          </a:xfrm>
          <a:prstGeom prst="leftBrace">
            <a:avLst>
              <a:gd name="adj1" fmla="val 100000"/>
              <a:gd name="adj2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1518" name="Line 17"/>
          <p:cNvSpPr>
            <a:spLocks noChangeShapeType="1"/>
          </p:cNvSpPr>
          <p:nvPr/>
        </p:nvSpPr>
        <p:spPr bwMode="auto">
          <a:xfrm>
            <a:off x="6096000" y="3733800"/>
            <a:ext cx="2895600" cy="0"/>
          </a:xfrm>
          <a:prstGeom prst="lin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en-IN"/>
          </a:p>
        </p:txBody>
      </p:sp>
      <p:sp>
        <p:nvSpPr>
          <p:cNvPr id="21519" name="Rectangle 18"/>
          <p:cNvSpPr>
            <a:spLocks noChangeArrowheads="1"/>
          </p:cNvSpPr>
          <p:nvPr/>
        </p:nvSpPr>
        <p:spPr bwMode="auto">
          <a:xfrm>
            <a:off x="6096000" y="3962400"/>
            <a:ext cx="457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1520" name="Rectangle 19"/>
          <p:cNvSpPr>
            <a:spLocks noChangeArrowheads="1"/>
          </p:cNvSpPr>
          <p:nvPr/>
        </p:nvSpPr>
        <p:spPr bwMode="auto">
          <a:xfrm>
            <a:off x="6705600" y="3962400"/>
            <a:ext cx="457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1521" name="Rectangle 20"/>
          <p:cNvSpPr>
            <a:spLocks noChangeArrowheads="1"/>
          </p:cNvSpPr>
          <p:nvPr/>
        </p:nvSpPr>
        <p:spPr bwMode="auto">
          <a:xfrm>
            <a:off x="7315200" y="3962400"/>
            <a:ext cx="457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1522" name="Rectangle 21"/>
          <p:cNvSpPr>
            <a:spLocks noChangeArrowheads="1"/>
          </p:cNvSpPr>
          <p:nvPr/>
        </p:nvSpPr>
        <p:spPr bwMode="auto">
          <a:xfrm>
            <a:off x="7924800" y="3962400"/>
            <a:ext cx="457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1523" name="Rectangle 22"/>
          <p:cNvSpPr>
            <a:spLocks noChangeArrowheads="1"/>
          </p:cNvSpPr>
          <p:nvPr/>
        </p:nvSpPr>
        <p:spPr bwMode="auto">
          <a:xfrm>
            <a:off x="8534400" y="3962400"/>
            <a:ext cx="457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1524" name="Line 23"/>
          <p:cNvSpPr>
            <a:spLocks noChangeShapeType="1"/>
          </p:cNvSpPr>
          <p:nvPr/>
        </p:nvSpPr>
        <p:spPr bwMode="auto">
          <a:xfrm>
            <a:off x="6324600" y="37338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en-IN"/>
          </a:p>
        </p:txBody>
      </p:sp>
      <p:sp>
        <p:nvSpPr>
          <p:cNvPr id="21525" name="Line 25"/>
          <p:cNvSpPr>
            <a:spLocks noChangeShapeType="1"/>
          </p:cNvSpPr>
          <p:nvPr/>
        </p:nvSpPr>
        <p:spPr bwMode="auto">
          <a:xfrm>
            <a:off x="8763000" y="37338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en-IN"/>
          </a:p>
        </p:txBody>
      </p:sp>
      <p:sp>
        <p:nvSpPr>
          <p:cNvPr id="21526" name="Line 26"/>
          <p:cNvSpPr>
            <a:spLocks noChangeShapeType="1"/>
          </p:cNvSpPr>
          <p:nvPr/>
        </p:nvSpPr>
        <p:spPr bwMode="auto">
          <a:xfrm>
            <a:off x="8153400" y="37338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en-IN"/>
          </a:p>
        </p:txBody>
      </p:sp>
      <p:sp>
        <p:nvSpPr>
          <p:cNvPr id="21527" name="Line 27"/>
          <p:cNvSpPr>
            <a:spLocks noChangeShapeType="1"/>
          </p:cNvSpPr>
          <p:nvPr/>
        </p:nvSpPr>
        <p:spPr bwMode="auto">
          <a:xfrm>
            <a:off x="7543800" y="37338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en-IN"/>
          </a:p>
        </p:txBody>
      </p:sp>
      <p:sp>
        <p:nvSpPr>
          <p:cNvPr id="21528" name="Line 28"/>
          <p:cNvSpPr>
            <a:spLocks noChangeShapeType="1"/>
          </p:cNvSpPr>
          <p:nvPr/>
        </p:nvSpPr>
        <p:spPr bwMode="auto">
          <a:xfrm>
            <a:off x="6934200" y="37338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en-IN"/>
          </a:p>
        </p:txBody>
      </p:sp>
      <p:sp>
        <p:nvSpPr>
          <p:cNvPr id="21529" name="Text Box 30"/>
          <p:cNvSpPr txBox="1">
            <a:spLocks noChangeArrowheads="1"/>
          </p:cNvSpPr>
          <p:nvPr/>
        </p:nvSpPr>
        <p:spPr bwMode="auto">
          <a:xfrm>
            <a:off x="6096000" y="3978275"/>
            <a:ext cx="504825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900"/>
              <a:t>Proce-</a:t>
            </a:r>
          </a:p>
          <a:p>
            <a:r>
              <a:rPr lang="en-US" sz="900"/>
              <a:t>ssor</a:t>
            </a:r>
          </a:p>
        </p:txBody>
      </p:sp>
      <p:sp>
        <p:nvSpPr>
          <p:cNvPr id="21530" name="Text Box 31"/>
          <p:cNvSpPr txBox="1">
            <a:spLocks noChangeArrowheads="1"/>
          </p:cNvSpPr>
          <p:nvPr/>
        </p:nvSpPr>
        <p:spPr bwMode="auto">
          <a:xfrm>
            <a:off x="6651625" y="3978275"/>
            <a:ext cx="587375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900"/>
              <a:t>Memory</a:t>
            </a:r>
          </a:p>
          <a:p>
            <a:r>
              <a:rPr lang="en-US" sz="900"/>
              <a:t>bank 0</a:t>
            </a:r>
          </a:p>
        </p:txBody>
      </p:sp>
      <p:sp>
        <p:nvSpPr>
          <p:cNvPr id="21531" name="Text Box 32"/>
          <p:cNvSpPr txBox="1">
            <a:spLocks noChangeArrowheads="1"/>
          </p:cNvSpPr>
          <p:nvPr/>
        </p:nvSpPr>
        <p:spPr bwMode="auto">
          <a:xfrm>
            <a:off x="7870825" y="3978275"/>
            <a:ext cx="587375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900"/>
              <a:t>Memory</a:t>
            </a:r>
          </a:p>
          <a:p>
            <a:r>
              <a:rPr lang="en-US" sz="900"/>
              <a:t>bank 2</a:t>
            </a:r>
          </a:p>
        </p:txBody>
      </p:sp>
      <p:sp>
        <p:nvSpPr>
          <p:cNvPr id="21532" name="Text Box 33"/>
          <p:cNvSpPr txBox="1">
            <a:spLocks noChangeArrowheads="1"/>
          </p:cNvSpPr>
          <p:nvPr/>
        </p:nvSpPr>
        <p:spPr bwMode="auto">
          <a:xfrm>
            <a:off x="8480425" y="3978275"/>
            <a:ext cx="587375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900"/>
              <a:t>Memory</a:t>
            </a:r>
          </a:p>
          <a:p>
            <a:r>
              <a:rPr lang="en-US" sz="900"/>
              <a:t>bank 3</a:t>
            </a:r>
          </a:p>
        </p:txBody>
      </p:sp>
      <p:sp>
        <p:nvSpPr>
          <p:cNvPr id="21533" name="Text Box 34"/>
          <p:cNvSpPr txBox="1">
            <a:spLocks noChangeArrowheads="1"/>
          </p:cNvSpPr>
          <p:nvPr/>
        </p:nvSpPr>
        <p:spPr bwMode="auto">
          <a:xfrm>
            <a:off x="7261225" y="3978275"/>
            <a:ext cx="587375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900"/>
              <a:t>Memory</a:t>
            </a:r>
          </a:p>
          <a:p>
            <a:r>
              <a:rPr lang="en-US" sz="900"/>
              <a:t>bank 1</a:t>
            </a:r>
          </a:p>
        </p:txBody>
      </p:sp>
      <p:sp>
        <p:nvSpPr>
          <p:cNvPr id="21534" name="Text Box 35"/>
          <p:cNvSpPr txBox="1">
            <a:spLocks noChangeArrowheads="1"/>
          </p:cNvSpPr>
          <p:nvPr/>
        </p:nvSpPr>
        <p:spPr bwMode="auto">
          <a:xfrm>
            <a:off x="7302500" y="3505200"/>
            <a:ext cx="3937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900" b="1"/>
              <a:t>Bus</a:t>
            </a:r>
          </a:p>
        </p:txBody>
      </p:sp>
      <p:sp>
        <p:nvSpPr>
          <p:cNvPr id="21535" name="Freeform 36"/>
          <p:cNvSpPr>
            <a:spLocks/>
          </p:cNvSpPr>
          <p:nvPr/>
        </p:nvSpPr>
        <p:spPr bwMode="auto">
          <a:xfrm>
            <a:off x="5410200" y="3263900"/>
            <a:ext cx="1600200" cy="393700"/>
          </a:xfrm>
          <a:custGeom>
            <a:avLst/>
            <a:gdLst>
              <a:gd name="T0" fmla="*/ 0 w 1008"/>
              <a:gd name="T1" fmla="*/ 393700 h 248"/>
              <a:gd name="T2" fmla="*/ 762000 w 1008"/>
              <a:gd name="T3" fmla="*/ 12700 h 248"/>
              <a:gd name="T4" fmla="*/ 1600200 w 1008"/>
              <a:gd name="T5" fmla="*/ 317500 h 24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8" h="248">
                <a:moveTo>
                  <a:pt x="0" y="248"/>
                </a:moveTo>
                <a:cubicBezTo>
                  <a:pt x="156" y="132"/>
                  <a:pt x="312" y="16"/>
                  <a:pt x="480" y="8"/>
                </a:cubicBezTo>
                <a:cubicBezTo>
                  <a:pt x="648" y="0"/>
                  <a:pt x="828" y="100"/>
                  <a:pt x="1008" y="20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miter lim="800000"/>
            <a:headEnd type="none" w="med" len="med"/>
            <a:tailEnd type="arrow" w="med" len="med"/>
          </a:ln>
          <a:effectLst/>
        </p:spPr>
        <p:txBody>
          <a:bodyPr wrap="none"/>
          <a:lstStyle/>
          <a:p>
            <a:endParaRPr lang="en-IN"/>
          </a:p>
        </p:txBody>
      </p:sp>
      <p:sp>
        <p:nvSpPr>
          <p:cNvPr id="21536" name="Text Box 37"/>
          <p:cNvSpPr txBox="1">
            <a:spLocks noChangeArrowheads="1"/>
          </p:cNvSpPr>
          <p:nvPr/>
        </p:nvSpPr>
        <p:spPr bwMode="auto">
          <a:xfrm>
            <a:off x="6705600" y="4648200"/>
            <a:ext cx="19240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Interleaved memory units</a:t>
            </a:r>
          </a:p>
          <a:p>
            <a:r>
              <a:rPr lang="en-US" sz="1200"/>
              <a:t>compete for bus</a:t>
            </a:r>
          </a:p>
        </p:txBody>
      </p:sp>
      <p:sp>
        <p:nvSpPr>
          <p:cNvPr id="33" name="Footer Placeholder 3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Mayank Pandey, MNNIT, Allahabad, India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smtClean="0"/>
              <a:t>Performance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0488" tIns="44450" rIns="90488" bIns="44450"/>
          <a:lstStyle/>
          <a:p>
            <a:pPr eaLnBrk="1" hangingPunct="1"/>
            <a:r>
              <a:rPr lang="en-US" sz="2000" smtClean="0"/>
              <a:t>Simplified model assuming equal read and write miss penalties:</a:t>
            </a:r>
          </a:p>
          <a:p>
            <a:pPr lvl="1" eaLnBrk="1" hangingPunct="1"/>
            <a:r>
              <a:rPr lang="en-US" sz="1800" smtClean="0"/>
              <a:t>CPU time = (execution cycles + memory stall cycles) </a:t>
            </a:r>
            <a:r>
              <a:rPr lang="en-US" sz="1800" smtClean="0">
                <a:latin typeface="Symbol" pitchFamily="18" charset="2"/>
              </a:rPr>
              <a:t>´</a:t>
            </a:r>
            <a:r>
              <a:rPr lang="en-US" sz="1800" smtClean="0"/>
              <a:t> cycle time</a:t>
            </a:r>
          </a:p>
          <a:p>
            <a:pPr lvl="1" eaLnBrk="1" hangingPunct="1"/>
            <a:r>
              <a:rPr lang="en-US" sz="1800" smtClean="0"/>
              <a:t>memory stall cycles = memory accesses </a:t>
            </a:r>
            <a:r>
              <a:rPr lang="en-US" sz="1800" smtClean="0">
                <a:latin typeface="Symbol" pitchFamily="18" charset="2"/>
              </a:rPr>
              <a:t>´</a:t>
            </a:r>
            <a:r>
              <a:rPr lang="en-US" sz="1800" smtClean="0"/>
              <a:t> miss rate </a:t>
            </a:r>
            <a:r>
              <a:rPr lang="en-US" sz="1800" smtClean="0">
                <a:latin typeface="Symbol" pitchFamily="18" charset="2"/>
              </a:rPr>
              <a:t>´</a:t>
            </a:r>
            <a:r>
              <a:rPr lang="en-US" sz="1800" smtClean="0"/>
              <a:t> miss penalty</a:t>
            </a:r>
          </a:p>
          <a:p>
            <a:pPr lvl="1" eaLnBrk="1" hangingPunct="1">
              <a:buFont typeface="Wingdings" pitchFamily="2" charset="2"/>
              <a:buNone/>
            </a:pPr>
            <a:endParaRPr lang="en-US" sz="1800" smtClean="0"/>
          </a:p>
          <a:p>
            <a:pPr eaLnBrk="1" hangingPunct="1"/>
            <a:r>
              <a:rPr lang="en-US" sz="2000" smtClean="0"/>
              <a:t>Therefore, two ways to improve performance in cache:</a:t>
            </a:r>
          </a:p>
          <a:p>
            <a:pPr lvl="1" eaLnBrk="1" hangingPunct="1"/>
            <a:r>
              <a:rPr lang="en-US" sz="1800" smtClean="0"/>
              <a:t>decrease miss rate</a:t>
            </a:r>
          </a:p>
          <a:p>
            <a:pPr lvl="1" eaLnBrk="1" hangingPunct="1"/>
            <a:r>
              <a:rPr lang="en-US" sz="1800" smtClean="0"/>
              <a:t>decrease miss penalty </a:t>
            </a:r>
            <a:endParaRPr lang="en-US" sz="2400" smtClean="0"/>
          </a:p>
          <a:p>
            <a:pPr lvl="1" eaLnBrk="1" hangingPunct="1"/>
            <a:r>
              <a:rPr lang="en-US" sz="1800" i="1" smtClean="0">
                <a:latin typeface="Times New Roman" pitchFamily="18" charset="0"/>
              </a:rPr>
              <a:t>what happens if we increase block size?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Mayank Pandey, MNNIT, Allahabad, India</a:t>
            </a:r>
            <a:endParaRPr lang="en-US"/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Example Problems</a:t>
            </a:r>
          </a:p>
        </p:txBody>
      </p:sp>
      <p:sp>
        <p:nvSpPr>
          <p:cNvPr id="23555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33400" indent="-533400" eaLnBrk="1" hangingPunct="1">
              <a:lnSpc>
                <a:spcPct val="90000"/>
              </a:lnSpc>
            </a:pPr>
            <a:r>
              <a:rPr lang="en-US" sz="2000" smtClean="0"/>
              <a:t>Assume for a given machine and program:</a:t>
            </a:r>
          </a:p>
          <a:p>
            <a:pPr marL="914400" lvl="1" indent="-457200" eaLnBrk="1" hangingPunct="1">
              <a:lnSpc>
                <a:spcPct val="90000"/>
              </a:lnSpc>
            </a:pPr>
            <a:r>
              <a:rPr lang="en-US" sz="1800" smtClean="0"/>
              <a:t>instruction cache miss rate 2%</a:t>
            </a:r>
          </a:p>
          <a:p>
            <a:pPr marL="914400" lvl="1" indent="-457200" eaLnBrk="1" hangingPunct="1">
              <a:lnSpc>
                <a:spcPct val="90000"/>
              </a:lnSpc>
            </a:pPr>
            <a:r>
              <a:rPr lang="en-US" sz="1800" smtClean="0"/>
              <a:t>data cache miss rate 4%</a:t>
            </a:r>
          </a:p>
          <a:p>
            <a:pPr marL="914400" lvl="1" indent="-457200" eaLnBrk="1" hangingPunct="1">
              <a:lnSpc>
                <a:spcPct val="90000"/>
              </a:lnSpc>
            </a:pPr>
            <a:r>
              <a:rPr lang="en-US" sz="1800" smtClean="0"/>
              <a:t>miss penalty always 40 cycles</a:t>
            </a:r>
          </a:p>
          <a:p>
            <a:pPr marL="914400" lvl="1" indent="-457200" eaLnBrk="1" hangingPunct="1">
              <a:lnSpc>
                <a:spcPct val="90000"/>
              </a:lnSpc>
            </a:pPr>
            <a:r>
              <a:rPr lang="en-US" sz="1800" smtClean="0"/>
              <a:t>CPI of 2 without memory stalls</a:t>
            </a:r>
          </a:p>
          <a:p>
            <a:pPr marL="914400" lvl="1" indent="-457200" eaLnBrk="1" hangingPunct="1">
              <a:lnSpc>
                <a:spcPct val="90000"/>
              </a:lnSpc>
            </a:pPr>
            <a:r>
              <a:rPr lang="en-US" sz="1800" smtClean="0"/>
              <a:t>frequency of load/stores 36% of instructions</a:t>
            </a:r>
          </a:p>
          <a:p>
            <a:pPr marL="914400" lvl="1" indent="-457200" eaLnBrk="1" hangingPunct="1">
              <a:lnSpc>
                <a:spcPct val="90000"/>
              </a:lnSpc>
            </a:pPr>
            <a:endParaRPr lang="en-US" sz="1800" smtClean="0"/>
          </a:p>
          <a:p>
            <a:pPr marL="533400" indent="-533400" eaLnBrk="1" hangingPunct="1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sz="2000" i="1" smtClean="0">
                <a:latin typeface="Times New Roman" pitchFamily="18" charset="0"/>
              </a:rPr>
              <a:t>How much faster is a machine with a perfect cache that never misses?</a:t>
            </a:r>
          </a:p>
          <a:p>
            <a:pPr marL="533400" indent="-533400" eaLnBrk="1" hangingPunct="1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sz="2000" i="1" smtClean="0">
                <a:latin typeface="Times New Roman" pitchFamily="18" charset="0"/>
              </a:rPr>
              <a:t>What happens if we speed up the machine by reducing its CPI to 1 without changing the clock rate?</a:t>
            </a:r>
          </a:p>
          <a:p>
            <a:pPr marL="533400" indent="-533400" eaLnBrk="1" hangingPunct="1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sz="2000" i="1" smtClean="0">
                <a:latin typeface="Times New Roman" pitchFamily="18" charset="0"/>
              </a:rPr>
              <a:t>What happens if we speed up the machine by doubling its clock rate, but if the absolute time for a miss penalty remains same?</a:t>
            </a:r>
          </a:p>
          <a:p>
            <a:pPr marL="914400" lvl="1" indent="-457200"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180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Mayank Pandey, MNNIT, Allahabad, India</a:t>
            </a:r>
            <a:endParaRPr lang="en-US"/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Solution</a:t>
            </a:r>
          </a:p>
        </p:txBody>
      </p:sp>
      <p:sp>
        <p:nvSpPr>
          <p:cNvPr id="24579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533400" y="1447800"/>
            <a:ext cx="8001000" cy="4840288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 smtClean="0">
                <a:solidFill>
                  <a:schemeClr val="folHlink"/>
                </a:solidFill>
              </a:rPr>
              <a:t>1.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 smtClean="0"/>
              <a:t>Assume instruction count = I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 smtClean="0"/>
              <a:t>Instruction miss cycles = I </a:t>
            </a:r>
            <a:r>
              <a:rPr lang="en-US" sz="2000" b="1" dirty="0" smtClean="0">
                <a:sym typeface="Symbol" pitchFamily="18" charset="2"/>
              </a:rPr>
              <a:t></a:t>
            </a:r>
            <a:r>
              <a:rPr lang="en-US" sz="2000" dirty="0" smtClean="0">
                <a:sym typeface="Symbol" pitchFamily="18" charset="2"/>
              </a:rPr>
              <a:t> 2% </a:t>
            </a:r>
            <a:r>
              <a:rPr lang="en-US" sz="2000" b="1" dirty="0" smtClean="0">
                <a:sym typeface="Symbol" pitchFamily="18" charset="2"/>
              </a:rPr>
              <a:t></a:t>
            </a:r>
            <a:r>
              <a:rPr lang="en-US" sz="2000" dirty="0" smtClean="0">
                <a:sym typeface="Symbol" pitchFamily="18" charset="2"/>
              </a:rPr>
              <a:t> 40 = 0.8 </a:t>
            </a:r>
            <a:r>
              <a:rPr lang="en-US" sz="2000" b="1" dirty="0" smtClean="0">
                <a:sym typeface="Symbol" pitchFamily="18" charset="2"/>
              </a:rPr>
              <a:t></a:t>
            </a:r>
            <a:r>
              <a:rPr lang="en-US" sz="2000" dirty="0" smtClean="0">
                <a:sym typeface="Symbol" pitchFamily="18" charset="2"/>
              </a:rPr>
              <a:t> I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 smtClean="0">
                <a:sym typeface="Symbol" pitchFamily="18" charset="2"/>
              </a:rPr>
              <a:t>Data miss cycles = </a:t>
            </a:r>
            <a:r>
              <a:rPr lang="en-US" sz="2000" dirty="0" smtClean="0"/>
              <a:t>I </a:t>
            </a:r>
            <a:r>
              <a:rPr lang="en-US" sz="2000" b="1" dirty="0" smtClean="0">
                <a:sym typeface="Symbol" pitchFamily="18" charset="2"/>
              </a:rPr>
              <a:t> </a:t>
            </a:r>
            <a:r>
              <a:rPr lang="en-US" sz="2000" dirty="0" smtClean="0">
                <a:sym typeface="Symbol" pitchFamily="18" charset="2"/>
              </a:rPr>
              <a:t>36% </a:t>
            </a:r>
            <a:r>
              <a:rPr lang="en-US" sz="2000" b="1" dirty="0" smtClean="0">
                <a:sym typeface="Symbol" pitchFamily="18" charset="2"/>
              </a:rPr>
              <a:t></a:t>
            </a:r>
            <a:r>
              <a:rPr lang="en-US" sz="2000" dirty="0" smtClean="0">
                <a:sym typeface="Symbol" pitchFamily="18" charset="2"/>
              </a:rPr>
              <a:t> 4% </a:t>
            </a:r>
            <a:r>
              <a:rPr lang="en-US" sz="2000" b="1" dirty="0" smtClean="0">
                <a:sym typeface="Symbol" pitchFamily="18" charset="2"/>
              </a:rPr>
              <a:t></a:t>
            </a:r>
            <a:r>
              <a:rPr lang="en-US" sz="2000" dirty="0" smtClean="0">
                <a:sym typeface="Symbol" pitchFamily="18" charset="2"/>
              </a:rPr>
              <a:t> 40 = 0.576 </a:t>
            </a:r>
            <a:r>
              <a:rPr lang="en-US" sz="2000" b="1" dirty="0" smtClean="0">
                <a:sym typeface="Symbol" pitchFamily="18" charset="2"/>
              </a:rPr>
              <a:t></a:t>
            </a:r>
            <a:r>
              <a:rPr lang="en-US" sz="2000" dirty="0" smtClean="0">
                <a:sym typeface="Symbol" pitchFamily="18" charset="2"/>
              </a:rPr>
              <a:t> I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 smtClean="0">
                <a:sym typeface="Symbol" pitchFamily="18" charset="2"/>
              </a:rPr>
              <a:t>So, total memory-stall cycles = 0.8 </a:t>
            </a:r>
            <a:r>
              <a:rPr lang="en-US" sz="2000" b="1" dirty="0" smtClean="0">
                <a:sym typeface="Symbol" pitchFamily="18" charset="2"/>
              </a:rPr>
              <a:t></a:t>
            </a:r>
            <a:r>
              <a:rPr lang="en-US" sz="2000" dirty="0" smtClean="0">
                <a:sym typeface="Symbol" pitchFamily="18" charset="2"/>
              </a:rPr>
              <a:t> I + 0.576 </a:t>
            </a:r>
            <a:r>
              <a:rPr lang="en-US" sz="2000" b="1" dirty="0" smtClean="0">
                <a:sym typeface="Symbol" pitchFamily="18" charset="2"/>
              </a:rPr>
              <a:t></a:t>
            </a:r>
            <a:r>
              <a:rPr lang="en-US" sz="2000" dirty="0" smtClean="0">
                <a:sym typeface="Symbol" pitchFamily="18" charset="2"/>
              </a:rPr>
              <a:t> I = 1.376</a:t>
            </a:r>
            <a:r>
              <a:rPr lang="en-US" sz="2000" b="1" dirty="0" smtClean="0">
                <a:sym typeface="Symbol" pitchFamily="18" charset="2"/>
              </a:rPr>
              <a:t> </a:t>
            </a:r>
            <a:r>
              <a:rPr lang="en-US" sz="2000" dirty="0" smtClean="0">
                <a:sym typeface="Symbol" pitchFamily="18" charset="2"/>
              </a:rPr>
              <a:t> I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800" dirty="0" smtClean="0">
                <a:sym typeface="Symbol" pitchFamily="18" charset="2"/>
              </a:rPr>
              <a:t>in other words, 1.376 stall cycles per instruction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 smtClean="0">
                <a:sym typeface="Symbol" pitchFamily="18" charset="2"/>
              </a:rPr>
              <a:t>Therefore, CPI with memory stalls = 2 + 1.376 = 3.376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 smtClean="0">
                <a:sym typeface="Symbol" pitchFamily="18" charset="2"/>
              </a:rPr>
              <a:t>Assuming instruction count and clock rate remain same for a perfect cache and a cache that misses: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 smtClean="0">
                <a:sym typeface="Symbol" pitchFamily="18" charset="2"/>
              </a:rPr>
              <a:t>    CPU time with stalls / CPU time with perfect cache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 smtClean="0">
                <a:sym typeface="Symbol" pitchFamily="18" charset="2"/>
              </a:rPr>
              <a:t>    = 3.376 / 2 = 1.688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 smtClean="0">
                <a:sym typeface="Symbol" pitchFamily="18" charset="2"/>
              </a:rPr>
              <a:t>Performance with a perfect cache is better by a factor of 1.688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Mayank Pandey, MNNIT, Allahabad, India</a:t>
            </a:r>
            <a:endParaRPr lang="en-US"/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Solution (cont.)</a:t>
            </a:r>
          </a:p>
        </p:txBody>
      </p:sp>
      <p:sp>
        <p:nvSpPr>
          <p:cNvPr id="2560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7772400" cy="41148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z="2000" dirty="0" smtClean="0">
                <a:solidFill>
                  <a:schemeClr val="folHlink"/>
                </a:solidFill>
              </a:rPr>
              <a:t>2</a:t>
            </a:r>
            <a:r>
              <a:rPr lang="en-US" sz="2000" dirty="0" smtClean="0"/>
              <a:t>.</a:t>
            </a:r>
          </a:p>
          <a:p>
            <a:pPr eaLnBrk="1" hangingPunct="1"/>
            <a:r>
              <a:rPr lang="en-US" sz="2000" dirty="0" smtClean="0"/>
              <a:t>CPI without stall = 1</a:t>
            </a:r>
          </a:p>
          <a:p>
            <a:pPr eaLnBrk="1" hangingPunct="1"/>
            <a:r>
              <a:rPr lang="en-US" sz="2000" dirty="0" smtClean="0"/>
              <a:t>CPI with stall = 1 + 1.376 = 2.376 (clock has not changed so 	                                            stall cycles per instruction remains same)</a:t>
            </a:r>
          </a:p>
          <a:p>
            <a:pPr eaLnBrk="1" hangingPunct="1"/>
            <a:r>
              <a:rPr lang="en-US" sz="2000" dirty="0" smtClean="0">
                <a:sym typeface="Symbol" pitchFamily="18" charset="2"/>
              </a:rPr>
              <a:t>CPU time with stalls / CPU time with perfect cache</a:t>
            </a:r>
            <a:endParaRPr lang="en-US" sz="2000" dirty="0" smtClean="0"/>
          </a:p>
          <a:p>
            <a:pPr eaLnBrk="1" hangingPunct="1">
              <a:buFont typeface="Wingdings" pitchFamily="2" charset="2"/>
              <a:buNone/>
            </a:pPr>
            <a:r>
              <a:rPr lang="en-US" sz="2000" dirty="0" smtClean="0"/>
              <a:t>    = CPI with stall / CPI without stall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dirty="0" smtClean="0"/>
              <a:t>    = 2.376</a:t>
            </a:r>
          </a:p>
          <a:p>
            <a:pPr eaLnBrk="1" hangingPunct="1"/>
            <a:r>
              <a:rPr lang="en-US" sz="2000" dirty="0" smtClean="0">
                <a:sym typeface="Symbol" pitchFamily="18" charset="2"/>
              </a:rPr>
              <a:t>Performance with a perfect cache is better by a factor of 2.376</a:t>
            </a:r>
          </a:p>
          <a:p>
            <a:pPr eaLnBrk="1" hangingPunct="1"/>
            <a:r>
              <a:rPr lang="en-US" sz="2000" dirty="0" smtClean="0">
                <a:sym typeface="Symbol" pitchFamily="18" charset="2"/>
              </a:rPr>
              <a:t>Conclusion: with higher CPI cache misses “hurt more” than with lower CPI</a:t>
            </a:r>
          </a:p>
          <a:p>
            <a:pPr eaLnBrk="1" hangingPunct="1"/>
            <a:endParaRPr lang="en-US" sz="2000" dirty="0" smtClean="0"/>
          </a:p>
          <a:p>
            <a:pPr eaLnBrk="1" hangingPunct="1"/>
            <a:endParaRPr lang="en-US" sz="2000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Mayank Pandey, MNNIT, Allahabad, India</a:t>
            </a:r>
            <a:endParaRPr lang="en-US"/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Solution (cont.)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193087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 smtClean="0">
                <a:solidFill>
                  <a:schemeClr val="folHlink"/>
                </a:solidFill>
              </a:rPr>
              <a:t>3.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 smtClean="0"/>
              <a:t>With doubled clock rate, miss penalty = 2 </a:t>
            </a:r>
            <a:r>
              <a:rPr lang="en-US" sz="2000" b="1" dirty="0" smtClean="0">
                <a:sym typeface="Symbol" pitchFamily="18" charset="2"/>
              </a:rPr>
              <a:t> </a:t>
            </a:r>
            <a:r>
              <a:rPr lang="en-US" sz="2000" dirty="0" smtClean="0">
                <a:sym typeface="Symbol" pitchFamily="18" charset="2"/>
              </a:rPr>
              <a:t>40 = 80 clock cycles</a:t>
            </a:r>
            <a:r>
              <a:rPr lang="en-US" sz="2000" dirty="0" smtClean="0"/>
              <a:t> 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 smtClean="0"/>
              <a:t>Stall cycles per instruction = (I </a:t>
            </a:r>
            <a:r>
              <a:rPr lang="en-US" sz="2000" b="1" dirty="0" smtClean="0">
                <a:sym typeface="Symbol" pitchFamily="18" charset="2"/>
              </a:rPr>
              <a:t></a:t>
            </a:r>
            <a:r>
              <a:rPr lang="en-US" sz="2000" dirty="0" smtClean="0">
                <a:sym typeface="Symbol" pitchFamily="18" charset="2"/>
              </a:rPr>
              <a:t> 2% </a:t>
            </a:r>
            <a:r>
              <a:rPr lang="en-US" sz="2000" b="1" dirty="0" smtClean="0">
                <a:sym typeface="Symbol" pitchFamily="18" charset="2"/>
              </a:rPr>
              <a:t></a:t>
            </a:r>
            <a:r>
              <a:rPr lang="en-US" sz="2000" dirty="0" smtClean="0">
                <a:sym typeface="Symbol" pitchFamily="18" charset="2"/>
              </a:rPr>
              <a:t> 80) + (</a:t>
            </a:r>
            <a:r>
              <a:rPr lang="en-US" sz="2000" dirty="0" smtClean="0"/>
              <a:t>I </a:t>
            </a:r>
            <a:r>
              <a:rPr lang="en-US" sz="2000" b="1" dirty="0" smtClean="0">
                <a:sym typeface="Symbol" pitchFamily="18" charset="2"/>
              </a:rPr>
              <a:t> </a:t>
            </a:r>
            <a:r>
              <a:rPr lang="en-US" sz="2000" dirty="0" smtClean="0">
                <a:sym typeface="Symbol" pitchFamily="18" charset="2"/>
              </a:rPr>
              <a:t>36% </a:t>
            </a:r>
            <a:r>
              <a:rPr lang="en-US" sz="2000" b="1" dirty="0" smtClean="0">
                <a:sym typeface="Symbol" pitchFamily="18" charset="2"/>
              </a:rPr>
              <a:t></a:t>
            </a:r>
            <a:r>
              <a:rPr lang="en-US" sz="2000" dirty="0" smtClean="0">
                <a:sym typeface="Symbol" pitchFamily="18" charset="2"/>
              </a:rPr>
              <a:t> 4% </a:t>
            </a:r>
            <a:r>
              <a:rPr lang="en-US" sz="2000" b="1" dirty="0" smtClean="0">
                <a:sym typeface="Symbol" pitchFamily="18" charset="2"/>
              </a:rPr>
              <a:t></a:t>
            </a:r>
            <a:r>
              <a:rPr lang="en-US" sz="2000" dirty="0" smtClean="0">
                <a:sym typeface="Symbol" pitchFamily="18" charset="2"/>
              </a:rPr>
              <a:t> 80)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 smtClean="0">
                <a:sym typeface="Symbol" pitchFamily="18" charset="2"/>
              </a:rPr>
              <a:t>                                           = 2.752 </a:t>
            </a:r>
            <a:r>
              <a:rPr lang="en-US" sz="2000" b="1" dirty="0" smtClean="0">
                <a:sym typeface="Symbol" pitchFamily="18" charset="2"/>
              </a:rPr>
              <a:t></a:t>
            </a:r>
            <a:r>
              <a:rPr lang="en-US" sz="2000" dirty="0" smtClean="0">
                <a:sym typeface="Symbol" pitchFamily="18" charset="2"/>
              </a:rPr>
              <a:t> I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 smtClean="0">
                <a:sym typeface="Symbol" pitchFamily="18" charset="2"/>
              </a:rPr>
              <a:t>So, faster machine with cache miss has CPI = 2 + 2.752 = 4.752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 smtClean="0">
                <a:sym typeface="Symbol" pitchFamily="18" charset="2"/>
              </a:rPr>
              <a:t>CPU time with stalls / CPU time with perfect cache</a:t>
            </a:r>
            <a:endParaRPr lang="en-US" sz="2000" dirty="0" smtClean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 smtClean="0"/>
              <a:t>    = CPI with stall / CPI without stall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 smtClean="0"/>
              <a:t>    = 4.752 / 2 = 2.376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 smtClean="0">
                <a:sym typeface="Symbol" pitchFamily="18" charset="2"/>
              </a:rPr>
              <a:t>Performance with a perfect cache is better by a factor of 2.376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 smtClean="0">
                <a:sym typeface="Symbol" pitchFamily="18" charset="2"/>
              </a:rPr>
              <a:t>Conclusion: with higher clock rate cache misses “hurt more” than with lower clock rate</a:t>
            </a:r>
          </a:p>
          <a:p>
            <a:pPr eaLnBrk="1" hangingPunct="1">
              <a:lnSpc>
                <a:spcPct val="90000"/>
              </a:lnSpc>
            </a:pPr>
            <a:endParaRPr lang="en-US" sz="2000" dirty="0" smtClean="0"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2000" dirty="0" smtClean="0">
              <a:sym typeface="Symbol" pitchFamily="18" charset="2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Mayank Pandey, MNNIT, Allahabad, India</a:t>
            </a:r>
            <a:endParaRPr lang="en-US"/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371600"/>
            <a:ext cx="80772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000" i="1" dirty="0" smtClean="0"/>
              <a:t>Direct mapped</a:t>
            </a:r>
            <a:r>
              <a:rPr lang="en-US" sz="2000" dirty="0" smtClean="0"/>
              <a:t>: one </a:t>
            </a:r>
            <a:r>
              <a:rPr lang="en-US" sz="2000" i="1" dirty="0" smtClean="0"/>
              <a:t>unique</a:t>
            </a:r>
            <a:r>
              <a:rPr lang="en-US" sz="2000" dirty="0" smtClean="0"/>
              <a:t> cache location for each memory block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800" dirty="0" smtClean="0"/>
              <a:t>cache block address = memory block address </a:t>
            </a:r>
            <a:r>
              <a:rPr lang="en-US" sz="1800" i="1" dirty="0" smtClean="0"/>
              <a:t>mod</a:t>
            </a:r>
            <a:r>
              <a:rPr lang="en-US" sz="1800" dirty="0" smtClean="0"/>
              <a:t> cache size 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i="1" dirty="0" smtClean="0"/>
              <a:t>Fully associative</a:t>
            </a:r>
            <a:r>
              <a:rPr lang="en-US" sz="2000" dirty="0" smtClean="0"/>
              <a:t>: each memory block can locate </a:t>
            </a:r>
            <a:r>
              <a:rPr lang="en-US" sz="2000" i="1" dirty="0" smtClean="0"/>
              <a:t>anywhere</a:t>
            </a:r>
            <a:r>
              <a:rPr lang="en-US" sz="2000" dirty="0" smtClean="0"/>
              <a:t> in cache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800" i="1" dirty="0" smtClean="0"/>
              <a:t>all</a:t>
            </a:r>
            <a:r>
              <a:rPr lang="en-US" sz="1800" dirty="0" smtClean="0"/>
              <a:t> cache entries are searched (in parallel) to locate block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i="1" dirty="0" smtClean="0"/>
              <a:t>Set associative</a:t>
            </a:r>
            <a:r>
              <a:rPr lang="en-US" sz="2000" dirty="0" smtClean="0"/>
              <a:t>: each memory block can place in a </a:t>
            </a:r>
            <a:r>
              <a:rPr lang="en-US" sz="2000" i="1" dirty="0" smtClean="0"/>
              <a:t>unique set</a:t>
            </a:r>
            <a:r>
              <a:rPr lang="en-US" sz="2000" dirty="0" smtClean="0"/>
              <a:t> of cache locations – if the set is of size n it is n-way set-associative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800" dirty="0" smtClean="0"/>
              <a:t>cache set address = memory block address </a:t>
            </a:r>
            <a:r>
              <a:rPr lang="en-US" sz="1800" i="1" dirty="0" smtClean="0"/>
              <a:t>mod</a:t>
            </a:r>
            <a:r>
              <a:rPr lang="en-US" sz="1800" dirty="0" smtClean="0"/>
              <a:t>  number of sets in cache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800" dirty="0" smtClean="0"/>
              <a:t>all cache entries in the corresponding set are searched (</a:t>
            </a:r>
            <a:r>
              <a:rPr lang="en-US" sz="1800" i="1" dirty="0" smtClean="0"/>
              <a:t>in parallel</a:t>
            </a:r>
            <a:r>
              <a:rPr lang="en-US" sz="1800" dirty="0" smtClean="0"/>
              <a:t>) to locate block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 smtClean="0"/>
              <a:t>Increasing degree of </a:t>
            </a:r>
            <a:r>
              <a:rPr lang="en-US" sz="2000" dirty="0" err="1" smtClean="0"/>
              <a:t>associativity</a:t>
            </a:r>
            <a:endParaRPr lang="en-US" sz="2000" dirty="0" smtClean="0"/>
          </a:p>
          <a:p>
            <a:pPr lvl="1" eaLnBrk="1" hangingPunct="1">
              <a:lnSpc>
                <a:spcPct val="90000"/>
              </a:lnSpc>
            </a:pPr>
            <a:r>
              <a:rPr lang="en-US" sz="1800" i="1" dirty="0" smtClean="0"/>
              <a:t>reduces miss rate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800" i="1" dirty="0" smtClean="0"/>
              <a:t>increases hit time</a:t>
            </a:r>
            <a:r>
              <a:rPr lang="en-US" sz="1800" dirty="0" smtClean="0"/>
              <a:t> because of the parallel search and then fetch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1800" dirty="0" smtClean="0"/>
          </a:p>
        </p:txBody>
      </p:sp>
      <p:sp>
        <p:nvSpPr>
          <p:cNvPr id="27651" name="Rectangle 4"/>
          <p:cNvSpPr>
            <a:spLocks noGrp="1" noChangeArrowheads="1"/>
          </p:cNvSpPr>
          <p:nvPr>
            <p:ph type="title"/>
          </p:nvPr>
        </p:nvSpPr>
        <p:spPr>
          <a:xfrm>
            <a:off x="304800" y="457200"/>
            <a:ext cx="8458200" cy="1143000"/>
          </a:xfrm>
          <a:noFill/>
        </p:spPr>
        <p:txBody>
          <a:bodyPr/>
          <a:lstStyle/>
          <a:p>
            <a:pPr eaLnBrk="1" hangingPunct="1"/>
            <a:r>
              <a:rPr lang="en-US" sz="2800" dirty="0" smtClean="0"/>
              <a:t>Decreasing Miss Rates with Associative Block Placement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Mayank Pandey, MNNIT, Allahabad, India</a:t>
            </a:r>
            <a:endParaRPr lang="en-US"/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ChangeArrowheads="1"/>
          </p:cNvSpPr>
          <p:nvPr/>
        </p:nvSpPr>
        <p:spPr bwMode="auto">
          <a:xfrm>
            <a:off x="225425" y="312738"/>
            <a:ext cx="2943225" cy="4778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0488" tIns="44450" rIns="90488" bIns="44450"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800" smtClean="0"/>
              <a:t/>
            </a:r>
            <a:br>
              <a:rPr lang="en-US" sz="2800" smtClean="0"/>
            </a:br>
            <a:r>
              <a:rPr lang="en-US" sz="2800" smtClean="0"/>
              <a:t/>
            </a:r>
            <a:br>
              <a:rPr lang="en-US" sz="2800" smtClean="0"/>
            </a:br>
            <a:r>
              <a:rPr lang="en-US" sz="2800" smtClean="0"/>
              <a:t/>
            </a:r>
            <a:br>
              <a:rPr lang="en-US" sz="2800" smtClean="0"/>
            </a:br>
            <a:r>
              <a:rPr lang="en-US" sz="2800" smtClean="0"/>
              <a:t/>
            </a:r>
            <a:br>
              <a:rPr lang="en-US" sz="2800" smtClean="0"/>
            </a:br>
            <a:r>
              <a:rPr lang="en-US" sz="2800" smtClean="0"/>
              <a:t/>
            </a:r>
            <a:br>
              <a:rPr lang="en-US" sz="2800" smtClean="0"/>
            </a:br>
            <a:r>
              <a:rPr lang="en-US" sz="2800" smtClean="0"/>
              <a:t/>
            </a:r>
            <a:br>
              <a:rPr lang="en-US" sz="2800" smtClean="0"/>
            </a:br>
            <a:r>
              <a:rPr lang="en-US" sz="2800" smtClean="0"/>
              <a:t/>
            </a:r>
            <a:br>
              <a:rPr lang="en-US" sz="2800" smtClean="0"/>
            </a:br>
            <a:r>
              <a:rPr lang="en-US" sz="2800" smtClean="0"/>
              <a:t/>
            </a:r>
            <a:br>
              <a:rPr lang="en-US" sz="2800" smtClean="0"/>
            </a:br>
            <a:r>
              <a:rPr lang="en-US" sz="2800" smtClean="0"/>
              <a:t/>
            </a:r>
            <a:br>
              <a:rPr lang="en-US" sz="2800" smtClean="0"/>
            </a:br>
            <a:r>
              <a:rPr lang="en-US" sz="2800" smtClean="0"/>
              <a:t>	</a:t>
            </a:r>
          </a:p>
        </p:txBody>
      </p:sp>
      <p:sp>
        <p:nvSpPr>
          <p:cNvPr id="28676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382000" cy="1143000"/>
          </a:xfrm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sz="2800" dirty="0" smtClean="0"/>
              <a:t>Decreasing Miss Rates with Associative Block Placement</a:t>
            </a:r>
          </a:p>
        </p:txBody>
      </p:sp>
      <p:pic>
        <p:nvPicPr>
          <p:cNvPr id="28677" name="Picture 7" descr="C:\Work\Architecture\CODbookFigures\F0715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90600" y="1752600"/>
            <a:ext cx="6781800" cy="2843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678" name="Text Box 8"/>
          <p:cNvSpPr txBox="1">
            <a:spLocks noChangeArrowheads="1"/>
          </p:cNvSpPr>
          <p:nvPr/>
        </p:nvSpPr>
        <p:spPr bwMode="auto">
          <a:xfrm>
            <a:off x="1257300" y="1447800"/>
            <a:ext cx="177323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latin typeface="Courier New" pitchFamily="49" charset="0"/>
              </a:rPr>
              <a:t>Direct Mapped</a:t>
            </a:r>
          </a:p>
        </p:txBody>
      </p:sp>
      <p:sp>
        <p:nvSpPr>
          <p:cNvPr id="28679" name="Text Box 9"/>
          <p:cNvSpPr txBox="1">
            <a:spLocks noChangeArrowheads="1"/>
          </p:cNvSpPr>
          <p:nvPr/>
        </p:nvSpPr>
        <p:spPr bwMode="auto">
          <a:xfrm>
            <a:off x="3162300" y="1447800"/>
            <a:ext cx="275113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latin typeface="Courier New" pitchFamily="49" charset="0"/>
              </a:rPr>
              <a:t>2-way Set Associative</a:t>
            </a:r>
          </a:p>
        </p:txBody>
      </p:sp>
      <p:sp>
        <p:nvSpPr>
          <p:cNvPr id="28680" name="Text Box 10"/>
          <p:cNvSpPr txBox="1">
            <a:spLocks noChangeArrowheads="1"/>
          </p:cNvSpPr>
          <p:nvPr/>
        </p:nvSpPr>
        <p:spPr bwMode="auto">
          <a:xfrm>
            <a:off x="5981700" y="1447800"/>
            <a:ext cx="226218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latin typeface="Courier New" pitchFamily="49" charset="0"/>
              </a:rPr>
              <a:t>Fully Associative</a:t>
            </a:r>
          </a:p>
        </p:txBody>
      </p:sp>
      <p:sp>
        <p:nvSpPr>
          <p:cNvPr id="28681" name="Text Box 11"/>
          <p:cNvSpPr txBox="1">
            <a:spLocks noChangeArrowheads="1"/>
          </p:cNvSpPr>
          <p:nvPr/>
        </p:nvSpPr>
        <p:spPr bwMode="auto">
          <a:xfrm>
            <a:off x="1028700" y="4876800"/>
            <a:ext cx="7210425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b="1"/>
              <a:t>Location of a memory block with address 12 in a cache with 8 blocks</a:t>
            </a:r>
          </a:p>
          <a:p>
            <a:r>
              <a:rPr lang="en-US" sz="1600" b="1"/>
              <a:t>with different degrees of associativity</a:t>
            </a:r>
          </a:p>
        </p:txBody>
      </p:sp>
      <p:sp>
        <p:nvSpPr>
          <p:cNvPr id="28682" name="Text Box 12"/>
          <p:cNvSpPr txBox="1">
            <a:spLocks noChangeArrowheads="1"/>
          </p:cNvSpPr>
          <p:nvPr/>
        </p:nvSpPr>
        <p:spPr bwMode="auto">
          <a:xfrm>
            <a:off x="1670050" y="3352800"/>
            <a:ext cx="11112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12 mod 8 = 4</a:t>
            </a:r>
          </a:p>
        </p:txBody>
      </p:sp>
      <p:sp>
        <p:nvSpPr>
          <p:cNvPr id="28683" name="Text Box 13"/>
          <p:cNvSpPr txBox="1">
            <a:spLocks noChangeArrowheads="1"/>
          </p:cNvSpPr>
          <p:nvPr/>
        </p:nvSpPr>
        <p:spPr bwMode="auto">
          <a:xfrm>
            <a:off x="4152900" y="3352800"/>
            <a:ext cx="11112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12 mod 4 = 0</a:t>
            </a:r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Mayank Pandey, MNNIT, Allahabad, India</a:t>
            </a:r>
            <a:endParaRPr lang="en-US"/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4" descr="C:\Work\Architecture\CODbookFigures\F0716.w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6400" y="1570038"/>
            <a:ext cx="5257800" cy="4144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699" name="Text Box 6"/>
          <p:cNvSpPr>
            <a:spLocks noGrp="1" noChangeArrowheads="1"/>
          </p:cNvSpPr>
          <p:nvPr>
            <p:ph type="body" idx="1"/>
          </p:nvPr>
        </p:nvSpPr>
        <p:spPr>
          <a:xfrm>
            <a:off x="2286000" y="1371600"/>
            <a:ext cx="7772400" cy="4114800"/>
          </a:xfrm>
          <a:noFill/>
        </p:spPr>
        <p:txBody>
          <a:bodyPr/>
          <a:lstStyle/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sz="1200" smtClean="0">
                <a:latin typeface="Courier New" pitchFamily="49" charset="0"/>
              </a:rPr>
              <a:t>One-way set associative</a:t>
            </a:r>
          </a:p>
        </p:txBody>
      </p:sp>
      <p:sp>
        <p:nvSpPr>
          <p:cNvPr id="29700" name="Rectangle 7"/>
          <p:cNvSpPr>
            <a:spLocks noGrp="1" noChangeArrowheads="1"/>
          </p:cNvSpPr>
          <p:nvPr>
            <p:ph type="title"/>
          </p:nvPr>
        </p:nvSpPr>
        <p:spPr>
          <a:xfrm>
            <a:off x="304800" y="457200"/>
            <a:ext cx="8686800" cy="1143000"/>
          </a:xfrm>
          <a:noFill/>
        </p:spPr>
        <p:txBody>
          <a:bodyPr/>
          <a:lstStyle/>
          <a:p>
            <a:pPr eaLnBrk="1" hangingPunct="1"/>
            <a:r>
              <a:rPr lang="en-US" sz="2800" dirty="0" smtClean="0"/>
              <a:t>Decreasing Miss Rates with Associative Block Placement</a:t>
            </a:r>
          </a:p>
        </p:txBody>
      </p:sp>
      <p:sp>
        <p:nvSpPr>
          <p:cNvPr id="29701" name="Text Box 8"/>
          <p:cNvSpPr txBox="1">
            <a:spLocks noChangeArrowheads="1"/>
          </p:cNvSpPr>
          <p:nvPr/>
        </p:nvSpPr>
        <p:spPr bwMode="auto">
          <a:xfrm>
            <a:off x="746125" y="5715000"/>
            <a:ext cx="768191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b="1"/>
              <a:t>Configurations of an 8-block cache with different degrees of associativity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Mayank Pandey, MNNIT, Allahabad, India</a:t>
            </a:r>
            <a:endParaRPr lang="en-US"/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Example Problems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33400" indent="-533400" eaLnBrk="1" hangingPunct="1"/>
            <a:r>
              <a:rPr lang="en-US" sz="2000" i="1" dirty="0" smtClean="0">
                <a:latin typeface="Times New Roman" pitchFamily="18" charset="0"/>
              </a:rPr>
              <a:t>Find the number of misses for a cache with four 1-word blocks given the following sequence of memory block accesses:                             			0, 8, 0, 6, 8,   for each of the following cache configurations</a:t>
            </a:r>
          </a:p>
          <a:p>
            <a:pPr marL="914400" lvl="1" indent="-457200" eaLnBrk="1" hangingPunct="1">
              <a:buFont typeface="Wingdings" pitchFamily="2" charset="2"/>
              <a:buAutoNum type="arabicPeriod"/>
            </a:pPr>
            <a:r>
              <a:rPr lang="en-US" sz="1800" i="1" dirty="0" smtClean="0">
                <a:latin typeface="Times New Roman" pitchFamily="18" charset="0"/>
              </a:rPr>
              <a:t>direct mapped</a:t>
            </a:r>
          </a:p>
          <a:p>
            <a:pPr marL="914400" lvl="1" indent="-457200" eaLnBrk="1" hangingPunct="1">
              <a:buFont typeface="Wingdings" pitchFamily="2" charset="2"/>
              <a:buAutoNum type="arabicPeriod"/>
            </a:pPr>
            <a:r>
              <a:rPr lang="en-US" sz="1800" i="1" dirty="0" smtClean="0">
                <a:latin typeface="Times New Roman" pitchFamily="18" charset="0"/>
              </a:rPr>
              <a:t>2-way set associative (use LRU replacement policy)</a:t>
            </a:r>
          </a:p>
          <a:p>
            <a:pPr marL="914400" lvl="1" indent="-457200" eaLnBrk="1" hangingPunct="1">
              <a:buFont typeface="Wingdings" pitchFamily="2" charset="2"/>
              <a:buAutoNum type="arabicPeriod"/>
            </a:pPr>
            <a:r>
              <a:rPr lang="en-US" sz="1800" i="1" dirty="0" smtClean="0">
                <a:latin typeface="Times New Roman" pitchFamily="18" charset="0"/>
              </a:rPr>
              <a:t>fully associative</a:t>
            </a:r>
          </a:p>
          <a:p>
            <a:pPr marL="914400" lvl="1" indent="-457200" eaLnBrk="1" hangingPunct="1"/>
            <a:endParaRPr lang="en-US" sz="1800" i="1" dirty="0" smtClean="0">
              <a:latin typeface="Times New Roman" pitchFamily="18" charset="0"/>
            </a:endParaRPr>
          </a:p>
          <a:p>
            <a:pPr marL="533400" indent="-533400" eaLnBrk="1" hangingPunct="1"/>
            <a:r>
              <a:rPr lang="en-US" sz="2000" dirty="0" smtClean="0"/>
              <a:t>Note about LRU replacement</a:t>
            </a:r>
          </a:p>
          <a:p>
            <a:pPr marL="914400" lvl="1" indent="-457200" eaLnBrk="1" hangingPunct="1"/>
            <a:r>
              <a:rPr lang="en-US" sz="1800" dirty="0" smtClean="0"/>
              <a:t>in a 2-way set associative cache LRU replacement can be implemented with one bit at each set whose value indicates the mostly recently referenced block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Mayank Pandey, MNNIT, Allahabad, India</a:t>
            </a:r>
            <a:endParaRPr lang="en-US"/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Solution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19150" y="1371600"/>
            <a:ext cx="7732712" cy="4876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000" dirty="0" smtClean="0">
                <a:solidFill>
                  <a:schemeClr val="folHlink"/>
                </a:solidFill>
              </a:rPr>
              <a:t>1 (direct-mapped)</a:t>
            </a:r>
          </a:p>
          <a:p>
            <a:pPr eaLnBrk="1" hangingPunct="1">
              <a:lnSpc>
                <a:spcPct val="90000"/>
              </a:lnSpc>
            </a:pPr>
            <a:endParaRPr lang="en-US" sz="2000" dirty="0" smtClean="0">
              <a:solidFill>
                <a:schemeClr val="folHlink"/>
              </a:solidFill>
            </a:endParaRPr>
          </a:p>
          <a:p>
            <a:pPr eaLnBrk="1" hangingPunct="1">
              <a:lnSpc>
                <a:spcPct val="90000"/>
              </a:lnSpc>
            </a:pPr>
            <a:endParaRPr lang="en-US" sz="2000" dirty="0" smtClean="0">
              <a:solidFill>
                <a:schemeClr val="folHlink"/>
              </a:solidFill>
            </a:endParaRPr>
          </a:p>
          <a:p>
            <a:pPr eaLnBrk="1" hangingPunct="1">
              <a:lnSpc>
                <a:spcPct val="90000"/>
              </a:lnSpc>
            </a:pPr>
            <a:endParaRPr lang="en-US" sz="2000" dirty="0" smtClean="0">
              <a:solidFill>
                <a:schemeClr val="folHlink"/>
              </a:solidFill>
            </a:endParaRPr>
          </a:p>
          <a:p>
            <a:pPr eaLnBrk="1" hangingPunct="1">
              <a:lnSpc>
                <a:spcPct val="90000"/>
              </a:lnSpc>
            </a:pPr>
            <a:endParaRPr lang="en-US" sz="2000" dirty="0" smtClean="0">
              <a:solidFill>
                <a:schemeClr val="folHlink"/>
              </a:solidFill>
            </a:endParaRPr>
          </a:p>
          <a:p>
            <a:pPr eaLnBrk="1" hangingPunct="1">
              <a:lnSpc>
                <a:spcPct val="90000"/>
              </a:lnSpc>
            </a:pPr>
            <a:endParaRPr lang="en-US" sz="2000" dirty="0" smtClean="0">
              <a:solidFill>
                <a:schemeClr val="folHlink"/>
              </a:solidFill>
            </a:endParaRPr>
          </a:p>
          <a:p>
            <a:pPr eaLnBrk="1" hangingPunct="1">
              <a:lnSpc>
                <a:spcPct val="90000"/>
              </a:lnSpc>
            </a:pPr>
            <a:endParaRPr lang="en-US" sz="2000" dirty="0" smtClean="0">
              <a:solidFill>
                <a:schemeClr val="folHlink"/>
              </a:solidFill>
            </a:endParaRPr>
          </a:p>
          <a:p>
            <a:pPr eaLnBrk="1" hangingPunct="1">
              <a:lnSpc>
                <a:spcPct val="90000"/>
              </a:lnSpc>
            </a:pPr>
            <a:endParaRPr lang="en-US" sz="2000" dirty="0" smtClean="0">
              <a:solidFill>
                <a:schemeClr val="folHlink"/>
              </a:solidFill>
            </a:endParaRPr>
          </a:p>
          <a:p>
            <a:pPr eaLnBrk="1" hangingPunct="1">
              <a:lnSpc>
                <a:spcPct val="90000"/>
              </a:lnSpc>
            </a:pPr>
            <a:endParaRPr lang="en-US" sz="2000" dirty="0" smtClean="0">
              <a:solidFill>
                <a:schemeClr val="folHlink"/>
              </a:solidFill>
            </a:endParaRPr>
          </a:p>
          <a:p>
            <a:pPr eaLnBrk="1" hangingPunct="1">
              <a:lnSpc>
                <a:spcPct val="90000"/>
              </a:lnSpc>
            </a:pPr>
            <a:endParaRPr lang="en-US" sz="2000" dirty="0" smtClean="0">
              <a:solidFill>
                <a:schemeClr val="folHlink"/>
              </a:solidFill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2000" dirty="0" smtClean="0">
              <a:solidFill>
                <a:schemeClr val="folHlink"/>
              </a:solidFill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2000" dirty="0" smtClean="0">
              <a:solidFill>
                <a:schemeClr val="folHlink"/>
              </a:solidFill>
            </a:endParaRPr>
          </a:p>
          <a:p>
            <a:pPr eaLnBrk="1" hangingPunct="1">
              <a:lnSpc>
                <a:spcPct val="90000"/>
              </a:lnSpc>
            </a:pPr>
            <a:endParaRPr lang="en-US" sz="2000" dirty="0" smtClean="0"/>
          </a:p>
          <a:p>
            <a:pPr eaLnBrk="1" hangingPunct="1">
              <a:lnSpc>
                <a:spcPct val="90000"/>
              </a:lnSpc>
            </a:pPr>
            <a:r>
              <a:rPr lang="en-US" sz="2000" dirty="0" smtClean="0"/>
              <a:t>5 misses</a:t>
            </a:r>
          </a:p>
          <a:p>
            <a:pPr eaLnBrk="1" hangingPunct="1">
              <a:lnSpc>
                <a:spcPct val="90000"/>
              </a:lnSpc>
            </a:pPr>
            <a:endParaRPr lang="en-US" sz="2000" dirty="0" smtClean="0">
              <a:solidFill>
                <a:schemeClr val="folHlink"/>
              </a:solidFill>
            </a:endParaRPr>
          </a:p>
          <a:p>
            <a:pPr eaLnBrk="1" hangingPunct="1">
              <a:lnSpc>
                <a:spcPct val="90000"/>
              </a:lnSpc>
            </a:pPr>
            <a:endParaRPr lang="en-US" sz="2000" dirty="0" smtClean="0">
              <a:solidFill>
                <a:schemeClr val="folHlink"/>
              </a:solidFill>
            </a:endParaRPr>
          </a:p>
          <a:p>
            <a:pPr eaLnBrk="1" hangingPunct="1">
              <a:lnSpc>
                <a:spcPct val="90000"/>
              </a:lnSpc>
            </a:pPr>
            <a:endParaRPr lang="en-US" sz="2400" dirty="0" smtClean="0">
              <a:solidFill>
                <a:schemeClr val="folHlink"/>
              </a:solidFill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2400" dirty="0" smtClean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2000" dirty="0" smtClean="0"/>
          </a:p>
        </p:txBody>
      </p:sp>
      <p:sp>
        <p:nvSpPr>
          <p:cNvPr id="31748" name="Text Box 4"/>
          <p:cNvSpPr txBox="1">
            <a:spLocks noChangeArrowheads="1"/>
          </p:cNvSpPr>
          <p:nvPr/>
        </p:nvSpPr>
        <p:spPr bwMode="auto">
          <a:xfrm>
            <a:off x="2208212" y="1752600"/>
            <a:ext cx="3295650" cy="1217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sz="1600" b="1">
                <a:latin typeface="Arial" charset="0"/>
              </a:rPr>
              <a:t>   Block address     Cache block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sz="1600" b="1"/>
              <a:t>          </a:t>
            </a:r>
            <a:r>
              <a:rPr lang="en-US" sz="1600"/>
              <a:t>0                 0 (= 0 </a:t>
            </a:r>
            <a:r>
              <a:rPr lang="en-US" sz="1600" i="1"/>
              <a:t>mod</a:t>
            </a:r>
            <a:r>
              <a:rPr lang="en-US" sz="1600"/>
              <a:t> 4)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sz="1600"/>
              <a:t>          6                 2 (= 6 </a:t>
            </a:r>
            <a:r>
              <a:rPr lang="en-US" sz="1600" i="1"/>
              <a:t>mod</a:t>
            </a:r>
            <a:r>
              <a:rPr lang="en-US" sz="1600"/>
              <a:t> 4)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sz="1600"/>
              <a:t>          8                 0 (= 8 </a:t>
            </a:r>
            <a:r>
              <a:rPr lang="en-US" sz="1600" i="1"/>
              <a:t>mod</a:t>
            </a:r>
            <a:r>
              <a:rPr lang="en-US" sz="1600"/>
              <a:t> 4)</a:t>
            </a:r>
          </a:p>
        </p:txBody>
      </p:sp>
      <p:sp>
        <p:nvSpPr>
          <p:cNvPr id="31749" name="Text Box 5"/>
          <p:cNvSpPr txBox="1">
            <a:spLocks noChangeArrowheads="1"/>
          </p:cNvSpPr>
          <p:nvPr/>
        </p:nvSpPr>
        <p:spPr bwMode="auto">
          <a:xfrm>
            <a:off x="304800" y="3352800"/>
            <a:ext cx="7640637" cy="2392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sz="1600" b="1">
                <a:latin typeface="Arial" charset="0"/>
              </a:rPr>
              <a:t>Address of memory     Hit or              Contents of cache blocks after reference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sz="1600" b="1">
                <a:latin typeface="Arial" charset="0"/>
              </a:rPr>
              <a:t>    block accessed         miss                  0                 1                  2                  3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sz="1600" b="1"/>
              <a:t>               </a:t>
            </a:r>
            <a:r>
              <a:rPr lang="en-US" sz="1600"/>
              <a:t>0                    miss          </a:t>
            </a:r>
            <a:r>
              <a:rPr lang="en-US" sz="1600">
                <a:solidFill>
                  <a:schemeClr val="hlink"/>
                </a:solidFill>
              </a:rPr>
              <a:t>Memory[0]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sz="1600"/>
              <a:t>              8                     miss         </a:t>
            </a:r>
            <a:r>
              <a:rPr lang="en-US" sz="1600">
                <a:solidFill>
                  <a:schemeClr val="hlink"/>
                </a:solidFill>
              </a:rPr>
              <a:t>Memory[8]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sz="1600"/>
              <a:t>              0                     miss         </a:t>
            </a:r>
            <a:r>
              <a:rPr lang="en-US" sz="1600">
                <a:solidFill>
                  <a:schemeClr val="hlink"/>
                </a:solidFill>
              </a:rPr>
              <a:t>Memory[0]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sz="1600"/>
              <a:t>              6                     miss         Memory[0]                      </a:t>
            </a:r>
            <a:r>
              <a:rPr lang="en-US" sz="1600">
                <a:solidFill>
                  <a:schemeClr val="hlink"/>
                </a:solidFill>
              </a:rPr>
              <a:t>Memory[6]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sz="1600"/>
              <a:t>              8                     miss         </a:t>
            </a:r>
            <a:r>
              <a:rPr lang="en-US" sz="1600">
                <a:solidFill>
                  <a:schemeClr val="hlink"/>
                </a:solidFill>
              </a:rPr>
              <a:t>Memory[8]</a:t>
            </a:r>
            <a:r>
              <a:rPr lang="en-US" sz="1600"/>
              <a:t>                      Memory[6]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endParaRPr lang="en-US" sz="1600"/>
          </a:p>
        </p:txBody>
      </p:sp>
      <p:sp>
        <p:nvSpPr>
          <p:cNvPr id="31750" name="Text Box 6"/>
          <p:cNvSpPr txBox="1">
            <a:spLocks noChangeArrowheads="1"/>
          </p:cNvSpPr>
          <p:nvPr/>
        </p:nvSpPr>
        <p:spPr bwMode="auto">
          <a:xfrm>
            <a:off x="1406525" y="2863850"/>
            <a:ext cx="524033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b="1" dirty="0"/>
              <a:t>Block address translation in direct-mapped cache</a:t>
            </a:r>
          </a:p>
        </p:txBody>
      </p:sp>
      <p:sp>
        <p:nvSpPr>
          <p:cNvPr id="31751" name="Text Box 7"/>
          <p:cNvSpPr txBox="1">
            <a:spLocks noChangeArrowheads="1"/>
          </p:cNvSpPr>
          <p:nvPr/>
        </p:nvSpPr>
        <p:spPr bwMode="auto">
          <a:xfrm>
            <a:off x="479425" y="5378450"/>
            <a:ext cx="723423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b="1"/>
              <a:t>Cache contents after each reference – red indicates new entry added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Mayank Pandey, MNNIT, Allahabad, India</a:t>
            </a:r>
            <a:endParaRPr lang="en-US"/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Solution (cont.)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42950" y="1371600"/>
            <a:ext cx="7961312" cy="4876800"/>
          </a:xfrm>
        </p:spPr>
        <p:txBody>
          <a:bodyPr/>
          <a:lstStyle/>
          <a:p>
            <a:pPr eaLnBrk="1" hangingPunct="1"/>
            <a:r>
              <a:rPr lang="en-US" sz="2000" smtClean="0">
                <a:solidFill>
                  <a:schemeClr val="folHlink"/>
                </a:solidFill>
              </a:rPr>
              <a:t>2 (two-way set-associative)</a:t>
            </a:r>
          </a:p>
          <a:p>
            <a:pPr eaLnBrk="1" hangingPunct="1"/>
            <a:endParaRPr lang="en-US" sz="2000" smtClean="0">
              <a:solidFill>
                <a:schemeClr val="folHlink"/>
              </a:solidFill>
            </a:endParaRPr>
          </a:p>
          <a:p>
            <a:pPr eaLnBrk="1" hangingPunct="1"/>
            <a:endParaRPr lang="en-US" sz="2000" smtClean="0">
              <a:solidFill>
                <a:schemeClr val="folHlink"/>
              </a:solidFill>
            </a:endParaRPr>
          </a:p>
          <a:p>
            <a:pPr eaLnBrk="1" hangingPunct="1"/>
            <a:endParaRPr lang="en-US" sz="2000" smtClean="0">
              <a:solidFill>
                <a:schemeClr val="folHlink"/>
              </a:solidFill>
            </a:endParaRPr>
          </a:p>
          <a:p>
            <a:pPr eaLnBrk="1" hangingPunct="1"/>
            <a:endParaRPr lang="en-US" sz="2000" smtClean="0">
              <a:solidFill>
                <a:schemeClr val="folHlink"/>
              </a:solidFill>
            </a:endParaRPr>
          </a:p>
          <a:p>
            <a:pPr eaLnBrk="1" hangingPunct="1"/>
            <a:endParaRPr lang="en-US" sz="2000" smtClean="0">
              <a:solidFill>
                <a:schemeClr val="folHlink"/>
              </a:solidFill>
            </a:endParaRPr>
          </a:p>
          <a:p>
            <a:pPr eaLnBrk="1" hangingPunct="1"/>
            <a:endParaRPr lang="en-US" sz="2000" smtClean="0">
              <a:solidFill>
                <a:schemeClr val="folHlink"/>
              </a:solidFill>
            </a:endParaRPr>
          </a:p>
          <a:p>
            <a:pPr eaLnBrk="1" hangingPunct="1"/>
            <a:endParaRPr lang="en-US" sz="2000" smtClean="0">
              <a:solidFill>
                <a:schemeClr val="folHlink"/>
              </a:solidFill>
            </a:endParaRPr>
          </a:p>
          <a:p>
            <a:pPr eaLnBrk="1" hangingPunct="1"/>
            <a:endParaRPr lang="en-US" sz="2000" smtClean="0">
              <a:solidFill>
                <a:schemeClr val="folHlink"/>
              </a:solidFill>
            </a:endParaRPr>
          </a:p>
          <a:p>
            <a:pPr eaLnBrk="1" hangingPunct="1"/>
            <a:endParaRPr lang="en-US" sz="2000" smtClean="0">
              <a:solidFill>
                <a:schemeClr val="folHlink"/>
              </a:solidFill>
            </a:endParaRPr>
          </a:p>
          <a:p>
            <a:pPr eaLnBrk="1" hangingPunct="1"/>
            <a:endParaRPr lang="en-US" sz="2000" smtClean="0">
              <a:solidFill>
                <a:schemeClr val="folHlink"/>
              </a:solidFill>
            </a:endParaRPr>
          </a:p>
          <a:p>
            <a:pPr eaLnBrk="1" hangingPunct="1"/>
            <a:endParaRPr lang="en-US" sz="2000" smtClean="0">
              <a:solidFill>
                <a:schemeClr val="folHlink"/>
              </a:solidFill>
            </a:endParaRPr>
          </a:p>
          <a:p>
            <a:pPr eaLnBrk="1" hangingPunct="1"/>
            <a:r>
              <a:rPr lang="en-US" sz="2000" smtClean="0"/>
              <a:t>Four misses</a:t>
            </a:r>
          </a:p>
        </p:txBody>
      </p:sp>
      <p:sp>
        <p:nvSpPr>
          <p:cNvPr id="32772" name="Text Box 4"/>
          <p:cNvSpPr txBox="1">
            <a:spLocks noChangeArrowheads="1"/>
          </p:cNvSpPr>
          <p:nvPr/>
        </p:nvSpPr>
        <p:spPr bwMode="auto">
          <a:xfrm>
            <a:off x="2055812" y="1752600"/>
            <a:ext cx="3295650" cy="1217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sz="1600" b="1">
                <a:latin typeface="Arial" charset="0"/>
              </a:rPr>
              <a:t>   Block address     Cache set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sz="1600" b="1"/>
              <a:t>          </a:t>
            </a:r>
            <a:r>
              <a:rPr lang="en-US" sz="1600"/>
              <a:t>0                 0 (= 0 </a:t>
            </a:r>
            <a:r>
              <a:rPr lang="en-US" sz="1600" i="1"/>
              <a:t>mod</a:t>
            </a:r>
            <a:r>
              <a:rPr lang="en-US" sz="1600"/>
              <a:t> 2)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sz="1600"/>
              <a:t>          6                 0 (= 6 </a:t>
            </a:r>
            <a:r>
              <a:rPr lang="en-US" sz="1600" i="1"/>
              <a:t>mod</a:t>
            </a:r>
            <a:r>
              <a:rPr lang="en-US" sz="1600"/>
              <a:t> 2)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sz="1600"/>
              <a:t>          8                 0 (= 8 </a:t>
            </a:r>
            <a:r>
              <a:rPr lang="en-US" sz="1600" i="1"/>
              <a:t>mod</a:t>
            </a:r>
            <a:r>
              <a:rPr lang="en-US" sz="1600"/>
              <a:t> 2)</a:t>
            </a:r>
          </a:p>
        </p:txBody>
      </p:sp>
      <p:sp>
        <p:nvSpPr>
          <p:cNvPr id="32773" name="Text Box 5"/>
          <p:cNvSpPr txBox="1">
            <a:spLocks noChangeArrowheads="1"/>
          </p:cNvSpPr>
          <p:nvPr/>
        </p:nvSpPr>
        <p:spPr bwMode="auto">
          <a:xfrm>
            <a:off x="228600" y="3352800"/>
            <a:ext cx="7862887" cy="2392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sz="1600" b="1">
                <a:latin typeface="Arial" charset="0"/>
              </a:rPr>
              <a:t>Address of memory     Hit or                Contents of cache blocks after reference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sz="1600" b="1">
                <a:latin typeface="Arial" charset="0"/>
              </a:rPr>
              <a:t>    block accessed         miss               Set 0              Set 0            Set 1            Set 1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sz="1600" b="1"/>
              <a:t>               </a:t>
            </a:r>
            <a:r>
              <a:rPr lang="en-US" sz="1600"/>
              <a:t>0                    miss          </a:t>
            </a:r>
            <a:r>
              <a:rPr lang="en-US" sz="1600">
                <a:solidFill>
                  <a:schemeClr val="hlink"/>
                </a:solidFill>
              </a:rPr>
              <a:t>Memory[0]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sz="1600"/>
              <a:t>              8                     miss         Memory[0]</a:t>
            </a:r>
            <a:r>
              <a:rPr lang="en-US" sz="1600">
                <a:solidFill>
                  <a:schemeClr val="hlink"/>
                </a:solidFill>
              </a:rPr>
              <a:t>      Memory[8]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sz="1600"/>
              <a:t>              0                     hit            Memory[0]</a:t>
            </a:r>
            <a:r>
              <a:rPr lang="en-US" sz="1600">
                <a:solidFill>
                  <a:schemeClr val="hlink"/>
                </a:solidFill>
              </a:rPr>
              <a:t>      </a:t>
            </a:r>
            <a:r>
              <a:rPr lang="en-US" sz="1600"/>
              <a:t>Memory[8]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sz="1600"/>
              <a:t>              6                     miss         Memory[0]      </a:t>
            </a:r>
            <a:r>
              <a:rPr lang="en-US" sz="1600">
                <a:solidFill>
                  <a:schemeClr val="hlink"/>
                </a:solidFill>
              </a:rPr>
              <a:t>Memory[6]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sz="1600"/>
              <a:t>              8                     miss         </a:t>
            </a:r>
            <a:r>
              <a:rPr lang="en-US" sz="1600">
                <a:solidFill>
                  <a:schemeClr val="hlink"/>
                </a:solidFill>
              </a:rPr>
              <a:t>Memory[8]</a:t>
            </a:r>
            <a:r>
              <a:rPr lang="en-US" sz="1600"/>
              <a:t>      Memory[6]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endParaRPr lang="en-US" sz="1600"/>
          </a:p>
        </p:txBody>
      </p:sp>
      <p:sp>
        <p:nvSpPr>
          <p:cNvPr id="32774" name="Text Box 6"/>
          <p:cNvSpPr txBox="1">
            <a:spLocks noChangeArrowheads="1"/>
          </p:cNvSpPr>
          <p:nvPr/>
        </p:nvSpPr>
        <p:spPr bwMode="auto">
          <a:xfrm>
            <a:off x="800100" y="2863850"/>
            <a:ext cx="64103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b="1"/>
              <a:t>Block address translation in a two-way set-associative cache</a:t>
            </a:r>
          </a:p>
        </p:txBody>
      </p:sp>
      <p:sp>
        <p:nvSpPr>
          <p:cNvPr id="32775" name="Text Box 7"/>
          <p:cNvSpPr txBox="1">
            <a:spLocks noChangeArrowheads="1"/>
          </p:cNvSpPr>
          <p:nvPr/>
        </p:nvSpPr>
        <p:spPr bwMode="auto">
          <a:xfrm>
            <a:off x="555625" y="5410200"/>
            <a:ext cx="723423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b="1"/>
              <a:t>Cache contents after each reference – red indicates new entry added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Mayank Pandey, MNNIT, Allahabad, India</a:t>
            </a:r>
            <a:endParaRPr lang="en-US"/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Solution (cont.)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000" dirty="0" smtClean="0">
                <a:solidFill>
                  <a:schemeClr val="folHlink"/>
                </a:solidFill>
              </a:rPr>
              <a:t>3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chemeClr val="folHlink"/>
                </a:solidFill>
              </a:rPr>
              <a:t>(fully associative)</a:t>
            </a:r>
          </a:p>
          <a:p>
            <a:pPr eaLnBrk="1" hangingPunct="1"/>
            <a:endParaRPr lang="en-US" sz="2000" dirty="0" smtClean="0">
              <a:solidFill>
                <a:schemeClr val="folHlink"/>
              </a:solidFill>
            </a:endParaRPr>
          </a:p>
          <a:p>
            <a:pPr eaLnBrk="1" hangingPunct="1">
              <a:buNone/>
            </a:pPr>
            <a:endParaRPr lang="en-US" sz="2000" dirty="0" smtClean="0">
              <a:solidFill>
                <a:schemeClr val="folHlink"/>
              </a:solidFill>
            </a:endParaRPr>
          </a:p>
          <a:p>
            <a:pPr eaLnBrk="1" hangingPunct="1"/>
            <a:endParaRPr lang="en-US" sz="2000" dirty="0" smtClean="0">
              <a:solidFill>
                <a:schemeClr val="folHlink"/>
              </a:solidFill>
            </a:endParaRPr>
          </a:p>
          <a:p>
            <a:pPr eaLnBrk="1" hangingPunct="1"/>
            <a:endParaRPr lang="en-US" sz="2000" dirty="0" smtClean="0">
              <a:solidFill>
                <a:schemeClr val="folHlink"/>
              </a:solidFill>
            </a:endParaRPr>
          </a:p>
          <a:p>
            <a:pPr eaLnBrk="1" hangingPunct="1"/>
            <a:endParaRPr lang="en-US" sz="2000" dirty="0" smtClean="0">
              <a:solidFill>
                <a:schemeClr val="folHlink"/>
              </a:solidFill>
            </a:endParaRPr>
          </a:p>
          <a:p>
            <a:pPr eaLnBrk="1" hangingPunct="1"/>
            <a:endParaRPr lang="en-US" sz="2000" dirty="0" smtClean="0">
              <a:solidFill>
                <a:schemeClr val="folHlink"/>
              </a:solidFill>
            </a:endParaRPr>
          </a:p>
          <a:p>
            <a:pPr eaLnBrk="1" hangingPunct="1"/>
            <a:endParaRPr lang="en-US" sz="2000" dirty="0" smtClean="0">
              <a:solidFill>
                <a:schemeClr val="folHlink"/>
              </a:solidFill>
            </a:endParaRPr>
          </a:p>
          <a:p>
            <a:pPr eaLnBrk="1" hangingPunct="1"/>
            <a:endParaRPr lang="en-US" sz="2000" dirty="0" smtClean="0">
              <a:solidFill>
                <a:schemeClr val="folHlink"/>
              </a:solidFill>
            </a:endParaRPr>
          </a:p>
          <a:p>
            <a:pPr eaLnBrk="1" hangingPunct="1"/>
            <a:endParaRPr lang="en-US" sz="2000" dirty="0" smtClean="0"/>
          </a:p>
          <a:p>
            <a:pPr eaLnBrk="1" hangingPunct="1"/>
            <a:r>
              <a:rPr lang="en-US" sz="2000" dirty="0" smtClean="0"/>
              <a:t>3 misses</a:t>
            </a:r>
          </a:p>
        </p:txBody>
      </p:sp>
      <p:sp>
        <p:nvSpPr>
          <p:cNvPr id="33796" name="Text Box 4"/>
          <p:cNvSpPr txBox="1">
            <a:spLocks noChangeArrowheads="1"/>
          </p:cNvSpPr>
          <p:nvPr/>
        </p:nvSpPr>
        <p:spPr bwMode="auto">
          <a:xfrm>
            <a:off x="304800" y="2743200"/>
            <a:ext cx="8523288" cy="2392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sz="1600" b="1">
                <a:latin typeface="Arial" charset="0"/>
              </a:rPr>
              <a:t>Address of memory     Hit or                     Contents of cache blocks after reference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sz="1600" b="1">
                <a:latin typeface="Arial" charset="0"/>
              </a:rPr>
              <a:t>    block accessed         miss               Block 0           Block 1            Block 2          Block 3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sz="1600" b="1"/>
              <a:t>               </a:t>
            </a:r>
            <a:r>
              <a:rPr lang="en-US" sz="1600"/>
              <a:t>0                    miss          </a:t>
            </a:r>
            <a:r>
              <a:rPr lang="en-US" sz="1600">
                <a:solidFill>
                  <a:schemeClr val="hlink"/>
                </a:solidFill>
              </a:rPr>
              <a:t>Memory[0]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sz="1600"/>
              <a:t>              8                     miss         Memory[0]</a:t>
            </a:r>
            <a:r>
              <a:rPr lang="en-US" sz="1600">
                <a:solidFill>
                  <a:schemeClr val="hlink"/>
                </a:solidFill>
              </a:rPr>
              <a:t>       Memory[8]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sz="1600"/>
              <a:t>              0                     hit            Memory[0]</a:t>
            </a:r>
            <a:r>
              <a:rPr lang="en-US" sz="1600">
                <a:solidFill>
                  <a:schemeClr val="hlink"/>
                </a:solidFill>
              </a:rPr>
              <a:t>       </a:t>
            </a:r>
            <a:r>
              <a:rPr lang="en-US" sz="1600"/>
              <a:t>Memory[8]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sz="1600"/>
              <a:t>              6                     miss         Memory[0]       Memory[8]       </a:t>
            </a:r>
            <a:r>
              <a:rPr lang="en-US" sz="1600">
                <a:solidFill>
                  <a:schemeClr val="hlink"/>
                </a:solidFill>
              </a:rPr>
              <a:t>Memory[6]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sz="1600"/>
              <a:t>              8                     hit            Memory[0]       Memory[8]       Memory[6]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endParaRPr lang="en-US" sz="1600"/>
          </a:p>
        </p:txBody>
      </p:sp>
      <p:sp>
        <p:nvSpPr>
          <p:cNvPr id="33797" name="Text Box 5"/>
          <p:cNvSpPr txBox="1">
            <a:spLocks noChangeArrowheads="1"/>
          </p:cNvSpPr>
          <p:nvPr/>
        </p:nvSpPr>
        <p:spPr bwMode="auto">
          <a:xfrm>
            <a:off x="919163" y="4845050"/>
            <a:ext cx="723423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b="1"/>
              <a:t>Cache contents after each reference – red indicates new entry added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Mayank Pandey, MNNIT, Allahabad, India</a:t>
            </a:r>
            <a:endParaRPr lang="en-US"/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7793037" cy="1143000"/>
          </a:xfrm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sz="3200" dirty="0" smtClean="0"/>
              <a:t>Implementation of a Set-Associative Cache</a:t>
            </a:r>
          </a:p>
        </p:txBody>
      </p:sp>
      <p:pic>
        <p:nvPicPr>
          <p:cNvPr id="34819" name="Picture 3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44637" y="1431925"/>
            <a:ext cx="5791200" cy="44878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pic>
      <p:sp>
        <p:nvSpPr>
          <p:cNvPr id="34820" name="Text Box 4"/>
          <p:cNvSpPr txBox="1">
            <a:spLocks noChangeArrowheads="1"/>
          </p:cNvSpPr>
          <p:nvPr/>
        </p:nvSpPr>
        <p:spPr bwMode="auto">
          <a:xfrm>
            <a:off x="3687762" y="1279525"/>
            <a:ext cx="82867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>
                <a:latin typeface="Courier New" pitchFamily="49" charset="0"/>
              </a:rPr>
              <a:t>Address</a:t>
            </a:r>
          </a:p>
        </p:txBody>
      </p:sp>
      <p:sp>
        <p:nvSpPr>
          <p:cNvPr id="34821" name="Text Box 5"/>
          <p:cNvSpPr txBox="1">
            <a:spLocks noChangeArrowheads="1"/>
          </p:cNvSpPr>
          <p:nvPr/>
        </p:nvSpPr>
        <p:spPr bwMode="auto">
          <a:xfrm>
            <a:off x="381000" y="5819775"/>
            <a:ext cx="8020050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b="1"/>
              <a:t>4-way set-associative cache with 4 comparators and one 4-to-1 multiplexor:</a:t>
            </a:r>
          </a:p>
          <a:p>
            <a:r>
              <a:rPr lang="en-US" sz="1600" b="1"/>
              <a:t>size of cache is 1K blocks = 256 sets * 4-block set size</a:t>
            </a:r>
          </a:p>
        </p:txBody>
      </p:sp>
      <p:sp>
        <p:nvSpPr>
          <p:cNvPr id="34822" name="Oval 6"/>
          <p:cNvSpPr>
            <a:spLocks noChangeArrowheads="1"/>
          </p:cNvSpPr>
          <p:nvPr/>
        </p:nvSpPr>
        <p:spPr bwMode="auto">
          <a:xfrm>
            <a:off x="1925637" y="2955925"/>
            <a:ext cx="5791200" cy="381000"/>
          </a:xfrm>
          <a:prstGeom prst="ellipse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34823" name="Text Box 7"/>
          <p:cNvSpPr txBox="1">
            <a:spLocks noChangeArrowheads="1"/>
          </p:cNvSpPr>
          <p:nvPr/>
        </p:nvSpPr>
        <p:spPr bwMode="auto">
          <a:xfrm>
            <a:off x="7700962" y="3000375"/>
            <a:ext cx="47148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solidFill>
                  <a:schemeClr val="hlink"/>
                </a:solidFill>
              </a:rPr>
              <a:t>Set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Mayank Pandey, MNNIT, Allahabad, India</a:t>
            </a:r>
            <a:endParaRPr lang="en-US"/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sz="3600" dirty="0" smtClean="0"/>
              <a:t>Performance with Set-Associative Caches</a:t>
            </a:r>
          </a:p>
        </p:txBody>
      </p:sp>
      <p:pic>
        <p:nvPicPr>
          <p:cNvPr id="35843" name="Picture 3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57400" y="1828800"/>
            <a:ext cx="4953000" cy="41703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pic>
      <p:sp>
        <p:nvSpPr>
          <p:cNvPr id="35844" name="Text Box 4"/>
          <p:cNvSpPr txBox="1">
            <a:spLocks noChangeArrowheads="1"/>
          </p:cNvSpPr>
          <p:nvPr/>
        </p:nvSpPr>
        <p:spPr bwMode="auto">
          <a:xfrm>
            <a:off x="762000" y="5483225"/>
            <a:ext cx="4445000" cy="106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b="1"/>
              <a:t>Miss rates for each of eight cache sizes</a:t>
            </a:r>
          </a:p>
          <a:p>
            <a:r>
              <a:rPr lang="en-US" sz="1600" b="1"/>
              <a:t>with increasing associativity:</a:t>
            </a:r>
          </a:p>
          <a:p>
            <a:r>
              <a:rPr lang="en-US" sz="1600" b="1"/>
              <a:t>data generated from SPEC92 benchmarks</a:t>
            </a:r>
          </a:p>
          <a:p>
            <a:r>
              <a:rPr lang="en-US" sz="1600" b="1"/>
              <a:t>with 32 byte block size for all caches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92875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Mayank Pandey, MNNIT, Allahabad, India</a:t>
            </a:r>
            <a:endParaRPr lang="en-US" dirty="0"/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sz="3200" dirty="0" smtClean="0"/>
              <a:t>Decreasing Miss Penalty with Multilevel Caches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371600"/>
            <a:ext cx="7772400" cy="4114800"/>
          </a:xfrm>
          <a:noFill/>
        </p:spPr>
        <p:txBody>
          <a:bodyPr lIns="90488" tIns="44450" rIns="90488" bIns="44450"/>
          <a:lstStyle/>
          <a:p>
            <a:pPr eaLnBrk="1" hangingPunct="1">
              <a:lnSpc>
                <a:spcPct val="90000"/>
              </a:lnSpc>
            </a:pPr>
            <a:r>
              <a:rPr lang="en-US" sz="2000" dirty="0" smtClean="0"/>
              <a:t>Add a </a:t>
            </a:r>
            <a:r>
              <a:rPr lang="en-US" sz="2000" i="1" dirty="0" smtClean="0"/>
              <a:t>second-level</a:t>
            </a:r>
            <a:r>
              <a:rPr lang="en-US" sz="2000" dirty="0" smtClean="0"/>
              <a:t> cache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800" dirty="0" smtClean="0"/>
              <a:t>primary cache is on the same chip as the processor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800" dirty="0" smtClean="0"/>
              <a:t>use SRAMs to add a second-level cache, sometimes off-chip, </a:t>
            </a:r>
            <a:r>
              <a:rPr lang="en-US" sz="1800" i="1" dirty="0" smtClean="0"/>
              <a:t>between main memory and the first-level cache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800" dirty="0" smtClean="0"/>
              <a:t>if miss occurs in primary cache second-level cache is accessed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800" dirty="0" smtClean="0"/>
              <a:t>if data is found in second-level cache miss penalty is access time of second-level cache which is much less than main memory access time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800" dirty="0" smtClean="0"/>
              <a:t>if miss occurs again at second-level then main memory access is required and large miss penalty is incurred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 smtClean="0"/>
              <a:t>Design considerations using two levels of caches: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800" dirty="0" smtClean="0"/>
              <a:t>try and optimize the </a:t>
            </a:r>
            <a:r>
              <a:rPr lang="en-US" sz="1800" i="1" dirty="0" smtClean="0"/>
              <a:t>hit time on the 1</a:t>
            </a:r>
            <a:r>
              <a:rPr lang="en-US" sz="1800" i="1" baseline="30000" dirty="0" smtClean="0"/>
              <a:t>st</a:t>
            </a:r>
            <a:r>
              <a:rPr lang="en-US" sz="1800" i="1" dirty="0" smtClean="0"/>
              <a:t> level</a:t>
            </a:r>
            <a:r>
              <a:rPr lang="en-US" sz="1800" dirty="0" smtClean="0"/>
              <a:t> </a:t>
            </a:r>
            <a:r>
              <a:rPr lang="en-US" sz="1800" i="1" dirty="0" smtClean="0"/>
              <a:t>cache</a:t>
            </a:r>
            <a:r>
              <a:rPr lang="en-US" sz="1800" dirty="0" smtClean="0"/>
              <a:t> to reduce clock cycle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800" dirty="0" smtClean="0"/>
              <a:t>try and optimize the </a:t>
            </a:r>
            <a:r>
              <a:rPr lang="en-US" sz="1800" i="1" dirty="0" smtClean="0"/>
              <a:t>miss rate on the 2</a:t>
            </a:r>
            <a:r>
              <a:rPr lang="en-US" sz="1800" i="1" baseline="30000" dirty="0" smtClean="0"/>
              <a:t>nd</a:t>
            </a:r>
            <a:r>
              <a:rPr lang="en-US" sz="1800" i="1" dirty="0" smtClean="0"/>
              <a:t> level cache </a:t>
            </a:r>
            <a:r>
              <a:rPr lang="en-US" sz="1800" dirty="0" smtClean="0"/>
              <a:t>to reduce memory access penalties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800" dirty="0" smtClean="0"/>
              <a:t>In other words, 2</a:t>
            </a:r>
            <a:r>
              <a:rPr lang="en-US" sz="1800" baseline="30000" dirty="0" smtClean="0"/>
              <a:t>nd</a:t>
            </a:r>
            <a:r>
              <a:rPr lang="en-US" sz="1800" dirty="0" smtClean="0"/>
              <a:t> level allows 1</a:t>
            </a:r>
            <a:r>
              <a:rPr lang="en-US" sz="1800" baseline="30000" dirty="0" smtClean="0"/>
              <a:t>st</a:t>
            </a:r>
            <a:r>
              <a:rPr lang="en-US" sz="1800" dirty="0" smtClean="0"/>
              <a:t> level to go for speed without “worrying” about failure…</a:t>
            </a:r>
            <a:endParaRPr lang="en-US" sz="1800" i="1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Mayank Pandey, MNNIT, Allahabad, India</a:t>
            </a:r>
            <a:endParaRPr lang="en-US"/>
          </a:p>
        </p:txBody>
      </p:sp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Example Problem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524000"/>
            <a:ext cx="7315200" cy="4114800"/>
          </a:xfrm>
        </p:spPr>
        <p:txBody>
          <a:bodyPr/>
          <a:lstStyle/>
          <a:p>
            <a:pPr eaLnBrk="1" hangingPunct="1"/>
            <a:r>
              <a:rPr lang="en-US" sz="2000" smtClean="0"/>
              <a:t>Assume a 500 MHz machine with</a:t>
            </a:r>
          </a:p>
          <a:p>
            <a:pPr lvl="1" eaLnBrk="1" hangingPunct="1"/>
            <a:r>
              <a:rPr lang="en-US" sz="1800" smtClean="0"/>
              <a:t>base CPI 1.0</a:t>
            </a:r>
          </a:p>
          <a:p>
            <a:pPr lvl="1" eaLnBrk="1" hangingPunct="1"/>
            <a:r>
              <a:rPr lang="en-US" sz="1800" smtClean="0"/>
              <a:t>main memory access time 200 ns.</a:t>
            </a:r>
          </a:p>
          <a:p>
            <a:pPr lvl="1" eaLnBrk="1" hangingPunct="1"/>
            <a:r>
              <a:rPr lang="en-US" sz="1800" smtClean="0"/>
              <a:t>miss rate 5%</a:t>
            </a:r>
          </a:p>
          <a:p>
            <a:pPr eaLnBrk="1" hangingPunct="1"/>
            <a:r>
              <a:rPr lang="en-US" sz="2000" i="1" smtClean="0">
                <a:latin typeface="Times New Roman" pitchFamily="18" charset="0"/>
              </a:rPr>
              <a:t>How much faster will the machine be if  we add a second-level cache with 20ns access time that decreases the miss rate to 2%?</a:t>
            </a:r>
          </a:p>
          <a:p>
            <a:pPr eaLnBrk="1" hangingPunct="1"/>
            <a:endParaRPr lang="en-US" sz="180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Mayank Pandey, MNNIT, Allahabad, India</a:t>
            </a:r>
            <a:endParaRPr lang="en-US"/>
          </a:p>
        </p:txBody>
      </p:sp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Solution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610600" cy="48402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000" dirty="0" smtClean="0"/>
              <a:t>Miss penalty to main = 200 ns / (2 ns / clock cycle) = 100 clock cycles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 smtClean="0"/>
              <a:t>Effective CPI with one level of cache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 smtClean="0"/>
              <a:t>=  Base CPI + Memory-stall cycles per instruction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 smtClean="0"/>
              <a:t>=  1.0 + 5% </a:t>
            </a:r>
            <a:r>
              <a:rPr lang="en-US" sz="2000" b="1" dirty="0" smtClean="0">
                <a:sym typeface="Symbol" pitchFamily="18" charset="2"/>
              </a:rPr>
              <a:t></a:t>
            </a:r>
            <a:r>
              <a:rPr lang="en-US" sz="2000" dirty="0" smtClean="0">
                <a:sym typeface="Symbol" pitchFamily="18" charset="2"/>
              </a:rPr>
              <a:t> 100 = 6.0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 smtClean="0"/>
              <a:t>With two levels of cache, miss penalty to second-level cache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 smtClean="0"/>
              <a:t>=  20 ns / (2 ns / clock cycle) = 10 clock cycles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 smtClean="0"/>
              <a:t>Effective CPI with two levels of cache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 smtClean="0"/>
              <a:t>= Base CPI + Primary stalls per instruction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 smtClean="0"/>
              <a:t>                 + Secondary stall per instruction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 smtClean="0"/>
              <a:t>= 1 + 5% </a:t>
            </a:r>
            <a:r>
              <a:rPr lang="en-US" sz="2000" b="1" dirty="0" smtClean="0">
                <a:sym typeface="Symbol" pitchFamily="18" charset="2"/>
              </a:rPr>
              <a:t> </a:t>
            </a:r>
            <a:r>
              <a:rPr lang="en-US" sz="2000" dirty="0" smtClean="0">
                <a:sym typeface="Symbol" pitchFamily="18" charset="2"/>
              </a:rPr>
              <a:t>10 + 2% </a:t>
            </a:r>
            <a:r>
              <a:rPr lang="en-US" sz="2000" b="1" dirty="0" smtClean="0">
                <a:sym typeface="Symbol" pitchFamily="18" charset="2"/>
              </a:rPr>
              <a:t> </a:t>
            </a:r>
            <a:r>
              <a:rPr lang="en-US" sz="2000" dirty="0" smtClean="0">
                <a:sym typeface="Symbol" pitchFamily="18" charset="2"/>
              </a:rPr>
              <a:t>100 = 3.5</a:t>
            </a:r>
            <a:endParaRPr lang="en-US" sz="2000" dirty="0" smtClean="0"/>
          </a:p>
          <a:p>
            <a:pPr eaLnBrk="1" hangingPunct="1">
              <a:lnSpc>
                <a:spcPct val="90000"/>
              </a:lnSpc>
            </a:pPr>
            <a:r>
              <a:rPr lang="en-US" sz="2000" dirty="0" smtClean="0"/>
              <a:t>Therefore, machine with secondary cache is faster by a factor of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 smtClean="0"/>
              <a:t>     6.0 / 3.5 = 1.71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2000" dirty="0" smtClean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 smtClean="0"/>
              <a:t>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Mayank Pandey, MNNIT, Allahabad, India</a:t>
            </a:r>
            <a:endParaRPr lang="en-US"/>
          </a:p>
        </p:txBody>
      </p:sp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665163" y="228600"/>
            <a:ext cx="7793037" cy="1143000"/>
          </a:xfrm>
        </p:spPr>
        <p:txBody>
          <a:bodyPr/>
          <a:lstStyle/>
          <a:p>
            <a:pPr eaLnBrk="1" hangingPunct="1"/>
            <a:r>
              <a:rPr lang="en-US" dirty="0" smtClean="0"/>
              <a:t>Virtual Memory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371600"/>
            <a:ext cx="8001000" cy="5257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000" dirty="0" smtClean="0"/>
              <a:t>Motivation: main memory acts as </a:t>
            </a:r>
            <a:r>
              <a:rPr lang="en-US" sz="2000" i="1" dirty="0" smtClean="0"/>
              <a:t>cache for secondary storage</a:t>
            </a:r>
            <a:r>
              <a:rPr lang="en-US" sz="2000" dirty="0" smtClean="0"/>
              <a:t>, e.g., magnetic disk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i="1" dirty="0" smtClean="0"/>
              <a:t>Virtual address space</a:t>
            </a:r>
            <a:r>
              <a:rPr lang="en-US" sz="2000" dirty="0" smtClean="0"/>
              <a:t>, i.e., space addressable by a program is determined by ISA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800" dirty="0" smtClean="0"/>
              <a:t>e.g., 64-bit MIPS address space size is 2</a:t>
            </a:r>
            <a:r>
              <a:rPr lang="en-US" sz="1800" baseline="30000" dirty="0" smtClean="0"/>
              <a:t>64 </a:t>
            </a:r>
            <a:r>
              <a:rPr lang="en-US" sz="1800" dirty="0" smtClean="0"/>
              <a:t>– recall </a:t>
            </a:r>
            <a:r>
              <a:rPr lang="en-US" sz="1800" dirty="0" err="1" smtClean="0">
                <a:latin typeface="Courier New" pitchFamily="49" charset="0"/>
              </a:rPr>
              <a:t>jr</a:t>
            </a:r>
            <a:r>
              <a:rPr lang="en-US" sz="1800" dirty="0" smtClean="0"/>
              <a:t> instruction</a:t>
            </a:r>
            <a:endParaRPr lang="en-US" sz="1800" baseline="30000" dirty="0" smtClean="0"/>
          </a:p>
          <a:p>
            <a:pPr lvl="1" eaLnBrk="1" hangingPunct="1">
              <a:lnSpc>
                <a:spcPct val="90000"/>
              </a:lnSpc>
            </a:pPr>
            <a:r>
              <a:rPr lang="en-US" sz="1800" dirty="0" smtClean="0"/>
              <a:t>typically: main memory size </a:t>
            </a:r>
            <a:r>
              <a:rPr lang="en-US" sz="1800" dirty="0" smtClean="0">
                <a:sym typeface="Symbol" pitchFamily="18" charset="2"/>
              </a:rPr>
              <a:t> disk size  virtual address space size 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 smtClean="0"/>
              <a:t>Program can “pretend” it has main memory of the size of the disk – which is </a:t>
            </a:r>
            <a:r>
              <a:rPr lang="en-US" sz="2000" i="1" dirty="0" smtClean="0"/>
              <a:t>smaller than</a:t>
            </a:r>
            <a:r>
              <a:rPr lang="en-US" sz="2000" dirty="0" smtClean="0"/>
              <a:t> the </a:t>
            </a:r>
            <a:r>
              <a:rPr lang="en-US" sz="2000" i="1" dirty="0" smtClean="0"/>
              <a:t>virtual memory</a:t>
            </a:r>
            <a:r>
              <a:rPr lang="en-US" sz="2000" dirty="0" smtClean="0"/>
              <a:t> (= whole virtual address space), but </a:t>
            </a:r>
            <a:r>
              <a:rPr lang="en-US" sz="2000" i="1" dirty="0" smtClean="0"/>
              <a:t>bigger than</a:t>
            </a:r>
            <a:r>
              <a:rPr lang="en-US" sz="2000" dirty="0" smtClean="0"/>
              <a:t> the actual </a:t>
            </a:r>
            <a:r>
              <a:rPr lang="en-US" sz="2000" i="1" dirty="0" smtClean="0"/>
              <a:t>physical memory</a:t>
            </a:r>
            <a:r>
              <a:rPr lang="en-US" sz="2000" dirty="0" smtClean="0"/>
              <a:t> (=DRAM main memory)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800" i="1" dirty="0" smtClean="0"/>
              <a:t>Page table</a:t>
            </a:r>
            <a:r>
              <a:rPr lang="en-US" sz="1800" dirty="0" smtClean="0"/>
              <a:t> (as we shall see) transparently converts a virtual memory address to a physical memory address, </a:t>
            </a:r>
            <a:r>
              <a:rPr lang="en-US" sz="1800" i="1" dirty="0" smtClean="0"/>
              <a:t>if the data is already in main</a:t>
            </a:r>
            <a:r>
              <a:rPr lang="en-US" sz="1800" dirty="0" smtClean="0"/>
              <a:t>; </a:t>
            </a:r>
            <a:r>
              <a:rPr lang="en-US" sz="1800" i="1" dirty="0" smtClean="0"/>
              <a:t>if not</a:t>
            </a:r>
            <a:r>
              <a:rPr lang="en-US" sz="1800" dirty="0" smtClean="0"/>
              <a:t>, it issues call to OS to fetch the data from disk into main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 smtClean="0"/>
              <a:t>Virtual memory is organized in fixed-size (power of 2, typically at least 4 KB) blocks, called </a:t>
            </a:r>
            <a:r>
              <a:rPr lang="en-US" sz="2000" i="1" dirty="0" smtClean="0"/>
              <a:t>pages</a:t>
            </a:r>
            <a:r>
              <a:rPr lang="en-US" sz="2000" dirty="0" smtClean="0"/>
              <a:t>. Physical memory is also considered a collection of pages of the same size.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800" dirty="0" smtClean="0"/>
              <a:t>the unit of data transfer between disk and physical memory is a page</a:t>
            </a:r>
          </a:p>
          <a:p>
            <a:pPr lvl="1" eaLnBrk="1" hangingPunct="1">
              <a:lnSpc>
                <a:spcPct val="90000"/>
              </a:lnSpc>
            </a:pPr>
            <a:endParaRPr lang="en-US" sz="1800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Mayank Pandey, MNNIT, Allahabad, India</a:t>
            </a:r>
            <a:endParaRPr lang="en-US"/>
          </a:p>
        </p:txBody>
      </p:sp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Virtual Memory</a:t>
            </a:r>
          </a:p>
        </p:txBody>
      </p:sp>
      <p:pic>
        <p:nvPicPr>
          <p:cNvPr id="40964" name="Picture 5"/>
          <p:cNvPicPr>
            <a:picLocks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68487" y="2041525"/>
            <a:ext cx="3962400" cy="29876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pic>
      <p:sp>
        <p:nvSpPr>
          <p:cNvPr id="40965" name="Text Box 6"/>
          <p:cNvSpPr txBox="1">
            <a:spLocks noChangeArrowheads="1"/>
          </p:cNvSpPr>
          <p:nvPr/>
        </p:nvSpPr>
        <p:spPr bwMode="auto">
          <a:xfrm>
            <a:off x="1944687" y="5181600"/>
            <a:ext cx="5105400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600" b="1"/>
              <a:t>Mapping of pages from a virtual address to a </a:t>
            </a:r>
          </a:p>
          <a:p>
            <a:r>
              <a:rPr lang="en-US" sz="1600" b="1"/>
              <a:t>physical address or disk address</a:t>
            </a:r>
          </a:p>
        </p:txBody>
      </p:sp>
      <p:sp>
        <p:nvSpPr>
          <p:cNvPr id="40966" name="Text Box 7"/>
          <p:cNvSpPr txBox="1">
            <a:spLocks noChangeArrowheads="1"/>
          </p:cNvSpPr>
          <p:nvPr/>
        </p:nvSpPr>
        <p:spPr bwMode="auto">
          <a:xfrm>
            <a:off x="1716087" y="1828800"/>
            <a:ext cx="156527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>
                <a:latin typeface="Courier New" pitchFamily="49" charset="0"/>
              </a:rPr>
              <a:t>Virtual Address</a:t>
            </a:r>
          </a:p>
        </p:txBody>
      </p:sp>
      <p:sp>
        <p:nvSpPr>
          <p:cNvPr id="40967" name="Text Box 8"/>
          <p:cNvSpPr txBox="1">
            <a:spLocks noChangeArrowheads="1"/>
          </p:cNvSpPr>
          <p:nvPr/>
        </p:nvSpPr>
        <p:spPr bwMode="auto">
          <a:xfrm>
            <a:off x="4383087" y="1828800"/>
            <a:ext cx="1657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>
                <a:latin typeface="Courier New" pitchFamily="49" charset="0"/>
              </a:rPr>
              <a:t>Physical Address</a:t>
            </a:r>
          </a:p>
        </p:txBody>
      </p:sp>
      <p:sp>
        <p:nvSpPr>
          <p:cNvPr id="40968" name="Text Box 9"/>
          <p:cNvSpPr txBox="1">
            <a:spLocks noChangeArrowheads="1"/>
          </p:cNvSpPr>
          <p:nvPr/>
        </p:nvSpPr>
        <p:spPr bwMode="auto">
          <a:xfrm>
            <a:off x="3544887" y="1447800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200" dirty="0"/>
              <a:t>Page</a:t>
            </a:r>
          </a:p>
          <a:p>
            <a:endParaRPr lang="en-US" sz="1200" dirty="0"/>
          </a:p>
        </p:txBody>
      </p:sp>
      <p:sp>
        <p:nvSpPr>
          <p:cNvPr id="40969" name="Line 11"/>
          <p:cNvSpPr>
            <a:spLocks noChangeShapeType="1"/>
          </p:cNvSpPr>
          <p:nvPr/>
        </p:nvSpPr>
        <p:spPr bwMode="auto">
          <a:xfrm flipH="1">
            <a:off x="2935287" y="1676400"/>
            <a:ext cx="762000" cy="533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IN"/>
          </a:p>
        </p:txBody>
      </p:sp>
      <p:sp>
        <p:nvSpPr>
          <p:cNvPr id="40970" name="Line 12"/>
          <p:cNvSpPr>
            <a:spLocks noChangeShapeType="1"/>
          </p:cNvSpPr>
          <p:nvPr/>
        </p:nvSpPr>
        <p:spPr bwMode="auto">
          <a:xfrm>
            <a:off x="3849687" y="1676400"/>
            <a:ext cx="990600" cy="533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IN"/>
          </a:p>
        </p:txBody>
      </p:sp>
      <p:sp>
        <p:nvSpPr>
          <p:cNvPr id="40971" name="AutoShape 13"/>
          <p:cNvSpPr>
            <a:spLocks/>
          </p:cNvSpPr>
          <p:nvPr/>
        </p:nvSpPr>
        <p:spPr bwMode="auto">
          <a:xfrm>
            <a:off x="5983287" y="2133600"/>
            <a:ext cx="76200" cy="1905000"/>
          </a:xfrm>
          <a:prstGeom prst="rightBrace">
            <a:avLst>
              <a:gd name="adj1" fmla="val 208333"/>
              <a:gd name="adj2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40972" name="Text Box 15"/>
          <p:cNvSpPr txBox="1">
            <a:spLocks noChangeArrowheads="1"/>
          </p:cNvSpPr>
          <p:nvPr/>
        </p:nvSpPr>
        <p:spPr bwMode="auto">
          <a:xfrm>
            <a:off x="6119812" y="2927350"/>
            <a:ext cx="10906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Main Memory</a:t>
            </a:r>
          </a:p>
        </p:txBody>
      </p:sp>
      <p:sp>
        <p:nvSpPr>
          <p:cNvPr id="40973" name="AutoShape 16"/>
          <p:cNvSpPr>
            <a:spLocks/>
          </p:cNvSpPr>
          <p:nvPr/>
        </p:nvSpPr>
        <p:spPr bwMode="auto">
          <a:xfrm>
            <a:off x="1639887" y="2133600"/>
            <a:ext cx="76200" cy="2514600"/>
          </a:xfrm>
          <a:prstGeom prst="leftBrace">
            <a:avLst>
              <a:gd name="adj1" fmla="val 275000"/>
              <a:gd name="adj2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40974" name="Text Box 17"/>
          <p:cNvSpPr txBox="1">
            <a:spLocks noChangeArrowheads="1"/>
          </p:cNvSpPr>
          <p:nvPr/>
        </p:nvSpPr>
        <p:spPr bwMode="auto">
          <a:xfrm>
            <a:off x="838200" y="3124200"/>
            <a:ext cx="7254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Virtual</a:t>
            </a:r>
          </a:p>
          <a:p>
            <a:r>
              <a:rPr lang="en-US" sz="1200"/>
              <a:t>Memory</a:t>
            </a:r>
          </a:p>
        </p:txBody>
      </p:sp>
      <p:sp>
        <p:nvSpPr>
          <p:cNvPr id="40975" name="Text Box 18"/>
          <p:cNvSpPr txBox="1">
            <a:spLocks noChangeArrowheads="1"/>
          </p:cNvSpPr>
          <p:nvPr/>
        </p:nvSpPr>
        <p:spPr bwMode="auto">
          <a:xfrm>
            <a:off x="4672012" y="4832350"/>
            <a:ext cx="14478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Secondary Storage</a:t>
            </a:r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Mayank Pandey, MNNIT, Allahabad, India</a:t>
            </a:r>
            <a:endParaRPr lang="en-US"/>
          </a:p>
        </p:txBody>
      </p:sp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763000" cy="1143000"/>
          </a:xfrm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sz="3200" dirty="0" smtClean="0"/>
              <a:t>Page Table Implements Virtual to Physical Address Translation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0488" tIns="44450" rIns="90488" bIns="44450"/>
          <a:lstStyle/>
          <a:p>
            <a:pPr eaLnBrk="1" hangingPunct="1">
              <a:buFont typeface="Wingdings" pitchFamily="2" charset="2"/>
              <a:buNone/>
            </a:pPr>
            <a:r>
              <a:rPr lang="en-US" dirty="0" smtClean="0"/>
              <a:t> </a:t>
            </a:r>
          </a:p>
        </p:txBody>
      </p:sp>
      <p:pic>
        <p:nvPicPr>
          <p:cNvPr id="41988" name="Picture 4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95400" y="1447800"/>
            <a:ext cx="6172200" cy="46513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pic>
      <p:sp>
        <p:nvSpPr>
          <p:cNvPr id="41989" name="Text Box 5"/>
          <p:cNvSpPr txBox="1">
            <a:spLocks noChangeArrowheads="1"/>
          </p:cNvSpPr>
          <p:nvPr/>
        </p:nvSpPr>
        <p:spPr bwMode="auto">
          <a:xfrm>
            <a:off x="1773238" y="6064250"/>
            <a:ext cx="5846762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b="1"/>
              <a:t>Page table: page size 4 KB, virtual address space 4 GB, </a:t>
            </a:r>
          </a:p>
          <a:p>
            <a:r>
              <a:rPr lang="en-US" sz="1600" b="1"/>
              <a:t>physical memory 1 GB</a:t>
            </a:r>
          </a:p>
        </p:txBody>
      </p:sp>
      <p:sp>
        <p:nvSpPr>
          <p:cNvPr id="41990" name="Text Box 6"/>
          <p:cNvSpPr txBox="1">
            <a:spLocks noChangeArrowheads="1"/>
          </p:cNvSpPr>
          <p:nvPr/>
        </p:nvSpPr>
        <p:spPr bwMode="auto">
          <a:xfrm>
            <a:off x="352425" y="2209800"/>
            <a:ext cx="11715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/>
              <a:t>Points to start </a:t>
            </a:r>
          </a:p>
          <a:p>
            <a:r>
              <a:rPr lang="en-US" sz="1200"/>
              <a:t>of page table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Mayank Pandey, MNNIT, Allahabad, India</a:t>
            </a:r>
            <a:endParaRPr lang="en-US"/>
          </a:p>
        </p:txBody>
      </p:sp>
    </p:spTree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 smtClean="0"/>
              <a:t>Example Problem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408113"/>
            <a:ext cx="7543800" cy="4840287"/>
          </a:xfrm>
        </p:spPr>
        <p:txBody>
          <a:bodyPr/>
          <a:lstStyle/>
          <a:p>
            <a:pPr eaLnBrk="1" hangingPunct="1"/>
            <a:r>
              <a:rPr lang="en-US" sz="2000" smtClean="0"/>
              <a:t>Assume:</a:t>
            </a:r>
          </a:p>
          <a:p>
            <a:pPr lvl="1" eaLnBrk="1" hangingPunct="1"/>
            <a:r>
              <a:rPr lang="en-US" sz="1800" smtClean="0"/>
              <a:t>32-bit virtual address</a:t>
            </a:r>
          </a:p>
          <a:p>
            <a:pPr lvl="1" eaLnBrk="1" hangingPunct="1"/>
            <a:r>
              <a:rPr lang="en-US" sz="1800" smtClean="0"/>
              <a:t>4 KB page size</a:t>
            </a:r>
          </a:p>
          <a:p>
            <a:pPr lvl="1" eaLnBrk="1" hangingPunct="1"/>
            <a:r>
              <a:rPr lang="en-US" sz="1800" smtClean="0"/>
              <a:t>4 bytes per page table entry</a:t>
            </a:r>
          </a:p>
          <a:p>
            <a:pPr lvl="1" eaLnBrk="1" hangingPunct="1"/>
            <a:endParaRPr lang="en-US" sz="1800" smtClean="0"/>
          </a:p>
          <a:p>
            <a:pPr eaLnBrk="1" hangingPunct="1"/>
            <a:r>
              <a:rPr lang="en-US" sz="2000" i="1" smtClean="0">
                <a:latin typeface="Times New Roman" pitchFamily="18" charset="0"/>
              </a:rPr>
              <a:t>What is the total page table size is we want to be able to access all of the virtual memory?</a:t>
            </a:r>
          </a:p>
          <a:p>
            <a:pPr eaLnBrk="1" hangingPunct="1"/>
            <a:endParaRPr lang="en-US" sz="2000" i="1" smtClean="0">
              <a:latin typeface="Times New Roman" pitchFamily="18" charset="0"/>
            </a:endParaRPr>
          </a:p>
          <a:p>
            <a:pPr lvl="2" eaLnBrk="1" hangingPunct="1">
              <a:buFont typeface="Wingdings" pitchFamily="2" charset="2"/>
              <a:buNone/>
            </a:pPr>
            <a:endParaRPr lang="en-US" sz="180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Mayank Pandey, MNNIT, Allahabad, India</a:t>
            </a:r>
            <a:endParaRPr lang="en-US"/>
          </a:p>
        </p:txBody>
      </p:sp>
    </p:spTree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 smtClean="0"/>
              <a:t>Solution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447800"/>
            <a:ext cx="7504112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000" smtClean="0"/>
              <a:t>No. of page table entries = address space size / page size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smtClean="0"/>
              <a:t>                                         = 2</a:t>
            </a:r>
            <a:r>
              <a:rPr lang="en-US" sz="2000" baseline="30000" smtClean="0"/>
              <a:t>32</a:t>
            </a:r>
            <a:r>
              <a:rPr lang="en-US" sz="2000" smtClean="0"/>
              <a:t> / 2</a:t>
            </a:r>
            <a:r>
              <a:rPr lang="en-US" sz="2000" baseline="30000" smtClean="0"/>
              <a:t>12 </a:t>
            </a:r>
            <a:r>
              <a:rPr lang="en-US" sz="2000" smtClean="0"/>
              <a:t>= 2</a:t>
            </a:r>
            <a:r>
              <a:rPr lang="en-US" sz="2000" baseline="30000" smtClean="0"/>
              <a:t>20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smtClean="0"/>
              <a:t>Size of page table = No. of entries </a:t>
            </a:r>
            <a:r>
              <a:rPr lang="en-US" sz="2000" b="1" smtClean="0">
                <a:sym typeface="Symbol" pitchFamily="18" charset="2"/>
              </a:rPr>
              <a:t></a:t>
            </a:r>
            <a:r>
              <a:rPr lang="en-US" sz="2000" smtClean="0"/>
              <a:t> entry size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smtClean="0"/>
              <a:t>                               = 2</a:t>
            </a:r>
            <a:r>
              <a:rPr lang="en-US" sz="2000" baseline="30000" smtClean="0"/>
              <a:t>20 </a:t>
            </a:r>
            <a:r>
              <a:rPr lang="en-US" sz="2000" b="1" smtClean="0">
                <a:sym typeface="Symbol" pitchFamily="18" charset="2"/>
              </a:rPr>
              <a:t></a:t>
            </a:r>
            <a:r>
              <a:rPr lang="en-US" sz="2000" smtClean="0">
                <a:sym typeface="Symbol" pitchFamily="18" charset="2"/>
              </a:rPr>
              <a:t> 4 bytes = 4 MB (</a:t>
            </a:r>
            <a:r>
              <a:rPr lang="en-US" sz="2000" i="1" smtClean="0">
                <a:sym typeface="Symbol" pitchFamily="18" charset="2"/>
              </a:rPr>
              <a:t>huge</a:t>
            </a:r>
            <a:r>
              <a:rPr lang="en-US" sz="2000" smtClean="0">
                <a:sym typeface="Symbol" pitchFamily="18" charset="2"/>
              </a:rPr>
              <a:t>!)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2000" smtClean="0"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000" smtClean="0"/>
              <a:t>Note, to avoid large page table size: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800" smtClean="0"/>
              <a:t>each program has its own page table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1600" i="1" smtClean="0"/>
              <a:t>page table register</a:t>
            </a:r>
            <a:r>
              <a:rPr lang="en-US" sz="1600" smtClean="0"/>
              <a:t> points to start of program’s page table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800" smtClean="0"/>
              <a:t>to reduce storage required per program page table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1600" smtClean="0"/>
              <a:t>page table for a program covers the span of virtual memory containing its own code and data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1600" smtClean="0"/>
              <a:t>other techniques, e.g., multiple-level page tables, hashing virtual address, etc.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1800" smtClean="0">
              <a:sym typeface="Symbol" pitchFamily="18" charset="2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Mayank Pandey, MNNIT, Allahabad, India</a:t>
            </a:r>
            <a:endParaRPr lang="en-US"/>
          </a:p>
        </p:txBody>
      </p:sp>
    </p:spTree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7793037" cy="1066800"/>
          </a:xfrm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Page Faults</a:t>
            </a:r>
            <a:br>
              <a:rPr lang="en-US" dirty="0" smtClean="0"/>
            </a:br>
            <a:endParaRPr lang="en-US" dirty="0" smtClean="0"/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371600"/>
            <a:ext cx="7772400" cy="4114800"/>
          </a:xfrm>
          <a:noFill/>
        </p:spPr>
        <p:txBody>
          <a:bodyPr lIns="90488" tIns="44450" rIns="90488" bIns="44450"/>
          <a:lstStyle/>
          <a:p>
            <a:pPr eaLnBrk="1" hangingPunct="1">
              <a:lnSpc>
                <a:spcPct val="90000"/>
              </a:lnSpc>
            </a:pPr>
            <a:r>
              <a:rPr lang="en-US" sz="2000" i="1" dirty="0" smtClean="0"/>
              <a:t>Page fault</a:t>
            </a:r>
            <a:r>
              <a:rPr lang="en-US" sz="2000" dirty="0" smtClean="0"/>
              <a:t>: page is not in memory, must retrieve it from disk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800" i="1" dirty="0" smtClean="0"/>
              <a:t>enormous</a:t>
            </a:r>
            <a:r>
              <a:rPr lang="en-US" sz="1800" dirty="0" smtClean="0"/>
              <a:t> </a:t>
            </a:r>
            <a:r>
              <a:rPr lang="en-US" sz="1800" i="1" dirty="0" smtClean="0"/>
              <a:t>miss penalty</a:t>
            </a:r>
            <a:r>
              <a:rPr lang="en-US" sz="1800" dirty="0" smtClean="0"/>
              <a:t> = millions of cycles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800" dirty="0" smtClean="0"/>
              <a:t>therefore, page size should be </a:t>
            </a:r>
            <a:r>
              <a:rPr lang="en-US" sz="1800" i="1" dirty="0" smtClean="0"/>
              <a:t>large</a:t>
            </a:r>
            <a:r>
              <a:rPr lang="en-US" sz="1800" dirty="0" smtClean="0"/>
              <a:t> (e.g., 32 or 64 KB)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1600" dirty="0" smtClean="0"/>
              <a:t>to make one trip to disk worth a lot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800" dirty="0" smtClean="0"/>
              <a:t>reducing page faults is </a:t>
            </a:r>
            <a:r>
              <a:rPr lang="en-US" sz="1800" i="1" dirty="0" smtClean="0"/>
              <a:t>critical</a:t>
            </a:r>
            <a:r>
              <a:rPr lang="en-US" sz="1800" dirty="0" smtClean="0"/>
              <a:t> 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1600" i="1" dirty="0" smtClean="0"/>
              <a:t>LRU</a:t>
            </a:r>
            <a:r>
              <a:rPr lang="en-US" sz="1600" dirty="0" smtClean="0"/>
              <a:t> </a:t>
            </a:r>
            <a:r>
              <a:rPr lang="en-US" sz="1600" i="1" dirty="0" smtClean="0"/>
              <a:t>replacement </a:t>
            </a:r>
            <a:r>
              <a:rPr lang="en-US" sz="1600" dirty="0" smtClean="0"/>
              <a:t>policy – implemented approximately by setting a </a:t>
            </a:r>
            <a:r>
              <a:rPr lang="en-US" sz="1600" i="1" dirty="0" smtClean="0"/>
              <a:t>use bit</a:t>
            </a:r>
            <a:r>
              <a:rPr lang="en-US" sz="1600" dirty="0" smtClean="0"/>
              <a:t> each time a page is accessed, and then periodically clearing all these bits so that pages accessed in a fixed time period are known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1600" i="1" dirty="0" smtClean="0"/>
              <a:t>fully associative</a:t>
            </a:r>
            <a:r>
              <a:rPr lang="en-US" sz="1600" dirty="0" smtClean="0"/>
              <a:t> page placement – consequence of page table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800" dirty="0" smtClean="0"/>
              <a:t>handle faults in software instead of hardware 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1600" dirty="0" smtClean="0"/>
              <a:t>as software overhead is still small compared to disk access time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800" dirty="0" smtClean="0"/>
              <a:t>using write-through is too expensive, so always use write-back</a:t>
            </a:r>
            <a:br>
              <a:rPr lang="en-US" sz="1800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Mayank Pandey, MNNIT, Allahabad, India</a:t>
            </a:r>
            <a:endParaRPr lang="en-US"/>
          </a:p>
        </p:txBody>
      </p:sp>
    </p:spTree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8305800" cy="1143000"/>
          </a:xfrm>
        </p:spPr>
        <p:txBody>
          <a:bodyPr/>
          <a:lstStyle/>
          <a:p>
            <a:pPr eaLnBrk="1" hangingPunct="1"/>
            <a:r>
              <a:rPr lang="en-US" sz="3200" dirty="0" smtClean="0"/>
              <a:t>Resolving Page Faults using the Page Table to Access Disk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524000"/>
            <a:ext cx="7580312" cy="4114800"/>
          </a:xfrm>
        </p:spPr>
        <p:txBody>
          <a:bodyPr/>
          <a:lstStyle/>
          <a:p>
            <a:pPr eaLnBrk="1" hangingPunct="1"/>
            <a:r>
              <a:rPr lang="en-US" sz="2000" smtClean="0"/>
              <a:t>There is a data structure, either part of or auxiliary to the page table, which records </a:t>
            </a:r>
            <a:r>
              <a:rPr lang="en-US" sz="2000" i="1" smtClean="0"/>
              <a:t>where</a:t>
            </a:r>
            <a:r>
              <a:rPr lang="en-US" sz="2000" smtClean="0"/>
              <a:t> </a:t>
            </a:r>
            <a:r>
              <a:rPr lang="en-US" sz="2000" i="1" smtClean="0"/>
              <a:t>each virtual page is stored</a:t>
            </a:r>
            <a:r>
              <a:rPr lang="en-US" sz="2000" smtClean="0"/>
              <a:t> </a:t>
            </a:r>
            <a:r>
              <a:rPr lang="en-US" sz="2000" i="1" smtClean="0"/>
              <a:t>on disk </a:t>
            </a:r>
            <a:r>
              <a:rPr lang="en-US" sz="2000" smtClean="0"/>
              <a:t>(cylinder, sector, block, etc.)</a:t>
            </a:r>
          </a:p>
        </p:txBody>
      </p:sp>
      <p:grpSp>
        <p:nvGrpSpPr>
          <p:cNvPr id="2" name="Group 215"/>
          <p:cNvGrpSpPr>
            <a:grpSpLocks/>
          </p:cNvGrpSpPr>
          <p:nvPr/>
        </p:nvGrpSpPr>
        <p:grpSpPr bwMode="auto">
          <a:xfrm>
            <a:off x="1765300" y="2514600"/>
            <a:ext cx="5730875" cy="4181475"/>
            <a:chOff x="1112" y="1755"/>
            <a:chExt cx="3610" cy="2634"/>
          </a:xfrm>
        </p:grpSpPr>
        <p:sp>
          <p:nvSpPr>
            <p:cNvPr id="46094" name="Freeform 6"/>
            <p:cNvSpPr>
              <a:spLocks/>
            </p:cNvSpPr>
            <p:nvPr/>
          </p:nvSpPr>
          <p:spPr bwMode="auto">
            <a:xfrm>
              <a:off x="1832" y="2546"/>
              <a:ext cx="916" cy="123"/>
            </a:xfrm>
            <a:custGeom>
              <a:avLst/>
              <a:gdLst>
                <a:gd name="T0" fmla="*/ 913 w 916"/>
                <a:gd name="T1" fmla="*/ 123 h 123"/>
                <a:gd name="T2" fmla="*/ 916 w 916"/>
                <a:gd name="T3" fmla="*/ 0 h 123"/>
                <a:gd name="T4" fmla="*/ 0 w 916"/>
                <a:gd name="T5" fmla="*/ 0 h 123"/>
                <a:gd name="T6" fmla="*/ 0 w 916"/>
                <a:gd name="T7" fmla="*/ 123 h 123"/>
                <a:gd name="T8" fmla="*/ 916 w 916"/>
                <a:gd name="T9" fmla="*/ 123 h 123"/>
                <a:gd name="T10" fmla="*/ 916 w 916"/>
                <a:gd name="T11" fmla="*/ 123 h 123"/>
                <a:gd name="T12" fmla="*/ 913 w 916"/>
                <a:gd name="T13" fmla="*/ 123 h 1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16" h="123">
                  <a:moveTo>
                    <a:pt x="913" y="123"/>
                  </a:moveTo>
                  <a:lnTo>
                    <a:pt x="916" y="0"/>
                  </a:lnTo>
                  <a:lnTo>
                    <a:pt x="0" y="0"/>
                  </a:lnTo>
                  <a:lnTo>
                    <a:pt x="0" y="123"/>
                  </a:lnTo>
                  <a:lnTo>
                    <a:pt x="916" y="123"/>
                  </a:lnTo>
                  <a:lnTo>
                    <a:pt x="913" y="12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095" name="Freeform 7"/>
            <p:cNvSpPr>
              <a:spLocks/>
            </p:cNvSpPr>
            <p:nvPr/>
          </p:nvSpPr>
          <p:spPr bwMode="auto">
            <a:xfrm>
              <a:off x="1832" y="2546"/>
              <a:ext cx="916" cy="123"/>
            </a:xfrm>
            <a:custGeom>
              <a:avLst/>
              <a:gdLst>
                <a:gd name="T0" fmla="*/ 913 w 916"/>
                <a:gd name="T1" fmla="*/ 123 h 123"/>
                <a:gd name="T2" fmla="*/ 916 w 916"/>
                <a:gd name="T3" fmla="*/ 0 h 123"/>
                <a:gd name="T4" fmla="*/ 0 w 916"/>
                <a:gd name="T5" fmla="*/ 0 h 123"/>
                <a:gd name="T6" fmla="*/ 0 w 916"/>
                <a:gd name="T7" fmla="*/ 123 h 123"/>
                <a:gd name="T8" fmla="*/ 916 w 916"/>
                <a:gd name="T9" fmla="*/ 123 h 123"/>
                <a:gd name="T10" fmla="*/ 916 w 916"/>
                <a:gd name="T11" fmla="*/ 123 h 1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16" h="123">
                  <a:moveTo>
                    <a:pt x="913" y="123"/>
                  </a:moveTo>
                  <a:lnTo>
                    <a:pt x="916" y="0"/>
                  </a:lnTo>
                  <a:lnTo>
                    <a:pt x="0" y="0"/>
                  </a:lnTo>
                  <a:lnTo>
                    <a:pt x="0" y="123"/>
                  </a:lnTo>
                  <a:lnTo>
                    <a:pt x="916" y="123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096" name="Freeform 8"/>
            <p:cNvSpPr>
              <a:spLocks/>
            </p:cNvSpPr>
            <p:nvPr/>
          </p:nvSpPr>
          <p:spPr bwMode="auto">
            <a:xfrm>
              <a:off x="1738" y="2546"/>
              <a:ext cx="94" cy="123"/>
            </a:xfrm>
            <a:custGeom>
              <a:avLst/>
              <a:gdLst>
                <a:gd name="T0" fmla="*/ 94 w 94"/>
                <a:gd name="T1" fmla="*/ 123 h 123"/>
                <a:gd name="T2" fmla="*/ 94 w 94"/>
                <a:gd name="T3" fmla="*/ 0 h 123"/>
                <a:gd name="T4" fmla="*/ 0 w 94"/>
                <a:gd name="T5" fmla="*/ 0 h 123"/>
                <a:gd name="T6" fmla="*/ 0 w 94"/>
                <a:gd name="T7" fmla="*/ 123 h 123"/>
                <a:gd name="T8" fmla="*/ 94 w 94"/>
                <a:gd name="T9" fmla="*/ 123 h 123"/>
                <a:gd name="T10" fmla="*/ 94 w 94"/>
                <a:gd name="T11" fmla="*/ 123 h 1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4" h="123">
                  <a:moveTo>
                    <a:pt x="94" y="123"/>
                  </a:moveTo>
                  <a:lnTo>
                    <a:pt x="94" y="0"/>
                  </a:lnTo>
                  <a:lnTo>
                    <a:pt x="0" y="0"/>
                  </a:lnTo>
                  <a:lnTo>
                    <a:pt x="0" y="123"/>
                  </a:lnTo>
                  <a:lnTo>
                    <a:pt x="94" y="12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097" name="Freeform 9"/>
            <p:cNvSpPr>
              <a:spLocks/>
            </p:cNvSpPr>
            <p:nvPr/>
          </p:nvSpPr>
          <p:spPr bwMode="auto">
            <a:xfrm>
              <a:off x="1738" y="2546"/>
              <a:ext cx="94" cy="123"/>
            </a:xfrm>
            <a:custGeom>
              <a:avLst/>
              <a:gdLst>
                <a:gd name="T0" fmla="*/ 94 w 94"/>
                <a:gd name="T1" fmla="*/ 123 h 123"/>
                <a:gd name="T2" fmla="*/ 94 w 94"/>
                <a:gd name="T3" fmla="*/ 0 h 123"/>
                <a:gd name="T4" fmla="*/ 0 w 94"/>
                <a:gd name="T5" fmla="*/ 0 h 123"/>
                <a:gd name="T6" fmla="*/ 0 w 94"/>
                <a:gd name="T7" fmla="*/ 123 h 123"/>
                <a:gd name="T8" fmla="*/ 94 w 94"/>
                <a:gd name="T9" fmla="*/ 123 h 123"/>
                <a:gd name="T10" fmla="*/ 94 w 94"/>
                <a:gd name="T11" fmla="*/ 123 h 1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4" h="123">
                  <a:moveTo>
                    <a:pt x="94" y="123"/>
                  </a:moveTo>
                  <a:lnTo>
                    <a:pt x="94" y="0"/>
                  </a:lnTo>
                  <a:lnTo>
                    <a:pt x="0" y="0"/>
                  </a:lnTo>
                  <a:lnTo>
                    <a:pt x="0" y="123"/>
                  </a:lnTo>
                  <a:lnTo>
                    <a:pt x="94" y="123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098" name="Freeform 10"/>
            <p:cNvSpPr>
              <a:spLocks/>
            </p:cNvSpPr>
            <p:nvPr/>
          </p:nvSpPr>
          <p:spPr bwMode="auto">
            <a:xfrm>
              <a:off x="1832" y="2792"/>
              <a:ext cx="916" cy="123"/>
            </a:xfrm>
            <a:custGeom>
              <a:avLst/>
              <a:gdLst>
                <a:gd name="T0" fmla="*/ 913 w 916"/>
                <a:gd name="T1" fmla="*/ 123 h 123"/>
                <a:gd name="T2" fmla="*/ 916 w 916"/>
                <a:gd name="T3" fmla="*/ 0 h 123"/>
                <a:gd name="T4" fmla="*/ 0 w 916"/>
                <a:gd name="T5" fmla="*/ 0 h 123"/>
                <a:gd name="T6" fmla="*/ 0 w 916"/>
                <a:gd name="T7" fmla="*/ 123 h 123"/>
                <a:gd name="T8" fmla="*/ 916 w 916"/>
                <a:gd name="T9" fmla="*/ 123 h 123"/>
                <a:gd name="T10" fmla="*/ 916 w 916"/>
                <a:gd name="T11" fmla="*/ 123 h 123"/>
                <a:gd name="T12" fmla="*/ 913 w 916"/>
                <a:gd name="T13" fmla="*/ 123 h 1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16" h="123">
                  <a:moveTo>
                    <a:pt x="913" y="123"/>
                  </a:moveTo>
                  <a:lnTo>
                    <a:pt x="916" y="0"/>
                  </a:lnTo>
                  <a:lnTo>
                    <a:pt x="0" y="0"/>
                  </a:lnTo>
                  <a:lnTo>
                    <a:pt x="0" y="123"/>
                  </a:lnTo>
                  <a:lnTo>
                    <a:pt x="916" y="123"/>
                  </a:lnTo>
                  <a:lnTo>
                    <a:pt x="913" y="12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099" name="Freeform 11"/>
            <p:cNvSpPr>
              <a:spLocks/>
            </p:cNvSpPr>
            <p:nvPr/>
          </p:nvSpPr>
          <p:spPr bwMode="auto">
            <a:xfrm>
              <a:off x="1832" y="2792"/>
              <a:ext cx="916" cy="123"/>
            </a:xfrm>
            <a:custGeom>
              <a:avLst/>
              <a:gdLst>
                <a:gd name="T0" fmla="*/ 913 w 916"/>
                <a:gd name="T1" fmla="*/ 123 h 123"/>
                <a:gd name="T2" fmla="*/ 916 w 916"/>
                <a:gd name="T3" fmla="*/ 0 h 123"/>
                <a:gd name="T4" fmla="*/ 0 w 916"/>
                <a:gd name="T5" fmla="*/ 0 h 123"/>
                <a:gd name="T6" fmla="*/ 0 w 916"/>
                <a:gd name="T7" fmla="*/ 123 h 123"/>
                <a:gd name="T8" fmla="*/ 916 w 916"/>
                <a:gd name="T9" fmla="*/ 123 h 123"/>
                <a:gd name="T10" fmla="*/ 916 w 916"/>
                <a:gd name="T11" fmla="*/ 123 h 1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16" h="123">
                  <a:moveTo>
                    <a:pt x="913" y="123"/>
                  </a:moveTo>
                  <a:lnTo>
                    <a:pt x="916" y="0"/>
                  </a:lnTo>
                  <a:lnTo>
                    <a:pt x="0" y="0"/>
                  </a:lnTo>
                  <a:lnTo>
                    <a:pt x="0" y="123"/>
                  </a:lnTo>
                  <a:lnTo>
                    <a:pt x="916" y="123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100" name="Freeform 12"/>
            <p:cNvSpPr>
              <a:spLocks/>
            </p:cNvSpPr>
            <p:nvPr/>
          </p:nvSpPr>
          <p:spPr bwMode="auto">
            <a:xfrm>
              <a:off x="1738" y="2792"/>
              <a:ext cx="94" cy="123"/>
            </a:xfrm>
            <a:custGeom>
              <a:avLst/>
              <a:gdLst>
                <a:gd name="T0" fmla="*/ 94 w 94"/>
                <a:gd name="T1" fmla="*/ 123 h 123"/>
                <a:gd name="T2" fmla="*/ 94 w 94"/>
                <a:gd name="T3" fmla="*/ 0 h 123"/>
                <a:gd name="T4" fmla="*/ 0 w 94"/>
                <a:gd name="T5" fmla="*/ 0 h 123"/>
                <a:gd name="T6" fmla="*/ 0 w 94"/>
                <a:gd name="T7" fmla="*/ 123 h 123"/>
                <a:gd name="T8" fmla="*/ 94 w 94"/>
                <a:gd name="T9" fmla="*/ 123 h 123"/>
                <a:gd name="T10" fmla="*/ 94 w 94"/>
                <a:gd name="T11" fmla="*/ 123 h 1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4" h="123">
                  <a:moveTo>
                    <a:pt x="94" y="123"/>
                  </a:moveTo>
                  <a:lnTo>
                    <a:pt x="94" y="0"/>
                  </a:lnTo>
                  <a:lnTo>
                    <a:pt x="0" y="0"/>
                  </a:lnTo>
                  <a:lnTo>
                    <a:pt x="0" y="123"/>
                  </a:lnTo>
                  <a:lnTo>
                    <a:pt x="94" y="12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101" name="Freeform 13"/>
            <p:cNvSpPr>
              <a:spLocks/>
            </p:cNvSpPr>
            <p:nvPr/>
          </p:nvSpPr>
          <p:spPr bwMode="auto">
            <a:xfrm>
              <a:off x="1738" y="2792"/>
              <a:ext cx="94" cy="123"/>
            </a:xfrm>
            <a:custGeom>
              <a:avLst/>
              <a:gdLst>
                <a:gd name="T0" fmla="*/ 94 w 94"/>
                <a:gd name="T1" fmla="*/ 123 h 123"/>
                <a:gd name="T2" fmla="*/ 94 w 94"/>
                <a:gd name="T3" fmla="*/ 0 h 123"/>
                <a:gd name="T4" fmla="*/ 0 w 94"/>
                <a:gd name="T5" fmla="*/ 0 h 123"/>
                <a:gd name="T6" fmla="*/ 0 w 94"/>
                <a:gd name="T7" fmla="*/ 123 h 123"/>
                <a:gd name="T8" fmla="*/ 94 w 94"/>
                <a:gd name="T9" fmla="*/ 123 h 123"/>
                <a:gd name="T10" fmla="*/ 94 w 94"/>
                <a:gd name="T11" fmla="*/ 123 h 1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4" h="123">
                  <a:moveTo>
                    <a:pt x="94" y="123"/>
                  </a:moveTo>
                  <a:lnTo>
                    <a:pt x="94" y="0"/>
                  </a:lnTo>
                  <a:lnTo>
                    <a:pt x="0" y="0"/>
                  </a:lnTo>
                  <a:lnTo>
                    <a:pt x="0" y="123"/>
                  </a:lnTo>
                  <a:lnTo>
                    <a:pt x="94" y="123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102" name="Freeform 14"/>
            <p:cNvSpPr>
              <a:spLocks/>
            </p:cNvSpPr>
            <p:nvPr/>
          </p:nvSpPr>
          <p:spPr bwMode="auto">
            <a:xfrm>
              <a:off x="1832" y="3039"/>
              <a:ext cx="916" cy="123"/>
            </a:xfrm>
            <a:custGeom>
              <a:avLst/>
              <a:gdLst>
                <a:gd name="T0" fmla="*/ 913 w 916"/>
                <a:gd name="T1" fmla="*/ 123 h 123"/>
                <a:gd name="T2" fmla="*/ 916 w 916"/>
                <a:gd name="T3" fmla="*/ 0 h 123"/>
                <a:gd name="T4" fmla="*/ 0 w 916"/>
                <a:gd name="T5" fmla="*/ 0 h 123"/>
                <a:gd name="T6" fmla="*/ 0 w 916"/>
                <a:gd name="T7" fmla="*/ 123 h 123"/>
                <a:gd name="T8" fmla="*/ 916 w 916"/>
                <a:gd name="T9" fmla="*/ 123 h 123"/>
                <a:gd name="T10" fmla="*/ 916 w 916"/>
                <a:gd name="T11" fmla="*/ 123 h 123"/>
                <a:gd name="T12" fmla="*/ 913 w 916"/>
                <a:gd name="T13" fmla="*/ 123 h 1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16" h="123">
                  <a:moveTo>
                    <a:pt x="913" y="123"/>
                  </a:moveTo>
                  <a:lnTo>
                    <a:pt x="916" y="0"/>
                  </a:lnTo>
                  <a:lnTo>
                    <a:pt x="0" y="0"/>
                  </a:lnTo>
                  <a:lnTo>
                    <a:pt x="0" y="123"/>
                  </a:lnTo>
                  <a:lnTo>
                    <a:pt x="916" y="123"/>
                  </a:lnTo>
                  <a:lnTo>
                    <a:pt x="913" y="12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103" name="Freeform 15"/>
            <p:cNvSpPr>
              <a:spLocks/>
            </p:cNvSpPr>
            <p:nvPr/>
          </p:nvSpPr>
          <p:spPr bwMode="auto">
            <a:xfrm>
              <a:off x="1832" y="3039"/>
              <a:ext cx="916" cy="123"/>
            </a:xfrm>
            <a:custGeom>
              <a:avLst/>
              <a:gdLst>
                <a:gd name="T0" fmla="*/ 913 w 916"/>
                <a:gd name="T1" fmla="*/ 123 h 123"/>
                <a:gd name="T2" fmla="*/ 916 w 916"/>
                <a:gd name="T3" fmla="*/ 0 h 123"/>
                <a:gd name="T4" fmla="*/ 0 w 916"/>
                <a:gd name="T5" fmla="*/ 0 h 123"/>
                <a:gd name="T6" fmla="*/ 0 w 916"/>
                <a:gd name="T7" fmla="*/ 123 h 123"/>
                <a:gd name="T8" fmla="*/ 916 w 916"/>
                <a:gd name="T9" fmla="*/ 123 h 123"/>
                <a:gd name="T10" fmla="*/ 916 w 916"/>
                <a:gd name="T11" fmla="*/ 123 h 1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16" h="123">
                  <a:moveTo>
                    <a:pt x="913" y="123"/>
                  </a:moveTo>
                  <a:lnTo>
                    <a:pt x="916" y="0"/>
                  </a:lnTo>
                  <a:lnTo>
                    <a:pt x="0" y="0"/>
                  </a:lnTo>
                  <a:lnTo>
                    <a:pt x="0" y="123"/>
                  </a:lnTo>
                  <a:lnTo>
                    <a:pt x="916" y="123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104" name="Freeform 16"/>
            <p:cNvSpPr>
              <a:spLocks/>
            </p:cNvSpPr>
            <p:nvPr/>
          </p:nvSpPr>
          <p:spPr bwMode="auto">
            <a:xfrm>
              <a:off x="1738" y="3039"/>
              <a:ext cx="94" cy="123"/>
            </a:xfrm>
            <a:custGeom>
              <a:avLst/>
              <a:gdLst>
                <a:gd name="T0" fmla="*/ 94 w 94"/>
                <a:gd name="T1" fmla="*/ 123 h 123"/>
                <a:gd name="T2" fmla="*/ 94 w 94"/>
                <a:gd name="T3" fmla="*/ 0 h 123"/>
                <a:gd name="T4" fmla="*/ 0 w 94"/>
                <a:gd name="T5" fmla="*/ 0 h 123"/>
                <a:gd name="T6" fmla="*/ 0 w 94"/>
                <a:gd name="T7" fmla="*/ 123 h 123"/>
                <a:gd name="T8" fmla="*/ 94 w 94"/>
                <a:gd name="T9" fmla="*/ 123 h 123"/>
                <a:gd name="T10" fmla="*/ 94 w 94"/>
                <a:gd name="T11" fmla="*/ 123 h 1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4" h="123">
                  <a:moveTo>
                    <a:pt x="94" y="123"/>
                  </a:moveTo>
                  <a:lnTo>
                    <a:pt x="94" y="0"/>
                  </a:lnTo>
                  <a:lnTo>
                    <a:pt x="0" y="0"/>
                  </a:lnTo>
                  <a:lnTo>
                    <a:pt x="0" y="123"/>
                  </a:lnTo>
                  <a:lnTo>
                    <a:pt x="94" y="12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105" name="Freeform 17"/>
            <p:cNvSpPr>
              <a:spLocks/>
            </p:cNvSpPr>
            <p:nvPr/>
          </p:nvSpPr>
          <p:spPr bwMode="auto">
            <a:xfrm>
              <a:off x="1738" y="3039"/>
              <a:ext cx="94" cy="123"/>
            </a:xfrm>
            <a:custGeom>
              <a:avLst/>
              <a:gdLst>
                <a:gd name="T0" fmla="*/ 94 w 94"/>
                <a:gd name="T1" fmla="*/ 123 h 123"/>
                <a:gd name="T2" fmla="*/ 94 w 94"/>
                <a:gd name="T3" fmla="*/ 0 h 123"/>
                <a:gd name="T4" fmla="*/ 0 w 94"/>
                <a:gd name="T5" fmla="*/ 0 h 123"/>
                <a:gd name="T6" fmla="*/ 0 w 94"/>
                <a:gd name="T7" fmla="*/ 123 h 123"/>
                <a:gd name="T8" fmla="*/ 94 w 94"/>
                <a:gd name="T9" fmla="*/ 123 h 123"/>
                <a:gd name="T10" fmla="*/ 94 w 94"/>
                <a:gd name="T11" fmla="*/ 123 h 1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4" h="123">
                  <a:moveTo>
                    <a:pt x="94" y="123"/>
                  </a:moveTo>
                  <a:lnTo>
                    <a:pt x="94" y="0"/>
                  </a:lnTo>
                  <a:lnTo>
                    <a:pt x="0" y="0"/>
                  </a:lnTo>
                  <a:lnTo>
                    <a:pt x="0" y="123"/>
                  </a:lnTo>
                  <a:lnTo>
                    <a:pt x="94" y="123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106" name="Freeform 18"/>
            <p:cNvSpPr>
              <a:spLocks/>
            </p:cNvSpPr>
            <p:nvPr/>
          </p:nvSpPr>
          <p:spPr bwMode="auto">
            <a:xfrm>
              <a:off x="1832" y="3285"/>
              <a:ext cx="916" cy="123"/>
            </a:xfrm>
            <a:custGeom>
              <a:avLst/>
              <a:gdLst>
                <a:gd name="T0" fmla="*/ 913 w 916"/>
                <a:gd name="T1" fmla="*/ 123 h 123"/>
                <a:gd name="T2" fmla="*/ 916 w 916"/>
                <a:gd name="T3" fmla="*/ 0 h 123"/>
                <a:gd name="T4" fmla="*/ 0 w 916"/>
                <a:gd name="T5" fmla="*/ 0 h 123"/>
                <a:gd name="T6" fmla="*/ 0 w 916"/>
                <a:gd name="T7" fmla="*/ 123 h 123"/>
                <a:gd name="T8" fmla="*/ 916 w 916"/>
                <a:gd name="T9" fmla="*/ 123 h 123"/>
                <a:gd name="T10" fmla="*/ 916 w 916"/>
                <a:gd name="T11" fmla="*/ 123 h 123"/>
                <a:gd name="T12" fmla="*/ 913 w 916"/>
                <a:gd name="T13" fmla="*/ 123 h 1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16" h="123">
                  <a:moveTo>
                    <a:pt x="913" y="123"/>
                  </a:moveTo>
                  <a:lnTo>
                    <a:pt x="916" y="0"/>
                  </a:lnTo>
                  <a:lnTo>
                    <a:pt x="0" y="0"/>
                  </a:lnTo>
                  <a:lnTo>
                    <a:pt x="0" y="123"/>
                  </a:lnTo>
                  <a:lnTo>
                    <a:pt x="916" y="123"/>
                  </a:lnTo>
                  <a:lnTo>
                    <a:pt x="913" y="123"/>
                  </a:lnTo>
                  <a:close/>
                </a:path>
              </a:pathLst>
            </a:custGeom>
            <a:solidFill>
              <a:srgbClr val="CCCC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107" name="Freeform 19"/>
            <p:cNvSpPr>
              <a:spLocks/>
            </p:cNvSpPr>
            <p:nvPr/>
          </p:nvSpPr>
          <p:spPr bwMode="auto">
            <a:xfrm>
              <a:off x="1832" y="3285"/>
              <a:ext cx="916" cy="123"/>
            </a:xfrm>
            <a:custGeom>
              <a:avLst/>
              <a:gdLst>
                <a:gd name="T0" fmla="*/ 913 w 916"/>
                <a:gd name="T1" fmla="*/ 123 h 123"/>
                <a:gd name="T2" fmla="*/ 916 w 916"/>
                <a:gd name="T3" fmla="*/ 0 h 123"/>
                <a:gd name="T4" fmla="*/ 0 w 916"/>
                <a:gd name="T5" fmla="*/ 0 h 123"/>
                <a:gd name="T6" fmla="*/ 0 w 916"/>
                <a:gd name="T7" fmla="*/ 123 h 123"/>
                <a:gd name="T8" fmla="*/ 916 w 916"/>
                <a:gd name="T9" fmla="*/ 123 h 123"/>
                <a:gd name="T10" fmla="*/ 916 w 916"/>
                <a:gd name="T11" fmla="*/ 123 h 1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16" h="123">
                  <a:moveTo>
                    <a:pt x="913" y="123"/>
                  </a:moveTo>
                  <a:lnTo>
                    <a:pt x="916" y="0"/>
                  </a:lnTo>
                  <a:lnTo>
                    <a:pt x="0" y="0"/>
                  </a:lnTo>
                  <a:lnTo>
                    <a:pt x="0" y="123"/>
                  </a:lnTo>
                  <a:lnTo>
                    <a:pt x="916" y="123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108" name="Freeform 20"/>
            <p:cNvSpPr>
              <a:spLocks/>
            </p:cNvSpPr>
            <p:nvPr/>
          </p:nvSpPr>
          <p:spPr bwMode="auto">
            <a:xfrm>
              <a:off x="1738" y="3285"/>
              <a:ext cx="94" cy="123"/>
            </a:xfrm>
            <a:custGeom>
              <a:avLst/>
              <a:gdLst>
                <a:gd name="T0" fmla="*/ 94 w 94"/>
                <a:gd name="T1" fmla="*/ 123 h 123"/>
                <a:gd name="T2" fmla="*/ 94 w 94"/>
                <a:gd name="T3" fmla="*/ 0 h 123"/>
                <a:gd name="T4" fmla="*/ 0 w 94"/>
                <a:gd name="T5" fmla="*/ 0 h 123"/>
                <a:gd name="T6" fmla="*/ 0 w 94"/>
                <a:gd name="T7" fmla="*/ 123 h 123"/>
                <a:gd name="T8" fmla="*/ 94 w 94"/>
                <a:gd name="T9" fmla="*/ 123 h 123"/>
                <a:gd name="T10" fmla="*/ 94 w 94"/>
                <a:gd name="T11" fmla="*/ 123 h 1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4" h="123">
                  <a:moveTo>
                    <a:pt x="94" y="123"/>
                  </a:moveTo>
                  <a:lnTo>
                    <a:pt x="94" y="0"/>
                  </a:lnTo>
                  <a:lnTo>
                    <a:pt x="0" y="0"/>
                  </a:lnTo>
                  <a:lnTo>
                    <a:pt x="0" y="123"/>
                  </a:lnTo>
                  <a:lnTo>
                    <a:pt x="94" y="123"/>
                  </a:lnTo>
                  <a:close/>
                </a:path>
              </a:pathLst>
            </a:custGeom>
            <a:solidFill>
              <a:srgbClr val="CCCC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109" name="Freeform 21"/>
            <p:cNvSpPr>
              <a:spLocks/>
            </p:cNvSpPr>
            <p:nvPr/>
          </p:nvSpPr>
          <p:spPr bwMode="auto">
            <a:xfrm>
              <a:off x="1738" y="3285"/>
              <a:ext cx="94" cy="123"/>
            </a:xfrm>
            <a:custGeom>
              <a:avLst/>
              <a:gdLst>
                <a:gd name="T0" fmla="*/ 94 w 94"/>
                <a:gd name="T1" fmla="*/ 123 h 123"/>
                <a:gd name="T2" fmla="*/ 94 w 94"/>
                <a:gd name="T3" fmla="*/ 0 h 123"/>
                <a:gd name="T4" fmla="*/ 0 w 94"/>
                <a:gd name="T5" fmla="*/ 0 h 123"/>
                <a:gd name="T6" fmla="*/ 0 w 94"/>
                <a:gd name="T7" fmla="*/ 123 h 123"/>
                <a:gd name="T8" fmla="*/ 94 w 94"/>
                <a:gd name="T9" fmla="*/ 123 h 123"/>
                <a:gd name="T10" fmla="*/ 94 w 94"/>
                <a:gd name="T11" fmla="*/ 123 h 1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4" h="123">
                  <a:moveTo>
                    <a:pt x="94" y="123"/>
                  </a:moveTo>
                  <a:lnTo>
                    <a:pt x="94" y="0"/>
                  </a:lnTo>
                  <a:lnTo>
                    <a:pt x="0" y="0"/>
                  </a:lnTo>
                  <a:lnTo>
                    <a:pt x="0" y="123"/>
                  </a:lnTo>
                  <a:lnTo>
                    <a:pt x="94" y="123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110" name="Freeform 22"/>
            <p:cNvSpPr>
              <a:spLocks/>
            </p:cNvSpPr>
            <p:nvPr/>
          </p:nvSpPr>
          <p:spPr bwMode="auto">
            <a:xfrm>
              <a:off x="1832" y="3531"/>
              <a:ext cx="916" cy="123"/>
            </a:xfrm>
            <a:custGeom>
              <a:avLst/>
              <a:gdLst>
                <a:gd name="T0" fmla="*/ 913 w 916"/>
                <a:gd name="T1" fmla="*/ 123 h 123"/>
                <a:gd name="T2" fmla="*/ 916 w 916"/>
                <a:gd name="T3" fmla="*/ 0 h 123"/>
                <a:gd name="T4" fmla="*/ 0 w 916"/>
                <a:gd name="T5" fmla="*/ 0 h 123"/>
                <a:gd name="T6" fmla="*/ 0 w 916"/>
                <a:gd name="T7" fmla="*/ 123 h 123"/>
                <a:gd name="T8" fmla="*/ 916 w 916"/>
                <a:gd name="T9" fmla="*/ 123 h 123"/>
                <a:gd name="T10" fmla="*/ 916 w 916"/>
                <a:gd name="T11" fmla="*/ 123 h 123"/>
                <a:gd name="T12" fmla="*/ 913 w 916"/>
                <a:gd name="T13" fmla="*/ 123 h 1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16" h="123">
                  <a:moveTo>
                    <a:pt x="913" y="123"/>
                  </a:moveTo>
                  <a:lnTo>
                    <a:pt x="916" y="0"/>
                  </a:lnTo>
                  <a:lnTo>
                    <a:pt x="0" y="0"/>
                  </a:lnTo>
                  <a:lnTo>
                    <a:pt x="0" y="123"/>
                  </a:lnTo>
                  <a:lnTo>
                    <a:pt x="916" y="123"/>
                  </a:lnTo>
                  <a:lnTo>
                    <a:pt x="913" y="12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111" name="Freeform 23"/>
            <p:cNvSpPr>
              <a:spLocks/>
            </p:cNvSpPr>
            <p:nvPr/>
          </p:nvSpPr>
          <p:spPr bwMode="auto">
            <a:xfrm>
              <a:off x="1832" y="3531"/>
              <a:ext cx="916" cy="123"/>
            </a:xfrm>
            <a:custGeom>
              <a:avLst/>
              <a:gdLst>
                <a:gd name="T0" fmla="*/ 913 w 916"/>
                <a:gd name="T1" fmla="*/ 123 h 123"/>
                <a:gd name="T2" fmla="*/ 916 w 916"/>
                <a:gd name="T3" fmla="*/ 0 h 123"/>
                <a:gd name="T4" fmla="*/ 0 w 916"/>
                <a:gd name="T5" fmla="*/ 0 h 123"/>
                <a:gd name="T6" fmla="*/ 0 w 916"/>
                <a:gd name="T7" fmla="*/ 123 h 123"/>
                <a:gd name="T8" fmla="*/ 916 w 916"/>
                <a:gd name="T9" fmla="*/ 123 h 123"/>
                <a:gd name="T10" fmla="*/ 916 w 916"/>
                <a:gd name="T11" fmla="*/ 123 h 1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16" h="123">
                  <a:moveTo>
                    <a:pt x="913" y="123"/>
                  </a:moveTo>
                  <a:lnTo>
                    <a:pt x="916" y="0"/>
                  </a:lnTo>
                  <a:lnTo>
                    <a:pt x="0" y="0"/>
                  </a:lnTo>
                  <a:lnTo>
                    <a:pt x="0" y="123"/>
                  </a:lnTo>
                  <a:lnTo>
                    <a:pt x="916" y="123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112" name="Freeform 24"/>
            <p:cNvSpPr>
              <a:spLocks/>
            </p:cNvSpPr>
            <p:nvPr/>
          </p:nvSpPr>
          <p:spPr bwMode="auto">
            <a:xfrm>
              <a:off x="1738" y="3531"/>
              <a:ext cx="94" cy="123"/>
            </a:xfrm>
            <a:custGeom>
              <a:avLst/>
              <a:gdLst>
                <a:gd name="T0" fmla="*/ 94 w 94"/>
                <a:gd name="T1" fmla="*/ 123 h 123"/>
                <a:gd name="T2" fmla="*/ 94 w 94"/>
                <a:gd name="T3" fmla="*/ 0 h 123"/>
                <a:gd name="T4" fmla="*/ 0 w 94"/>
                <a:gd name="T5" fmla="*/ 0 h 123"/>
                <a:gd name="T6" fmla="*/ 0 w 94"/>
                <a:gd name="T7" fmla="*/ 123 h 123"/>
                <a:gd name="T8" fmla="*/ 94 w 94"/>
                <a:gd name="T9" fmla="*/ 123 h 123"/>
                <a:gd name="T10" fmla="*/ 94 w 94"/>
                <a:gd name="T11" fmla="*/ 123 h 1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4" h="123">
                  <a:moveTo>
                    <a:pt x="94" y="123"/>
                  </a:moveTo>
                  <a:lnTo>
                    <a:pt x="94" y="0"/>
                  </a:lnTo>
                  <a:lnTo>
                    <a:pt x="0" y="0"/>
                  </a:lnTo>
                  <a:lnTo>
                    <a:pt x="0" y="123"/>
                  </a:lnTo>
                  <a:lnTo>
                    <a:pt x="94" y="12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113" name="Freeform 25"/>
            <p:cNvSpPr>
              <a:spLocks/>
            </p:cNvSpPr>
            <p:nvPr/>
          </p:nvSpPr>
          <p:spPr bwMode="auto">
            <a:xfrm>
              <a:off x="1738" y="3531"/>
              <a:ext cx="94" cy="123"/>
            </a:xfrm>
            <a:custGeom>
              <a:avLst/>
              <a:gdLst>
                <a:gd name="T0" fmla="*/ 94 w 94"/>
                <a:gd name="T1" fmla="*/ 123 h 123"/>
                <a:gd name="T2" fmla="*/ 94 w 94"/>
                <a:gd name="T3" fmla="*/ 0 h 123"/>
                <a:gd name="T4" fmla="*/ 0 w 94"/>
                <a:gd name="T5" fmla="*/ 0 h 123"/>
                <a:gd name="T6" fmla="*/ 0 w 94"/>
                <a:gd name="T7" fmla="*/ 123 h 123"/>
                <a:gd name="T8" fmla="*/ 94 w 94"/>
                <a:gd name="T9" fmla="*/ 123 h 123"/>
                <a:gd name="T10" fmla="*/ 94 w 94"/>
                <a:gd name="T11" fmla="*/ 123 h 1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4" h="123">
                  <a:moveTo>
                    <a:pt x="94" y="123"/>
                  </a:moveTo>
                  <a:lnTo>
                    <a:pt x="94" y="0"/>
                  </a:lnTo>
                  <a:lnTo>
                    <a:pt x="0" y="0"/>
                  </a:lnTo>
                  <a:lnTo>
                    <a:pt x="0" y="123"/>
                  </a:lnTo>
                  <a:lnTo>
                    <a:pt x="94" y="123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114" name="Freeform 26"/>
            <p:cNvSpPr>
              <a:spLocks/>
            </p:cNvSpPr>
            <p:nvPr/>
          </p:nvSpPr>
          <p:spPr bwMode="auto">
            <a:xfrm>
              <a:off x="1832" y="3778"/>
              <a:ext cx="916" cy="123"/>
            </a:xfrm>
            <a:custGeom>
              <a:avLst/>
              <a:gdLst>
                <a:gd name="T0" fmla="*/ 913 w 916"/>
                <a:gd name="T1" fmla="*/ 123 h 123"/>
                <a:gd name="T2" fmla="*/ 916 w 916"/>
                <a:gd name="T3" fmla="*/ 0 h 123"/>
                <a:gd name="T4" fmla="*/ 0 w 916"/>
                <a:gd name="T5" fmla="*/ 0 h 123"/>
                <a:gd name="T6" fmla="*/ 0 w 916"/>
                <a:gd name="T7" fmla="*/ 123 h 123"/>
                <a:gd name="T8" fmla="*/ 916 w 916"/>
                <a:gd name="T9" fmla="*/ 123 h 123"/>
                <a:gd name="T10" fmla="*/ 916 w 916"/>
                <a:gd name="T11" fmla="*/ 123 h 123"/>
                <a:gd name="T12" fmla="*/ 913 w 916"/>
                <a:gd name="T13" fmla="*/ 123 h 1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16" h="123">
                  <a:moveTo>
                    <a:pt x="913" y="123"/>
                  </a:moveTo>
                  <a:lnTo>
                    <a:pt x="916" y="0"/>
                  </a:lnTo>
                  <a:lnTo>
                    <a:pt x="0" y="0"/>
                  </a:lnTo>
                  <a:lnTo>
                    <a:pt x="0" y="123"/>
                  </a:lnTo>
                  <a:lnTo>
                    <a:pt x="916" y="123"/>
                  </a:lnTo>
                  <a:lnTo>
                    <a:pt x="913" y="12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115" name="Freeform 27"/>
            <p:cNvSpPr>
              <a:spLocks/>
            </p:cNvSpPr>
            <p:nvPr/>
          </p:nvSpPr>
          <p:spPr bwMode="auto">
            <a:xfrm>
              <a:off x="1832" y="3778"/>
              <a:ext cx="916" cy="123"/>
            </a:xfrm>
            <a:custGeom>
              <a:avLst/>
              <a:gdLst>
                <a:gd name="T0" fmla="*/ 913 w 916"/>
                <a:gd name="T1" fmla="*/ 123 h 123"/>
                <a:gd name="T2" fmla="*/ 916 w 916"/>
                <a:gd name="T3" fmla="*/ 0 h 123"/>
                <a:gd name="T4" fmla="*/ 0 w 916"/>
                <a:gd name="T5" fmla="*/ 0 h 123"/>
                <a:gd name="T6" fmla="*/ 0 w 916"/>
                <a:gd name="T7" fmla="*/ 123 h 123"/>
                <a:gd name="T8" fmla="*/ 916 w 916"/>
                <a:gd name="T9" fmla="*/ 123 h 123"/>
                <a:gd name="T10" fmla="*/ 916 w 916"/>
                <a:gd name="T11" fmla="*/ 123 h 1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16" h="123">
                  <a:moveTo>
                    <a:pt x="913" y="123"/>
                  </a:moveTo>
                  <a:lnTo>
                    <a:pt x="916" y="0"/>
                  </a:lnTo>
                  <a:lnTo>
                    <a:pt x="0" y="0"/>
                  </a:lnTo>
                  <a:lnTo>
                    <a:pt x="0" y="123"/>
                  </a:lnTo>
                  <a:lnTo>
                    <a:pt x="916" y="123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116" name="Freeform 28"/>
            <p:cNvSpPr>
              <a:spLocks/>
            </p:cNvSpPr>
            <p:nvPr/>
          </p:nvSpPr>
          <p:spPr bwMode="auto">
            <a:xfrm>
              <a:off x="1738" y="3778"/>
              <a:ext cx="94" cy="123"/>
            </a:xfrm>
            <a:custGeom>
              <a:avLst/>
              <a:gdLst>
                <a:gd name="T0" fmla="*/ 94 w 94"/>
                <a:gd name="T1" fmla="*/ 123 h 123"/>
                <a:gd name="T2" fmla="*/ 94 w 94"/>
                <a:gd name="T3" fmla="*/ 0 h 123"/>
                <a:gd name="T4" fmla="*/ 0 w 94"/>
                <a:gd name="T5" fmla="*/ 0 h 123"/>
                <a:gd name="T6" fmla="*/ 0 w 94"/>
                <a:gd name="T7" fmla="*/ 123 h 123"/>
                <a:gd name="T8" fmla="*/ 94 w 94"/>
                <a:gd name="T9" fmla="*/ 123 h 123"/>
                <a:gd name="T10" fmla="*/ 94 w 94"/>
                <a:gd name="T11" fmla="*/ 123 h 1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4" h="123">
                  <a:moveTo>
                    <a:pt x="94" y="123"/>
                  </a:moveTo>
                  <a:lnTo>
                    <a:pt x="94" y="0"/>
                  </a:lnTo>
                  <a:lnTo>
                    <a:pt x="0" y="0"/>
                  </a:lnTo>
                  <a:lnTo>
                    <a:pt x="0" y="123"/>
                  </a:lnTo>
                  <a:lnTo>
                    <a:pt x="94" y="12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117" name="Freeform 29"/>
            <p:cNvSpPr>
              <a:spLocks/>
            </p:cNvSpPr>
            <p:nvPr/>
          </p:nvSpPr>
          <p:spPr bwMode="auto">
            <a:xfrm>
              <a:off x="1738" y="3778"/>
              <a:ext cx="94" cy="123"/>
            </a:xfrm>
            <a:custGeom>
              <a:avLst/>
              <a:gdLst>
                <a:gd name="T0" fmla="*/ 94 w 94"/>
                <a:gd name="T1" fmla="*/ 123 h 123"/>
                <a:gd name="T2" fmla="*/ 94 w 94"/>
                <a:gd name="T3" fmla="*/ 0 h 123"/>
                <a:gd name="T4" fmla="*/ 0 w 94"/>
                <a:gd name="T5" fmla="*/ 0 h 123"/>
                <a:gd name="T6" fmla="*/ 0 w 94"/>
                <a:gd name="T7" fmla="*/ 123 h 123"/>
                <a:gd name="T8" fmla="*/ 94 w 94"/>
                <a:gd name="T9" fmla="*/ 123 h 123"/>
                <a:gd name="T10" fmla="*/ 94 w 94"/>
                <a:gd name="T11" fmla="*/ 123 h 1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4" h="123">
                  <a:moveTo>
                    <a:pt x="94" y="123"/>
                  </a:moveTo>
                  <a:lnTo>
                    <a:pt x="94" y="0"/>
                  </a:lnTo>
                  <a:lnTo>
                    <a:pt x="0" y="0"/>
                  </a:lnTo>
                  <a:lnTo>
                    <a:pt x="0" y="123"/>
                  </a:lnTo>
                  <a:lnTo>
                    <a:pt x="94" y="123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118" name="Freeform 30"/>
            <p:cNvSpPr>
              <a:spLocks/>
            </p:cNvSpPr>
            <p:nvPr/>
          </p:nvSpPr>
          <p:spPr bwMode="auto">
            <a:xfrm>
              <a:off x="1832" y="2423"/>
              <a:ext cx="916" cy="123"/>
            </a:xfrm>
            <a:custGeom>
              <a:avLst/>
              <a:gdLst>
                <a:gd name="T0" fmla="*/ 913 w 916"/>
                <a:gd name="T1" fmla="*/ 123 h 123"/>
                <a:gd name="T2" fmla="*/ 916 w 916"/>
                <a:gd name="T3" fmla="*/ 0 h 123"/>
                <a:gd name="T4" fmla="*/ 0 w 916"/>
                <a:gd name="T5" fmla="*/ 0 h 123"/>
                <a:gd name="T6" fmla="*/ 0 w 916"/>
                <a:gd name="T7" fmla="*/ 123 h 123"/>
                <a:gd name="T8" fmla="*/ 916 w 916"/>
                <a:gd name="T9" fmla="*/ 123 h 123"/>
                <a:gd name="T10" fmla="*/ 916 w 916"/>
                <a:gd name="T11" fmla="*/ 123 h 123"/>
                <a:gd name="T12" fmla="*/ 913 w 916"/>
                <a:gd name="T13" fmla="*/ 123 h 1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16" h="123">
                  <a:moveTo>
                    <a:pt x="913" y="123"/>
                  </a:moveTo>
                  <a:lnTo>
                    <a:pt x="916" y="0"/>
                  </a:lnTo>
                  <a:lnTo>
                    <a:pt x="0" y="0"/>
                  </a:lnTo>
                  <a:lnTo>
                    <a:pt x="0" y="123"/>
                  </a:lnTo>
                  <a:lnTo>
                    <a:pt x="916" y="123"/>
                  </a:lnTo>
                  <a:lnTo>
                    <a:pt x="913" y="12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119" name="Freeform 31"/>
            <p:cNvSpPr>
              <a:spLocks/>
            </p:cNvSpPr>
            <p:nvPr/>
          </p:nvSpPr>
          <p:spPr bwMode="auto">
            <a:xfrm>
              <a:off x="1832" y="2423"/>
              <a:ext cx="916" cy="123"/>
            </a:xfrm>
            <a:custGeom>
              <a:avLst/>
              <a:gdLst>
                <a:gd name="T0" fmla="*/ 913 w 916"/>
                <a:gd name="T1" fmla="*/ 123 h 123"/>
                <a:gd name="T2" fmla="*/ 916 w 916"/>
                <a:gd name="T3" fmla="*/ 0 h 123"/>
                <a:gd name="T4" fmla="*/ 0 w 916"/>
                <a:gd name="T5" fmla="*/ 0 h 123"/>
                <a:gd name="T6" fmla="*/ 0 w 916"/>
                <a:gd name="T7" fmla="*/ 123 h 123"/>
                <a:gd name="T8" fmla="*/ 916 w 916"/>
                <a:gd name="T9" fmla="*/ 123 h 123"/>
                <a:gd name="T10" fmla="*/ 916 w 916"/>
                <a:gd name="T11" fmla="*/ 123 h 1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16" h="123">
                  <a:moveTo>
                    <a:pt x="913" y="123"/>
                  </a:moveTo>
                  <a:lnTo>
                    <a:pt x="916" y="0"/>
                  </a:lnTo>
                  <a:lnTo>
                    <a:pt x="0" y="0"/>
                  </a:lnTo>
                  <a:lnTo>
                    <a:pt x="0" y="123"/>
                  </a:lnTo>
                  <a:lnTo>
                    <a:pt x="916" y="123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120" name="Freeform 32"/>
            <p:cNvSpPr>
              <a:spLocks/>
            </p:cNvSpPr>
            <p:nvPr/>
          </p:nvSpPr>
          <p:spPr bwMode="auto">
            <a:xfrm>
              <a:off x="1738" y="2423"/>
              <a:ext cx="94" cy="123"/>
            </a:xfrm>
            <a:custGeom>
              <a:avLst/>
              <a:gdLst>
                <a:gd name="T0" fmla="*/ 94 w 94"/>
                <a:gd name="T1" fmla="*/ 123 h 123"/>
                <a:gd name="T2" fmla="*/ 94 w 94"/>
                <a:gd name="T3" fmla="*/ 0 h 123"/>
                <a:gd name="T4" fmla="*/ 0 w 94"/>
                <a:gd name="T5" fmla="*/ 0 h 123"/>
                <a:gd name="T6" fmla="*/ 0 w 94"/>
                <a:gd name="T7" fmla="*/ 123 h 123"/>
                <a:gd name="T8" fmla="*/ 94 w 94"/>
                <a:gd name="T9" fmla="*/ 123 h 123"/>
                <a:gd name="T10" fmla="*/ 94 w 94"/>
                <a:gd name="T11" fmla="*/ 123 h 1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4" h="123">
                  <a:moveTo>
                    <a:pt x="94" y="123"/>
                  </a:moveTo>
                  <a:lnTo>
                    <a:pt x="94" y="0"/>
                  </a:lnTo>
                  <a:lnTo>
                    <a:pt x="0" y="0"/>
                  </a:lnTo>
                  <a:lnTo>
                    <a:pt x="0" y="123"/>
                  </a:lnTo>
                  <a:lnTo>
                    <a:pt x="94" y="12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121" name="Freeform 33"/>
            <p:cNvSpPr>
              <a:spLocks/>
            </p:cNvSpPr>
            <p:nvPr/>
          </p:nvSpPr>
          <p:spPr bwMode="auto">
            <a:xfrm>
              <a:off x="1738" y="2423"/>
              <a:ext cx="94" cy="123"/>
            </a:xfrm>
            <a:custGeom>
              <a:avLst/>
              <a:gdLst>
                <a:gd name="T0" fmla="*/ 94 w 94"/>
                <a:gd name="T1" fmla="*/ 123 h 123"/>
                <a:gd name="T2" fmla="*/ 94 w 94"/>
                <a:gd name="T3" fmla="*/ 0 h 123"/>
                <a:gd name="T4" fmla="*/ 0 w 94"/>
                <a:gd name="T5" fmla="*/ 0 h 123"/>
                <a:gd name="T6" fmla="*/ 0 w 94"/>
                <a:gd name="T7" fmla="*/ 123 h 123"/>
                <a:gd name="T8" fmla="*/ 94 w 94"/>
                <a:gd name="T9" fmla="*/ 123 h 123"/>
                <a:gd name="T10" fmla="*/ 94 w 94"/>
                <a:gd name="T11" fmla="*/ 123 h 1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4" h="123">
                  <a:moveTo>
                    <a:pt x="94" y="123"/>
                  </a:moveTo>
                  <a:lnTo>
                    <a:pt x="94" y="0"/>
                  </a:lnTo>
                  <a:lnTo>
                    <a:pt x="0" y="0"/>
                  </a:lnTo>
                  <a:lnTo>
                    <a:pt x="0" y="123"/>
                  </a:lnTo>
                  <a:lnTo>
                    <a:pt x="94" y="123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122" name="Freeform 34"/>
            <p:cNvSpPr>
              <a:spLocks/>
            </p:cNvSpPr>
            <p:nvPr/>
          </p:nvSpPr>
          <p:spPr bwMode="auto">
            <a:xfrm>
              <a:off x="1832" y="2669"/>
              <a:ext cx="916" cy="123"/>
            </a:xfrm>
            <a:custGeom>
              <a:avLst/>
              <a:gdLst>
                <a:gd name="T0" fmla="*/ 913 w 916"/>
                <a:gd name="T1" fmla="*/ 123 h 123"/>
                <a:gd name="T2" fmla="*/ 916 w 916"/>
                <a:gd name="T3" fmla="*/ 0 h 123"/>
                <a:gd name="T4" fmla="*/ 0 w 916"/>
                <a:gd name="T5" fmla="*/ 0 h 123"/>
                <a:gd name="T6" fmla="*/ 0 w 916"/>
                <a:gd name="T7" fmla="*/ 123 h 123"/>
                <a:gd name="T8" fmla="*/ 916 w 916"/>
                <a:gd name="T9" fmla="*/ 123 h 123"/>
                <a:gd name="T10" fmla="*/ 916 w 916"/>
                <a:gd name="T11" fmla="*/ 123 h 123"/>
                <a:gd name="T12" fmla="*/ 913 w 916"/>
                <a:gd name="T13" fmla="*/ 123 h 1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16" h="123">
                  <a:moveTo>
                    <a:pt x="913" y="123"/>
                  </a:moveTo>
                  <a:lnTo>
                    <a:pt x="916" y="0"/>
                  </a:lnTo>
                  <a:lnTo>
                    <a:pt x="0" y="0"/>
                  </a:lnTo>
                  <a:lnTo>
                    <a:pt x="0" y="123"/>
                  </a:lnTo>
                  <a:lnTo>
                    <a:pt x="916" y="123"/>
                  </a:lnTo>
                  <a:lnTo>
                    <a:pt x="913" y="12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123" name="Freeform 35"/>
            <p:cNvSpPr>
              <a:spLocks/>
            </p:cNvSpPr>
            <p:nvPr/>
          </p:nvSpPr>
          <p:spPr bwMode="auto">
            <a:xfrm>
              <a:off x="1832" y="2669"/>
              <a:ext cx="916" cy="123"/>
            </a:xfrm>
            <a:custGeom>
              <a:avLst/>
              <a:gdLst>
                <a:gd name="T0" fmla="*/ 913 w 916"/>
                <a:gd name="T1" fmla="*/ 123 h 123"/>
                <a:gd name="T2" fmla="*/ 916 w 916"/>
                <a:gd name="T3" fmla="*/ 0 h 123"/>
                <a:gd name="T4" fmla="*/ 0 w 916"/>
                <a:gd name="T5" fmla="*/ 0 h 123"/>
                <a:gd name="T6" fmla="*/ 0 w 916"/>
                <a:gd name="T7" fmla="*/ 123 h 123"/>
                <a:gd name="T8" fmla="*/ 916 w 916"/>
                <a:gd name="T9" fmla="*/ 123 h 123"/>
                <a:gd name="T10" fmla="*/ 916 w 916"/>
                <a:gd name="T11" fmla="*/ 123 h 1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16" h="123">
                  <a:moveTo>
                    <a:pt x="913" y="123"/>
                  </a:moveTo>
                  <a:lnTo>
                    <a:pt x="916" y="0"/>
                  </a:lnTo>
                  <a:lnTo>
                    <a:pt x="0" y="0"/>
                  </a:lnTo>
                  <a:lnTo>
                    <a:pt x="0" y="123"/>
                  </a:lnTo>
                  <a:lnTo>
                    <a:pt x="916" y="123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124" name="Freeform 36"/>
            <p:cNvSpPr>
              <a:spLocks/>
            </p:cNvSpPr>
            <p:nvPr/>
          </p:nvSpPr>
          <p:spPr bwMode="auto">
            <a:xfrm>
              <a:off x="1738" y="2669"/>
              <a:ext cx="94" cy="123"/>
            </a:xfrm>
            <a:custGeom>
              <a:avLst/>
              <a:gdLst>
                <a:gd name="T0" fmla="*/ 94 w 94"/>
                <a:gd name="T1" fmla="*/ 123 h 123"/>
                <a:gd name="T2" fmla="*/ 94 w 94"/>
                <a:gd name="T3" fmla="*/ 0 h 123"/>
                <a:gd name="T4" fmla="*/ 0 w 94"/>
                <a:gd name="T5" fmla="*/ 0 h 123"/>
                <a:gd name="T6" fmla="*/ 0 w 94"/>
                <a:gd name="T7" fmla="*/ 123 h 123"/>
                <a:gd name="T8" fmla="*/ 94 w 94"/>
                <a:gd name="T9" fmla="*/ 123 h 123"/>
                <a:gd name="T10" fmla="*/ 94 w 94"/>
                <a:gd name="T11" fmla="*/ 123 h 1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4" h="123">
                  <a:moveTo>
                    <a:pt x="94" y="123"/>
                  </a:moveTo>
                  <a:lnTo>
                    <a:pt x="94" y="0"/>
                  </a:lnTo>
                  <a:lnTo>
                    <a:pt x="0" y="0"/>
                  </a:lnTo>
                  <a:lnTo>
                    <a:pt x="0" y="123"/>
                  </a:lnTo>
                  <a:lnTo>
                    <a:pt x="94" y="12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125" name="Freeform 37"/>
            <p:cNvSpPr>
              <a:spLocks/>
            </p:cNvSpPr>
            <p:nvPr/>
          </p:nvSpPr>
          <p:spPr bwMode="auto">
            <a:xfrm>
              <a:off x="1738" y="2669"/>
              <a:ext cx="94" cy="123"/>
            </a:xfrm>
            <a:custGeom>
              <a:avLst/>
              <a:gdLst>
                <a:gd name="T0" fmla="*/ 94 w 94"/>
                <a:gd name="T1" fmla="*/ 123 h 123"/>
                <a:gd name="T2" fmla="*/ 94 w 94"/>
                <a:gd name="T3" fmla="*/ 0 h 123"/>
                <a:gd name="T4" fmla="*/ 0 w 94"/>
                <a:gd name="T5" fmla="*/ 0 h 123"/>
                <a:gd name="T6" fmla="*/ 0 w 94"/>
                <a:gd name="T7" fmla="*/ 123 h 123"/>
                <a:gd name="T8" fmla="*/ 94 w 94"/>
                <a:gd name="T9" fmla="*/ 123 h 123"/>
                <a:gd name="T10" fmla="*/ 94 w 94"/>
                <a:gd name="T11" fmla="*/ 123 h 1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4" h="123">
                  <a:moveTo>
                    <a:pt x="94" y="123"/>
                  </a:moveTo>
                  <a:lnTo>
                    <a:pt x="94" y="0"/>
                  </a:lnTo>
                  <a:lnTo>
                    <a:pt x="0" y="0"/>
                  </a:lnTo>
                  <a:lnTo>
                    <a:pt x="0" y="123"/>
                  </a:lnTo>
                  <a:lnTo>
                    <a:pt x="94" y="123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126" name="Freeform 38"/>
            <p:cNvSpPr>
              <a:spLocks/>
            </p:cNvSpPr>
            <p:nvPr/>
          </p:nvSpPr>
          <p:spPr bwMode="auto">
            <a:xfrm>
              <a:off x="1832" y="2915"/>
              <a:ext cx="916" cy="124"/>
            </a:xfrm>
            <a:custGeom>
              <a:avLst/>
              <a:gdLst>
                <a:gd name="T0" fmla="*/ 913 w 916"/>
                <a:gd name="T1" fmla="*/ 124 h 124"/>
                <a:gd name="T2" fmla="*/ 916 w 916"/>
                <a:gd name="T3" fmla="*/ 0 h 124"/>
                <a:gd name="T4" fmla="*/ 0 w 916"/>
                <a:gd name="T5" fmla="*/ 0 h 124"/>
                <a:gd name="T6" fmla="*/ 0 w 916"/>
                <a:gd name="T7" fmla="*/ 124 h 124"/>
                <a:gd name="T8" fmla="*/ 916 w 916"/>
                <a:gd name="T9" fmla="*/ 124 h 124"/>
                <a:gd name="T10" fmla="*/ 916 w 916"/>
                <a:gd name="T11" fmla="*/ 124 h 124"/>
                <a:gd name="T12" fmla="*/ 913 w 916"/>
                <a:gd name="T13" fmla="*/ 124 h 1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16" h="124">
                  <a:moveTo>
                    <a:pt x="913" y="124"/>
                  </a:moveTo>
                  <a:lnTo>
                    <a:pt x="916" y="0"/>
                  </a:lnTo>
                  <a:lnTo>
                    <a:pt x="0" y="0"/>
                  </a:lnTo>
                  <a:lnTo>
                    <a:pt x="0" y="124"/>
                  </a:lnTo>
                  <a:lnTo>
                    <a:pt x="916" y="124"/>
                  </a:lnTo>
                  <a:lnTo>
                    <a:pt x="913" y="124"/>
                  </a:lnTo>
                  <a:close/>
                </a:path>
              </a:pathLst>
            </a:custGeom>
            <a:solidFill>
              <a:srgbClr val="CCCC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127" name="Freeform 39"/>
            <p:cNvSpPr>
              <a:spLocks/>
            </p:cNvSpPr>
            <p:nvPr/>
          </p:nvSpPr>
          <p:spPr bwMode="auto">
            <a:xfrm>
              <a:off x="1832" y="2915"/>
              <a:ext cx="916" cy="124"/>
            </a:xfrm>
            <a:custGeom>
              <a:avLst/>
              <a:gdLst>
                <a:gd name="T0" fmla="*/ 913 w 916"/>
                <a:gd name="T1" fmla="*/ 124 h 124"/>
                <a:gd name="T2" fmla="*/ 916 w 916"/>
                <a:gd name="T3" fmla="*/ 0 h 124"/>
                <a:gd name="T4" fmla="*/ 0 w 916"/>
                <a:gd name="T5" fmla="*/ 0 h 124"/>
                <a:gd name="T6" fmla="*/ 0 w 916"/>
                <a:gd name="T7" fmla="*/ 124 h 124"/>
                <a:gd name="T8" fmla="*/ 916 w 916"/>
                <a:gd name="T9" fmla="*/ 124 h 124"/>
                <a:gd name="T10" fmla="*/ 916 w 916"/>
                <a:gd name="T11" fmla="*/ 124 h 1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16" h="124">
                  <a:moveTo>
                    <a:pt x="913" y="124"/>
                  </a:moveTo>
                  <a:lnTo>
                    <a:pt x="916" y="0"/>
                  </a:lnTo>
                  <a:lnTo>
                    <a:pt x="0" y="0"/>
                  </a:lnTo>
                  <a:lnTo>
                    <a:pt x="0" y="124"/>
                  </a:lnTo>
                  <a:lnTo>
                    <a:pt x="916" y="124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128" name="Freeform 40"/>
            <p:cNvSpPr>
              <a:spLocks/>
            </p:cNvSpPr>
            <p:nvPr/>
          </p:nvSpPr>
          <p:spPr bwMode="auto">
            <a:xfrm>
              <a:off x="1738" y="2915"/>
              <a:ext cx="94" cy="124"/>
            </a:xfrm>
            <a:custGeom>
              <a:avLst/>
              <a:gdLst>
                <a:gd name="T0" fmla="*/ 94 w 94"/>
                <a:gd name="T1" fmla="*/ 124 h 124"/>
                <a:gd name="T2" fmla="*/ 94 w 94"/>
                <a:gd name="T3" fmla="*/ 0 h 124"/>
                <a:gd name="T4" fmla="*/ 0 w 94"/>
                <a:gd name="T5" fmla="*/ 0 h 124"/>
                <a:gd name="T6" fmla="*/ 0 w 94"/>
                <a:gd name="T7" fmla="*/ 124 h 124"/>
                <a:gd name="T8" fmla="*/ 94 w 94"/>
                <a:gd name="T9" fmla="*/ 124 h 124"/>
                <a:gd name="T10" fmla="*/ 94 w 94"/>
                <a:gd name="T11" fmla="*/ 124 h 1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4" h="124">
                  <a:moveTo>
                    <a:pt x="94" y="124"/>
                  </a:moveTo>
                  <a:lnTo>
                    <a:pt x="94" y="0"/>
                  </a:lnTo>
                  <a:lnTo>
                    <a:pt x="0" y="0"/>
                  </a:lnTo>
                  <a:lnTo>
                    <a:pt x="0" y="124"/>
                  </a:lnTo>
                  <a:lnTo>
                    <a:pt x="94" y="124"/>
                  </a:lnTo>
                  <a:close/>
                </a:path>
              </a:pathLst>
            </a:custGeom>
            <a:solidFill>
              <a:srgbClr val="CCCC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129" name="Freeform 41"/>
            <p:cNvSpPr>
              <a:spLocks/>
            </p:cNvSpPr>
            <p:nvPr/>
          </p:nvSpPr>
          <p:spPr bwMode="auto">
            <a:xfrm>
              <a:off x="1738" y="2915"/>
              <a:ext cx="94" cy="124"/>
            </a:xfrm>
            <a:custGeom>
              <a:avLst/>
              <a:gdLst>
                <a:gd name="T0" fmla="*/ 94 w 94"/>
                <a:gd name="T1" fmla="*/ 124 h 124"/>
                <a:gd name="T2" fmla="*/ 94 w 94"/>
                <a:gd name="T3" fmla="*/ 0 h 124"/>
                <a:gd name="T4" fmla="*/ 0 w 94"/>
                <a:gd name="T5" fmla="*/ 0 h 124"/>
                <a:gd name="T6" fmla="*/ 0 w 94"/>
                <a:gd name="T7" fmla="*/ 124 h 124"/>
                <a:gd name="T8" fmla="*/ 94 w 94"/>
                <a:gd name="T9" fmla="*/ 124 h 124"/>
                <a:gd name="T10" fmla="*/ 94 w 94"/>
                <a:gd name="T11" fmla="*/ 124 h 1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4" h="124">
                  <a:moveTo>
                    <a:pt x="94" y="124"/>
                  </a:moveTo>
                  <a:lnTo>
                    <a:pt x="94" y="0"/>
                  </a:lnTo>
                  <a:lnTo>
                    <a:pt x="0" y="0"/>
                  </a:lnTo>
                  <a:lnTo>
                    <a:pt x="0" y="124"/>
                  </a:lnTo>
                  <a:lnTo>
                    <a:pt x="94" y="124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130" name="Freeform 42"/>
            <p:cNvSpPr>
              <a:spLocks/>
            </p:cNvSpPr>
            <p:nvPr/>
          </p:nvSpPr>
          <p:spPr bwMode="auto">
            <a:xfrm>
              <a:off x="1832" y="3162"/>
              <a:ext cx="916" cy="123"/>
            </a:xfrm>
            <a:custGeom>
              <a:avLst/>
              <a:gdLst>
                <a:gd name="T0" fmla="*/ 913 w 916"/>
                <a:gd name="T1" fmla="*/ 123 h 123"/>
                <a:gd name="T2" fmla="*/ 916 w 916"/>
                <a:gd name="T3" fmla="*/ 0 h 123"/>
                <a:gd name="T4" fmla="*/ 0 w 916"/>
                <a:gd name="T5" fmla="*/ 0 h 123"/>
                <a:gd name="T6" fmla="*/ 0 w 916"/>
                <a:gd name="T7" fmla="*/ 123 h 123"/>
                <a:gd name="T8" fmla="*/ 916 w 916"/>
                <a:gd name="T9" fmla="*/ 123 h 123"/>
                <a:gd name="T10" fmla="*/ 916 w 916"/>
                <a:gd name="T11" fmla="*/ 123 h 123"/>
                <a:gd name="T12" fmla="*/ 913 w 916"/>
                <a:gd name="T13" fmla="*/ 123 h 1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16" h="123">
                  <a:moveTo>
                    <a:pt x="913" y="123"/>
                  </a:moveTo>
                  <a:lnTo>
                    <a:pt x="916" y="0"/>
                  </a:lnTo>
                  <a:lnTo>
                    <a:pt x="0" y="0"/>
                  </a:lnTo>
                  <a:lnTo>
                    <a:pt x="0" y="123"/>
                  </a:lnTo>
                  <a:lnTo>
                    <a:pt x="916" y="123"/>
                  </a:lnTo>
                  <a:lnTo>
                    <a:pt x="913" y="12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131" name="Freeform 43"/>
            <p:cNvSpPr>
              <a:spLocks/>
            </p:cNvSpPr>
            <p:nvPr/>
          </p:nvSpPr>
          <p:spPr bwMode="auto">
            <a:xfrm>
              <a:off x="1832" y="3162"/>
              <a:ext cx="916" cy="123"/>
            </a:xfrm>
            <a:custGeom>
              <a:avLst/>
              <a:gdLst>
                <a:gd name="T0" fmla="*/ 913 w 916"/>
                <a:gd name="T1" fmla="*/ 123 h 123"/>
                <a:gd name="T2" fmla="*/ 916 w 916"/>
                <a:gd name="T3" fmla="*/ 0 h 123"/>
                <a:gd name="T4" fmla="*/ 0 w 916"/>
                <a:gd name="T5" fmla="*/ 0 h 123"/>
                <a:gd name="T6" fmla="*/ 0 w 916"/>
                <a:gd name="T7" fmla="*/ 123 h 123"/>
                <a:gd name="T8" fmla="*/ 916 w 916"/>
                <a:gd name="T9" fmla="*/ 123 h 123"/>
                <a:gd name="T10" fmla="*/ 916 w 916"/>
                <a:gd name="T11" fmla="*/ 123 h 1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16" h="123">
                  <a:moveTo>
                    <a:pt x="913" y="123"/>
                  </a:moveTo>
                  <a:lnTo>
                    <a:pt x="916" y="0"/>
                  </a:lnTo>
                  <a:lnTo>
                    <a:pt x="0" y="0"/>
                  </a:lnTo>
                  <a:lnTo>
                    <a:pt x="0" y="123"/>
                  </a:lnTo>
                  <a:lnTo>
                    <a:pt x="916" y="123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132" name="Freeform 44"/>
            <p:cNvSpPr>
              <a:spLocks/>
            </p:cNvSpPr>
            <p:nvPr/>
          </p:nvSpPr>
          <p:spPr bwMode="auto">
            <a:xfrm>
              <a:off x="1738" y="3162"/>
              <a:ext cx="94" cy="123"/>
            </a:xfrm>
            <a:custGeom>
              <a:avLst/>
              <a:gdLst>
                <a:gd name="T0" fmla="*/ 94 w 94"/>
                <a:gd name="T1" fmla="*/ 123 h 123"/>
                <a:gd name="T2" fmla="*/ 94 w 94"/>
                <a:gd name="T3" fmla="*/ 0 h 123"/>
                <a:gd name="T4" fmla="*/ 0 w 94"/>
                <a:gd name="T5" fmla="*/ 0 h 123"/>
                <a:gd name="T6" fmla="*/ 0 w 94"/>
                <a:gd name="T7" fmla="*/ 123 h 123"/>
                <a:gd name="T8" fmla="*/ 94 w 94"/>
                <a:gd name="T9" fmla="*/ 123 h 123"/>
                <a:gd name="T10" fmla="*/ 94 w 94"/>
                <a:gd name="T11" fmla="*/ 123 h 1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4" h="123">
                  <a:moveTo>
                    <a:pt x="94" y="123"/>
                  </a:moveTo>
                  <a:lnTo>
                    <a:pt x="94" y="0"/>
                  </a:lnTo>
                  <a:lnTo>
                    <a:pt x="0" y="0"/>
                  </a:lnTo>
                  <a:lnTo>
                    <a:pt x="0" y="123"/>
                  </a:lnTo>
                  <a:lnTo>
                    <a:pt x="94" y="12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133" name="Freeform 45"/>
            <p:cNvSpPr>
              <a:spLocks/>
            </p:cNvSpPr>
            <p:nvPr/>
          </p:nvSpPr>
          <p:spPr bwMode="auto">
            <a:xfrm>
              <a:off x="1738" y="3162"/>
              <a:ext cx="94" cy="123"/>
            </a:xfrm>
            <a:custGeom>
              <a:avLst/>
              <a:gdLst>
                <a:gd name="T0" fmla="*/ 94 w 94"/>
                <a:gd name="T1" fmla="*/ 123 h 123"/>
                <a:gd name="T2" fmla="*/ 94 w 94"/>
                <a:gd name="T3" fmla="*/ 0 h 123"/>
                <a:gd name="T4" fmla="*/ 0 w 94"/>
                <a:gd name="T5" fmla="*/ 0 h 123"/>
                <a:gd name="T6" fmla="*/ 0 w 94"/>
                <a:gd name="T7" fmla="*/ 123 h 123"/>
                <a:gd name="T8" fmla="*/ 94 w 94"/>
                <a:gd name="T9" fmla="*/ 123 h 123"/>
                <a:gd name="T10" fmla="*/ 94 w 94"/>
                <a:gd name="T11" fmla="*/ 123 h 1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4" h="123">
                  <a:moveTo>
                    <a:pt x="94" y="123"/>
                  </a:moveTo>
                  <a:lnTo>
                    <a:pt x="94" y="0"/>
                  </a:lnTo>
                  <a:lnTo>
                    <a:pt x="0" y="0"/>
                  </a:lnTo>
                  <a:lnTo>
                    <a:pt x="0" y="123"/>
                  </a:lnTo>
                  <a:lnTo>
                    <a:pt x="94" y="123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134" name="Freeform 46"/>
            <p:cNvSpPr>
              <a:spLocks/>
            </p:cNvSpPr>
            <p:nvPr/>
          </p:nvSpPr>
          <p:spPr bwMode="auto">
            <a:xfrm>
              <a:off x="1832" y="3408"/>
              <a:ext cx="916" cy="123"/>
            </a:xfrm>
            <a:custGeom>
              <a:avLst/>
              <a:gdLst>
                <a:gd name="T0" fmla="*/ 913 w 916"/>
                <a:gd name="T1" fmla="*/ 123 h 123"/>
                <a:gd name="T2" fmla="*/ 916 w 916"/>
                <a:gd name="T3" fmla="*/ 0 h 123"/>
                <a:gd name="T4" fmla="*/ 0 w 916"/>
                <a:gd name="T5" fmla="*/ 0 h 123"/>
                <a:gd name="T6" fmla="*/ 0 w 916"/>
                <a:gd name="T7" fmla="*/ 123 h 123"/>
                <a:gd name="T8" fmla="*/ 916 w 916"/>
                <a:gd name="T9" fmla="*/ 123 h 123"/>
                <a:gd name="T10" fmla="*/ 916 w 916"/>
                <a:gd name="T11" fmla="*/ 123 h 123"/>
                <a:gd name="T12" fmla="*/ 913 w 916"/>
                <a:gd name="T13" fmla="*/ 123 h 1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16" h="123">
                  <a:moveTo>
                    <a:pt x="913" y="123"/>
                  </a:moveTo>
                  <a:lnTo>
                    <a:pt x="916" y="0"/>
                  </a:lnTo>
                  <a:lnTo>
                    <a:pt x="0" y="0"/>
                  </a:lnTo>
                  <a:lnTo>
                    <a:pt x="0" y="123"/>
                  </a:lnTo>
                  <a:lnTo>
                    <a:pt x="916" y="123"/>
                  </a:lnTo>
                  <a:lnTo>
                    <a:pt x="913" y="12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135" name="Freeform 47"/>
            <p:cNvSpPr>
              <a:spLocks/>
            </p:cNvSpPr>
            <p:nvPr/>
          </p:nvSpPr>
          <p:spPr bwMode="auto">
            <a:xfrm>
              <a:off x="1832" y="3408"/>
              <a:ext cx="916" cy="123"/>
            </a:xfrm>
            <a:custGeom>
              <a:avLst/>
              <a:gdLst>
                <a:gd name="T0" fmla="*/ 913 w 916"/>
                <a:gd name="T1" fmla="*/ 123 h 123"/>
                <a:gd name="T2" fmla="*/ 916 w 916"/>
                <a:gd name="T3" fmla="*/ 0 h 123"/>
                <a:gd name="T4" fmla="*/ 0 w 916"/>
                <a:gd name="T5" fmla="*/ 0 h 123"/>
                <a:gd name="T6" fmla="*/ 0 w 916"/>
                <a:gd name="T7" fmla="*/ 123 h 123"/>
                <a:gd name="T8" fmla="*/ 916 w 916"/>
                <a:gd name="T9" fmla="*/ 123 h 123"/>
                <a:gd name="T10" fmla="*/ 916 w 916"/>
                <a:gd name="T11" fmla="*/ 123 h 1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16" h="123">
                  <a:moveTo>
                    <a:pt x="913" y="123"/>
                  </a:moveTo>
                  <a:lnTo>
                    <a:pt x="916" y="0"/>
                  </a:lnTo>
                  <a:lnTo>
                    <a:pt x="0" y="0"/>
                  </a:lnTo>
                  <a:lnTo>
                    <a:pt x="0" y="123"/>
                  </a:lnTo>
                  <a:lnTo>
                    <a:pt x="916" y="123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136" name="Freeform 48"/>
            <p:cNvSpPr>
              <a:spLocks/>
            </p:cNvSpPr>
            <p:nvPr/>
          </p:nvSpPr>
          <p:spPr bwMode="auto">
            <a:xfrm>
              <a:off x="1738" y="3408"/>
              <a:ext cx="94" cy="123"/>
            </a:xfrm>
            <a:custGeom>
              <a:avLst/>
              <a:gdLst>
                <a:gd name="T0" fmla="*/ 94 w 94"/>
                <a:gd name="T1" fmla="*/ 123 h 123"/>
                <a:gd name="T2" fmla="*/ 94 w 94"/>
                <a:gd name="T3" fmla="*/ 0 h 123"/>
                <a:gd name="T4" fmla="*/ 0 w 94"/>
                <a:gd name="T5" fmla="*/ 0 h 123"/>
                <a:gd name="T6" fmla="*/ 0 w 94"/>
                <a:gd name="T7" fmla="*/ 123 h 123"/>
                <a:gd name="T8" fmla="*/ 94 w 94"/>
                <a:gd name="T9" fmla="*/ 123 h 123"/>
                <a:gd name="T10" fmla="*/ 94 w 94"/>
                <a:gd name="T11" fmla="*/ 123 h 1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4" h="123">
                  <a:moveTo>
                    <a:pt x="94" y="123"/>
                  </a:moveTo>
                  <a:lnTo>
                    <a:pt x="94" y="0"/>
                  </a:lnTo>
                  <a:lnTo>
                    <a:pt x="0" y="0"/>
                  </a:lnTo>
                  <a:lnTo>
                    <a:pt x="0" y="123"/>
                  </a:lnTo>
                  <a:lnTo>
                    <a:pt x="94" y="12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137" name="Freeform 49"/>
            <p:cNvSpPr>
              <a:spLocks/>
            </p:cNvSpPr>
            <p:nvPr/>
          </p:nvSpPr>
          <p:spPr bwMode="auto">
            <a:xfrm>
              <a:off x="1738" y="3408"/>
              <a:ext cx="94" cy="123"/>
            </a:xfrm>
            <a:custGeom>
              <a:avLst/>
              <a:gdLst>
                <a:gd name="T0" fmla="*/ 94 w 94"/>
                <a:gd name="T1" fmla="*/ 123 h 123"/>
                <a:gd name="T2" fmla="*/ 94 w 94"/>
                <a:gd name="T3" fmla="*/ 0 h 123"/>
                <a:gd name="T4" fmla="*/ 0 w 94"/>
                <a:gd name="T5" fmla="*/ 0 h 123"/>
                <a:gd name="T6" fmla="*/ 0 w 94"/>
                <a:gd name="T7" fmla="*/ 123 h 123"/>
                <a:gd name="T8" fmla="*/ 94 w 94"/>
                <a:gd name="T9" fmla="*/ 123 h 123"/>
                <a:gd name="T10" fmla="*/ 94 w 94"/>
                <a:gd name="T11" fmla="*/ 123 h 1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4" h="123">
                  <a:moveTo>
                    <a:pt x="94" y="123"/>
                  </a:moveTo>
                  <a:lnTo>
                    <a:pt x="94" y="0"/>
                  </a:lnTo>
                  <a:lnTo>
                    <a:pt x="0" y="0"/>
                  </a:lnTo>
                  <a:lnTo>
                    <a:pt x="0" y="123"/>
                  </a:lnTo>
                  <a:lnTo>
                    <a:pt x="94" y="123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138" name="Freeform 50"/>
            <p:cNvSpPr>
              <a:spLocks/>
            </p:cNvSpPr>
            <p:nvPr/>
          </p:nvSpPr>
          <p:spPr bwMode="auto">
            <a:xfrm>
              <a:off x="1832" y="3654"/>
              <a:ext cx="916" cy="124"/>
            </a:xfrm>
            <a:custGeom>
              <a:avLst/>
              <a:gdLst>
                <a:gd name="T0" fmla="*/ 913 w 916"/>
                <a:gd name="T1" fmla="*/ 124 h 124"/>
                <a:gd name="T2" fmla="*/ 916 w 916"/>
                <a:gd name="T3" fmla="*/ 0 h 124"/>
                <a:gd name="T4" fmla="*/ 0 w 916"/>
                <a:gd name="T5" fmla="*/ 0 h 124"/>
                <a:gd name="T6" fmla="*/ 0 w 916"/>
                <a:gd name="T7" fmla="*/ 124 h 124"/>
                <a:gd name="T8" fmla="*/ 916 w 916"/>
                <a:gd name="T9" fmla="*/ 124 h 124"/>
                <a:gd name="T10" fmla="*/ 916 w 916"/>
                <a:gd name="T11" fmla="*/ 124 h 124"/>
                <a:gd name="T12" fmla="*/ 913 w 916"/>
                <a:gd name="T13" fmla="*/ 124 h 1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16" h="124">
                  <a:moveTo>
                    <a:pt x="913" y="124"/>
                  </a:moveTo>
                  <a:lnTo>
                    <a:pt x="916" y="0"/>
                  </a:lnTo>
                  <a:lnTo>
                    <a:pt x="0" y="0"/>
                  </a:lnTo>
                  <a:lnTo>
                    <a:pt x="0" y="124"/>
                  </a:lnTo>
                  <a:lnTo>
                    <a:pt x="916" y="124"/>
                  </a:lnTo>
                  <a:lnTo>
                    <a:pt x="913" y="124"/>
                  </a:lnTo>
                  <a:close/>
                </a:path>
              </a:pathLst>
            </a:custGeom>
            <a:solidFill>
              <a:srgbClr val="CCCC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139" name="Freeform 51"/>
            <p:cNvSpPr>
              <a:spLocks/>
            </p:cNvSpPr>
            <p:nvPr/>
          </p:nvSpPr>
          <p:spPr bwMode="auto">
            <a:xfrm>
              <a:off x="1832" y="3654"/>
              <a:ext cx="916" cy="124"/>
            </a:xfrm>
            <a:custGeom>
              <a:avLst/>
              <a:gdLst>
                <a:gd name="T0" fmla="*/ 913 w 916"/>
                <a:gd name="T1" fmla="*/ 124 h 124"/>
                <a:gd name="T2" fmla="*/ 916 w 916"/>
                <a:gd name="T3" fmla="*/ 0 h 124"/>
                <a:gd name="T4" fmla="*/ 0 w 916"/>
                <a:gd name="T5" fmla="*/ 0 h 124"/>
                <a:gd name="T6" fmla="*/ 0 w 916"/>
                <a:gd name="T7" fmla="*/ 124 h 124"/>
                <a:gd name="T8" fmla="*/ 916 w 916"/>
                <a:gd name="T9" fmla="*/ 124 h 124"/>
                <a:gd name="T10" fmla="*/ 916 w 916"/>
                <a:gd name="T11" fmla="*/ 124 h 1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16" h="124">
                  <a:moveTo>
                    <a:pt x="913" y="124"/>
                  </a:moveTo>
                  <a:lnTo>
                    <a:pt x="916" y="0"/>
                  </a:lnTo>
                  <a:lnTo>
                    <a:pt x="0" y="0"/>
                  </a:lnTo>
                  <a:lnTo>
                    <a:pt x="0" y="124"/>
                  </a:lnTo>
                  <a:lnTo>
                    <a:pt x="916" y="124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140" name="Freeform 52"/>
            <p:cNvSpPr>
              <a:spLocks/>
            </p:cNvSpPr>
            <p:nvPr/>
          </p:nvSpPr>
          <p:spPr bwMode="auto">
            <a:xfrm>
              <a:off x="1738" y="3654"/>
              <a:ext cx="94" cy="124"/>
            </a:xfrm>
            <a:custGeom>
              <a:avLst/>
              <a:gdLst>
                <a:gd name="T0" fmla="*/ 94 w 94"/>
                <a:gd name="T1" fmla="*/ 124 h 124"/>
                <a:gd name="T2" fmla="*/ 94 w 94"/>
                <a:gd name="T3" fmla="*/ 0 h 124"/>
                <a:gd name="T4" fmla="*/ 0 w 94"/>
                <a:gd name="T5" fmla="*/ 0 h 124"/>
                <a:gd name="T6" fmla="*/ 0 w 94"/>
                <a:gd name="T7" fmla="*/ 124 h 124"/>
                <a:gd name="T8" fmla="*/ 94 w 94"/>
                <a:gd name="T9" fmla="*/ 124 h 124"/>
                <a:gd name="T10" fmla="*/ 94 w 94"/>
                <a:gd name="T11" fmla="*/ 124 h 1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4" h="124">
                  <a:moveTo>
                    <a:pt x="94" y="124"/>
                  </a:moveTo>
                  <a:lnTo>
                    <a:pt x="94" y="0"/>
                  </a:lnTo>
                  <a:lnTo>
                    <a:pt x="0" y="0"/>
                  </a:lnTo>
                  <a:lnTo>
                    <a:pt x="0" y="124"/>
                  </a:lnTo>
                  <a:lnTo>
                    <a:pt x="94" y="124"/>
                  </a:lnTo>
                  <a:close/>
                </a:path>
              </a:pathLst>
            </a:custGeom>
            <a:solidFill>
              <a:srgbClr val="CCCC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141" name="Freeform 53"/>
            <p:cNvSpPr>
              <a:spLocks/>
            </p:cNvSpPr>
            <p:nvPr/>
          </p:nvSpPr>
          <p:spPr bwMode="auto">
            <a:xfrm>
              <a:off x="1738" y="3654"/>
              <a:ext cx="94" cy="124"/>
            </a:xfrm>
            <a:custGeom>
              <a:avLst/>
              <a:gdLst>
                <a:gd name="T0" fmla="*/ 94 w 94"/>
                <a:gd name="T1" fmla="*/ 124 h 124"/>
                <a:gd name="T2" fmla="*/ 94 w 94"/>
                <a:gd name="T3" fmla="*/ 0 h 124"/>
                <a:gd name="T4" fmla="*/ 0 w 94"/>
                <a:gd name="T5" fmla="*/ 0 h 124"/>
                <a:gd name="T6" fmla="*/ 0 w 94"/>
                <a:gd name="T7" fmla="*/ 124 h 124"/>
                <a:gd name="T8" fmla="*/ 94 w 94"/>
                <a:gd name="T9" fmla="*/ 124 h 124"/>
                <a:gd name="T10" fmla="*/ 94 w 94"/>
                <a:gd name="T11" fmla="*/ 124 h 1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4" h="124">
                  <a:moveTo>
                    <a:pt x="94" y="124"/>
                  </a:moveTo>
                  <a:lnTo>
                    <a:pt x="94" y="0"/>
                  </a:lnTo>
                  <a:lnTo>
                    <a:pt x="0" y="0"/>
                  </a:lnTo>
                  <a:lnTo>
                    <a:pt x="0" y="124"/>
                  </a:lnTo>
                  <a:lnTo>
                    <a:pt x="94" y="124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142" name="Freeform 54"/>
            <p:cNvSpPr>
              <a:spLocks/>
            </p:cNvSpPr>
            <p:nvPr/>
          </p:nvSpPr>
          <p:spPr bwMode="auto">
            <a:xfrm>
              <a:off x="3453" y="3563"/>
              <a:ext cx="1259" cy="826"/>
            </a:xfrm>
            <a:custGeom>
              <a:avLst/>
              <a:gdLst>
                <a:gd name="T0" fmla="*/ 1257 w 1259"/>
                <a:gd name="T1" fmla="*/ 104 h 826"/>
                <a:gd name="T2" fmla="*/ 1249 w 1259"/>
                <a:gd name="T3" fmla="*/ 89 h 826"/>
                <a:gd name="T4" fmla="*/ 1226 w 1259"/>
                <a:gd name="T5" fmla="*/ 72 h 826"/>
                <a:gd name="T6" fmla="*/ 1188 w 1259"/>
                <a:gd name="T7" fmla="*/ 57 h 826"/>
                <a:gd name="T8" fmla="*/ 1137 w 1259"/>
                <a:gd name="T9" fmla="*/ 45 h 826"/>
                <a:gd name="T10" fmla="*/ 1073 w 1259"/>
                <a:gd name="T11" fmla="*/ 32 h 826"/>
                <a:gd name="T12" fmla="*/ 1000 w 1259"/>
                <a:gd name="T13" fmla="*/ 20 h 826"/>
                <a:gd name="T14" fmla="*/ 918 w 1259"/>
                <a:gd name="T15" fmla="*/ 13 h 826"/>
                <a:gd name="T16" fmla="*/ 827 w 1259"/>
                <a:gd name="T17" fmla="*/ 5 h 826"/>
                <a:gd name="T18" fmla="*/ 730 w 1259"/>
                <a:gd name="T19" fmla="*/ 3 h 826"/>
                <a:gd name="T20" fmla="*/ 628 w 1259"/>
                <a:gd name="T21" fmla="*/ 0 h 826"/>
                <a:gd name="T22" fmla="*/ 526 w 1259"/>
                <a:gd name="T23" fmla="*/ 3 h 826"/>
                <a:gd name="T24" fmla="*/ 430 w 1259"/>
                <a:gd name="T25" fmla="*/ 5 h 826"/>
                <a:gd name="T26" fmla="*/ 338 w 1259"/>
                <a:gd name="T27" fmla="*/ 13 h 826"/>
                <a:gd name="T28" fmla="*/ 257 w 1259"/>
                <a:gd name="T29" fmla="*/ 20 h 826"/>
                <a:gd name="T30" fmla="*/ 183 w 1259"/>
                <a:gd name="T31" fmla="*/ 32 h 826"/>
                <a:gd name="T32" fmla="*/ 119 w 1259"/>
                <a:gd name="T33" fmla="*/ 45 h 826"/>
                <a:gd name="T34" fmla="*/ 68 w 1259"/>
                <a:gd name="T35" fmla="*/ 57 h 826"/>
                <a:gd name="T36" fmla="*/ 30 w 1259"/>
                <a:gd name="T37" fmla="*/ 72 h 826"/>
                <a:gd name="T38" fmla="*/ 7 w 1259"/>
                <a:gd name="T39" fmla="*/ 89 h 826"/>
                <a:gd name="T40" fmla="*/ 0 w 1259"/>
                <a:gd name="T41" fmla="*/ 106 h 826"/>
                <a:gd name="T42" fmla="*/ 0 w 1259"/>
                <a:gd name="T43" fmla="*/ 722 h 826"/>
                <a:gd name="T44" fmla="*/ 7 w 1259"/>
                <a:gd name="T45" fmla="*/ 739 h 826"/>
                <a:gd name="T46" fmla="*/ 30 w 1259"/>
                <a:gd name="T47" fmla="*/ 754 h 826"/>
                <a:gd name="T48" fmla="*/ 68 w 1259"/>
                <a:gd name="T49" fmla="*/ 769 h 826"/>
                <a:gd name="T50" fmla="*/ 119 w 1259"/>
                <a:gd name="T51" fmla="*/ 784 h 826"/>
                <a:gd name="T52" fmla="*/ 183 w 1259"/>
                <a:gd name="T53" fmla="*/ 796 h 826"/>
                <a:gd name="T54" fmla="*/ 257 w 1259"/>
                <a:gd name="T55" fmla="*/ 806 h 826"/>
                <a:gd name="T56" fmla="*/ 338 w 1259"/>
                <a:gd name="T57" fmla="*/ 816 h 826"/>
                <a:gd name="T58" fmla="*/ 430 w 1259"/>
                <a:gd name="T59" fmla="*/ 821 h 826"/>
                <a:gd name="T60" fmla="*/ 526 w 1259"/>
                <a:gd name="T61" fmla="*/ 826 h 826"/>
                <a:gd name="T62" fmla="*/ 628 w 1259"/>
                <a:gd name="T63" fmla="*/ 826 h 826"/>
                <a:gd name="T64" fmla="*/ 730 w 1259"/>
                <a:gd name="T65" fmla="*/ 826 h 826"/>
                <a:gd name="T66" fmla="*/ 827 w 1259"/>
                <a:gd name="T67" fmla="*/ 821 h 826"/>
                <a:gd name="T68" fmla="*/ 918 w 1259"/>
                <a:gd name="T69" fmla="*/ 816 h 826"/>
                <a:gd name="T70" fmla="*/ 1000 w 1259"/>
                <a:gd name="T71" fmla="*/ 806 h 826"/>
                <a:gd name="T72" fmla="*/ 1073 w 1259"/>
                <a:gd name="T73" fmla="*/ 796 h 826"/>
                <a:gd name="T74" fmla="*/ 1137 w 1259"/>
                <a:gd name="T75" fmla="*/ 784 h 826"/>
                <a:gd name="T76" fmla="*/ 1188 w 1259"/>
                <a:gd name="T77" fmla="*/ 769 h 826"/>
                <a:gd name="T78" fmla="*/ 1226 w 1259"/>
                <a:gd name="T79" fmla="*/ 754 h 826"/>
                <a:gd name="T80" fmla="*/ 1249 w 1259"/>
                <a:gd name="T81" fmla="*/ 739 h 826"/>
                <a:gd name="T82" fmla="*/ 1259 w 1259"/>
                <a:gd name="T83" fmla="*/ 722 h 826"/>
                <a:gd name="T84" fmla="*/ 1259 w 1259"/>
                <a:gd name="T85" fmla="*/ 106 h 826"/>
                <a:gd name="T86" fmla="*/ 1259 w 1259"/>
                <a:gd name="T87" fmla="*/ 106 h 82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259" h="826">
                  <a:moveTo>
                    <a:pt x="1257" y="104"/>
                  </a:moveTo>
                  <a:lnTo>
                    <a:pt x="1249" y="89"/>
                  </a:lnTo>
                  <a:lnTo>
                    <a:pt x="1226" y="72"/>
                  </a:lnTo>
                  <a:lnTo>
                    <a:pt x="1188" y="57"/>
                  </a:lnTo>
                  <a:lnTo>
                    <a:pt x="1137" y="45"/>
                  </a:lnTo>
                  <a:lnTo>
                    <a:pt x="1073" y="32"/>
                  </a:lnTo>
                  <a:lnTo>
                    <a:pt x="1000" y="20"/>
                  </a:lnTo>
                  <a:lnTo>
                    <a:pt x="918" y="13"/>
                  </a:lnTo>
                  <a:lnTo>
                    <a:pt x="827" y="5"/>
                  </a:lnTo>
                  <a:lnTo>
                    <a:pt x="730" y="3"/>
                  </a:lnTo>
                  <a:lnTo>
                    <a:pt x="628" y="0"/>
                  </a:lnTo>
                  <a:lnTo>
                    <a:pt x="526" y="3"/>
                  </a:lnTo>
                  <a:lnTo>
                    <a:pt x="430" y="5"/>
                  </a:lnTo>
                  <a:lnTo>
                    <a:pt x="338" y="13"/>
                  </a:lnTo>
                  <a:lnTo>
                    <a:pt x="257" y="20"/>
                  </a:lnTo>
                  <a:lnTo>
                    <a:pt x="183" y="32"/>
                  </a:lnTo>
                  <a:lnTo>
                    <a:pt x="119" y="45"/>
                  </a:lnTo>
                  <a:lnTo>
                    <a:pt x="68" y="57"/>
                  </a:lnTo>
                  <a:lnTo>
                    <a:pt x="30" y="72"/>
                  </a:lnTo>
                  <a:lnTo>
                    <a:pt x="7" y="89"/>
                  </a:lnTo>
                  <a:lnTo>
                    <a:pt x="0" y="106"/>
                  </a:lnTo>
                  <a:lnTo>
                    <a:pt x="0" y="722"/>
                  </a:lnTo>
                  <a:lnTo>
                    <a:pt x="7" y="739"/>
                  </a:lnTo>
                  <a:lnTo>
                    <a:pt x="30" y="754"/>
                  </a:lnTo>
                  <a:lnTo>
                    <a:pt x="68" y="769"/>
                  </a:lnTo>
                  <a:lnTo>
                    <a:pt x="119" y="784"/>
                  </a:lnTo>
                  <a:lnTo>
                    <a:pt x="183" y="796"/>
                  </a:lnTo>
                  <a:lnTo>
                    <a:pt x="257" y="806"/>
                  </a:lnTo>
                  <a:lnTo>
                    <a:pt x="338" y="816"/>
                  </a:lnTo>
                  <a:lnTo>
                    <a:pt x="430" y="821"/>
                  </a:lnTo>
                  <a:lnTo>
                    <a:pt x="526" y="826"/>
                  </a:lnTo>
                  <a:lnTo>
                    <a:pt x="628" y="826"/>
                  </a:lnTo>
                  <a:lnTo>
                    <a:pt x="730" y="826"/>
                  </a:lnTo>
                  <a:lnTo>
                    <a:pt x="827" y="821"/>
                  </a:lnTo>
                  <a:lnTo>
                    <a:pt x="918" y="816"/>
                  </a:lnTo>
                  <a:lnTo>
                    <a:pt x="1000" y="806"/>
                  </a:lnTo>
                  <a:lnTo>
                    <a:pt x="1073" y="796"/>
                  </a:lnTo>
                  <a:lnTo>
                    <a:pt x="1137" y="784"/>
                  </a:lnTo>
                  <a:lnTo>
                    <a:pt x="1188" y="769"/>
                  </a:lnTo>
                  <a:lnTo>
                    <a:pt x="1226" y="754"/>
                  </a:lnTo>
                  <a:lnTo>
                    <a:pt x="1249" y="739"/>
                  </a:lnTo>
                  <a:lnTo>
                    <a:pt x="1259" y="722"/>
                  </a:lnTo>
                  <a:lnTo>
                    <a:pt x="1259" y="106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143" name="Rectangle 55"/>
            <p:cNvSpPr>
              <a:spLocks noChangeArrowheads="1"/>
            </p:cNvSpPr>
            <p:nvPr/>
          </p:nvSpPr>
          <p:spPr bwMode="auto">
            <a:xfrm>
              <a:off x="3844" y="2022"/>
              <a:ext cx="53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P</a:t>
              </a:r>
              <a:endParaRPr lang="en-US" sz="1600"/>
            </a:p>
          </p:txBody>
        </p:sp>
        <p:sp>
          <p:nvSpPr>
            <p:cNvPr id="46144" name="Rectangle 56"/>
            <p:cNvSpPr>
              <a:spLocks noChangeArrowheads="1"/>
            </p:cNvSpPr>
            <p:nvPr/>
          </p:nvSpPr>
          <p:spPr bwMode="auto">
            <a:xfrm>
              <a:off x="3900" y="2022"/>
              <a:ext cx="44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h</a:t>
              </a:r>
              <a:endParaRPr lang="en-US" sz="1600"/>
            </a:p>
          </p:txBody>
        </p:sp>
        <p:sp>
          <p:nvSpPr>
            <p:cNvPr id="46145" name="Rectangle 57"/>
            <p:cNvSpPr>
              <a:spLocks noChangeArrowheads="1"/>
            </p:cNvSpPr>
            <p:nvPr/>
          </p:nvSpPr>
          <p:spPr bwMode="auto">
            <a:xfrm>
              <a:off x="3949" y="2022"/>
              <a:ext cx="40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y</a:t>
              </a:r>
              <a:endParaRPr lang="en-US" sz="1600"/>
            </a:p>
          </p:txBody>
        </p:sp>
        <p:sp>
          <p:nvSpPr>
            <p:cNvPr id="46146" name="Rectangle 58"/>
            <p:cNvSpPr>
              <a:spLocks noChangeArrowheads="1"/>
            </p:cNvSpPr>
            <p:nvPr/>
          </p:nvSpPr>
          <p:spPr bwMode="auto">
            <a:xfrm>
              <a:off x="3990" y="2022"/>
              <a:ext cx="40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s</a:t>
              </a:r>
              <a:endParaRPr lang="en-US" sz="1600"/>
            </a:p>
          </p:txBody>
        </p:sp>
        <p:sp>
          <p:nvSpPr>
            <p:cNvPr id="46147" name="Rectangle 59"/>
            <p:cNvSpPr>
              <a:spLocks noChangeArrowheads="1"/>
            </p:cNvSpPr>
            <p:nvPr/>
          </p:nvSpPr>
          <p:spPr bwMode="auto">
            <a:xfrm>
              <a:off x="4033" y="2022"/>
              <a:ext cx="18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i</a:t>
              </a:r>
              <a:endParaRPr lang="en-US" sz="1600"/>
            </a:p>
          </p:txBody>
        </p:sp>
        <p:sp>
          <p:nvSpPr>
            <p:cNvPr id="46148" name="Rectangle 60"/>
            <p:cNvSpPr>
              <a:spLocks noChangeArrowheads="1"/>
            </p:cNvSpPr>
            <p:nvPr/>
          </p:nvSpPr>
          <p:spPr bwMode="auto">
            <a:xfrm>
              <a:off x="4051" y="2022"/>
              <a:ext cx="40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c</a:t>
              </a:r>
              <a:endParaRPr lang="en-US" sz="1600"/>
            </a:p>
          </p:txBody>
        </p:sp>
        <p:sp>
          <p:nvSpPr>
            <p:cNvPr id="46149" name="Rectangle 61"/>
            <p:cNvSpPr>
              <a:spLocks noChangeArrowheads="1"/>
            </p:cNvSpPr>
            <p:nvPr/>
          </p:nvSpPr>
          <p:spPr bwMode="auto">
            <a:xfrm>
              <a:off x="4094" y="2022"/>
              <a:ext cx="44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a</a:t>
              </a:r>
              <a:endParaRPr lang="en-US" sz="1600"/>
            </a:p>
          </p:txBody>
        </p:sp>
        <p:sp>
          <p:nvSpPr>
            <p:cNvPr id="46150" name="Rectangle 62"/>
            <p:cNvSpPr>
              <a:spLocks noChangeArrowheads="1"/>
            </p:cNvSpPr>
            <p:nvPr/>
          </p:nvSpPr>
          <p:spPr bwMode="auto">
            <a:xfrm>
              <a:off x="4140" y="2022"/>
              <a:ext cx="18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l</a:t>
              </a:r>
              <a:endParaRPr lang="en-US" sz="1600"/>
            </a:p>
          </p:txBody>
        </p:sp>
        <p:sp>
          <p:nvSpPr>
            <p:cNvPr id="46151" name="Rectangle 63"/>
            <p:cNvSpPr>
              <a:spLocks noChangeArrowheads="1"/>
            </p:cNvSpPr>
            <p:nvPr/>
          </p:nvSpPr>
          <p:spPr bwMode="auto">
            <a:xfrm>
              <a:off x="4160" y="2022"/>
              <a:ext cx="22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 </a:t>
              </a:r>
              <a:endParaRPr lang="en-US" sz="1600"/>
            </a:p>
          </p:txBody>
        </p:sp>
        <p:sp>
          <p:nvSpPr>
            <p:cNvPr id="46152" name="Rectangle 64"/>
            <p:cNvSpPr>
              <a:spLocks noChangeArrowheads="1"/>
            </p:cNvSpPr>
            <p:nvPr/>
          </p:nvSpPr>
          <p:spPr bwMode="auto">
            <a:xfrm>
              <a:off x="4183" y="2022"/>
              <a:ext cx="67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m</a:t>
              </a:r>
              <a:endParaRPr lang="en-US" sz="1600"/>
            </a:p>
          </p:txBody>
        </p:sp>
        <p:sp>
          <p:nvSpPr>
            <p:cNvPr id="46153" name="Rectangle 65"/>
            <p:cNvSpPr>
              <a:spLocks noChangeArrowheads="1"/>
            </p:cNvSpPr>
            <p:nvPr/>
          </p:nvSpPr>
          <p:spPr bwMode="auto">
            <a:xfrm>
              <a:off x="4254" y="2022"/>
              <a:ext cx="44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e</a:t>
              </a:r>
              <a:endParaRPr lang="en-US" sz="1600"/>
            </a:p>
          </p:txBody>
        </p:sp>
        <p:sp>
          <p:nvSpPr>
            <p:cNvPr id="46154" name="Rectangle 66"/>
            <p:cNvSpPr>
              <a:spLocks noChangeArrowheads="1"/>
            </p:cNvSpPr>
            <p:nvPr/>
          </p:nvSpPr>
          <p:spPr bwMode="auto">
            <a:xfrm>
              <a:off x="4300" y="2022"/>
              <a:ext cx="67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m</a:t>
              </a:r>
              <a:endParaRPr lang="en-US" sz="1600"/>
            </a:p>
          </p:txBody>
        </p:sp>
        <p:sp>
          <p:nvSpPr>
            <p:cNvPr id="46155" name="Rectangle 67"/>
            <p:cNvSpPr>
              <a:spLocks noChangeArrowheads="1"/>
            </p:cNvSpPr>
            <p:nvPr/>
          </p:nvSpPr>
          <p:spPr bwMode="auto">
            <a:xfrm>
              <a:off x="4371" y="2022"/>
              <a:ext cx="44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o</a:t>
              </a:r>
              <a:endParaRPr lang="en-US" sz="1600"/>
            </a:p>
          </p:txBody>
        </p:sp>
        <p:sp>
          <p:nvSpPr>
            <p:cNvPr id="46156" name="Rectangle 68"/>
            <p:cNvSpPr>
              <a:spLocks noChangeArrowheads="1"/>
            </p:cNvSpPr>
            <p:nvPr/>
          </p:nvSpPr>
          <p:spPr bwMode="auto">
            <a:xfrm>
              <a:off x="4420" y="2022"/>
              <a:ext cx="27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r</a:t>
              </a:r>
              <a:endParaRPr lang="en-US" sz="1600"/>
            </a:p>
          </p:txBody>
        </p:sp>
        <p:sp>
          <p:nvSpPr>
            <p:cNvPr id="46157" name="Rectangle 69"/>
            <p:cNvSpPr>
              <a:spLocks noChangeArrowheads="1"/>
            </p:cNvSpPr>
            <p:nvPr/>
          </p:nvSpPr>
          <p:spPr bwMode="auto">
            <a:xfrm>
              <a:off x="4448" y="2022"/>
              <a:ext cx="40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y</a:t>
              </a:r>
              <a:endParaRPr lang="en-US" sz="1600"/>
            </a:p>
          </p:txBody>
        </p:sp>
        <p:sp>
          <p:nvSpPr>
            <p:cNvPr id="46158" name="Freeform 70"/>
            <p:cNvSpPr>
              <a:spLocks/>
            </p:cNvSpPr>
            <p:nvPr/>
          </p:nvSpPr>
          <p:spPr bwMode="auto">
            <a:xfrm>
              <a:off x="3595" y="2159"/>
              <a:ext cx="1127" cy="123"/>
            </a:xfrm>
            <a:custGeom>
              <a:avLst/>
              <a:gdLst>
                <a:gd name="T0" fmla="*/ 1127 w 1127"/>
                <a:gd name="T1" fmla="*/ 123 h 123"/>
                <a:gd name="T2" fmla="*/ 1127 w 1127"/>
                <a:gd name="T3" fmla="*/ 0 h 123"/>
                <a:gd name="T4" fmla="*/ 0 w 1127"/>
                <a:gd name="T5" fmla="*/ 0 h 123"/>
                <a:gd name="T6" fmla="*/ 0 w 1127"/>
                <a:gd name="T7" fmla="*/ 123 h 123"/>
                <a:gd name="T8" fmla="*/ 1127 w 1127"/>
                <a:gd name="T9" fmla="*/ 123 h 123"/>
                <a:gd name="T10" fmla="*/ 1127 w 1127"/>
                <a:gd name="T11" fmla="*/ 123 h 1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27" h="123">
                  <a:moveTo>
                    <a:pt x="1127" y="123"/>
                  </a:moveTo>
                  <a:lnTo>
                    <a:pt x="1127" y="0"/>
                  </a:lnTo>
                  <a:lnTo>
                    <a:pt x="0" y="0"/>
                  </a:lnTo>
                  <a:lnTo>
                    <a:pt x="0" y="123"/>
                  </a:lnTo>
                  <a:lnTo>
                    <a:pt x="1127" y="123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159" name="Freeform 71"/>
            <p:cNvSpPr>
              <a:spLocks/>
            </p:cNvSpPr>
            <p:nvPr/>
          </p:nvSpPr>
          <p:spPr bwMode="auto">
            <a:xfrm>
              <a:off x="3595" y="2282"/>
              <a:ext cx="1127" cy="123"/>
            </a:xfrm>
            <a:custGeom>
              <a:avLst/>
              <a:gdLst>
                <a:gd name="T0" fmla="*/ 1127 w 1127"/>
                <a:gd name="T1" fmla="*/ 123 h 123"/>
                <a:gd name="T2" fmla="*/ 1127 w 1127"/>
                <a:gd name="T3" fmla="*/ 0 h 123"/>
                <a:gd name="T4" fmla="*/ 0 w 1127"/>
                <a:gd name="T5" fmla="*/ 0 h 123"/>
                <a:gd name="T6" fmla="*/ 0 w 1127"/>
                <a:gd name="T7" fmla="*/ 123 h 123"/>
                <a:gd name="T8" fmla="*/ 1127 w 1127"/>
                <a:gd name="T9" fmla="*/ 123 h 123"/>
                <a:gd name="T10" fmla="*/ 1127 w 1127"/>
                <a:gd name="T11" fmla="*/ 123 h 1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27" h="123">
                  <a:moveTo>
                    <a:pt x="1127" y="123"/>
                  </a:moveTo>
                  <a:lnTo>
                    <a:pt x="1127" y="0"/>
                  </a:lnTo>
                  <a:lnTo>
                    <a:pt x="0" y="0"/>
                  </a:lnTo>
                  <a:lnTo>
                    <a:pt x="0" y="123"/>
                  </a:lnTo>
                  <a:lnTo>
                    <a:pt x="1127" y="123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160" name="Freeform 72"/>
            <p:cNvSpPr>
              <a:spLocks/>
            </p:cNvSpPr>
            <p:nvPr/>
          </p:nvSpPr>
          <p:spPr bwMode="auto">
            <a:xfrm>
              <a:off x="3595" y="2405"/>
              <a:ext cx="1127" cy="124"/>
            </a:xfrm>
            <a:custGeom>
              <a:avLst/>
              <a:gdLst>
                <a:gd name="T0" fmla="*/ 1127 w 1127"/>
                <a:gd name="T1" fmla="*/ 124 h 124"/>
                <a:gd name="T2" fmla="*/ 1127 w 1127"/>
                <a:gd name="T3" fmla="*/ 0 h 124"/>
                <a:gd name="T4" fmla="*/ 0 w 1127"/>
                <a:gd name="T5" fmla="*/ 0 h 124"/>
                <a:gd name="T6" fmla="*/ 0 w 1127"/>
                <a:gd name="T7" fmla="*/ 124 h 124"/>
                <a:gd name="T8" fmla="*/ 1127 w 1127"/>
                <a:gd name="T9" fmla="*/ 124 h 124"/>
                <a:gd name="T10" fmla="*/ 1127 w 1127"/>
                <a:gd name="T11" fmla="*/ 124 h 1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27" h="124">
                  <a:moveTo>
                    <a:pt x="1127" y="124"/>
                  </a:moveTo>
                  <a:lnTo>
                    <a:pt x="1127" y="0"/>
                  </a:lnTo>
                  <a:lnTo>
                    <a:pt x="0" y="0"/>
                  </a:lnTo>
                  <a:lnTo>
                    <a:pt x="0" y="124"/>
                  </a:lnTo>
                  <a:lnTo>
                    <a:pt x="1127" y="124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161" name="Freeform 73"/>
            <p:cNvSpPr>
              <a:spLocks/>
            </p:cNvSpPr>
            <p:nvPr/>
          </p:nvSpPr>
          <p:spPr bwMode="auto">
            <a:xfrm>
              <a:off x="3595" y="2529"/>
              <a:ext cx="1127" cy="123"/>
            </a:xfrm>
            <a:custGeom>
              <a:avLst/>
              <a:gdLst>
                <a:gd name="T0" fmla="*/ 1127 w 1127"/>
                <a:gd name="T1" fmla="*/ 123 h 123"/>
                <a:gd name="T2" fmla="*/ 1127 w 1127"/>
                <a:gd name="T3" fmla="*/ 0 h 123"/>
                <a:gd name="T4" fmla="*/ 0 w 1127"/>
                <a:gd name="T5" fmla="*/ 0 h 123"/>
                <a:gd name="T6" fmla="*/ 0 w 1127"/>
                <a:gd name="T7" fmla="*/ 123 h 123"/>
                <a:gd name="T8" fmla="*/ 1127 w 1127"/>
                <a:gd name="T9" fmla="*/ 123 h 123"/>
                <a:gd name="T10" fmla="*/ 1127 w 1127"/>
                <a:gd name="T11" fmla="*/ 123 h 1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27" h="123">
                  <a:moveTo>
                    <a:pt x="1127" y="123"/>
                  </a:moveTo>
                  <a:lnTo>
                    <a:pt x="1127" y="0"/>
                  </a:lnTo>
                  <a:lnTo>
                    <a:pt x="0" y="0"/>
                  </a:lnTo>
                  <a:lnTo>
                    <a:pt x="0" y="123"/>
                  </a:lnTo>
                  <a:lnTo>
                    <a:pt x="1127" y="123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162" name="Freeform 74"/>
            <p:cNvSpPr>
              <a:spLocks/>
            </p:cNvSpPr>
            <p:nvPr/>
          </p:nvSpPr>
          <p:spPr bwMode="auto">
            <a:xfrm>
              <a:off x="3595" y="2652"/>
              <a:ext cx="1127" cy="123"/>
            </a:xfrm>
            <a:custGeom>
              <a:avLst/>
              <a:gdLst>
                <a:gd name="T0" fmla="*/ 1127 w 1127"/>
                <a:gd name="T1" fmla="*/ 123 h 123"/>
                <a:gd name="T2" fmla="*/ 1127 w 1127"/>
                <a:gd name="T3" fmla="*/ 0 h 123"/>
                <a:gd name="T4" fmla="*/ 0 w 1127"/>
                <a:gd name="T5" fmla="*/ 0 h 123"/>
                <a:gd name="T6" fmla="*/ 0 w 1127"/>
                <a:gd name="T7" fmla="*/ 123 h 123"/>
                <a:gd name="T8" fmla="*/ 1127 w 1127"/>
                <a:gd name="T9" fmla="*/ 123 h 123"/>
                <a:gd name="T10" fmla="*/ 1127 w 1127"/>
                <a:gd name="T11" fmla="*/ 123 h 1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27" h="123">
                  <a:moveTo>
                    <a:pt x="1127" y="123"/>
                  </a:moveTo>
                  <a:lnTo>
                    <a:pt x="1127" y="0"/>
                  </a:lnTo>
                  <a:lnTo>
                    <a:pt x="0" y="0"/>
                  </a:lnTo>
                  <a:lnTo>
                    <a:pt x="0" y="123"/>
                  </a:lnTo>
                  <a:lnTo>
                    <a:pt x="1127" y="123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163" name="Freeform 75"/>
            <p:cNvSpPr>
              <a:spLocks/>
            </p:cNvSpPr>
            <p:nvPr/>
          </p:nvSpPr>
          <p:spPr bwMode="auto">
            <a:xfrm>
              <a:off x="3595" y="2775"/>
              <a:ext cx="1127" cy="123"/>
            </a:xfrm>
            <a:custGeom>
              <a:avLst/>
              <a:gdLst>
                <a:gd name="T0" fmla="*/ 1127 w 1127"/>
                <a:gd name="T1" fmla="*/ 123 h 123"/>
                <a:gd name="T2" fmla="*/ 1127 w 1127"/>
                <a:gd name="T3" fmla="*/ 0 h 123"/>
                <a:gd name="T4" fmla="*/ 0 w 1127"/>
                <a:gd name="T5" fmla="*/ 0 h 123"/>
                <a:gd name="T6" fmla="*/ 0 w 1127"/>
                <a:gd name="T7" fmla="*/ 123 h 123"/>
                <a:gd name="T8" fmla="*/ 1127 w 1127"/>
                <a:gd name="T9" fmla="*/ 123 h 123"/>
                <a:gd name="T10" fmla="*/ 1127 w 1127"/>
                <a:gd name="T11" fmla="*/ 123 h 1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27" h="123">
                  <a:moveTo>
                    <a:pt x="1127" y="123"/>
                  </a:moveTo>
                  <a:lnTo>
                    <a:pt x="1127" y="0"/>
                  </a:lnTo>
                  <a:lnTo>
                    <a:pt x="0" y="0"/>
                  </a:lnTo>
                  <a:lnTo>
                    <a:pt x="0" y="123"/>
                  </a:lnTo>
                  <a:lnTo>
                    <a:pt x="1127" y="123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164" name="Freeform 76"/>
            <p:cNvSpPr>
              <a:spLocks/>
            </p:cNvSpPr>
            <p:nvPr/>
          </p:nvSpPr>
          <p:spPr bwMode="auto">
            <a:xfrm>
              <a:off x="3595" y="2898"/>
              <a:ext cx="1127" cy="123"/>
            </a:xfrm>
            <a:custGeom>
              <a:avLst/>
              <a:gdLst>
                <a:gd name="T0" fmla="*/ 1127 w 1127"/>
                <a:gd name="T1" fmla="*/ 123 h 123"/>
                <a:gd name="T2" fmla="*/ 1127 w 1127"/>
                <a:gd name="T3" fmla="*/ 0 h 123"/>
                <a:gd name="T4" fmla="*/ 0 w 1127"/>
                <a:gd name="T5" fmla="*/ 0 h 123"/>
                <a:gd name="T6" fmla="*/ 0 w 1127"/>
                <a:gd name="T7" fmla="*/ 123 h 123"/>
                <a:gd name="T8" fmla="*/ 1127 w 1127"/>
                <a:gd name="T9" fmla="*/ 123 h 123"/>
                <a:gd name="T10" fmla="*/ 1127 w 1127"/>
                <a:gd name="T11" fmla="*/ 123 h 1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27" h="123">
                  <a:moveTo>
                    <a:pt x="1127" y="123"/>
                  </a:moveTo>
                  <a:lnTo>
                    <a:pt x="1127" y="0"/>
                  </a:lnTo>
                  <a:lnTo>
                    <a:pt x="0" y="0"/>
                  </a:lnTo>
                  <a:lnTo>
                    <a:pt x="0" y="123"/>
                  </a:lnTo>
                  <a:lnTo>
                    <a:pt x="1127" y="123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165" name="Freeform 77"/>
            <p:cNvSpPr>
              <a:spLocks/>
            </p:cNvSpPr>
            <p:nvPr/>
          </p:nvSpPr>
          <p:spPr bwMode="auto">
            <a:xfrm>
              <a:off x="3595" y="3021"/>
              <a:ext cx="1127" cy="124"/>
            </a:xfrm>
            <a:custGeom>
              <a:avLst/>
              <a:gdLst>
                <a:gd name="T0" fmla="*/ 1127 w 1127"/>
                <a:gd name="T1" fmla="*/ 124 h 124"/>
                <a:gd name="T2" fmla="*/ 1127 w 1127"/>
                <a:gd name="T3" fmla="*/ 0 h 124"/>
                <a:gd name="T4" fmla="*/ 0 w 1127"/>
                <a:gd name="T5" fmla="*/ 0 h 124"/>
                <a:gd name="T6" fmla="*/ 0 w 1127"/>
                <a:gd name="T7" fmla="*/ 124 h 124"/>
                <a:gd name="T8" fmla="*/ 1127 w 1127"/>
                <a:gd name="T9" fmla="*/ 124 h 124"/>
                <a:gd name="T10" fmla="*/ 1127 w 1127"/>
                <a:gd name="T11" fmla="*/ 124 h 1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27" h="124">
                  <a:moveTo>
                    <a:pt x="1127" y="124"/>
                  </a:moveTo>
                  <a:lnTo>
                    <a:pt x="1127" y="0"/>
                  </a:lnTo>
                  <a:lnTo>
                    <a:pt x="0" y="0"/>
                  </a:lnTo>
                  <a:lnTo>
                    <a:pt x="0" y="124"/>
                  </a:lnTo>
                  <a:lnTo>
                    <a:pt x="1127" y="124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166" name="Freeform 78"/>
            <p:cNvSpPr>
              <a:spLocks/>
            </p:cNvSpPr>
            <p:nvPr/>
          </p:nvSpPr>
          <p:spPr bwMode="auto">
            <a:xfrm>
              <a:off x="3595" y="3145"/>
              <a:ext cx="1127" cy="123"/>
            </a:xfrm>
            <a:custGeom>
              <a:avLst/>
              <a:gdLst>
                <a:gd name="T0" fmla="*/ 1127 w 1127"/>
                <a:gd name="T1" fmla="*/ 123 h 123"/>
                <a:gd name="T2" fmla="*/ 1127 w 1127"/>
                <a:gd name="T3" fmla="*/ 0 h 123"/>
                <a:gd name="T4" fmla="*/ 0 w 1127"/>
                <a:gd name="T5" fmla="*/ 0 h 123"/>
                <a:gd name="T6" fmla="*/ 0 w 1127"/>
                <a:gd name="T7" fmla="*/ 123 h 123"/>
                <a:gd name="T8" fmla="*/ 1127 w 1127"/>
                <a:gd name="T9" fmla="*/ 123 h 123"/>
                <a:gd name="T10" fmla="*/ 1127 w 1127"/>
                <a:gd name="T11" fmla="*/ 123 h 1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27" h="123">
                  <a:moveTo>
                    <a:pt x="1127" y="123"/>
                  </a:moveTo>
                  <a:lnTo>
                    <a:pt x="1127" y="0"/>
                  </a:lnTo>
                  <a:lnTo>
                    <a:pt x="0" y="0"/>
                  </a:lnTo>
                  <a:lnTo>
                    <a:pt x="0" y="123"/>
                  </a:lnTo>
                  <a:lnTo>
                    <a:pt x="1127" y="123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167" name="Freeform 79"/>
            <p:cNvSpPr>
              <a:spLocks/>
            </p:cNvSpPr>
            <p:nvPr/>
          </p:nvSpPr>
          <p:spPr bwMode="auto">
            <a:xfrm>
              <a:off x="3537" y="3827"/>
              <a:ext cx="1127" cy="123"/>
            </a:xfrm>
            <a:custGeom>
              <a:avLst/>
              <a:gdLst>
                <a:gd name="T0" fmla="*/ 1127 w 1127"/>
                <a:gd name="T1" fmla="*/ 121 h 123"/>
                <a:gd name="T2" fmla="*/ 1127 w 1127"/>
                <a:gd name="T3" fmla="*/ 0 h 123"/>
                <a:gd name="T4" fmla="*/ 0 w 1127"/>
                <a:gd name="T5" fmla="*/ 0 h 123"/>
                <a:gd name="T6" fmla="*/ 0 w 1127"/>
                <a:gd name="T7" fmla="*/ 123 h 123"/>
                <a:gd name="T8" fmla="*/ 1127 w 1127"/>
                <a:gd name="T9" fmla="*/ 123 h 123"/>
                <a:gd name="T10" fmla="*/ 1127 w 1127"/>
                <a:gd name="T11" fmla="*/ 123 h 123"/>
                <a:gd name="T12" fmla="*/ 1127 w 1127"/>
                <a:gd name="T13" fmla="*/ 121 h 1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27" h="123">
                  <a:moveTo>
                    <a:pt x="1127" y="121"/>
                  </a:moveTo>
                  <a:lnTo>
                    <a:pt x="1127" y="0"/>
                  </a:lnTo>
                  <a:lnTo>
                    <a:pt x="0" y="0"/>
                  </a:lnTo>
                  <a:lnTo>
                    <a:pt x="0" y="123"/>
                  </a:lnTo>
                  <a:lnTo>
                    <a:pt x="1127" y="123"/>
                  </a:lnTo>
                  <a:lnTo>
                    <a:pt x="1127" y="121"/>
                  </a:lnTo>
                  <a:close/>
                </a:path>
              </a:pathLst>
            </a:custGeom>
            <a:solidFill>
              <a:srgbClr val="CCCC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168" name="Freeform 80"/>
            <p:cNvSpPr>
              <a:spLocks/>
            </p:cNvSpPr>
            <p:nvPr/>
          </p:nvSpPr>
          <p:spPr bwMode="auto">
            <a:xfrm>
              <a:off x="3537" y="3827"/>
              <a:ext cx="1127" cy="123"/>
            </a:xfrm>
            <a:custGeom>
              <a:avLst/>
              <a:gdLst>
                <a:gd name="T0" fmla="*/ 1127 w 1127"/>
                <a:gd name="T1" fmla="*/ 121 h 123"/>
                <a:gd name="T2" fmla="*/ 1127 w 1127"/>
                <a:gd name="T3" fmla="*/ 0 h 123"/>
                <a:gd name="T4" fmla="*/ 0 w 1127"/>
                <a:gd name="T5" fmla="*/ 0 h 123"/>
                <a:gd name="T6" fmla="*/ 0 w 1127"/>
                <a:gd name="T7" fmla="*/ 123 h 123"/>
                <a:gd name="T8" fmla="*/ 1127 w 1127"/>
                <a:gd name="T9" fmla="*/ 123 h 123"/>
                <a:gd name="T10" fmla="*/ 1127 w 1127"/>
                <a:gd name="T11" fmla="*/ 123 h 1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27" h="123">
                  <a:moveTo>
                    <a:pt x="1127" y="121"/>
                  </a:moveTo>
                  <a:lnTo>
                    <a:pt x="1127" y="0"/>
                  </a:lnTo>
                  <a:lnTo>
                    <a:pt x="0" y="0"/>
                  </a:lnTo>
                  <a:lnTo>
                    <a:pt x="0" y="123"/>
                  </a:lnTo>
                  <a:lnTo>
                    <a:pt x="1127" y="123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169" name="Freeform 81"/>
            <p:cNvSpPr>
              <a:spLocks/>
            </p:cNvSpPr>
            <p:nvPr/>
          </p:nvSpPr>
          <p:spPr bwMode="auto">
            <a:xfrm>
              <a:off x="3537" y="3990"/>
              <a:ext cx="1127" cy="123"/>
            </a:xfrm>
            <a:custGeom>
              <a:avLst/>
              <a:gdLst>
                <a:gd name="T0" fmla="*/ 1127 w 1127"/>
                <a:gd name="T1" fmla="*/ 123 h 123"/>
                <a:gd name="T2" fmla="*/ 1127 w 1127"/>
                <a:gd name="T3" fmla="*/ 0 h 123"/>
                <a:gd name="T4" fmla="*/ 0 w 1127"/>
                <a:gd name="T5" fmla="*/ 0 h 123"/>
                <a:gd name="T6" fmla="*/ 0 w 1127"/>
                <a:gd name="T7" fmla="*/ 123 h 123"/>
                <a:gd name="T8" fmla="*/ 1127 w 1127"/>
                <a:gd name="T9" fmla="*/ 123 h 123"/>
                <a:gd name="T10" fmla="*/ 1127 w 1127"/>
                <a:gd name="T11" fmla="*/ 123 h 1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27" h="123">
                  <a:moveTo>
                    <a:pt x="1127" y="123"/>
                  </a:moveTo>
                  <a:lnTo>
                    <a:pt x="1127" y="0"/>
                  </a:lnTo>
                  <a:lnTo>
                    <a:pt x="0" y="0"/>
                  </a:lnTo>
                  <a:lnTo>
                    <a:pt x="0" y="123"/>
                  </a:lnTo>
                  <a:lnTo>
                    <a:pt x="1127" y="123"/>
                  </a:lnTo>
                  <a:close/>
                </a:path>
              </a:pathLst>
            </a:custGeom>
            <a:solidFill>
              <a:srgbClr val="CCCC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170" name="Freeform 82"/>
            <p:cNvSpPr>
              <a:spLocks/>
            </p:cNvSpPr>
            <p:nvPr/>
          </p:nvSpPr>
          <p:spPr bwMode="auto">
            <a:xfrm>
              <a:off x="3537" y="3990"/>
              <a:ext cx="1127" cy="123"/>
            </a:xfrm>
            <a:custGeom>
              <a:avLst/>
              <a:gdLst>
                <a:gd name="T0" fmla="*/ 1127 w 1127"/>
                <a:gd name="T1" fmla="*/ 123 h 123"/>
                <a:gd name="T2" fmla="*/ 1127 w 1127"/>
                <a:gd name="T3" fmla="*/ 0 h 123"/>
                <a:gd name="T4" fmla="*/ 0 w 1127"/>
                <a:gd name="T5" fmla="*/ 0 h 123"/>
                <a:gd name="T6" fmla="*/ 0 w 1127"/>
                <a:gd name="T7" fmla="*/ 123 h 123"/>
                <a:gd name="T8" fmla="*/ 1127 w 1127"/>
                <a:gd name="T9" fmla="*/ 123 h 123"/>
                <a:gd name="T10" fmla="*/ 1127 w 1127"/>
                <a:gd name="T11" fmla="*/ 123 h 1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27" h="123">
                  <a:moveTo>
                    <a:pt x="1127" y="123"/>
                  </a:moveTo>
                  <a:lnTo>
                    <a:pt x="1127" y="0"/>
                  </a:lnTo>
                  <a:lnTo>
                    <a:pt x="0" y="0"/>
                  </a:lnTo>
                  <a:lnTo>
                    <a:pt x="0" y="123"/>
                  </a:lnTo>
                  <a:lnTo>
                    <a:pt x="1127" y="123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171" name="Freeform 83"/>
            <p:cNvSpPr>
              <a:spLocks/>
            </p:cNvSpPr>
            <p:nvPr/>
          </p:nvSpPr>
          <p:spPr bwMode="auto">
            <a:xfrm>
              <a:off x="3537" y="4155"/>
              <a:ext cx="1127" cy="123"/>
            </a:xfrm>
            <a:custGeom>
              <a:avLst/>
              <a:gdLst>
                <a:gd name="T0" fmla="*/ 1127 w 1127"/>
                <a:gd name="T1" fmla="*/ 120 h 123"/>
                <a:gd name="T2" fmla="*/ 1127 w 1127"/>
                <a:gd name="T3" fmla="*/ 0 h 123"/>
                <a:gd name="T4" fmla="*/ 0 w 1127"/>
                <a:gd name="T5" fmla="*/ 0 h 123"/>
                <a:gd name="T6" fmla="*/ 0 w 1127"/>
                <a:gd name="T7" fmla="*/ 123 h 123"/>
                <a:gd name="T8" fmla="*/ 1127 w 1127"/>
                <a:gd name="T9" fmla="*/ 123 h 123"/>
                <a:gd name="T10" fmla="*/ 1127 w 1127"/>
                <a:gd name="T11" fmla="*/ 123 h 123"/>
                <a:gd name="T12" fmla="*/ 1127 w 1127"/>
                <a:gd name="T13" fmla="*/ 120 h 1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27" h="123">
                  <a:moveTo>
                    <a:pt x="1127" y="120"/>
                  </a:moveTo>
                  <a:lnTo>
                    <a:pt x="1127" y="0"/>
                  </a:lnTo>
                  <a:lnTo>
                    <a:pt x="0" y="0"/>
                  </a:lnTo>
                  <a:lnTo>
                    <a:pt x="0" y="123"/>
                  </a:lnTo>
                  <a:lnTo>
                    <a:pt x="1127" y="123"/>
                  </a:lnTo>
                  <a:lnTo>
                    <a:pt x="1127" y="120"/>
                  </a:lnTo>
                  <a:close/>
                </a:path>
              </a:pathLst>
            </a:custGeom>
            <a:solidFill>
              <a:srgbClr val="CCCC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172" name="Freeform 84"/>
            <p:cNvSpPr>
              <a:spLocks/>
            </p:cNvSpPr>
            <p:nvPr/>
          </p:nvSpPr>
          <p:spPr bwMode="auto">
            <a:xfrm>
              <a:off x="3537" y="4155"/>
              <a:ext cx="1127" cy="123"/>
            </a:xfrm>
            <a:custGeom>
              <a:avLst/>
              <a:gdLst>
                <a:gd name="T0" fmla="*/ 1127 w 1127"/>
                <a:gd name="T1" fmla="*/ 120 h 123"/>
                <a:gd name="T2" fmla="*/ 1127 w 1127"/>
                <a:gd name="T3" fmla="*/ 0 h 123"/>
                <a:gd name="T4" fmla="*/ 0 w 1127"/>
                <a:gd name="T5" fmla="*/ 0 h 123"/>
                <a:gd name="T6" fmla="*/ 0 w 1127"/>
                <a:gd name="T7" fmla="*/ 123 h 123"/>
                <a:gd name="T8" fmla="*/ 1127 w 1127"/>
                <a:gd name="T9" fmla="*/ 123 h 123"/>
                <a:gd name="T10" fmla="*/ 1127 w 1127"/>
                <a:gd name="T11" fmla="*/ 123 h 1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27" h="123">
                  <a:moveTo>
                    <a:pt x="1127" y="120"/>
                  </a:moveTo>
                  <a:lnTo>
                    <a:pt x="1127" y="0"/>
                  </a:lnTo>
                  <a:lnTo>
                    <a:pt x="0" y="0"/>
                  </a:lnTo>
                  <a:lnTo>
                    <a:pt x="0" y="123"/>
                  </a:lnTo>
                  <a:lnTo>
                    <a:pt x="1127" y="123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173" name="Freeform 85"/>
            <p:cNvSpPr>
              <a:spLocks/>
            </p:cNvSpPr>
            <p:nvPr/>
          </p:nvSpPr>
          <p:spPr bwMode="auto">
            <a:xfrm>
              <a:off x="3450" y="3667"/>
              <a:ext cx="1262" cy="108"/>
            </a:xfrm>
            <a:custGeom>
              <a:avLst/>
              <a:gdLst>
                <a:gd name="T0" fmla="*/ 0 w 1262"/>
                <a:gd name="T1" fmla="*/ 0 h 108"/>
                <a:gd name="T2" fmla="*/ 10 w 1262"/>
                <a:gd name="T3" fmla="*/ 20 h 108"/>
                <a:gd name="T4" fmla="*/ 33 w 1262"/>
                <a:gd name="T5" fmla="*/ 34 h 108"/>
                <a:gd name="T6" fmla="*/ 71 w 1262"/>
                <a:gd name="T7" fmla="*/ 52 h 108"/>
                <a:gd name="T8" fmla="*/ 122 w 1262"/>
                <a:gd name="T9" fmla="*/ 64 h 108"/>
                <a:gd name="T10" fmla="*/ 186 w 1262"/>
                <a:gd name="T11" fmla="*/ 76 h 108"/>
                <a:gd name="T12" fmla="*/ 260 w 1262"/>
                <a:gd name="T13" fmla="*/ 86 h 108"/>
                <a:gd name="T14" fmla="*/ 341 w 1262"/>
                <a:gd name="T15" fmla="*/ 96 h 108"/>
                <a:gd name="T16" fmla="*/ 433 w 1262"/>
                <a:gd name="T17" fmla="*/ 103 h 108"/>
                <a:gd name="T18" fmla="*/ 529 w 1262"/>
                <a:gd name="T19" fmla="*/ 106 h 108"/>
                <a:gd name="T20" fmla="*/ 631 w 1262"/>
                <a:gd name="T21" fmla="*/ 108 h 108"/>
                <a:gd name="T22" fmla="*/ 733 w 1262"/>
                <a:gd name="T23" fmla="*/ 106 h 108"/>
                <a:gd name="T24" fmla="*/ 830 w 1262"/>
                <a:gd name="T25" fmla="*/ 103 h 108"/>
                <a:gd name="T26" fmla="*/ 921 w 1262"/>
                <a:gd name="T27" fmla="*/ 96 h 108"/>
                <a:gd name="T28" fmla="*/ 1003 w 1262"/>
                <a:gd name="T29" fmla="*/ 86 h 108"/>
                <a:gd name="T30" fmla="*/ 1076 w 1262"/>
                <a:gd name="T31" fmla="*/ 76 h 108"/>
                <a:gd name="T32" fmla="*/ 1140 w 1262"/>
                <a:gd name="T33" fmla="*/ 64 h 108"/>
                <a:gd name="T34" fmla="*/ 1191 w 1262"/>
                <a:gd name="T35" fmla="*/ 52 h 108"/>
                <a:gd name="T36" fmla="*/ 1229 w 1262"/>
                <a:gd name="T37" fmla="*/ 34 h 108"/>
                <a:gd name="T38" fmla="*/ 1252 w 1262"/>
                <a:gd name="T39" fmla="*/ 20 h 108"/>
                <a:gd name="T40" fmla="*/ 1262 w 1262"/>
                <a:gd name="T41" fmla="*/ 2 h 108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262" h="108">
                  <a:moveTo>
                    <a:pt x="0" y="0"/>
                  </a:moveTo>
                  <a:lnTo>
                    <a:pt x="10" y="20"/>
                  </a:lnTo>
                  <a:lnTo>
                    <a:pt x="33" y="34"/>
                  </a:lnTo>
                  <a:lnTo>
                    <a:pt x="71" y="52"/>
                  </a:lnTo>
                  <a:lnTo>
                    <a:pt x="122" y="64"/>
                  </a:lnTo>
                  <a:lnTo>
                    <a:pt x="186" y="76"/>
                  </a:lnTo>
                  <a:lnTo>
                    <a:pt x="260" y="86"/>
                  </a:lnTo>
                  <a:lnTo>
                    <a:pt x="341" y="96"/>
                  </a:lnTo>
                  <a:lnTo>
                    <a:pt x="433" y="103"/>
                  </a:lnTo>
                  <a:lnTo>
                    <a:pt x="529" y="106"/>
                  </a:lnTo>
                  <a:lnTo>
                    <a:pt x="631" y="108"/>
                  </a:lnTo>
                  <a:lnTo>
                    <a:pt x="733" y="106"/>
                  </a:lnTo>
                  <a:lnTo>
                    <a:pt x="830" y="103"/>
                  </a:lnTo>
                  <a:lnTo>
                    <a:pt x="921" y="96"/>
                  </a:lnTo>
                  <a:lnTo>
                    <a:pt x="1003" y="86"/>
                  </a:lnTo>
                  <a:lnTo>
                    <a:pt x="1076" y="76"/>
                  </a:lnTo>
                  <a:lnTo>
                    <a:pt x="1140" y="64"/>
                  </a:lnTo>
                  <a:lnTo>
                    <a:pt x="1191" y="52"/>
                  </a:lnTo>
                  <a:lnTo>
                    <a:pt x="1229" y="34"/>
                  </a:lnTo>
                  <a:lnTo>
                    <a:pt x="1252" y="20"/>
                  </a:lnTo>
                  <a:lnTo>
                    <a:pt x="1262" y="2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174" name="Rectangle 86"/>
            <p:cNvSpPr>
              <a:spLocks noChangeArrowheads="1"/>
            </p:cNvSpPr>
            <p:nvPr/>
          </p:nvSpPr>
          <p:spPr bwMode="auto">
            <a:xfrm>
              <a:off x="3855" y="3431"/>
              <a:ext cx="58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D</a:t>
              </a:r>
              <a:endParaRPr lang="en-US" sz="1600"/>
            </a:p>
          </p:txBody>
        </p:sp>
        <p:sp>
          <p:nvSpPr>
            <p:cNvPr id="46175" name="Rectangle 87"/>
            <p:cNvSpPr>
              <a:spLocks noChangeArrowheads="1"/>
            </p:cNvSpPr>
            <p:nvPr/>
          </p:nvSpPr>
          <p:spPr bwMode="auto">
            <a:xfrm>
              <a:off x="3916" y="3431"/>
              <a:ext cx="18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i</a:t>
              </a:r>
              <a:endParaRPr lang="en-US" sz="1600"/>
            </a:p>
          </p:txBody>
        </p:sp>
        <p:sp>
          <p:nvSpPr>
            <p:cNvPr id="46176" name="Rectangle 88"/>
            <p:cNvSpPr>
              <a:spLocks noChangeArrowheads="1"/>
            </p:cNvSpPr>
            <p:nvPr/>
          </p:nvSpPr>
          <p:spPr bwMode="auto">
            <a:xfrm>
              <a:off x="3936" y="3431"/>
              <a:ext cx="40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s</a:t>
              </a:r>
              <a:endParaRPr lang="en-US" sz="1600"/>
            </a:p>
          </p:txBody>
        </p:sp>
        <p:sp>
          <p:nvSpPr>
            <p:cNvPr id="46177" name="Rectangle 89"/>
            <p:cNvSpPr>
              <a:spLocks noChangeArrowheads="1"/>
            </p:cNvSpPr>
            <p:nvPr/>
          </p:nvSpPr>
          <p:spPr bwMode="auto">
            <a:xfrm>
              <a:off x="3979" y="3431"/>
              <a:ext cx="40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k</a:t>
              </a:r>
              <a:endParaRPr lang="en-US" sz="1600"/>
            </a:p>
          </p:txBody>
        </p:sp>
        <p:sp>
          <p:nvSpPr>
            <p:cNvPr id="46178" name="Rectangle 90"/>
            <p:cNvSpPr>
              <a:spLocks noChangeArrowheads="1"/>
            </p:cNvSpPr>
            <p:nvPr/>
          </p:nvSpPr>
          <p:spPr bwMode="auto">
            <a:xfrm>
              <a:off x="4020" y="3431"/>
              <a:ext cx="22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 </a:t>
              </a:r>
              <a:endParaRPr lang="en-US" sz="1600"/>
            </a:p>
          </p:txBody>
        </p:sp>
        <p:sp>
          <p:nvSpPr>
            <p:cNvPr id="46179" name="Rectangle 91"/>
            <p:cNvSpPr>
              <a:spLocks noChangeArrowheads="1"/>
            </p:cNvSpPr>
            <p:nvPr/>
          </p:nvSpPr>
          <p:spPr bwMode="auto">
            <a:xfrm>
              <a:off x="4043" y="3431"/>
              <a:ext cx="40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s</a:t>
              </a:r>
              <a:endParaRPr lang="en-US" sz="1600"/>
            </a:p>
          </p:txBody>
        </p:sp>
        <p:sp>
          <p:nvSpPr>
            <p:cNvPr id="46180" name="Rectangle 92"/>
            <p:cNvSpPr>
              <a:spLocks noChangeArrowheads="1"/>
            </p:cNvSpPr>
            <p:nvPr/>
          </p:nvSpPr>
          <p:spPr bwMode="auto">
            <a:xfrm>
              <a:off x="4086" y="3431"/>
              <a:ext cx="22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t</a:t>
              </a:r>
              <a:endParaRPr lang="en-US" sz="1600"/>
            </a:p>
          </p:txBody>
        </p:sp>
        <p:sp>
          <p:nvSpPr>
            <p:cNvPr id="46181" name="Rectangle 93"/>
            <p:cNvSpPr>
              <a:spLocks noChangeArrowheads="1"/>
            </p:cNvSpPr>
            <p:nvPr/>
          </p:nvSpPr>
          <p:spPr bwMode="auto">
            <a:xfrm>
              <a:off x="4109" y="3431"/>
              <a:ext cx="44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o</a:t>
              </a:r>
              <a:endParaRPr lang="en-US" sz="1600"/>
            </a:p>
          </p:txBody>
        </p:sp>
        <p:sp>
          <p:nvSpPr>
            <p:cNvPr id="46182" name="Rectangle 94"/>
            <p:cNvSpPr>
              <a:spLocks noChangeArrowheads="1"/>
            </p:cNvSpPr>
            <p:nvPr/>
          </p:nvSpPr>
          <p:spPr bwMode="auto">
            <a:xfrm>
              <a:off x="4157" y="3431"/>
              <a:ext cx="27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r</a:t>
              </a:r>
              <a:endParaRPr lang="en-US" sz="1600"/>
            </a:p>
          </p:txBody>
        </p:sp>
        <p:sp>
          <p:nvSpPr>
            <p:cNvPr id="46183" name="Rectangle 95"/>
            <p:cNvSpPr>
              <a:spLocks noChangeArrowheads="1"/>
            </p:cNvSpPr>
            <p:nvPr/>
          </p:nvSpPr>
          <p:spPr bwMode="auto">
            <a:xfrm>
              <a:off x="4185" y="3431"/>
              <a:ext cx="44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a</a:t>
              </a:r>
              <a:endParaRPr lang="en-US" sz="1600"/>
            </a:p>
          </p:txBody>
        </p:sp>
        <p:sp>
          <p:nvSpPr>
            <p:cNvPr id="46184" name="Rectangle 96"/>
            <p:cNvSpPr>
              <a:spLocks noChangeArrowheads="1"/>
            </p:cNvSpPr>
            <p:nvPr/>
          </p:nvSpPr>
          <p:spPr bwMode="auto">
            <a:xfrm>
              <a:off x="4234" y="3431"/>
              <a:ext cx="44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g</a:t>
              </a:r>
              <a:endParaRPr lang="en-US" sz="1600"/>
            </a:p>
          </p:txBody>
        </p:sp>
        <p:sp>
          <p:nvSpPr>
            <p:cNvPr id="46185" name="Rectangle 97"/>
            <p:cNvSpPr>
              <a:spLocks noChangeArrowheads="1"/>
            </p:cNvSpPr>
            <p:nvPr/>
          </p:nvSpPr>
          <p:spPr bwMode="auto">
            <a:xfrm>
              <a:off x="4280" y="3431"/>
              <a:ext cx="44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e</a:t>
              </a:r>
              <a:endParaRPr lang="en-US" sz="1600"/>
            </a:p>
          </p:txBody>
        </p:sp>
        <p:sp>
          <p:nvSpPr>
            <p:cNvPr id="46186" name="Freeform 98"/>
            <p:cNvSpPr>
              <a:spLocks/>
            </p:cNvSpPr>
            <p:nvPr/>
          </p:nvSpPr>
          <p:spPr bwMode="auto">
            <a:xfrm>
              <a:off x="1832" y="2300"/>
              <a:ext cx="916" cy="123"/>
            </a:xfrm>
            <a:custGeom>
              <a:avLst/>
              <a:gdLst>
                <a:gd name="T0" fmla="*/ 913 w 916"/>
                <a:gd name="T1" fmla="*/ 123 h 123"/>
                <a:gd name="T2" fmla="*/ 916 w 916"/>
                <a:gd name="T3" fmla="*/ 0 h 123"/>
                <a:gd name="T4" fmla="*/ 0 w 916"/>
                <a:gd name="T5" fmla="*/ 0 h 123"/>
                <a:gd name="T6" fmla="*/ 0 w 916"/>
                <a:gd name="T7" fmla="*/ 123 h 123"/>
                <a:gd name="T8" fmla="*/ 916 w 916"/>
                <a:gd name="T9" fmla="*/ 123 h 123"/>
                <a:gd name="T10" fmla="*/ 916 w 916"/>
                <a:gd name="T11" fmla="*/ 123 h 1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16" h="123">
                  <a:moveTo>
                    <a:pt x="913" y="123"/>
                  </a:moveTo>
                  <a:lnTo>
                    <a:pt x="916" y="0"/>
                  </a:lnTo>
                  <a:lnTo>
                    <a:pt x="0" y="0"/>
                  </a:lnTo>
                  <a:lnTo>
                    <a:pt x="0" y="123"/>
                  </a:lnTo>
                  <a:lnTo>
                    <a:pt x="916" y="123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187" name="Rectangle 99"/>
            <p:cNvSpPr>
              <a:spLocks noChangeArrowheads="1"/>
            </p:cNvSpPr>
            <p:nvPr/>
          </p:nvSpPr>
          <p:spPr bwMode="auto">
            <a:xfrm>
              <a:off x="1699" y="2164"/>
              <a:ext cx="53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V</a:t>
              </a:r>
              <a:endParaRPr lang="en-US" sz="1600"/>
            </a:p>
          </p:txBody>
        </p:sp>
        <p:sp>
          <p:nvSpPr>
            <p:cNvPr id="46188" name="Rectangle 100"/>
            <p:cNvSpPr>
              <a:spLocks noChangeArrowheads="1"/>
            </p:cNvSpPr>
            <p:nvPr/>
          </p:nvSpPr>
          <p:spPr bwMode="auto">
            <a:xfrm>
              <a:off x="1755" y="2164"/>
              <a:ext cx="44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a</a:t>
              </a:r>
              <a:endParaRPr lang="en-US" sz="1600"/>
            </a:p>
          </p:txBody>
        </p:sp>
        <p:sp>
          <p:nvSpPr>
            <p:cNvPr id="46189" name="Rectangle 101"/>
            <p:cNvSpPr>
              <a:spLocks noChangeArrowheads="1"/>
            </p:cNvSpPr>
            <p:nvPr/>
          </p:nvSpPr>
          <p:spPr bwMode="auto">
            <a:xfrm>
              <a:off x="1801" y="2164"/>
              <a:ext cx="18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l</a:t>
              </a:r>
              <a:endParaRPr lang="en-US" sz="1600"/>
            </a:p>
          </p:txBody>
        </p:sp>
        <p:sp>
          <p:nvSpPr>
            <p:cNvPr id="46190" name="Rectangle 102"/>
            <p:cNvSpPr>
              <a:spLocks noChangeArrowheads="1"/>
            </p:cNvSpPr>
            <p:nvPr/>
          </p:nvSpPr>
          <p:spPr bwMode="auto">
            <a:xfrm>
              <a:off x="1822" y="2164"/>
              <a:ext cx="18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i</a:t>
              </a:r>
              <a:endParaRPr lang="en-US" sz="1600"/>
            </a:p>
          </p:txBody>
        </p:sp>
        <p:sp>
          <p:nvSpPr>
            <p:cNvPr id="46191" name="Rectangle 103"/>
            <p:cNvSpPr>
              <a:spLocks noChangeArrowheads="1"/>
            </p:cNvSpPr>
            <p:nvPr/>
          </p:nvSpPr>
          <p:spPr bwMode="auto">
            <a:xfrm>
              <a:off x="1839" y="2164"/>
              <a:ext cx="44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d</a:t>
              </a:r>
              <a:endParaRPr lang="en-US" sz="1600"/>
            </a:p>
          </p:txBody>
        </p:sp>
        <p:sp>
          <p:nvSpPr>
            <p:cNvPr id="46192" name="Freeform 104"/>
            <p:cNvSpPr>
              <a:spLocks/>
            </p:cNvSpPr>
            <p:nvPr/>
          </p:nvSpPr>
          <p:spPr bwMode="auto">
            <a:xfrm>
              <a:off x="1738" y="2300"/>
              <a:ext cx="94" cy="123"/>
            </a:xfrm>
            <a:custGeom>
              <a:avLst/>
              <a:gdLst>
                <a:gd name="T0" fmla="*/ 94 w 94"/>
                <a:gd name="T1" fmla="*/ 123 h 123"/>
                <a:gd name="T2" fmla="*/ 94 w 94"/>
                <a:gd name="T3" fmla="*/ 0 h 123"/>
                <a:gd name="T4" fmla="*/ 0 w 94"/>
                <a:gd name="T5" fmla="*/ 0 h 123"/>
                <a:gd name="T6" fmla="*/ 0 w 94"/>
                <a:gd name="T7" fmla="*/ 123 h 123"/>
                <a:gd name="T8" fmla="*/ 94 w 94"/>
                <a:gd name="T9" fmla="*/ 123 h 123"/>
                <a:gd name="T10" fmla="*/ 94 w 94"/>
                <a:gd name="T11" fmla="*/ 123 h 1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4" h="123">
                  <a:moveTo>
                    <a:pt x="94" y="123"/>
                  </a:moveTo>
                  <a:lnTo>
                    <a:pt x="94" y="0"/>
                  </a:lnTo>
                  <a:lnTo>
                    <a:pt x="0" y="0"/>
                  </a:lnTo>
                  <a:lnTo>
                    <a:pt x="0" y="123"/>
                  </a:lnTo>
                  <a:lnTo>
                    <a:pt x="94" y="123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193" name="Rectangle 105"/>
            <p:cNvSpPr>
              <a:spLocks noChangeArrowheads="1"/>
            </p:cNvSpPr>
            <p:nvPr/>
          </p:nvSpPr>
          <p:spPr bwMode="auto">
            <a:xfrm>
              <a:off x="1760" y="2435"/>
              <a:ext cx="44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1</a:t>
              </a:r>
              <a:endParaRPr lang="en-US" sz="1600"/>
            </a:p>
          </p:txBody>
        </p:sp>
        <p:sp>
          <p:nvSpPr>
            <p:cNvPr id="46194" name="Rectangle 106"/>
            <p:cNvSpPr>
              <a:spLocks noChangeArrowheads="1"/>
            </p:cNvSpPr>
            <p:nvPr/>
          </p:nvSpPr>
          <p:spPr bwMode="auto">
            <a:xfrm>
              <a:off x="1760" y="2559"/>
              <a:ext cx="44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1</a:t>
              </a:r>
              <a:endParaRPr lang="en-US" sz="1600"/>
            </a:p>
          </p:txBody>
        </p:sp>
        <p:sp>
          <p:nvSpPr>
            <p:cNvPr id="46195" name="Rectangle 107"/>
            <p:cNvSpPr>
              <a:spLocks noChangeArrowheads="1"/>
            </p:cNvSpPr>
            <p:nvPr/>
          </p:nvSpPr>
          <p:spPr bwMode="auto">
            <a:xfrm>
              <a:off x="1760" y="2682"/>
              <a:ext cx="44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1</a:t>
              </a:r>
              <a:endParaRPr lang="en-US" sz="1600"/>
            </a:p>
          </p:txBody>
        </p:sp>
        <p:sp>
          <p:nvSpPr>
            <p:cNvPr id="46196" name="Rectangle 108"/>
            <p:cNvSpPr>
              <a:spLocks noChangeArrowheads="1"/>
            </p:cNvSpPr>
            <p:nvPr/>
          </p:nvSpPr>
          <p:spPr bwMode="auto">
            <a:xfrm>
              <a:off x="1760" y="2805"/>
              <a:ext cx="44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1</a:t>
              </a:r>
              <a:endParaRPr lang="en-US" sz="1600"/>
            </a:p>
          </p:txBody>
        </p:sp>
        <p:sp>
          <p:nvSpPr>
            <p:cNvPr id="46197" name="Rectangle 109"/>
            <p:cNvSpPr>
              <a:spLocks noChangeArrowheads="1"/>
            </p:cNvSpPr>
            <p:nvPr/>
          </p:nvSpPr>
          <p:spPr bwMode="auto">
            <a:xfrm>
              <a:off x="1760" y="2928"/>
              <a:ext cx="44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0</a:t>
              </a:r>
              <a:endParaRPr lang="en-US" sz="1600"/>
            </a:p>
          </p:txBody>
        </p:sp>
        <p:sp>
          <p:nvSpPr>
            <p:cNvPr id="46198" name="Rectangle 110"/>
            <p:cNvSpPr>
              <a:spLocks noChangeArrowheads="1"/>
            </p:cNvSpPr>
            <p:nvPr/>
          </p:nvSpPr>
          <p:spPr bwMode="auto">
            <a:xfrm>
              <a:off x="1760" y="3051"/>
              <a:ext cx="44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1</a:t>
              </a:r>
              <a:endParaRPr lang="en-US" sz="1600"/>
            </a:p>
          </p:txBody>
        </p:sp>
        <p:sp>
          <p:nvSpPr>
            <p:cNvPr id="46199" name="Rectangle 111"/>
            <p:cNvSpPr>
              <a:spLocks noChangeArrowheads="1"/>
            </p:cNvSpPr>
            <p:nvPr/>
          </p:nvSpPr>
          <p:spPr bwMode="auto">
            <a:xfrm>
              <a:off x="1760" y="3174"/>
              <a:ext cx="44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1</a:t>
              </a:r>
              <a:endParaRPr lang="en-US" sz="1600"/>
            </a:p>
          </p:txBody>
        </p:sp>
        <p:sp>
          <p:nvSpPr>
            <p:cNvPr id="46200" name="Rectangle 112"/>
            <p:cNvSpPr>
              <a:spLocks noChangeArrowheads="1"/>
            </p:cNvSpPr>
            <p:nvPr/>
          </p:nvSpPr>
          <p:spPr bwMode="auto">
            <a:xfrm>
              <a:off x="1760" y="3298"/>
              <a:ext cx="44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0</a:t>
              </a:r>
              <a:endParaRPr lang="en-US" sz="1600"/>
            </a:p>
          </p:txBody>
        </p:sp>
        <p:sp>
          <p:nvSpPr>
            <p:cNvPr id="46201" name="Rectangle 113"/>
            <p:cNvSpPr>
              <a:spLocks noChangeArrowheads="1"/>
            </p:cNvSpPr>
            <p:nvPr/>
          </p:nvSpPr>
          <p:spPr bwMode="auto">
            <a:xfrm>
              <a:off x="1760" y="3421"/>
              <a:ext cx="44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1</a:t>
              </a:r>
              <a:endParaRPr lang="en-US" sz="1600"/>
            </a:p>
          </p:txBody>
        </p:sp>
        <p:sp>
          <p:nvSpPr>
            <p:cNvPr id="46202" name="Rectangle 114"/>
            <p:cNvSpPr>
              <a:spLocks noChangeArrowheads="1"/>
            </p:cNvSpPr>
            <p:nvPr/>
          </p:nvSpPr>
          <p:spPr bwMode="auto">
            <a:xfrm>
              <a:off x="1760" y="3544"/>
              <a:ext cx="44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1</a:t>
              </a:r>
              <a:endParaRPr lang="en-US" sz="1600"/>
            </a:p>
          </p:txBody>
        </p:sp>
        <p:sp>
          <p:nvSpPr>
            <p:cNvPr id="46203" name="Rectangle 115"/>
            <p:cNvSpPr>
              <a:spLocks noChangeArrowheads="1"/>
            </p:cNvSpPr>
            <p:nvPr/>
          </p:nvSpPr>
          <p:spPr bwMode="auto">
            <a:xfrm>
              <a:off x="1760" y="3667"/>
              <a:ext cx="44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0</a:t>
              </a:r>
              <a:endParaRPr lang="en-US" sz="1600"/>
            </a:p>
          </p:txBody>
        </p:sp>
        <p:sp>
          <p:nvSpPr>
            <p:cNvPr id="46204" name="Rectangle 116"/>
            <p:cNvSpPr>
              <a:spLocks noChangeArrowheads="1"/>
            </p:cNvSpPr>
            <p:nvPr/>
          </p:nvSpPr>
          <p:spPr bwMode="auto">
            <a:xfrm>
              <a:off x="1760" y="3790"/>
              <a:ext cx="44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1</a:t>
              </a:r>
              <a:endParaRPr lang="en-US" sz="1600"/>
            </a:p>
          </p:txBody>
        </p:sp>
        <p:sp>
          <p:nvSpPr>
            <p:cNvPr id="46205" name="Rectangle 117"/>
            <p:cNvSpPr>
              <a:spLocks noChangeArrowheads="1"/>
            </p:cNvSpPr>
            <p:nvPr/>
          </p:nvSpPr>
          <p:spPr bwMode="auto">
            <a:xfrm>
              <a:off x="2068" y="1955"/>
              <a:ext cx="53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P</a:t>
              </a:r>
              <a:endParaRPr lang="en-US" sz="1600"/>
            </a:p>
          </p:txBody>
        </p:sp>
        <p:sp>
          <p:nvSpPr>
            <p:cNvPr id="46206" name="Rectangle 118"/>
            <p:cNvSpPr>
              <a:spLocks noChangeArrowheads="1"/>
            </p:cNvSpPr>
            <p:nvPr/>
          </p:nvSpPr>
          <p:spPr bwMode="auto">
            <a:xfrm>
              <a:off x="2124" y="1955"/>
              <a:ext cx="44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a</a:t>
              </a:r>
              <a:endParaRPr lang="en-US" sz="1600"/>
            </a:p>
          </p:txBody>
        </p:sp>
        <p:sp>
          <p:nvSpPr>
            <p:cNvPr id="46207" name="Rectangle 119"/>
            <p:cNvSpPr>
              <a:spLocks noChangeArrowheads="1"/>
            </p:cNvSpPr>
            <p:nvPr/>
          </p:nvSpPr>
          <p:spPr bwMode="auto">
            <a:xfrm>
              <a:off x="2170" y="1955"/>
              <a:ext cx="44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g</a:t>
              </a:r>
              <a:endParaRPr lang="en-US" sz="1600"/>
            </a:p>
          </p:txBody>
        </p:sp>
        <p:sp>
          <p:nvSpPr>
            <p:cNvPr id="46208" name="Rectangle 120"/>
            <p:cNvSpPr>
              <a:spLocks noChangeArrowheads="1"/>
            </p:cNvSpPr>
            <p:nvPr/>
          </p:nvSpPr>
          <p:spPr bwMode="auto">
            <a:xfrm>
              <a:off x="2219" y="1955"/>
              <a:ext cx="44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e</a:t>
              </a:r>
              <a:endParaRPr lang="en-US" sz="1600"/>
            </a:p>
          </p:txBody>
        </p:sp>
        <p:sp>
          <p:nvSpPr>
            <p:cNvPr id="46209" name="Rectangle 121"/>
            <p:cNvSpPr>
              <a:spLocks noChangeArrowheads="1"/>
            </p:cNvSpPr>
            <p:nvPr/>
          </p:nvSpPr>
          <p:spPr bwMode="auto">
            <a:xfrm>
              <a:off x="2264" y="1955"/>
              <a:ext cx="22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 </a:t>
              </a:r>
              <a:endParaRPr lang="en-US" sz="1600"/>
            </a:p>
          </p:txBody>
        </p:sp>
        <p:sp>
          <p:nvSpPr>
            <p:cNvPr id="46210" name="Rectangle 122"/>
            <p:cNvSpPr>
              <a:spLocks noChangeArrowheads="1"/>
            </p:cNvSpPr>
            <p:nvPr/>
          </p:nvSpPr>
          <p:spPr bwMode="auto">
            <a:xfrm>
              <a:off x="2290" y="1955"/>
              <a:ext cx="22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t</a:t>
              </a:r>
              <a:endParaRPr lang="en-US" sz="1600"/>
            </a:p>
          </p:txBody>
        </p:sp>
        <p:sp>
          <p:nvSpPr>
            <p:cNvPr id="46211" name="Rectangle 123"/>
            <p:cNvSpPr>
              <a:spLocks noChangeArrowheads="1"/>
            </p:cNvSpPr>
            <p:nvPr/>
          </p:nvSpPr>
          <p:spPr bwMode="auto">
            <a:xfrm>
              <a:off x="2313" y="1955"/>
              <a:ext cx="44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a</a:t>
              </a:r>
              <a:endParaRPr lang="en-US" sz="1600"/>
            </a:p>
          </p:txBody>
        </p:sp>
        <p:sp>
          <p:nvSpPr>
            <p:cNvPr id="46212" name="Rectangle 124"/>
            <p:cNvSpPr>
              <a:spLocks noChangeArrowheads="1"/>
            </p:cNvSpPr>
            <p:nvPr/>
          </p:nvSpPr>
          <p:spPr bwMode="auto">
            <a:xfrm>
              <a:off x="2358" y="1955"/>
              <a:ext cx="44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b</a:t>
              </a:r>
              <a:endParaRPr lang="en-US" sz="1600"/>
            </a:p>
          </p:txBody>
        </p:sp>
        <p:sp>
          <p:nvSpPr>
            <p:cNvPr id="46213" name="Rectangle 125"/>
            <p:cNvSpPr>
              <a:spLocks noChangeArrowheads="1"/>
            </p:cNvSpPr>
            <p:nvPr/>
          </p:nvSpPr>
          <p:spPr bwMode="auto">
            <a:xfrm>
              <a:off x="2407" y="1955"/>
              <a:ext cx="18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l</a:t>
              </a:r>
              <a:endParaRPr lang="en-US" sz="1600"/>
            </a:p>
          </p:txBody>
        </p:sp>
        <p:sp>
          <p:nvSpPr>
            <p:cNvPr id="46214" name="Rectangle 126"/>
            <p:cNvSpPr>
              <a:spLocks noChangeArrowheads="1"/>
            </p:cNvSpPr>
            <p:nvPr/>
          </p:nvSpPr>
          <p:spPr bwMode="auto">
            <a:xfrm>
              <a:off x="2425" y="1955"/>
              <a:ext cx="44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e</a:t>
              </a:r>
              <a:endParaRPr lang="en-US" sz="1600"/>
            </a:p>
          </p:txBody>
        </p:sp>
        <p:sp>
          <p:nvSpPr>
            <p:cNvPr id="46215" name="Freeform 127"/>
            <p:cNvSpPr>
              <a:spLocks/>
            </p:cNvSpPr>
            <p:nvPr/>
          </p:nvSpPr>
          <p:spPr bwMode="auto">
            <a:xfrm>
              <a:off x="2206" y="2465"/>
              <a:ext cx="43" cy="39"/>
            </a:xfrm>
            <a:custGeom>
              <a:avLst/>
              <a:gdLst>
                <a:gd name="T0" fmla="*/ 20 w 43"/>
                <a:gd name="T1" fmla="*/ 39 h 39"/>
                <a:gd name="T2" fmla="*/ 25 w 43"/>
                <a:gd name="T3" fmla="*/ 39 h 39"/>
                <a:gd name="T4" fmla="*/ 28 w 43"/>
                <a:gd name="T5" fmla="*/ 39 h 39"/>
                <a:gd name="T6" fmla="*/ 30 w 43"/>
                <a:gd name="T7" fmla="*/ 37 h 39"/>
                <a:gd name="T8" fmla="*/ 33 w 43"/>
                <a:gd name="T9" fmla="*/ 37 h 39"/>
                <a:gd name="T10" fmla="*/ 35 w 43"/>
                <a:gd name="T11" fmla="*/ 34 h 39"/>
                <a:gd name="T12" fmla="*/ 38 w 43"/>
                <a:gd name="T13" fmla="*/ 32 h 39"/>
                <a:gd name="T14" fmla="*/ 41 w 43"/>
                <a:gd name="T15" fmla="*/ 29 h 39"/>
                <a:gd name="T16" fmla="*/ 41 w 43"/>
                <a:gd name="T17" fmla="*/ 27 h 39"/>
                <a:gd name="T18" fmla="*/ 43 w 43"/>
                <a:gd name="T19" fmla="*/ 22 h 39"/>
                <a:gd name="T20" fmla="*/ 43 w 43"/>
                <a:gd name="T21" fmla="*/ 19 h 39"/>
                <a:gd name="T22" fmla="*/ 43 w 43"/>
                <a:gd name="T23" fmla="*/ 17 h 39"/>
                <a:gd name="T24" fmla="*/ 41 w 43"/>
                <a:gd name="T25" fmla="*/ 12 h 39"/>
                <a:gd name="T26" fmla="*/ 41 w 43"/>
                <a:gd name="T27" fmla="*/ 9 h 39"/>
                <a:gd name="T28" fmla="*/ 38 w 43"/>
                <a:gd name="T29" fmla="*/ 7 h 39"/>
                <a:gd name="T30" fmla="*/ 35 w 43"/>
                <a:gd name="T31" fmla="*/ 5 h 39"/>
                <a:gd name="T32" fmla="*/ 33 w 43"/>
                <a:gd name="T33" fmla="*/ 2 h 39"/>
                <a:gd name="T34" fmla="*/ 30 w 43"/>
                <a:gd name="T35" fmla="*/ 2 h 39"/>
                <a:gd name="T36" fmla="*/ 28 w 43"/>
                <a:gd name="T37" fmla="*/ 0 h 39"/>
                <a:gd name="T38" fmla="*/ 25 w 43"/>
                <a:gd name="T39" fmla="*/ 0 h 39"/>
                <a:gd name="T40" fmla="*/ 23 w 43"/>
                <a:gd name="T41" fmla="*/ 0 h 39"/>
                <a:gd name="T42" fmla="*/ 18 w 43"/>
                <a:gd name="T43" fmla="*/ 0 h 39"/>
                <a:gd name="T44" fmla="*/ 15 w 43"/>
                <a:gd name="T45" fmla="*/ 0 h 39"/>
                <a:gd name="T46" fmla="*/ 13 w 43"/>
                <a:gd name="T47" fmla="*/ 2 h 39"/>
                <a:gd name="T48" fmla="*/ 10 w 43"/>
                <a:gd name="T49" fmla="*/ 2 h 39"/>
                <a:gd name="T50" fmla="*/ 7 w 43"/>
                <a:gd name="T51" fmla="*/ 5 h 39"/>
                <a:gd name="T52" fmla="*/ 5 w 43"/>
                <a:gd name="T53" fmla="*/ 7 h 39"/>
                <a:gd name="T54" fmla="*/ 2 w 43"/>
                <a:gd name="T55" fmla="*/ 9 h 39"/>
                <a:gd name="T56" fmla="*/ 2 w 43"/>
                <a:gd name="T57" fmla="*/ 12 h 39"/>
                <a:gd name="T58" fmla="*/ 0 w 43"/>
                <a:gd name="T59" fmla="*/ 17 h 39"/>
                <a:gd name="T60" fmla="*/ 0 w 43"/>
                <a:gd name="T61" fmla="*/ 19 h 39"/>
                <a:gd name="T62" fmla="*/ 0 w 43"/>
                <a:gd name="T63" fmla="*/ 22 h 39"/>
                <a:gd name="T64" fmla="*/ 2 w 43"/>
                <a:gd name="T65" fmla="*/ 27 h 39"/>
                <a:gd name="T66" fmla="*/ 2 w 43"/>
                <a:gd name="T67" fmla="*/ 29 h 39"/>
                <a:gd name="T68" fmla="*/ 5 w 43"/>
                <a:gd name="T69" fmla="*/ 32 h 39"/>
                <a:gd name="T70" fmla="*/ 7 w 43"/>
                <a:gd name="T71" fmla="*/ 34 h 39"/>
                <a:gd name="T72" fmla="*/ 10 w 43"/>
                <a:gd name="T73" fmla="*/ 37 h 39"/>
                <a:gd name="T74" fmla="*/ 13 w 43"/>
                <a:gd name="T75" fmla="*/ 37 h 39"/>
                <a:gd name="T76" fmla="*/ 15 w 43"/>
                <a:gd name="T77" fmla="*/ 39 h 39"/>
                <a:gd name="T78" fmla="*/ 18 w 43"/>
                <a:gd name="T79" fmla="*/ 39 h 39"/>
                <a:gd name="T80" fmla="*/ 23 w 43"/>
                <a:gd name="T81" fmla="*/ 39 h 39"/>
                <a:gd name="T82" fmla="*/ 23 w 43"/>
                <a:gd name="T83" fmla="*/ 39 h 39"/>
                <a:gd name="T84" fmla="*/ 20 w 43"/>
                <a:gd name="T85" fmla="*/ 39 h 39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43" h="39">
                  <a:moveTo>
                    <a:pt x="20" y="39"/>
                  </a:moveTo>
                  <a:lnTo>
                    <a:pt x="25" y="39"/>
                  </a:lnTo>
                  <a:lnTo>
                    <a:pt x="28" y="39"/>
                  </a:lnTo>
                  <a:lnTo>
                    <a:pt x="30" y="37"/>
                  </a:lnTo>
                  <a:lnTo>
                    <a:pt x="33" y="37"/>
                  </a:lnTo>
                  <a:lnTo>
                    <a:pt x="35" y="34"/>
                  </a:lnTo>
                  <a:lnTo>
                    <a:pt x="38" y="32"/>
                  </a:lnTo>
                  <a:lnTo>
                    <a:pt x="41" y="29"/>
                  </a:lnTo>
                  <a:lnTo>
                    <a:pt x="41" y="27"/>
                  </a:lnTo>
                  <a:lnTo>
                    <a:pt x="43" y="22"/>
                  </a:lnTo>
                  <a:lnTo>
                    <a:pt x="43" y="19"/>
                  </a:lnTo>
                  <a:lnTo>
                    <a:pt x="43" y="17"/>
                  </a:lnTo>
                  <a:lnTo>
                    <a:pt x="41" y="12"/>
                  </a:lnTo>
                  <a:lnTo>
                    <a:pt x="41" y="9"/>
                  </a:lnTo>
                  <a:lnTo>
                    <a:pt x="38" y="7"/>
                  </a:lnTo>
                  <a:lnTo>
                    <a:pt x="35" y="5"/>
                  </a:lnTo>
                  <a:lnTo>
                    <a:pt x="33" y="2"/>
                  </a:lnTo>
                  <a:lnTo>
                    <a:pt x="30" y="2"/>
                  </a:lnTo>
                  <a:lnTo>
                    <a:pt x="28" y="0"/>
                  </a:lnTo>
                  <a:lnTo>
                    <a:pt x="25" y="0"/>
                  </a:lnTo>
                  <a:lnTo>
                    <a:pt x="23" y="0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3" y="2"/>
                  </a:lnTo>
                  <a:lnTo>
                    <a:pt x="10" y="2"/>
                  </a:lnTo>
                  <a:lnTo>
                    <a:pt x="7" y="5"/>
                  </a:lnTo>
                  <a:lnTo>
                    <a:pt x="5" y="7"/>
                  </a:lnTo>
                  <a:lnTo>
                    <a:pt x="2" y="9"/>
                  </a:lnTo>
                  <a:lnTo>
                    <a:pt x="2" y="12"/>
                  </a:lnTo>
                  <a:lnTo>
                    <a:pt x="0" y="17"/>
                  </a:lnTo>
                  <a:lnTo>
                    <a:pt x="0" y="19"/>
                  </a:lnTo>
                  <a:lnTo>
                    <a:pt x="0" y="22"/>
                  </a:lnTo>
                  <a:lnTo>
                    <a:pt x="2" y="27"/>
                  </a:lnTo>
                  <a:lnTo>
                    <a:pt x="2" y="29"/>
                  </a:lnTo>
                  <a:lnTo>
                    <a:pt x="5" y="32"/>
                  </a:lnTo>
                  <a:lnTo>
                    <a:pt x="7" y="34"/>
                  </a:lnTo>
                  <a:lnTo>
                    <a:pt x="10" y="37"/>
                  </a:lnTo>
                  <a:lnTo>
                    <a:pt x="13" y="37"/>
                  </a:lnTo>
                  <a:lnTo>
                    <a:pt x="15" y="39"/>
                  </a:lnTo>
                  <a:lnTo>
                    <a:pt x="18" y="39"/>
                  </a:lnTo>
                  <a:lnTo>
                    <a:pt x="23" y="39"/>
                  </a:lnTo>
                  <a:lnTo>
                    <a:pt x="20" y="3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216" name="Freeform 128"/>
            <p:cNvSpPr>
              <a:spLocks/>
            </p:cNvSpPr>
            <p:nvPr/>
          </p:nvSpPr>
          <p:spPr bwMode="auto">
            <a:xfrm>
              <a:off x="2206" y="2588"/>
              <a:ext cx="43" cy="39"/>
            </a:xfrm>
            <a:custGeom>
              <a:avLst/>
              <a:gdLst>
                <a:gd name="T0" fmla="*/ 20 w 43"/>
                <a:gd name="T1" fmla="*/ 39 h 39"/>
                <a:gd name="T2" fmla="*/ 25 w 43"/>
                <a:gd name="T3" fmla="*/ 39 h 39"/>
                <a:gd name="T4" fmla="*/ 28 w 43"/>
                <a:gd name="T5" fmla="*/ 39 h 39"/>
                <a:gd name="T6" fmla="*/ 30 w 43"/>
                <a:gd name="T7" fmla="*/ 37 h 39"/>
                <a:gd name="T8" fmla="*/ 33 w 43"/>
                <a:gd name="T9" fmla="*/ 37 h 39"/>
                <a:gd name="T10" fmla="*/ 35 w 43"/>
                <a:gd name="T11" fmla="*/ 34 h 39"/>
                <a:gd name="T12" fmla="*/ 38 w 43"/>
                <a:gd name="T13" fmla="*/ 32 h 39"/>
                <a:gd name="T14" fmla="*/ 41 w 43"/>
                <a:gd name="T15" fmla="*/ 29 h 39"/>
                <a:gd name="T16" fmla="*/ 41 w 43"/>
                <a:gd name="T17" fmla="*/ 27 h 39"/>
                <a:gd name="T18" fmla="*/ 43 w 43"/>
                <a:gd name="T19" fmla="*/ 22 h 39"/>
                <a:gd name="T20" fmla="*/ 43 w 43"/>
                <a:gd name="T21" fmla="*/ 19 h 39"/>
                <a:gd name="T22" fmla="*/ 43 w 43"/>
                <a:gd name="T23" fmla="*/ 17 h 39"/>
                <a:gd name="T24" fmla="*/ 41 w 43"/>
                <a:gd name="T25" fmla="*/ 12 h 39"/>
                <a:gd name="T26" fmla="*/ 41 w 43"/>
                <a:gd name="T27" fmla="*/ 10 h 39"/>
                <a:gd name="T28" fmla="*/ 38 w 43"/>
                <a:gd name="T29" fmla="*/ 7 h 39"/>
                <a:gd name="T30" fmla="*/ 35 w 43"/>
                <a:gd name="T31" fmla="*/ 5 h 39"/>
                <a:gd name="T32" fmla="*/ 33 w 43"/>
                <a:gd name="T33" fmla="*/ 2 h 39"/>
                <a:gd name="T34" fmla="*/ 30 w 43"/>
                <a:gd name="T35" fmla="*/ 2 h 39"/>
                <a:gd name="T36" fmla="*/ 28 w 43"/>
                <a:gd name="T37" fmla="*/ 0 h 39"/>
                <a:gd name="T38" fmla="*/ 25 w 43"/>
                <a:gd name="T39" fmla="*/ 0 h 39"/>
                <a:gd name="T40" fmla="*/ 23 w 43"/>
                <a:gd name="T41" fmla="*/ 0 h 39"/>
                <a:gd name="T42" fmla="*/ 18 w 43"/>
                <a:gd name="T43" fmla="*/ 0 h 39"/>
                <a:gd name="T44" fmla="*/ 15 w 43"/>
                <a:gd name="T45" fmla="*/ 0 h 39"/>
                <a:gd name="T46" fmla="*/ 13 w 43"/>
                <a:gd name="T47" fmla="*/ 2 h 39"/>
                <a:gd name="T48" fmla="*/ 10 w 43"/>
                <a:gd name="T49" fmla="*/ 2 h 39"/>
                <a:gd name="T50" fmla="*/ 7 w 43"/>
                <a:gd name="T51" fmla="*/ 5 h 39"/>
                <a:gd name="T52" fmla="*/ 5 w 43"/>
                <a:gd name="T53" fmla="*/ 7 h 39"/>
                <a:gd name="T54" fmla="*/ 2 w 43"/>
                <a:gd name="T55" fmla="*/ 10 h 39"/>
                <a:gd name="T56" fmla="*/ 2 w 43"/>
                <a:gd name="T57" fmla="*/ 12 h 39"/>
                <a:gd name="T58" fmla="*/ 0 w 43"/>
                <a:gd name="T59" fmla="*/ 17 h 39"/>
                <a:gd name="T60" fmla="*/ 0 w 43"/>
                <a:gd name="T61" fmla="*/ 19 h 39"/>
                <a:gd name="T62" fmla="*/ 0 w 43"/>
                <a:gd name="T63" fmla="*/ 22 h 39"/>
                <a:gd name="T64" fmla="*/ 2 w 43"/>
                <a:gd name="T65" fmla="*/ 27 h 39"/>
                <a:gd name="T66" fmla="*/ 2 w 43"/>
                <a:gd name="T67" fmla="*/ 29 h 39"/>
                <a:gd name="T68" fmla="*/ 5 w 43"/>
                <a:gd name="T69" fmla="*/ 32 h 39"/>
                <a:gd name="T70" fmla="*/ 7 w 43"/>
                <a:gd name="T71" fmla="*/ 34 h 39"/>
                <a:gd name="T72" fmla="*/ 10 w 43"/>
                <a:gd name="T73" fmla="*/ 37 h 39"/>
                <a:gd name="T74" fmla="*/ 13 w 43"/>
                <a:gd name="T75" fmla="*/ 37 h 39"/>
                <a:gd name="T76" fmla="*/ 15 w 43"/>
                <a:gd name="T77" fmla="*/ 39 h 39"/>
                <a:gd name="T78" fmla="*/ 18 w 43"/>
                <a:gd name="T79" fmla="*/ 39 h 39"/>
                <a:gd name="T80" fmla="*/ 23 w 43"/>
                <a:gd name="T81" fmla="*/ 39 h 39"/>
                <a:gd name="T82" fmla="*/ 23 w 43"/>
                <a:gd name="T83" fmla="*/ 39 h 39"/>
                <a:gd name="T84" fmla="*/ 20 w 43"/>
                <a:gd name="T85" fmla="*/ 39 h 39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43" h="39">
                  <a:moveTo>
                    <a:pt x="20" y="39"/>
                  </a:moveTo>
                  <a:lnTo>
                    <a:pt x="25" y="39"/>
                  </a:lnTo>
                  <a:lnTo>
                    <a:pt x="28" y="39"/>
                  </a:lnTo>
                  <a:lnTo>
                    <a:pt x="30" y="37"/>
                  </a:lnTo>
                  <a:lnTo>
                    <a:pt x="33" y="37"/>
                  </a:lnTo>
                  <a:lnTo>
                    <a:pt x="35" y="34"/>
                  </a:lnTo>
                  <a:lnTo>
                    <a:pt x="38" y="32"/>
                  </a:lnTo>
                  <a:lnTo>
                    <a:pt x="41" y="29"/>
                  </a:lnTo>
                  <a:lnTo>
                    <a:pt x="41" y="27"/>
                  </a:lnTo>
                  <a:lnTo>
                    <a:pt x="43" y="22"/>
                  </a:lnTo>
                  <a:lnTo>
                    <a:pt x="43" y="19"/>
                  </a:lnTo>
                  <a:lnTo>
                    <a:pt x="43" y="17"/>
                  </a:lnTo>
                  <a:lnTo>
                    <a:pt x="41" y="12"/>
                  </a:lnTo>
                  <a:lnTo>
                    <a:pt x="41" y="10"/>
                  </a:lnTo>
                  <a:lnTo>
                    <a:pt x="38" y="7"/>
                  </a:lnTo>
                  <a:lnTo>
                    <a:pt x="35" y="5"/>
                  </a:lnTo>
                  <a:lnTo>
                    <a:pt x="33" y="2"/>
                  </a:lnTo>
                  <a:lnTo>
                    <a:pt x="30" y="2"/>
                  </a:lnTo>
                  <a:lnTo>
                    <a:pt x="28" y="0"/>
                  </a:lnTo>
                  <a:lnTo>
                    <a:pt x="25" y="0"/>
                  </a:lnTo>
                  <a:lnTo>
                    <a:pt x="23" y="0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3" y="2"/>
                  </a:lnTo>
                  <a:lnTo>
                    <a:pt x="10" y="2"/>
                  </a:lnTo>
                  <a:lnTo>
                    <a:pt x="7" y="5"/>
                  </a:lnTo>
                  <a:lnTo>
                    <a:pt x="5" y="7"/>
                  </a:lnTo>
                  <a:lnTo>
                    <a:pt x="2" y="10"/>
                  </a:lnTo>
                  <a:lnTo>
                    <a:pt x="2" y="12"/>
                  </a:lnTo>
                  <a:lnTo>
                    <a:pt x="0" y="17"/>
                  </a:lnTo>
                  <a:lnTo>
                    <a:pt x="0" y="19"/>
                  </a:lnTo>
                  <a:lnTo>
                    <a:pt x="0" y="22"/>
                  </a:lnTo>
                  <a:lnTo>
                    <a:pt x="2" y="27"/>
                  </a:lnTo>
                  <a:lnTo>
                    <a:pt x="2" y="29"/>
                  </a:lnTo>
                  <a:lnTo>
                    <a:pt x="5" y="32"/>
                  </a:lnTo>
                  <a:lnTo>
                    <a:pt x="7" y="34"/>
                  </a:lnTo>
                  <a:lnTo>
                    <a:pt x="10" y="37"/>
                  </a:lnTo>
                  <a:lnTo>
                    <a:pt x="13" y="37"/>
                  </a:lnTo>
                  <a:lnTo>
                    <a:pt x="15" y="39"/>
                  </a:lnTo>
                  <a:lnTo>
                    <a:pt x="18" y="39"/>
                  </a:lnTo>
                  <a:lnTo>
                    <a:pt x="23" y="39"/>
                  </a:lnTo>
                  <a:lnTo>
                    <a:pt x="20" y="3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217" name="Freeform 129"/>
            <p:cNvSpPr>
              <a:spLocks/>
            </p:cNvSpPr>
            <p:nvPr/>
          </p:nvSpPr>
          <p:spPr bwMode="auto">
            <a:xfrm>
              <a:off x="2206" y="2711"/>
              <a:ext cx="43" cy="39"/>
            </a:xfrm>
            <a:custGeom>
              <a:avLst/>
              <a:gdLst>
                <a:gd name="T0" fmla="*/ 20 w 43"/>
                <a:gd name="T1" fmla="*/ 39 h 39"/>
                <a:gd name="T2" fmla="*/ 25 w 43"/>
                <a:gd name="T3" fmla="*/ 39 h 39"/>
                <a:gd name="T4" fmla="*/ 28 w 43"/>
                <a:gd name="T5" fmla="*/ 39 h 39"/>
                <a:gd name="T6" fmla="*/ 30 w 43"/>
                <a:gd name="T7" fmla="*/ 37 h 39"/>
                <a:gd name="T8" fmla="*/ 33 w 43"/>
                <a:gd name="T9" fmla="*/ 37 h 39"/>
                <a:gd name="T10" fmla="*/ 35 w 43"/>
                <a:gd name="T11" fmla="*/ 34 h 39"/>
                <a:gd name="T12" fmla="*/ 38 w 43"/>
                <a:gd name="T13" fmla="*/ 32 h 39"/>
                <a:gd name="T14" fmla="*/ 41 w 43"/>
                <a:gd name="T15" fmla="*/ 30 h 39"/>
                <a:gd name="T16" fmla="*/ 41 w 43"/>
                <a:gd name="T17" fmla="*/ 27 h 39"/>
                <a:gd name="T18" fmla="*/ 43 w 43"/>
                <a:gd name="T19" fmla="*/ 22 h 39"/>
                <a:gd name="T20" fmla="*/ 43 w 43"/>
                <a:gd name="T21" fmla="*/ 20 h 39"/>
                <a:gd name="T22" fmla="*/ 43 w 43"/>
                <a:gd name="T23" fmla="*/ 17 h 39"/>
                <a:gd name="T24" fmla="*/ 41 w 43"/>
                <a:gd name="T25" fmla="*/ 12 h 39"/>
                <a:gd name="T26" fmla="*/ 41 w 43"/>
                <a:gd name="T27" fmla="*/ 10 h 39"/>
                <a:gd name="T28" fmla="*/ 38 w 43"/>
                <a:gd name="T29" fmla="*/ 7 h 39"/>
                <a:gd name="T30" fmla="*/ 35 w 43"/>
                <a:gd name="T31" fmla="*/ 5 h 39"/>
                <a:gd name="T32" fmla="*/ 33 w 43"/>
                <a:gd name="T33" fmla="*/ 2 h 39"/>
                <a:gd name="T34" fmla="*/ 30 w 43"/>
                <a:gd name="T35" fmla="*/ 2 h 39"/>
                <a:gd name="T36" fmla="*/ 28 w 43"/>
                <a:gd name="T37" fmla="*/ 0 h 39"/>
                <a:gd name="T38" fmla="*/ 25 w 43"/>
                <a:gd name="T39" fmla="*/ 0 h 39"/>
                <a:gd name="T40" fmla="*/ 23 w 43"/>
                <a:gd name="T41" fmla="*/ 0 h 39"/>
                <a:gd name="T42" fmla="*/ 18 w 43"/>
                <a:gd name="T43" fmla="*/ 0 h 39"/>
                <a:gd name="T44" fmla="*/ 15 w 43"/>
                <a:gd name="T45" fmla="*/ 0 h 39"/>
                <a:gd name="T46" fmla="*/ 13 w 43"/>
                <a:gd name="T47" fmla="*/ 2 h 39"/>
                <a:gd name="T48" fmla="*/ 10 w 43"/>
                <a:gd name="T49" fmla="*/ 2 h 39"/>
                <a:gd name="T50" fmla="*/ 7 w 43"/>
                <a:gd name="T51" fmla="*/ 5 h 39"/>
                <a:gd name="T52" fmla="*/ 5 w 43"/>
                <a:gd name="T53" fmla="*/ 7 h 39"/>
                <a:gd name="T54" fmla="*/ 2 w 43"/>
                <a:gd name="T55" fmla="*/ 10 h 39"/>
                <a:gd name="T56" fmla="*/ 2 w 43"/>
                <a:gd name="T57" fmla="*/ 12 h 39"/>
                <a:gd name="T58" fmla="*/ 0 w 43"/>
                <a:gd name="T59" fmla="*/ 17 h 39"/>
                <a:gd name="T60" fmla="*/ 0 w 43"/>
                <a:gd name="T61" fmla="*/ 20 h 39"/>
                <a:gd name="T62" fmla="*/ 0 w 43"/>
                <a:gd name="T63" fmla="*/ 22 h 39"/>
                <a:gd name="T64" fmla="*/ 2 w 43"/>
                <a:gd name="T65" fmla="*/ 27 h 39"/>
                <a:gd name="T66" fmla="*/ 2 w 43"/>
                <a:gd name="T67" fmla="*/ 30 h 39"/>
                <a:gd name="T68" fmla="*/ 5 w 43"/>
                <a:gd name="T69" fmla="*/ 32 h 39"/>
                <a:gd name="T70" fmla="*/ 7 w 43"/>
                <a:gd name="T71" fmla="*/ 34 h 39"/>
                <a:gd name="T72" fmla="*/ 10 w 43"/>
                <a:gd name="T73" fmla="*/ 37 h 39"/>
                <a:gd name="T74" fmla="*/ 13 w 43"/>
                <a:gd name="T75" fmla="*/ 37 h 39"/>
                <a:gd name="T76" fmla="*/ 15 w 43"/>
                <a:gd name="T77" fmla="*/ 39 h 39"/>
                <a:gd name="T78" fmla="*/ 18 w 43"/>
                <a:gd name="T79" fmla="*/ 39 h 39"/>
                <a:gd name="T80" fmla="*/ 23 w 43"/>
                <a:gd name="T81" fmla="*/ 39 h 39"/>
                <a:gd name="T82" fmla="*/ 23 w 43"/>
                <a:gd name="T83" fmla="*/ 39 h 39"/>
                <a:gd name="T84" fmla="*/ 20 w 43"/>
                <a:gd name="T85" fmla="*/ 39 h 39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43" h="39">
                  <a:moveTo>
                    <a:pt x="20" y="39"/>
                  </a:moveTo>
                  <a:lnTo>
                    <a:pt x="25" y="39"/>
                  </a:lnTo>
                  <a:lnTo>
                    <a:pt x="28" y="39"/>
                  </a:lnTo>
                  <a:lnTo>
                    <a:pt x="30" y="37"/>
                  </a:lnTo>
                  <a:lnTo>
                    <a:pt x="33" y="37"/>
                  </a:lnTo>
                  <a:lnTo>
                    <a:pt x="35" y="34"/>
                  </a:lnTo>
                  <a:lnTo>
                    <a:pt x="38" y="32"/>
                  </a:lnTo>
                  <a:lnTo>
                    <a:pt x="41" y="30"/>
                  </a:lnTo>
                  <a:lnTo>
                    <a:pt x="41" y="27"/>
                  </a:lnTo>
                  <a:lnTo>
                    <a:pt x="43" y="22"/>
                  </a:lnTo>
                  <a:lnTo>
                    <a:pt x="43" y="20"/>
                  </a:lnTo>
                  <a:lnTo>
                    <a:pt x="43" y="17"/>
                  </a:lnTo>
                  <a:lnTo>
                    <a:pt x="41" y="12"/>
                  </a:lnTo>
                  <a:lnTo>
                    <a:pt x="41" y="10"/>
                  </a:lnTo>
                  <a:lnTo>
                    <a:pt x="38" y="7"/>
                  </a:lnTo>
                  <a:lnTo>
                    <a:pt x="35" y="5"/>
                  </a:lnTo>
                  <a:lnTo>
                    <a:pt x="33" y="2"/>
                  </a:lnTo>
                  <a:lnTo>
                    <a:pt x="30" y="2"/>
                  </a:lnTo>
                  <a:lnTo>
                    <a:pt x="28" y="0"/>
                  </a:lnTo>
                  <a:lnTo>
                    <a:pt x="25" y="0"/>
                  </a:lnTo>
                  <a:lnTo>
                    <a:pt x="23" y="0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3" y="2"/>
                  </a:lnTo>
                  <a:lnTo>
                    <a:pt x="10" y="2"/>
                  </a:lnTo>
                  <a:lnTo>
                    <a:pt x="7" y="5"/>
                  </a:lnTo>
                  <a:lnTo>
                    <a:pt x="5" y="7"/>
                  </a:lnTo>
                  <a:lnTo>
                    <a:pt x="2" y="10"/>
                  </a:lnTo>
                  <a:lnTo>
                    <a:pt x="2" y="12"/>
                  </a:lnTo>
                  <a:lnTo>
                    <a:pt x="0" y="17"/>
                  </a:lnTo>
                  <a:lnTo>
                    <a:pt x="0" y="20"/>
                  </a:lnTo>
                  <a:lnTo>
                    <a:pt x="0" y="22"/>
                  </a:lnTo>
                  <a:lnTo>
                    <a:pt x="2" y="27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7" y="34"/>
                  </a:lnTo>
                  <a:lnTo>
                    <a:pt x="10" y="37"/>
                  </a:lnTo>
                  <a:lnTo>
                    <a:pt x="13" y="37"/>
                  </a:lnTo>
                  <a:lnTo>
                    <a:pt x="15" y="39"/>
                  </a:lnTo>
                  <a:lnTo>
                    <a:pt x="18" y="39"/>
                  </a:lnTo>
                  <a:lnTo>
                    <a:pt x="23" y="39"/>
                  </a:lnTo>
                  <a:lnTo>
                    <a:pt x="20" y="3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218" name="Freeform 130"/>
            <p:cNvSpPr>
              <a:spLocks/>
            </p:cNvSpPr>
            <p:nvPr/>
          </p:nvSpPr>
          <p:spPr bwMode="auto">
            <a:xfrm>
              <a:off x="2206" y="2834"/>
              <a:ext cx="43" cy="40"/>
            </a:xfrm>
            <a:custGeom>
              <a:avLst/>
              <a:gdLst>
                <a:gd name="T0" fmla="*/ 20 w 43"/>
                <a:gd name="T1" fmla="*/ 40 h 40"/>
                <a:gd name="T2" fmla="*/ 25 w 43"/>
                <a:gd name="T3" fmla="*/ 40 h 40"/>
                <a:gd name="T4" fmla="*/ 28 w 43"/>
                <a:gd name="T5" fmla="*/ 40 h 40"/>
                <a:gd name="T6" fmla="*/ 30 w 43"/>
                <a:gd name="T7" fmla="*/ 37 h 40"/>
                <a:gd name="T8" fmla="*/ 33 w 43"/>
                <a:gd name="T9" fmla="*/ 37 h 40"/>
                <a:gd name="T10" fmla="*/ 35 w 43"/>
                <a:gd name="T11" fmla="*/ 35 h 40"/>
                <a:gd name="T12" fmla="*/ 38 w 43"/>
                <a:gd name="T13" fmla="*/ 32 h 40"/>
                <a:gd name="T14" fmla="*/ 41 w 43"/>
                <a:gd name="T15" fmla="*/ 30 h 40"/>
                <a:gd name="T16" fmla="*/ 41 w 43"/>
                <a:gd name="T17" fmla="*/ 27 h 40"/>
                <a:gd name="T18" fmla="*/ 43 w 43"/>
                <a:gd name="T19" fmla="*/ 22 h 40"/>
                <a:gd name="T20" fmla="*/ 43 w 43"/>
                <a:gd name="T21" fmla="*/ 20 h 40"/>
                <a:gd name="T22" fmla="*/ 43 w 43"/>
                <a:gd name="T23" fmla="*/ 17 h 40"/>
                <a:gd name="T24" fmla="*/ 41 w 43"/>
                <a:gd name="T25" fmla="*/ 12 h 40"/>
                <a:gd name="T26" fmla="*/ 41 w 43"/>
                <a:gd name="T27" fmla="*/ 10 h 40"/>
                <a:gd name="T28" fmla="*/ 38 w 43"/>
                <a:gd name="T29" fmla="*/ 8 h 40"/>
                <a:gd name="T30" fmla="*/ 35 w 43"/>
                <a:gd name="T31" fmla="*/ 5 h 40"/>
                <a:gd name="T32" fmla="*/ 33 w 43"/>
                <a:gd name="T33" fmla="*/ 3 h 40"/>
                <a:gd name="T34" fmla="*/ 30 w 43"/>
                <a:gd name="T35" fmla="*/ 3 h 40"/>
                <a:gd name="T36" fmla="*/ 28 w 43"/>
                <a:gd name="T37" fmla="*/ 0 h 40"/>
                <a:gd name="T38" fmla="*/ 25 w 43"/>
                <a:gd name="T39" fmla="*/ 0 h 40"/>
                <a:gd name="T40" fmla="*/ 23 w 43"/>
                <a:gd name="T41" fmla="*/ 0 h 40"/>
                <a:gd name="T42" fmla="*/ 18 w 43"/>
                <a:gd name="T43" fmla="*/ 0 h 40"/>
                <a:gd name="T44" fmla="*/ 15 w 43"/>
                <a:gd name="T45" fmla="*/ 0 h 40"/>
                <a:gd name="T46" fmla="*/ 13 w 43"/>
                <a:gd name="T47" fmla="*/ 3 h 40"/>
                <a:gd name="T48" fmla="*/ 10 w 43"/>
                <a:gd name="T49" fmla="*/ 3 h 40"/>
                <a:gd name="T50" fmla="*/ 7 w 43"/>
                <a:gd name="T51" fmla="*/ 5 h 40"/>
                <a:gd name="T52" fmla="*/ 5 w 43"/>
                <a:gd name="T53" fmla="*/ 8 h 40"/>
                <a:gd name="T54" fmla="*/ 2 w 43"/>
                <a:gd name="T55" fmla="*/ 10 h 40"/>
                <a:gd name="T56" fmla="*/ 2 w 43"/>
                <a:gd name="T57" fmla="*/ 12 h 40"/>
                <a:gd name="T58" fmla="*/ 0 w 43"/>
                <a:gd name="T59" fmla="*/ 17 h 40"/>
                <a:gd name="T60" fmla="*/ 0 w 43"/>
                <a:gd name="T61" fmla="*/ 20 h 40"/>
                <a:gd name="T62" fmla="*/ 0 w 43"/>
                <a:gd name="T63" fmla="*/ 22 h 40"/>
                <a:gd name="T64" fmla="*/ 2 w 43"/>
                <a:gd name="T65" fmla="*/ 27 h 40"/>
                <a:gd name="T66" fmla="*/ 2 w 43"/>
                <a:gd name="T67" fmla="*/ 30 h 40"/>
                <a:gd name="T68" fmla="*/ 5 w 43"/>
                <a:gd name="T69" fmla="*/ 32 h 40"/>
                <a:gd name="T70" fmla="*/ 7 w 43"/>
                <a:gd name="T71" fmla="*/ 35 h 40"/>
                <a:gd name="T72" fmla="*/ 10 w 43"/>
                <a:gd name="T73" fmla="*/ 37 h 40"/>
                <a:gd name="T74" fmla="*/ 13 w 43"/>
                <a:gd name="T75" fmla="*/ 37 h 40"/>
                <a:gd name="T76" fmla="*/ 15 w 43"/>
                <a:gd name="T77" fmla="*/ 40 h 40"/>
                <a:gd name="T78" fmla="*/ 18 w 43"/>
                <a:gd name="T79" fmla="*/ 40 h 40"/>
                <a:gd name="T80" fmla="*/ 23 w 43"/>
                <a:gd name="T81" fmla="*/ 40 h 40"/>
                <a:gd name="T82" fmla="*/ 23 w 43"/>
                <a:gd name="T83" fmla="*/ 40 h 40"/>
                <a:gd name="T84" fmla="*/ 20 w 43"/>
                <a:gd name="T85" fmla="*/ 40 h 4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43" h="40">
                  <a:moveTo>
                    <a:pt x="20" y="40"/>
                  </a:moveTo>
                  <a:lnTo>
                    <a:pt x="25" y="40"/>
                  </a:lnTo>
                  <a:lnTo>
                    <a:pt x="28" y="40"/>
                  </a:lnTo>
                  <a:lnTo>
                    <a:pt x="30" y="37"/>
                  </a:lnTo>
                  <a:lnTo>
                    <a:pt x="33" y="37"/>
                  </a:lnTo>
                  <a:lnTo>
                    <a:pt x="35" y="35"/>
                  </a:lnTo>
                  <a:lnTo>
                    <a:pt x="38" y="32"/>
                  </a:lnTo>
                  <a:lnTo>
                    <a:pt x="41" y="30"/>
                  </a:lnTo>
                  <a:lnTo>
                    <a:pt x="41" y="27"/>
                  </a:lnTo>
                  <a:lnTo>
                    <a:pt x="43" y="22"/>
                  </a:lnTo>
                  <a:lnTo>
                    <a:pt x="43" y="20"/>
                  </a:lnTo>
                  <a:lnTo>
                    <a:pt x="43" y="17"/>
                  </a:lnTo>
                  <a:lnTo>
                    <a:pt x="41" y="12"/>
                  </a:lnTo>
                  <a:lnTo>
                    <a:pt x="41" y="10"/>
                  </a:lnTo>
                  <a:lnTo>
                    <a:pt x="38" y="8"/>
                  </a:lnTo>
                  <a:lnTo>
                    <a:pt x="35" y="5"/>
                  </a:lnTo>
                  <a:lnTo>
                    <a:pt x="33" y="3"/>
                  </a:lnTo>
                  <a:lnTo>
                    <a:pt x="30" y="3"/>
                  </a:lnTo>
                  <a:lnTo>
                    <a:pt x="28" y="0"/>
                  </a:lnTo>
                  <a:lnTo>
                    <a:pt x="25" y="0"/>
                  </a:lnTo>
                  <a:lnTo>
                    <a:pt x="23" y="0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3" y="3"/>
                  </a:lnTo>
                  <a:lnTo>
                    <a:pt x="10" y="3"/>
                  </a:lnTo>
                  <a:lnTo>
                    <a:pt x="7" y="5"/>
                  </a:lnTo>
                  <a:lnTo>
                    <a:pt x="5" y="8"/>
                  </a:lnTo>
                  <a:lnTo>
                    <a:pt x="2" y="10"/>
                  </a:lnTo>
                  <a:lnTo>
                    <a:pt x="2" y="12"/>
                  </a:lnTo>
                  <a:lnTo>
                    <a:pt x="0" y="17"/>
                  </a:lnTo>
                  <a:lnTo>
                    <a:pt x="0" y="20"/>
                  </a:lnTo>
                  <a:lnTo>
                    <a:pt x="0" y="22"/>
                  </a:lnTo>
                  <a:lnTo>
                    <a:pt x="2" y="27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7" y="35"/>
                  </a:lnTo>
                  <a:lnTo>
                    <a:pt x="10" y="37"/>
                  </a:lnTo>
                  <a:lnTo>
                    <a:pt x="13" y="37"/>
                  </a:lnTo>
                  <a:lnTo>
                    <a:pt x="15" y="40"/>
                  </a:lnTo>
                  <a:lnTo>
                    <a:pt x="18" y="40"/>
                  </a:lnTo>
                  <a:lnTo>
                    <a:pt x="23" y="40"/>
                  </a:lnTo>
                  <a:lnTo>
                    <a:pt x="20" y="4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219" name="Freeform 131"/>
            <p:cNvSpPr>
              <a:spLocks/>
            </p:cNvSpPr>
            <p:nvPr/>
          </p:nvSpPr>
          <p:spPr bwMode="auto">
            <a:xfrm>
              <a:off x="2206" y="2957"/>
              <a:ext cx="43" cy="40"/>
            </a:xfrm>
            <a:custGeom>
              <a:avLst/>
              <a:gdLst>
                <a:gd name="T0" fmla="*/ 20 w 43"/>
                <a:gd name="T1" fmla="*/ 40 h 40"/>
                <a:gd name="T2" fmla="*/ 25 w 43"/>
                <a:gd name="T3" fmla="*/ 40 h 40"/>
                <a:gd name="T4" fmla="*/ 28 w 43"/>
                <a:gd name="T5" fmla="*/ 40 h 40"/>
                <a:gd name="T6" fmla="*/ 30 w 43"/>
                <a:gd name="T7" fmla="*/ 37 h 40"/>
                <a:gd name="T8" fmla="*/ 33 w 43"/>
                <a:gd name="T9" fmla="*/ 37 h 40"/>
                <a:gd name="T10" fmla="*/ 35 w 43"/>
                <a:gd name="T11" fmla="*/ 35 h 40"/>
                <a:gd name="T12" fmla="*/ 38 w 43"/>
                <a:gd name="T13" fmla="*/ 32 h 40"/>
                <a:gd name="T14" fmla="*/ 41 w 43"/>
                <a:gd name="T15" fmla="*/ 30 h 40"/>
                <a:gd name="T16" fmla="*/ 41 w 43"/>
                <a:gd name="T17" fmla="*/ 27 h 40"/>
                <a:gd name="T18" fmla="*/ 43 w 43"/>
                <a:gd name="T19" fmla="*/ 22 h 40"/>
                <a:gd name="T20" fmla="*/ 43 w 43"/>
                <a:gd name="T21" fmla="*/ 20 h 40"/>
                <a:gd name="T22" fmla="*/ 43 w 43"/>
                <a:gd name="T23" fmla="*/ 18 h 40"/>
                <a:gd name="T24" fmla="*/ 41 w 43"/>
                <a:gd name="T25" fmla="*/ 13 h 40"/>
                <a:gd name="T26" fmla="*/ 41 w 43"/>
                <a:gd name="T27" fmla="*/ 10 h 40"/>
                <a:gd name="T28" fmla="*/ 38 w 43"/>
                <a:gd name="T29" fmla="*/ 8 h 40"/>
                <a:gd name="T30" fmla="*/ 35 w 43"/>
                <a:gd name="T31" fmla="*/ 5 h 40"/>
                <a:gd name="T32" fmla="*/ 33 w 43"/>
                <a:gd name="T33" fmla="*/ 3 h 40"/>
                <a:gd name="T34" fmla="*/ 30 w 43"/>
                <a:gd name="T35" fmla="*/ 3 h 40"/>
                <a:gd name="T36" fmla="*/ 28 w 43"/>
                <a:gd name="T37" fmla="*/ 0 h 40"/>
                <a:gd name="T38" fmla="*/ 25 w 43"/>
                <a:gd name="T39" fmla="*/ 0 h 40"/>
                <a:gd name="T40" fmla="*/ 23 w 43"/>
                <a:gd name="T41" fmla="*/ 0 h 40"/>
                <a:gd name="T42" fmla="*/ 18 w 43"/>
                <a:gd name="T43" fmla="*/ 0 h 40"/>
                <a:gd name="T44" fmla="*/ 15 w 43"/>
                <a:gd name="T45" fmla="*/ 0 h 40"/>
                <a:gd name="T46" fmla="*/ 13 w 43"/>
                <a:gd name="T47" fmla="*/ 3 h 40"/>
                <a:gd name="T48" fmla="*/ 10 w 43"/>
                <a:gd name="T49" fmla="*/ 3 h 40"/>
                <a:gd name="T50" fmla="*/ 7 w 43"/>
                <a:gd name="T51" fmla="*/ 5 h 40"/>
                <a:gd name="T52" fmla="*/ 5 w 43"/>
                <a:gd name="T53" fmla="*/ 8 h 40"/>
                <a:gd name="T54" fmla="*/ 2 w 43"/>
                <a:gd name="T55" fmla="*/ 10 h 40"/>
                <a:gd name="T56" fmla="*/ 2 w 43"/>
                <a:gd name="T57" fmla="*/ 13 h 40"/>
                <a:gd name="T58" fmla="*/ 0 w 43"/>
                <a:gd name="T59" fmla="*/ 18 h 40"/>
                <a:gd name="T60" fmla="*/ 0 w 43"/>
                <a:gd name="T61" fmla="*/ 20 h 40"/>
                <a:gd name="T62" fmla="*/ 0 w 43"/>
                <a:gd name="T63" fmla="*/ 22 h 40"/>
                <a:gd name="T64" fmla="*/ 2 w 43"/>
                <a:gd name="T65" fmla="*/ 27 h 40"/>
                <a:gd name="T66" fmla="*/ 2 w 43"/>
                <a:gd name="T67" fmla="*/ 30 h 40"/>
                <a:gd name="T68" fmla="*/ 5 w 43"/>
                <a:gd name="T69" fmla="*/ 32 h 40"/>
                <a:gd name="T70" fmla="*/ 7 w 43"/>
                <a:gd name="T71" fmla="*/ 35 h 40"/>
                <a:gd name="T72" fmla="*/ 10 w 43"/>
                <a:gd name="T73" fmla="*/ 37 h 40"/>
                <a:gd name="T74" fmla="*/ 13 w 43"/>
                <a:gd name="T75" fmla="*/ 37 h 40"/>
                <a:gd name="T76" fmla="*/ 15 w 43"/>
                <a:gd name="T77" fmla="*/ 40 h 40"/>
                <a:gd name="T78" fmla="*/ 18 w 43"/>
                <a:gd name="T79" fmla="*/ 40 h 40"/>
                <a:gd name="T80" fmla="*/ 23 w 43"/>
                <a:gd name="T81" fmla="*/ 40 h 40"/>
                <a:gd name="T82" fmla="*/ 23 w 43"/>
                <a:gd name="T83" fmla="*/ 40 h 40"/>
                <a:gd name="T84" fmla="*/ 20 w 43"/>
                <a:gd name="T85" fmla="*/ 40 h 4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43" h="40">
                  <a:moveTo>
                    <a:pt x="20" y="40"/>
                  </a:moveTo>
                  <a:lnTo>
                    <a:pt x="25" y="40"/>
                  </a:lnTo>
                  <a:lnTo>
                    <a:pt x="28" y="40"/>
                  </a:lnTo>
                  <a:lnTo>
                    <a:pt x="30" y="37"/>
                  </a:lnTo>
                  <a:lnTo>
                    <a:pt x="33" y="37"/>
                  </a:lnTo>
                  <a:lnTo>
                    <a:pt x="35" y="35"/>
                  </a:lnTo>
                  <a:lnTo>
                    <a:pt x="38" y="32"/>
                  </a:lnTo>
                  <a:lnTo>
                    <a:pt x="41" y="30"/>
                  </a:lnTo>
                  <a:lnTo>
                    <a:pt x="41" y="27"/>
                  </a:lnTo>
                  <a:lnTo>
                    <a:pt x="43" y="22"/>
                  </a:lnTo>
                  <a:lnTo>
                    <a:pt x="43" y="20"/>
                  </a:lnTo>
                  <a:lnTo>
                    <a:pt x="43" y="18"/>
                  </a:lnTo>
                  <a:lnTo>
                    <a:pt x="41" y="13"/>
                  </a:lnTo>
                  <a:lnTo>
                    <a:pt x="41" y="10"/>
                  </a:lnTo>
                  <a:lnTo>
                    <a:pt x="38" y="8"/>
                  </a:lnTo>
                  <a:lnTo>
                    <a:pt x="35" y="5"/>
                  </a:lnTo>
                  <a:lnTo>
                    <a:pt x="33" y="3"/>
                  </a:lnTo>
                  <a:lnTo>
                    <a:pt x="30" y="3"/>
                  </a:lnTo>
                  <a:lnTo>
                    <a:pt x="28" y="0"/>
                  </a:lnTo>
                  <a:lnTo>
                    <a:pt x="25" y="0"/>
                  </a:lnTo>
                  <a:lnTo>
                    <a:pt x="23" y="0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3" y="3"/>
                  </a:lnTo>
                  <a:lnTo>
                    <a:pt x="10" y="3"/>
                  </a:lnTo>
                  <a:lnTo>
                    <a:pt x="7" y="5"/>
                  </a:lnTo>
                  <a:lnTo>
                    <a:pt x="5" y="8"/>
                  </a:lnTo>
                  <a:lnTo>
                    <a:pt x="2" y="10"/>
                  </a:lnTo>
                  <a:lnTo>
                    <a:pt x="2" y="13"/>
                  </a:lnTo>
                  <a:lnTo>
                    <a:pt x="0" y="18"/>
                  </a:lnTo>
                  <a:lnTo>
                    <a:pt x="0" y="20"/>
                  </a:lnTo>
                  <a:lnTo>
                    <a:pt x="0" y="22"/>
                  </a:lnTo>
                  <a:lnTo>
                    <a:pt x="2" y="27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7" y="35"/>
                  </a:lnTo>
                  <a:lnTo>
                    <a:pt x="10" y="37"/>
                  </a:lnTo>
                  <a:lnTo>
                    <a:pt x="13" y="37"/>
                  </a:lnTo>
                  <a:lnTo>
                    <a:pt x="15" y="40"/>
                  </a:lnTo>
                  <a:lnTo>
                    <a:pt x="18" y="40"/>
                  </a:lnTo>
                  <a:lnTo>
                    <a:pt x="23" y="40"/>
                  </a:lnTo>
                  <a:lnTo>
                    <a:pt x="20" y="4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220" name="Freeform 132"/>
            <p:cNvSpPr>
              <a:spLocks/>
            </p:cNvSpPr>
            <p:nvPr/>
          </p:nvSpPr>
          <p:spPr bwMode="auto">
            <a:xfrm>
              <a:off x="2206" y="3080"/>
              <a:ext cx="43" cy="40"/>
            </a:xfrm>
            <a:custGeom>
              <a:avLst/>
              <a:gdLst>
                <a:gd name="T0" fmla="*/ 20 w 43"/>
                <a:gd name="T1" fmla="*/ 40 h 40"/>
                <a:gd name="T2" fmla="*/ 25 w 43"/>
                <a:gd name="T3" fmla="*/ 40 h 40"/>
                <a:gd name="T4" fmla="*/ 28 w 43"/>
                <a:gd name="T5" fmla="*/ 40 h 40"/>
                <a:gd name="T6" fmla="*/ 30 w 43"/>
                <a:gd name="T7" fmla="*/ 37 h 40"/>
                <a:gd name="T8" fmla="*/ 33 w 43"/>
                <a:gd name="T9" fmla="*/ 37 h 40"/>
                <a:gd name="T10" fmla="*/ 35 w 43"/>
                <a:gd name="T11" fmla="*/ 35 h 40"/>
                <a:gd name="T12" fmla="*/ 38 w 43"/>
                <a:gd name="T13" fmla="*/ 33 h 40"/>
                <a:gd name="T14" fmla="*/ 41 w 43"/>
                <a:gd name="T15" fmla="*/ 30 h 40"/>
                <a:gd name="T16" fmla="*/ 41 w 43"/>
                <a:gd name="T17" fmla="*/ 28 h 40"/>
                <a:gd name="T18" fmla="*/ 43 w 43"/>
                <a:gd name="T19" fmla="*/ 23 h 40"/>
                <a:gd name="T20" fmla="*/ 43 w 43"/>
                <a:gd name="T21" fmla="*/ 20 h 40"/>
                <a:gd name="T22" fmla="*/ 43 w 43"/>
                <a:gd name="T23" fmla="*/ 18 h 40"/>
                <a:gd name="T24" fmla="*/ 41 w 43"/>
                <a:gd name="T25" fmla="*/ 13 h 40"/>
                <a:gd name="T26" fmla="*/ 41 w 43"/>
                <a:gd name="T27" fmla="*/ 10 h 40"/>
                <a:gd name="T28" fmla="*/ 38 w 43"/>
                <a:gd name="T29" fmla="*/ 8 h 40"/>
                <a:gd name="T30" fmla="*/ 35 w 43"/>
                <a:gd name="T31" fmla="*/ 5 h 40"/>
                <a:gd name="T32" fmla="*/ 33 w 43"/>
                <a:gd name="T33" fmla="*/ 3 h 40"/>
                <a:gd name="T34" fmla="*/ 30 w 43"/>
                <a:gd name="T35" fmla="*/ 3 h 40"/>
                <a:gd name="T36" fmla="*/ 28 w 43"/>
                <a:gd name="T37" fmla="*/ 0 h 40"/>
                <a:gd name="T38" fmla="*/ 25 w 43"/>
                <a:gd name="T39" fmla="*/ 0 h 40"/>
                <a:gd name="T40" fmla="*/ 23 w 43"/>
                <a:gd name="T41" fmla="*/ 0 h 40"/>
                <a:gd name="T42" fmla="*/ 18 w 43"/>
                <a:gd name="T43" fmla="*/ 0 h 40"/>
                <a:gd name="T44" fmla="*/ 15 w 43"/>
                <a:gd name="T45" fmla="*/ 0 h 40"/>
                <a:gd name="T46" fmla="*/ 13 w 43"/>
                <a:gd name="T47" fmla="*/ 3 h 40"/>
                <a:gd name="T48" fmla="*/ 10 w 43"/>
                <a:gd name="T49" fmla="*/ 3 h 40"/>
                <a:gd name="T50" fmla="*/ 7 w 43"/>
                <a:gd name="T51" fmla="*/ 5 h 40"/>
                <a:gd name="T52" fmla="*/ 5 w 43"/>
                <a:gd name="T53" fmla="*/ 8 h 40"/>
                <a:gd name="T54" fmla="*/ 2 w 43"/>
                <a:gd name="T55" fmla="*/ 10 h 40"/>
                <a:gd name="T56" fmla="*/ 2 w 43"/>
                <a:gd name="T57" fmla="*/ 13 h 40"/>
                <a:gd name="T58" fmla="*/ 0 w 43"/>
                <a:gd name="T59" fmla="*/ 18 h 40"/>
                <a:gd name="T60" fmla="*/ 0 w 43"/>
                <a:gd name="T61" fmla="*/ 20 h 40"/>
                <a:gd name="T62" fmla="*/ 0 w 43"/>
                <a:gd name="T63" fmla="*/ 23 h 40"/>
                <a:gd name="T64" fmla="*/ 2 w 43"/>
                <a:gd name="T65" fmla="*/ 28 h 40"/>
                <a:gd name="T66" fmla="*/ 2 w 43"/>
                <a:gd name="T67" fmla="*/ 30 h 40"/>
                <a:gd name="T68" fmla="*/ 5 w 43"/>
                <a:gd name="T69" fmla="*/ 33 h 40"/>
                <a:gd name="T70" fmla="*/ 7 w 43"/>
                <a:gd name="T71" fmla="*/ 35 h 40"/>
                <a:gd name="T72" fmla="*/ 10 w 43"/>
                <a:gd name="T73" fmla="*/ 37 h 40"/>
                <a:gd name="T74" fmla="*/ 13 w 43"/>
                <a:gd name="T75" fmla="*/ 37 h 40"/>
                <a:gd name="T76" fmla="*/ 15 w 43"/>
                <a:gd name="T77" fmla="*/ 40 h 40"/>
                <a:gd name="T78" fmla="*/ 18 w 43"/>
                <a:gd name="T79" fmla="*/ 40 h 40"/>
                <a:gd name="T80" fmla="*/ 23 w 43"/>
                <a:gd name="T81" fmla="*/ 40 h 40"/>
                <a:gd name="T82" fmla="*/ 23 w 43"/>
                <a:gd name="T83" fmla="*/ 40 h 40"/>
                <a:gd name="T84" fmla="*/ 20 w 43"/>
                <a:gd name="T85" fmla="*/ 40 h 4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43" h="40">
                  <a:moveTo>
                    <a:pt x="20" y="40"/>
                  </a:moveTo>
                  <a:lnTo>
                    <a:pt x="25" y="40"/>
                  </a:lnTo>
                  <a:lnTo>
                    <a:pt x="28" y="40"/>
                  </a:lnTo>
                  <a:lnTo>
                    <a:pt x="30" y="37"/>
                  </a:lnTo>
                  <a:lnTo>
                    <a:pt x="33" y="37"/>
                  </a:lnTo>
                  <a:lnTo>
                    <a:pt x="35" y="35"/>
                  </a:lnTo>
                  <a:lnTo>
                    <a:pt x="38" y="33"/>
                  </a:lnTo>
                  <a:lnTo>
                    <a:pt x="41" y="30"/>
                  </a:lnTo>
                  <a:lnTo>
                    <a:pt x="41" y="28"/>
                  </a:lnTo>
                  <a:lnTo>
                    <a:pt x="43" y="23"/>
                  </a:lnTo>
                  <a:lnTo>
                    <a:pt x="43" y="20"/>
                  </a:lnTo>
                  <a:lnTo>
                    <a:pt x="43" y="18"/>
                  </a:lnTo>
                  <a:lnTo>
                    <a:pt x="41" y="13"/>
                  </a:lnTo>
                  <a:lnTo>
                    <a:pt x="41" y="10"/>
                  </a:lnTo>
                  <a:lnTo>
                    <a:pt x="38" y="8"/>
                  </a:lnTo>
                  <a:lnTo>
                    <a:pt x="35" y="5"/>
                  </a:lnTo>
                  <a:lnTo>
                    <a:pt x="33" y="3"/>
                  </a:lnTo>
                  <a:lnTo>
                    <a:pt x="30" y="3"/>
                  </a:lnTo>
                  <a:lnTo>
                    <a:pt x="28" y="0"/>
                  </a:lnTo>
                  <a:lnTo>
                    <a:pt x="25" y="0"/>
                  </a:lnTo>
                  <a:lnTo>
                    <a:pt x="23" y="0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3" y="3"/>
                  </a:lnTo>
                  <a:lnTo>
                    <a:pt x="10" y="3"/>
                  </a:lnTo>
                  <a:lnTo>
                    <a:pt x="7" y="5"/>
                  </a:lnTo>
                  <a:lnTo>
                    <a:pt x="5" y="8"/>
                  </a:lnTo>
                  <a:lnTo>
                    <a:pt x="2" y="10"/>
                  </a:lnTo>
                  <a:lnTo>
                    <a:pt x="2" y="13"/>
                  </a:lnTo>
                  <a:lnTo>
                    <a:pt x="0" y="18"/>
                  </a:lnTo>
                  <a:lnTo>
                    <a:pt x="0" y="20"/>
                  </a:lnTo>
                  <a:lnTo>
                    <a:pt x="0" y="23"/>
                  </a:lnTo>
                  <a:lnTo>
                    <a:pt x="2" y="28"/>
                  </a:lnTo>
                  <a:lnTo>
                    <a:pt x="2" y="30"/>
                  </a:lnTo>
                  <a:lnTo>
                    <a:pt x="5" y="33"/>
                  </a:lnTo>
                  <a:lnTo>
                    <a:pt x="7" y="35"/>
                  </a:lnTo>
                  <a:lnTo>
                    <a:pt x="10" y="37"/>
                  </a:lnTo>
                  <a:lnTo>
                    <a:pt x="13" y="37"/>
                  </a:lnTo>
                  <a:lnTo>
                    <a:pt x="15" y="40"/>
                  </a:lnTo>
                  <a:lnTo>
                    <a:pt x="18" y="40"/>
                  </a:lnTo>
                  <a:lnTo>
                    <a:pt x="23" y="40"/>
                  </a:lnTo>
                  <a:lnTo>
                    <a:pt x="20" y="4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221" name="Freeform 133"/>
            <p:cNvSpPr>
              <a:spLocks/>
            </p:cNvSpPr>
            <p:nvPr/>
          </p:nvSpPr>
          <p:spPr bwMode="auto">
            <a:xfrm>
              <a:off x="2206" y="3204"/>
              <a:ext cx="43" cy="39"/>
            </a:xfrm>
            <a:custGeom>
              <a:avLst/>
              <a:gdLst>
                <a:gd name="T0" fmla="*/ 20 w 43"/>
                <a:gd name="T1" fmla="*/ 39 h 39"/>
                <a:gd name="T2" fmla="*/ 25 w 43"/>
                <a:gd name="T3" fmla="*/ 39 h 39"/>
                <a:gd name="T4" fmla="*/ 28 w 43"/>
                <a:gd name="T5" fmla="*/ 39 h 39"/>
                <a:gd name="T6" fmla="*/ 30 w 43"/>
                <a:gd name="T7" fmla="*/ 37 h 39"/>
                <a:gd name="T8" fmla="*/ 33 w 43"/>
                <a:gd name="T9" fmla="*/ 37 h 39"/>
                <a:gd name="T10" fmla="*/ 35 w 43"/>
                <a:gd name="T11" fmla="*/ 34 h 39"/>
                <a:gd name="T12" fmla="*/ 38 w 43"/>
                <a:gd name="T13" fmla="*/ 32 h 39"/>
                <a:gd name="T14" fmla="*/ 41 w 43"/>
                <a:gd name="T15" fmla="*/ 29 h 39"/>
                <a:gd name="T16" fmla="*/ 41 w 43"/>
                <a:gd name="T17" fmla="*/ 27 h 39"/>
                <a:gd name="T18" fmla="*/ 43 w 43"/>
                <a:gd name="T19" fmla="*/ 22 h 39"/>
                <a:gd name="T20" fmla="*/ 43 w 43"/>
                <a:gd name="T21" fmla="*/ 19 h 39"/>
                <a:gd name="T22" fmla="*/ 43 w 43"/>
                <a:gd name="T23" fmla="*/ 17 h 39"/>
                <a:gd name="T24" fmla="*/ 41 w 43"/>
                <a:gd name="T25" fmla="*/ 12 h 39"/>
                <a:gd name="T26" fmla="*/ 41 w 43"/>
                <a:gd name="T27" fmla="*/ 10 h 39"/>
                <a:gd name="T28" fmla="*/ 38 w 43"/>
                <a:gd name="T29" fmla="*/ 7 h 39"/>
                <a:gd name="T30" fmla="*/ 35 w 43"/>
                <a:gd name="T31" fmla="*/ 5 h 39"/>
                <a:gd name="T32" fmla="*/ 33 w 43"/>
                <a:gd name="T33" fmla="*/ 2 h 39"/>
                <a:gd name="T34" fmla="*/ 30 w 43"/>
                <a:gd name="T35" fmla="*/ 2 h 39"/>
                <a:gd name="T36" fmla="*/ 28 w 43"/>
                <a:gd name="T37" fmla="*/ 0 h 39"/>
                <a:gd name="T38" fmla="*/ 25 w 43"/>
                <a:gd name="T39" fmla="*/ 0 h 39"/>
                <a:gd name="T40" fmla="*/ 23 w 43"/>
                <a:gd name="T41" fmla="*/ 0 h 39"/>
                <a:gd name="T42" fmla="*/ 18 w 43"/>
                <a:gd name="T43" fmla="*/ 0 h 39"/>
                <a:gd name="T44" fmla="*/ 15 w 43"/>
                <a:gd name="T45" fmla="*/ 0 h 39"/>
                <a:gd name="T46" fmla="*/ 13 w 43"/>
                <a:gd name="T47" fmla="*/ 2 h 39"/>
                <a:gd name="T48" fmla="*/ 10 w 43"/>
                <a:gd name="T49" fmla="*/ 2 h 39"/>
                <a:gd name="T50" fmla="*/ 7 w 43"/>
                <a:gd name="T51" fmla="*/ 5 h 39"/>
                <a:gd name="T52" fmla="*/ 5 w 43"/>
                <a:gd name="T53" fmla="*/ 7 h 39"/>
                <a:gd name="T54" fmla="*/ 2 w 43"/>
                <a:gd name="T55" fmla="*/ 10 h 39"/>
                <a:gd name="T56" fmla="*/ 2 w 43"/>
                <a:gd name="T57" fmla="*/ 12 h 39"/>
                <a:gd name="T58" fmla="*/ 0 w 43"/>
                <a:gd name="T59" fmla="*/ 17 h 39"/>
                <a:gd name="T60" fmla="*/ 0 w 43"/>
                <a:gd name="T61" fmla="*/ 19 h 39"/>
                <a:gd name="T62" fmla="*/ 0 w 43"/>
                <a:gd name="T63" fmla="*/ 22 h 39"/>
                <a:gd name="T64" fmla="*/ 2 w 43"/>
                <a:gd name="T65" fmla="*/ 27 h 39"/>
                <a:gd name="T66" fmla="*/ 2 w 43"/>
                <a:gd name="T67" fmla="*/ 29 h 39"/>
                <a:gd name="T68" fmla="*/ 5 w 43"/>
                <a:gd name="T69" fmla="*/ 32 h 39"/>
                <a:gd name="T70" fmla="*/ 7 w 43"/>
                <a:gd name="T71" fmla="*/ 34 h 39"/>
                <a:gd name="T72" fmla="*/ 10 w 43"/>
                <a:gd name="T73" fmla="*/ 37 h 39"/>
                <a:gd name="T74" fmla="*/ 13 w 43"/>
                <a:gd name="T75" fmla="*/ 37 h 39"/>
                <a:gd name="T76" fmla="*/ 15 w 43"/>
                <a:gd name="T77" fmla="*/ 39 h 39"/>
                <a:gd name="T78" fmla="*/ 18 w 43"/>
                <a:gd name="T79" fmla="*/ 39 h 39"/>
                <a:gd name="T80" fmla="*/ 23 w 43"/>
                <a:gd name="T81" fmla="*/ 39 h 39"/>
                <a:gd name="T82" fmla="*/ 23 w 43"/>
                <a:gd name="T83" fmla="*/ 39 h 39"/>
                <a:gd name="T84" fmla="*/ 20 w 43"/>
                <a:gd name="T85" fmla="*/ 39 h 39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43" h="39">
                  <a:moveTo>
                    <a:pt x="20" y="39"/>
                  </a:moveTo>
                  <a:lnTo>
                    <a:pt x="25" y="39"/>
                  </a:lnTo>
                  <a:lnTo>
                    <a:pt x="28" y="39"/>
                  </a:lnTo>
                  <a:lnTo>
                    <a:pt x="30" y="37"/>
                  </a:lnTo>
                  <a:lnTo>
                    <a:pt x="33" y="37"/>
                  </a:lnTo>
                  <a:lnTo>
                    <a:pt x="35" y="34"/>
                  </a:lnTo>
                  <a:lnTo>
                    <a:pt x="38" y="32"/>
                  </a:lnTo>
                  <a:lnTo>
                    <a:pt x="41" y="29"/>
                  </a:lnTo>
                  <a:lnTo>
                    <a:pt x="41" y="27"/>
                  </a:lnTo>
                  <a:lnTo>
                    <a:pt x="43" y="22"/>
                  </a:lnTo>
                  <a:lnTo>
                    <a:pt x="43" y="19"/>
                  </a:lnTo>
                  <a:lnTo>
                    <a:pt x="43" y="17"/>
                  </a:lnTo>
                  <a:lnTo>
                    <a:pt x="41" y="12"/>
                  </a:lnTo>
                  <a:lnTo>
                    <a:pt x="41" y="10"/>
                  </a:lnTo>
                  <a:lnTo>
                    <a:pt x="38" y="7"/>
                  </a:lnTo>
                  <a:lnTo>
                    <a:pt x="35" y="5"/>
                  </a:lnTo>
                  <a:lnTo>
                    <a:pt x="33" y="2"/>
                  </a:lnTo>
                  <a:lnTo>
                    <a:pt x="30" y="2"/>
                  </a:lnTo>
                  <a:lnTo>
                    <a:pt x="28" y="0"/>
                  </a:lnTo>
                  <a:lnTo>
                    <a:pt x="25" y="0"/>
                  </a:lnTo>
                  <a:lnTo>
                    <a:pt x="23" y="0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3" y="2"/>
                  </a:lnTo>
                  <a:lnTo>
                    <a:pt x="10" y="2"/>
                  </a:lnTo>
                  <a:lnTo>
                    <a:pt x="7" y="5"/>
                  </a:lnTo>
                  <a:lnTo>
                    <a:pt x="5" y="7"/>
                  </a:lnTo>
                  <a:lnTo>
                    <a:pt x="2" y="10"/>
                  </a:lnTo>
                  <a:lnTo>
                    <a:pt x="2" y="12"/>
                  </a:lnTo>
                  <a:lnTo>
                    <a:pt x="0" y="17"/>
                  </a:lnTo>
                  <a:lnTo>
                    <a:pt x="0" y="19"/>
                  </a:lnTo>
                  <a:lnTo>
                    <a:pt x="0" y="22"/>
                  </a:lnTo>
                  <a:lnTo>
                    <a:pt x="2" y="27"/>
                  </a:lnTo>
                  <a:lnTo>
                    <a:pt x="2" y="29"/>
                  </a:lnTo>
                  <a:lnTo>
                    <a:pt x="5" y="32"/>
                  </a:lnTo>
                  <a:lnTo>
                    <a:pt x="7" y="34"/>
                  </a:lnTo>
                  <a:lnTo>
                    <a:pt x="10" y="37"/>
                  </a:lnTo>
                  <a:lnTo>
                    <a:pt x="13" y="37"/>
                  </a:lnTo>
                  <a:lnTo>
                    <a:pt x="15" y="39"/>
                  </a:lnTo>
                  <a:lnTo>
                    <a:pt x="18" y="39"/>
                  </a:lnTo>
                  <a:lnTo>
                    <a:pt x="23" y="39"/>
                  </a:lnTo>
                  <a:lnTo>
                    <a:pt x="20" y="3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222" name="Freeform 134"/>
            <p:cNvSpPr>
              <a:spLocks/>
            </p:cNvSpPr>
            <p:nvPr/>
          </p:nvSpPr>
          <p:spPr bwMode="auto">
            <a:xfrm>
              <a:off x="2206" y="3327"/>
              <a:ext cx="43" cy="39"/>
            </a:xfrm>
            <a:custGeom>
              <a:avLst/>
              <a:gdLst>
                <a:gd name="T0" fmla="*/ 20 w 43"/>
                <a:gd name="T1" fmla="*/ 39 h 39"/>
                <a:gd name="T2" fmla="*/ 25 w 43"/>
                <a:gd name="T3" fmla="*/ 39 h 39"/>
                <a:gd name="T4" fmla="*/ 28 w 43"/>
                <a:gd name="T5" fmla="*/ 39 h 39"/>
                <a:gd name="T6" fmla="*/ 30 w 43"/>
                <a:gd name="T7" fmla="*/ 37 h 39"/>
                <a:gd name="T8" fmla="*/ 33 w 43"/>
                <a:gd name="T9" fmla="*/ 37 h 39"/>
                <a:gd name="T10" fmla="*/ 35 w 43"/>
                <a:gd name="T11" fmla="*/ 34 h 39"/>
                <a:gd name="T12" fmla="*/ 38 w 43"/>
                <a:gd name="T13" fmla="*/ 32 h 39"/>
                <a:gd name="T14" fmla="*/ 41 w 43"/>
                <a:gd name="T15" fmla="*/ 29 h 39"/>
                <a:gd name="T16" fmla="*/ 41 w 43"/>
                <a:gd name="T17" fmla="*/ 27 h 39"/>
                <a:gd name="T18" fmla="*/ 43 w 43"/>
                <a:gd name="T19" fmla="*/ 22 h 39"/>
                <a:gd name="T20" fmla="*/ 43 w 43"/>
                <a:gd name="T21" fmla="*/ 20 h 39"/>
                <a:gd name="T22" fmla="*/ 43 w 43"/>
                <a:gd name="T23" fmla="*/ 17 h 39"/>
                <a:gd name="T24" fmla="*/ 41 w 43"/>
                <a:gd name="T25" fmla="*/ 12 h 39"/>
                <a:gd name="T26" fmla="*/ 41 w 43"/>
                <a:gd name="T27" fmla="*/ 10 h 39"/>
                <a:gd name="T28" fmla="*/ 38 w 43"/>
                <a:gd name="T29" fmla="*/ 7 h 39"/>
                <a:gd name="T30" fmla="*/ 35 w 43"/>
                <a:gd name="T31" fmla="*/ 5 h 39"/>
                <a:gd name="T32" fmla="*/ 33 w 43"/>
                <a:gd name="T33" fmla="*/ 2 h 39"/>
                <a:gd name="T34" fmla="*/ 30 w 43"/>
                <a:gd name="T35" fmla="*/ 2 h 39"/>
                <a:gd name="T36" fmla="*/ 28 w 43"/>
                <a:gd name="T37" fmla="*/ 0 h 39"/>
                <a:gd name="T38" fmla="*/ 25 w 43"/>
                <a:gd name="T39" fmla="*/ 0 h 39"/>
                <a:gd name="T40" fmla="*/ 23 w 43"/>
                <a:gd name="T41" fmla="*/ 0 h 39"/>
                <a:gd name="T42" fmla="*/ 18 w 43"/>
                <a:gd name="T43" fmla="*/ 0 h 39"/>
                <a:gd name="T44" fmla="*/ 15 w 43"/>
                <a:gd name="T45" fmla="*/ 0 h 39"/>
                <a:gd name="T46" fmla="*/ 13 w 43"/>
                <a:gd name="T47" fmla="*/ 2 h 39"/>
                <a:gd name="T48" fmla="*/ 10 w 43"/>
                <a:gd name="T49" fmla="*/ 2 h 39"/>
                <a:gd name="T50" fmla="*/ 7 w 43"/>
                <a:gd name="T51" fmla="*/ 5 h 39"/>
                <a:gd name="T52" fmla="*/ 5 w 43"/>
                <a:gd name="T53" fmla="*/ 7 h 39"/>
                <a:gd name="T54" fmla="*/ 2 w 43"/>
                <a:gd name="T55" fmla="*/ 10 h 39"/>
                <a:gd name="T56" fmla="*/ 2 w 43"/>
                <a:gd name="T57" fmla="*/ 12 h 39"/>
                <a:gd name="T58" fmla="*/ 0 w 43"/>
                <a:gd name="T59" fmla="*/ 17 h 39"/>
                <a:gd name="T60" fmla="*/ 0 w 43"/>
                <a:gd name="T61" fmla="*/ 20 h 39"/>
                <a:gd name="T62" fmla="*/ 0 w 43"/>
                <a:gd name="T63" fmla="*/ 22 h 39"/>
                <a:gd name="T64" fmla="*/ 2 w 43"/>
                <a:gd name="T65" fmla="*/ 27 h 39"/>
                <a:gd name="T66" fmla="*/ 2 w 43"/>
                <a:gd name="T67" fmla="*/ 29 h 39"/>
                <a:gd name="T68" fmla="*/ 5 w 43"/>
                <a:gd name="T69" fmla="*/ 32 h 39"/>
                <a:gd name="T70" fmla="*/ 7 w 43"/>
                <a:gd name="T71" fmla="*/ 34 h 39"/>
                <a:gd name="T72" fmla="*/ 10 w 43"/>
                <a:gd name="T73" fmla="*/ 37 h 39"/>
                <a:gd name="T74" fmla="*/ 13 w 43"/>
                <a:gd name="T75" fmla="*/ 37 h 39"/>
                <a:gd name="T76" fmla="*/ 15 w 43"/>
                <a:gd name="T77" fmla="*/ 39 h 39"/>
                <a:gd name="T78" fmla="*/ 18 w 43"/>
                <a:gd name="T79" fmla="*/ 39 h 39"/>
                <a:gd name="T80" fmla="*/ 23 w 43"/>
                <a:gd name="T81" fmla="*/ 39 h 39"/>
                <a:gd name="T82" fmla="*/ 23 w 43"/>
                <a:gd name="T83" fmla="*/ 39 h 39"/>
                <a:gd name="T84" fmla="*/ 20 w 43"/>
                <a:gd name="T85" fmla="*/ 39 h 39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43" h="39">
                  <a:moveTo>
                    <a:pt x="20" y="39"/>
                  </a:moveTo>
                  <a:lnTo>
                    <a:pt x="25" y="39"/>
                  </a:lnTo>
                  <a:lnTo>
                    <a:pt x="28" y="39"/>
                  </a:lnTo>
                  <a:lnTo>
                    <a:pt x="30" y="37"/>
                  </a:lnTo>
                  <a:lnTo>
                    <a:pt x="33" y="37"/>
                  </a:lnTo>
                  <a:lnTo>
                    <a:pt x="35" y="34"/>
                  </a:lnTo>
                  <a:lnTo>
                    <a:pt x="38" y="32"/>
                  </a:lnTo>
                  <a:lnTo>
                    <a:pt x="41" y="29"/>
                  </a:lnTo>
                  <a:lnTo>
                    <a:pt x="41" y="27"/>
                  </a:lnTo>
                  <a:lnTo>
                    <a:pt x="43" y="22"/>
                  </a:lnTo>
                  <a:lnTo>
                    <a:pt x="43" y="20"/>
                  </a:lnTo>
                  <a:lnTo>
                    <a:pt x="43" y="17"/>
                  </a:lnTo>
                  <a:lnTo>
                    <a:pt x="41" y="12"/>
                  </a:lnTo>
                  <a:lnTo>
                    <a:pt x="41" y="10"/>
                  </a:lnTo>
                  <a:lnTo>
                    <a:pt x="38" y="7"/>
                  </a:lnTo>
                  <a:lnTo>
                    <a:pt x="35" y="5"/>
                  </a:lnTo>
                  <a:lnTo>
                    <a:pt x="33" y="2"/>
                  </a:lnTo>
                  <a:lnTo>
                    <a:pt x="30" y="2"/>
                  </a:lnTo>
                  <a:lnTo>
                    <a:pt x="28" y="0"/>
                  </a:lnTo>
                  <a:lnTo>
                    <a:pt x="25" y="0"/>
                  </a:lnTo>
                  <a:lnTo>
                    <a:pt x="23" y="0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3" y="2"/>
                  </a:lnTo>
                  <a:lnTo>
                    <a:pt x="10" y="2"/>
                  </a:lnTo>
                  <a:lnTo>
                    <a:pt x="7" y="5"/>
                  </a:lnTo>
                  <a:lnTo>
                    <a:pt x="5" y="7"/>
                  </a:lnTo>
                  <a:lnTo>
                    <a:pt x="2" y="10"/>
                  </a:lnTo>
                  <a:lnTo>
                    <a:pt x="2" y="12"/>
                  </a:lnTo>
                  <a:lnTo>
                    <a:pt x="0" y="17"/>
                  </a:lnTo>
                  <a:lnTo>
                    <a:pt x="0" y="20"/>
                  </a:lnTo>
                  <a:lnTo>
                    <a:pt x="0" y="22"/>
                  </a:lnTo>
                  <a:lnTo>
                    <a:pt x="2" y="27"/>
                  </a:lnTo>
                  <a:lnTo>
                    <a:pt x="2" y="29"/>
                  </a:lnTo>
                  <a:lnTo>
                    <a:pt x="5" y="32"/>
                  </a:lnTo>
                  <a:lnTo>
                    <a:pt x="7" y="34"/>
                  </a:lnTo>
                  <a:lnTo>
                    <a:pt x="10" y="37"/>
                  </a:lnTo>
                  <a:lnTo>
                    <a:pt x="13" y="37"/>
                  </a:lnTo>
                  <a:lnTo>
                    <a:pt x="15" y="39"/>
                  </a:lnTo>
                  <a:lnTo>
                    <a:pt x="18" y="39"/>
                  </a:lnTo>
                  <a:lnTo>
                    <a:pt x="23" y="39"/>
                  </a:lnTo>
                  <a:lnTo>
                    <a:pt x="20" y="3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223" name="Freeform 135"/>
            <p:cNvSpPr>
              <a:spLocks/>
            </p:cNvSpPr>
            <p:nvPr/>
          </p:nvSpPr>
          <p:spPr bwMode="auto">
            <a:xfrm>
              <a:off x="2206" y="3450"/>
              <a:ext cx="43" cy="39"/>
            </a:xfrm>
            <a:custGeom>
              <a:avLst/>
              <a:gdLst>
                <a:gd name="T0" fmla="*/ 20 w 43"/>
                <a:gd name="T1" fmla="*/ 39 h 39"/>
                <a:gd name="T2" fmla="*/ 25 w 43"/>
                <a:gd name="T3" fmla="*/ 39 h 39"/>
                <a:gd name="T4" fmla="*/ 28 w 43"/>
                <a:gd name="T5" fmla="*/ 39 h 39"/>
                <a:gd name="T6" fmla="*/ 30 w 43"/>
                <a:gd name="T7" fmla="*/ 37 h 39"/>
                <a:gd name="T8" fmla="*/ 33 w 43"/>
                <a:gd name="T9" fmla="*/ 37 h 39"/>
                <a:gd name="T10" fmla="*/ 35 w 43"/>
                <a:gd name="T11" fmla="*/ 34 h 39"/>
                <a:gd name="T12" fmla="*/ 38 w 43"/>
                <a:gd name="T13" fmla="*/ 32 h 39"/>
                <a:gd name="T14" fmla="*/ 41 w 43"/>
                <a:gd name="T15" fmla="*/ 30 h 39"/>
                <a:gd name="T16" fmla="*/ 41 w 43"/>
                <a:gd name="T17" fmla="*/ 27 h 39"/>
                <a:gd name="T18" fmla="*/ 43 w 43"/>
                <a:gd name="T19" fmla="*/ 22 h 39"/>
                <a:gd name="T20" fmla="*/ 43 w 43"/>
                <a:gd name="T21" fmla="*/ 20 h 39"/>
                <a:gd name="T22" fmla="*/ 43 w 43"/>
                <a:gd name="T23" fmla="*/ 17 h 39"/>
                <a:gd name="T24" fmla="*/ 41 w 43"/>
                <a:gd name="T25" fmla="*/ 12 h 39"/>
                <a:gd name="T26" fmla="*/ 41 w 43"/>
                <a:gd name="T27" fmla="*/ 10 h 39"/>
                <a:gd name="T28" fmla="*/ 38 w 43"/>
                <a:gd name="T29" fmla="*/ 7 h 39"/>
                <a:gd name="T30" fmla="*/ 35 w 43"/>
                <a:gd name="T31" fmla="*/ 5 h 39"/>
                <a:gd name="T32" fmla="*/ 33 w 43"/>
                <a:gd name="T33" fmla="*/ 2 h 39"/>
                <a:gd name="T34" fmla="*/ 30 w 43"/>
                <a:gd name="T35" fmla="*/ 2 h 39"/>
                <a:gd name="T36" fmla="*/ 28 w 43"/>
                <a:gd name="T37" fmla="*/ 0 h 39"/>
                <a:gd name="T38" fmla="*/ 25 w 43"/>
                <a:gd name="T39" fmla="*/ 0 h 39"/>
                <a:gd name="T40" fmla="*/ 23 w 43"/>
                <a:gd name="T41" fmla="*/ 0 h 39"/>
                <a:gd name="T42" fmla="*/ 18 w 43"/>
                <a:gd name="T43" fmla="*/ 0 h 39"/>
                <a:gd name="T44" fmla="*/ 15 w 43"/>
                <a:gd name="T45" fmla="*/ 0 h 39"/>
                <a:gd name="T46" fmla="*/ 13 w 43"/>
                <a:gd name="T47" fmla="*/ 2 h 39"/>
                <a:gd name="T48" fmla="*/ 10 w 43"/>
                <a:gd name="T49" fmla="*/ 2 h 39"/>
                <a:gd name="T50" fmla="*/ 7 w 43"/>
                <a:gd name="T51" fmla="*/ 5 h 39"/>
                <a:gd name="T52" fmla="*/ 5 w 43"/>
                <a:gd name="T53" fmla="*/ 7 h 39"/>
                <a:gd name="T54" fmla="*/ 2 w 43"/>
                <a:gd name="T55" fmla="*/ 10 h 39"/>
                <a:gd name="T56" fmla="*/ 2 w 43"/>
                <a:gd name="T57" fmla="*/ 12 h 39"/>
                <a:gd name="T58" fmla="*/ 0 w 43"/>
                <a:gd name="T59" fmla="*/ 17 h 39"/>
                <a:gd name="T60" fmla="*/ 0 w 43"/>
                <a:gd name="T61" fmla="*/ 20 h 39"/>
                <a:gd name="T62" fmla="*/ 0 w 43"/>
                <a:gd name="T63" fmla="*/ 22 h 39"/>
                <a:gd name="T64" fmla="*/ 2 w 43"/>
                <a:gd name="T65" fmla="*/ 27 h 39"/>
                <a:gd name="T66" fmla="*/ 2 w 43"/>
                <a:gd name="T67" fmla="*/ 30 h 39"/>
                <a:gd name="T68" fmla="*/ 5 w 43"/>
                <a:gd name="T69" fmla="*/ 32 h 39"/>
                <a:gd name="T70" fmla="*/ 7 w 43"/>
                <a:gd name="T71" fmla="*/ 34 h 39"/>
                <a:gd name="T72" fmla="*/ 10 w 43"/>
                <a:gd name="T73" fmla="*/ 37 h 39"/>
                <a:gd name="T74" fmla="*/ 13 w 43"/>
                <a:gd name="T75" fmla="*/ 37 h 39"/>
                <a:gd name="T76" fmla="*/ 15 w 43"/>
                <a:gd name="T77" fmla="*/ 39 h 39"/>
                <a:gd name="T78" fmla="*/ 18 w 43"/>
                <a:gd name="T79" fmla="*/ 39 h 39"/>
                <a:gd name="T80" fmla="*/ 23 w 43"/>
                <a:gd name="T81" fmla="*/ 39 h 39"/>
                <a:gd name="T82" fmla="*/ 23 w 43"/>
                <a:gd name="T83" fmla="*/ 39 h 39"/>
                <a:gd name="T84" fmla="*/ 20 w 43"/>
                <a:gd name="T85" fmla="*/ 39 h 39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43" h="39">
                  <a:moveTo>
                    <a:pt x="20" y="39"/>
                  </a:moveTo>
                  <a:lnTo>
                    <a:pt x="25" y="39"/>
                  </a:lnTo>
                  <a:lnTo>
                    <a:pt x="28" y="39"/>
                  </a:lnTo>
                  <a:lnTo>
                    <a:pt x="30" y="37"/>
                  </a:lnTo>
                  <a:lnTo>
                    <a:pt x="33" y="37"/>
                  </a:lnTo>
                  <a:lnTo>
                    <a:pt x="35" y="34"/>
                  </a:lnTo>
                  <a:lnTo>
                    <a:pt x="38" y="32"/>
                  </a:lnTo>
                  <a:lnTo>
                    <a:pt x="41" y="30"/>
                  </a:lnTo>
                  <a:lnTo>
                    <a:pt x="41" y="27"/>
                  </a:lnTo>
                  <a:lnTo>
                    <a:pt x="43" y="22"/>
                  </a:lnTo>
                  <a:lnTo>
                    <a:pt x="43" y="20"/>
                  </a:lnTo>
                  <a:lnTo>
                    <a:pt x="43" y="17"/>
                  </a:lnTo>
                  <a:lnTo>
                    <a:pt x="41" y="12"/>
                  </a:lnTo>
                  <a:lnTo>
                    <a:pt x="41" y="10"/>
                  </a:lnTo>
                  <a:lnTo>
                    <a:pt x="38" y="7"/>
                  </a:lnTo>
                  <a:lnTo>
                    <a:pt x="35" y="5"/>
                  </a:lnTo>
                  <a:lnTo>
                    <a:pt x="33" y="2"/>
                  </a:lnTo>
                  <a:lnTo>
                    <a:pt x="30" y="2"/>
                  </a:lnTo>
                  <a:lnTo>
                    <a:pt x="28" y="0"/>
                  </a:lnTo>
                  <a:lnTo>
                    <a:pt x="25" y="0"/>
                  </a:lnTo>
                  <a:lnTo>
                    <a:pt x="23" y="0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3" y="2"/>
                  </a:lnTo>
                  <a:lnTo>
                    <a:pt x="10" y="2"/>
                  </a:lnTo>
                  <a:lnTo>
                    <a:pt x="7" y="5"/>
                  </a:lnTo>
                  <a:lnTo>
                    <a:pt x="5" y="7"/>
                  </a:lnTo>
                  <a:lnTo>
                    <a:pt x="2" y="10"/>
                  </a:lnTo>
                  <a:lnTo>
                    <a:pt x="2" y="12"/>
                  </a:lnTo>
                  <a:lnTo>
                    <a:pt x="0" y="17"/>
                  </a:lnTo>
                  <a:lnTo>
                    <a:pt x="0" y="20"/>
                  </a:lnTo>
                  <a:lnTo>
                    <a:pt x="0" y="22"/>
                  </a:lnTo>
                  <a:lnTo>
                    <a:pt x="2" y="27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7" y="34"/>
                  </a:lnTo>
                  <a:lnTo>
                    <a:pt x="10" y="37"/>
                  </a:lnTo>
                  <a:lnTo>
                    <a:pt x="13" y="37"/>
                  </a:lnTo>
                  <a:lnTo>
                    <a:pt x="15" y="39"/>
                  </a:lnTo>
                  <a:lnTo>
                    <a:pt x="18" y="39"/>
                  </a:lnTo>
                  <a:lnTo>
                    <a:pt x="23" y="39"/>
                  </a:lnTo>
                  <a:lnTo>
                    <a:pt x="20" y="3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224" name="Freeform 136"/>
            <p:cNvSpPr>
              <a:spLocks/>
            </p:cNvSpPr>
            <p:nvPr/>
          </p:nvSpPr>
          <p:spPr bwMode="auto">
            <a:xfrm>
              <a:off x="2206" y="3573"/>
              <a:ext cx="43" cy="40"/>
            </a:xfrm>
            <a:custGeom>
              <a:avLst/>
              <a:gdLst>
                <a:gd name="T0" fmla="*/ 20 w 43"/>
                <a:gd name="T1" fmla="*/ 40 h 40"/>
                <a:gd name="T2" fmla="*/ 25 w 43"/>
                <a:gd name="T3" fmla="*/ 40 h 40"/>
                <a:gd name="T4" fmla="*/ 28 w 43"/>
                <a:gd name="T5" fmla="*/ 40 h 40"/>
                <a:gd name="T6" fmla="*/ 30 w 43"/>
                <a:gd name="T7" fmla="*/ 37 h 40"/>
                <a:gd name="T8" fmla="*/ 33 w 43"/>
                <a:gd name="T9" fmla="*/ 37 h 40"/>
                <a:gd name="T10" fmla="*/ 35 w 43"/>
                <a:gd name="T11" fmla="*/ 35 h 40"/>
                <a:gd name="T12" fmla="*/ 38 w 43"/>
                <a:gd name="T13" fmla="*/ 32 h 40"/>
                <a:gd name="T14" fmla="*/ 41 w 43"/>
                <a:gd name="T15" fmla="*/ 30 h 40"/>
                <a:gd name="T16" fmla="*/ 41 w 43"/>
                <a:gd name="T17" fmla="*/ 27 h 40"/>
                <a:gd name="T18" fmla="*/ 43 w 43"/>
                <a:gd name="T19" fmla="*/ 22 h 40"/>
                <a:gd name="T20" fmla="*/ 43 w 43"/>
                <a:gd name="T21" fmla="*/ 20 h 40"/>
                <a:gd name="T22" fmla="*/ 43 w 43"/>
                <a:gd name="T23" fmla="*/ 17 h 40"/>
                <a:gd name="T24" fmla="*/ 41 w 43"/>
                <a:gd name="T25" fmla="*/ 12 h 40"/>
                <a:gd name="T26" fmla="*/ 41 w 43"/>
                <a:gd name="T27" fmla="*/ 10 h 40"/>
                <a:gd name="T28" fmla="*/ 38 w 43"/>
                <a:gd name="T29" fmla="*/ 8 h 40"/>
                <a:gd name="T30" fmla="*/ 35 w 43"/>
                <a:gd name="T31" fmla="*/ 5 h 40"/>
                <a:gd name="T32" fmla="*/ 33 w 43"/>
                <a:gd name="T33" fmla="*/ 3 h 40"/>
                <a:gd name="T34" fmla="*/ 30 w 43"/>
                <a:gd name="T35" fmla="*/ 3 h 40"/>
                <a:gd name="T36" fmla="*/ 28 w 43"/>
                <a:gd name="T37" fmla="*/ 0 h 40"/>
                <a:gd name="T38" fmla="*/ 25 w 43"/>
                <a:gd name="T39" fmla="*/ 0 h 40"/>
                <a:gd name="T40" fmla="*/ 23 w 43"/>
                <a:gd name="T41" fmla="*/ 0 h 40"/>
                <a:gd name="T42" fmla="*/ 18 w 43"/>
                <a:gd name="T43" fmla="*/ 0 h 40"/>
                <a:gd name="T44" fmla="*/ 15 w 43"/>
                <a:gd name="T45" fmla="*/ 0 h 40"/>
                <a:gd name="T46" fmla="*/ 13 w 43"/>
                <a:gd name="T47" fmla="*/ 3 h 40"/>
                <a:gd name="T48" fmla="*/ 10 w 43"/>
                <a:gd name="T49" fmla="*/ 3 h 40"/>
                <a:gd name="T50" fmla="*/ 7 w 43"/>
                <a:gd name="T51" fmla="*/ 5 h 40"/>
                <a:gd name="T52" fmla="*/ 5 w 43"/>
                <a:gd name="T53" fmla="*/ 8 h 40"/>
                <a:gd name="T54" fmla="*/ 2 w 43"/>
                <a:gd name="T55" fmla="*/ 10 h 40"/>
                <a:gd name="T56" fmla="*/ 2 w 43"/>
                <a:gd name="T57" fmla="*/ 12 h 40"/>
                <a:gd name="T58" fmla="*/ 0 w 43"/>
                <a:gd name="T59" fmla="*/ 17 h 40"/>
                <a:gd name="T60" fmla="*/ 0 w 43"/>
                <a:gd name="T61" fmla="*/ 20 h 40"/>
                <a:gd name="T62" fmla="*/ 0 w 43"/>
                <a:gd name="T63" fmla="*/ 22 h 40"/>
                <a:gd name="T64" fmla="*/ 2 w 43"/>
                <a:gd name="T65" fmla="*/ 27 h 40"/>
                <a:gd name="T66" fmla="*/ 2 w 43"/>
                <a:gd name="T67" fmla="*/ 30 h 40"/>
                <a:gd name="T68" fmla="*/ 5 w 43"/>
                <a:gd name="T69" fmla="*/ 32 h 40"/>
                <a:gd name="T70" fmla="*/ 7 w 43"/>
                <a:gd name="T71" fmla="*/ 35 h 40"/>
                <a:gd name="T72" fmla="*/ 10 w 43"/>
                <a:gd name="T73" fmla="*/ 37 h 40"/>
                <a:gd name="T74" fmla="*/ 13 w 43"/>
                <a:gd name="T75" fmla="*/ 37 h 40"/>
                <a:gd name="T76" fmla="*/ 15 w 43"/>
                <a:gd name="T77" fmla="*/ 40 h 40"/>
                <a:gd name="T78" fmla="*/ 18 w 43"/>
                <a:gd name="T79" fmla="*/ 40 h 40"/>
                <a:gd name="T80" fmla="*/ 23 w 43"/>
                <a:gd name="T81" fmla="*/ 40 h 40"/>
                <a:gd name="T82" fmla="*/ 23 w 43"/>
                <a:gd name="T83" fmla="*/ 40 h 40"/>
                <a:gd name="T84" fmla="*/ 20 w 43"/>
                <a:gd name="T85" fmla="*/ 40 h 4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43" h="40">
                  <a:moveTo>
                    <a:pt x="20" y="40"/>
                  </a:moveTo>
                  <a:lnTo>
                    <a:pt x="25" y="40"/>
                  </a:lnTo>
                  <a:lnTo>
                    <a:pt x="28" y="40"/>
                  </a:lnTo>
                  <a:lnTo>
                    <a:pt x="30" y="37"/>
                  </a:lnTo>
                  <a:lnTo>
                    <a:pt x="33" y="37"/>
                  </a:lnTo>
                  <a:lnTo>
                    <a:pt x="35" y="35"/>
                  </a:lnTo>
                  <a:lnTo>
                    <a:pt x="38" y="32"/>
                  </a:lnTo>
                  <a:lnTo>
                    <a:pt x="41" y="30"/>
                  </a:lnTo>
                  <a:lnTo>
                    <a:pt x="41" y="27"/>
                  </a:lnTo>
                  <a:lnTo>
                    <a:pt x="43" y="22"/>
                  </a:lnTo>
                  <a:lnTo>
                    <a:pt x="43" y="20"/>
                  </a:lnTo>
                  <a:lnTo>
                    <a:pt x="43" y="17"/>
                  </a:lnTo>
                  <a:lnTo>
                    <a:pt x="41" y="12"/>
                  </a:lnTo>
                  <a:lnTo>
                    <a:pt x="41" y="10"/>
                  </a:lnTo>
                  <a:lnTo>
                    <a:pt x="38" y="8"/>
                  </a:lnTo>
                  <a:lnTo>
                    <a:pt x="35" y="5"/>
                  </a:lnTo>
                  <a:lnTo>
                    <a:pt x="33" y="3"/>
                  </a:lnTo>
                  <a:lnTo>
                    <a:pt x="30" y="3"/>
                  </a:lnTo>
                  <a:lnTo>
                    <a:pt x="28" y="0"/>
                  </a:lnTo>
                  <a:lnTo>
                    <a:pt x="25" y="0"/>
                  </a:lnTo>
                  <a:lnTo>
                    <a:pt x="23" y="0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3" y="3"/>
                  </a:lnTo>
                  <a:lnTo>
                    <a:pt x="10" y="3"/>
                  </a:lnTo>
                  <a:lnTo>
                    <a:pt x="7" y="5"/>
                  </a:lnTo>
                  <a:lnTo>
                    <a:pt x="5" y="8"/>
                  </a:lnTo>
                  <a:lnTo>
                    <a:pt x="2" y="10"/>
                  </a:lnTo>
                  <a:lnTo>
                    <a:pt x="2" y="12"/>
                  </a:lnTo>
                  <a:lnTo>
                    <a:pt x="0" y="17"/>
                  </a:lnTo>
                  <a:lnTo>
                    <a:pt x="0" y="20"/>
                  </a:lnTo>
                  <a:lnTo>
                    <a:pt x="0" y="22"/>
                  </a:lnTo>
                  <a:lnTo>
                    <a:pt x="2" y="27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7" y="35"/>
                  </a:lnTo>
                  <a:lnTo>
                    <a:pt x="10" y="37"/>
                  </a:lnTo>
                  <a:lnTo>
                    <a:pt x="13" y="37"/>
                  </a:lnTo>
                  <a:lnTo>
                    <a:pt x="15" y="40"/>
                  </a:lnTo>
                  <a:lnTo>
                    <a:pt x="18" y="40"/>
                  </a:lnTo>
                  <a:lnTo>
                    <a:pt x="23" y="40"/>
                  </a:lnTo>
                  <a:lnTo>
                    <a:pt x="20" y="4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225" name="Freeform 137"/>
            <p:cNvSpPr>
              <a:spLocks/>
            </p:cNvSpPr>
            <p:nvPr/>
          </p:nvSpPr>
          <p:spPr bwMode="auto">
            <a:xfrm>
              <a:off x="2206" y="3696"/>
              <a:ext cx="43" cy="40"/>
            </a:xfrm>
            <a:custGeom>
              <a:avLst/>
              <a:gdLst>
                <a:gd name="T0" fmla="*/ 20 w 43"/>
                <a:gd name="T1" fmla="*/ 40 h 40"/>
                <a:gd name="T2" fmla="*/ 25 w 43"/>
                <a:gd name="T3" fmla="*/ 40 h 40"/>
                <a:gd name="T4" fmla="*/ 28 w 43"/>
                <a:gd name="T5" fmla="*/ 40 h 40"/>
                <a:gd name="T6" fmla="*/ 30 w 43"/>
                <a:gd name="T7" fmla="*/ 37 h 40"/>
                <a:gd name="T8" fmla="*/ 33 w 43"/>
                <a:gd name="T9" fmla="*/ 37 h 40"/>
                <a:gd name="T10" fmla="*/ 35 w 43"/>
                <a:gd name="T11" fmla="*/ 35 h 40"/>
                <a:gd name="T12" fmla="*/ 38 w 43"/>
                <a:gd name="T13" fmla="*/ 32 h 40"/>
                <a:gd name="T14" fmla="*/ 41 w 43"/>
                <a:gd name="T15" fmla="*/ 30 h 40"/>
                <a:gd name="T16" fmla="*/ 41 w 43"/>
                <a:gd name="T17" fmla="*/ 27 h 40"/>
                <a:gd name="T18" fmla="*/ 43 w 43"/>
                <a:gd name="T19" fmla="*/ 23 h 40"/>
                <a:gd name="T20" fmla="*/ 43 w 43"/>
                <a:gd name="T21" fmla="*/ 20 h 40"/>
                <a:gd name="T22" fmla="*/ 43 w 43"/>
                <a:gd name="T23" fmla="*/ 18 h 40"/>
                <a:gd name="T24" fmla="*/ 41 w 43"/>
                <a:gd name="T25" fmla="*/ 13 h 40"/>
                <a:gd name="T26" fmla="*/ 41 w 43"/>
                <a:gd name="T27" fmla="*/ 10 h 40"/>
                <a:gd name="T28" fmla="*/ 38 w 43"/>
                <a:gd name="T29" fmla="*/ 8 h 40"/>
                <a:gd name="T30" fmla="*/ 35 w 43"/>
                <a:gd name="T31" fmla="*/ 5 h 40"/>
                <a:gd name="T32" fmla="*/ 33 w 43"/>
                <a:gd name="T33" fmla="*/ 3 h 40"/>
                <a:gd name="T34" fmla="*/ 30 w 43"/>
                <a:gd name="T35" fmla="*/ 3 h 40"/>
                <a:gd name="T36" fmla="*/ 28 w 43"/>
                <a:gd name="T37" fmla="*/ 0 h 40"/>
                <a:gd name="T38" fmla="*/ 25 w 43"/>
                <a:gd name="T39" fmla="*/ 0 h 40"/>
                <a:gd name="T40" fmla="*/ 23 w 43"/>
                <a:gd name="T41" fmla="*/ 0 h 40"/>
                <a:gd name="T42" fmla="*/ 18 w 43"/>
                <a:gd name="T43" fmla="*/ 0 h 40"/>
                <a:gd name="T44" fmla="*/ 15 w 43"/>
                <a:gd name="T45" fmla="*/ 0 h 40"/>
                <a:gd name="T46" fmla="*/ 13 w 43"/>
                <a:gd name="T47" fmla="*/ 3 h 40"/>
                <a:gd name="T48" fmla="*/ 10 w 43"/>
                <a:gd name="T49" fmla="*/ 3 h 40"/>
                <a:gd name="T50" fmla="*/ 7 w 43"/>
                <a:gd name="T51" fmla="*/ 5 h 40"/>
                <a:gd name="T52" fmla="*/ 5 w 43"/>
                <a:gd name="T53" fmla="*/ 8 h 40"/>
                <a:gd name="T54" fmla="*/ 2 w 43"/>
                <a:gd name="T55" fmla="*/ 10 h 40"/>
                <a:gd name="T56" fmla="*/ 2 w 43"/>
                <a:gd name="T57" fmla="*/ 13 h 40"/>
                <a:gd name="T58" fmla="*/ 0 w 43"/>
                <a:gd name="T59" fmla="*/ 18 h 40"/>
                <a:gd name="T60" fmla="*/ 0 w 43"/>
                <a:gd name="T61" fmla="*/ 20 h 40"/>
                <a:gd name="T62" fmla="*/ 0 w 43"/>
                <a:gd name="T63" fmla="*/ 23 h 40"/>
                <a:gd name="T64" fmla="*/ 2 w 43"/>
                <a:gd name="T65" fmla="*/ 27 h 40"/>
                <a:gd name="T66" fmla="*/ 2 w 43"/>
                <a:gd name="T67" fmla="*/ 30 h 40"/>
                <a:gd name="T68" fmla="*/ 5 w 43"/>
                <a:gd name="T69" fmla="*/ 32 h 40"/>
                <a:gd name="T70" fmla="*/ 7 w 43"/>
                <a:gd name="T71" fmla="*/ 35 h 40"/>
                <a:gd name="T72" fmla="*/ 10 w 43"/>
                <a:gd name="T73" fmla="*/ 37 h 40"/>
                <a:gd name="T74" fmla="*/ 13 w 43"/>
                <a:gd name="T75" fmla="*/ 37 h 40"/>
                <a:gd name="T76" fmla="*/ 15 w 43"/>
                <a:gd name="T77" fmla="*/ 40 h 40"/>
                <a:gd name="T78" fmla="*/ 18 w 43"/>
                <a:gd name="T79" fmla="*/ 40 h 40"/>
                <a:gd name="T80" fmla="*/ 23 w 43"/>
                <a:gd name="T81" fmla="*/ 40 h 40"/>
                <a:gd name="T82" fmla="*/ 23 w 43"/>
                <a:gd name="T83" fmla="*/ 40 h 40"/>
                <a:gd name="T84" fmla="*/ 20 w 43"/>
                <a:gd name="T85" fmla="*/ 40 h 4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43" h="40">
                  <a:moveTo>
                    <a:pt x="20" y="40"/>
                  </a:moveTo>
                  <a:lnTo>
                    <a:pt x="25" y="40"/>
                  </a:lnTo>
                  <a:lnTo>
                    <a:pt x="28" y="40"/>
                  </a:lnTo>
                  <a:lnTo>
                    <a:pt x="30" y="37"/>
                  </a:lnTo>
                  <a:lnTo>
                    <a:pt x="33" y="37"/>
                  </a:lnTo>
                  <a:lnTo>
                    <a:pt x="35" y="35"/>
                  </a:lnTo>
                  <a:lnTo>
                    <a:pt x="38" y="32"/>
                  </a:lnTo>
                  <a:lnTo>
                    <a:pt x="41" y="30"/>
                  </a:lnTo>
                  <a:lnTo>
                    <a:pt x="41" y="27"/>
                  </a:lnTo>
                  <a:lnTo>
                    <a:pt x="43" y="23"/>
                  </a:lnTo>
                  <a:lnTo>
                    <a:pt x="43" y="20"/>
                  </a:lnTo>
                  <a:lnTo>
                    <a:pt x="43" y="18"/>
                  </a:lnTo>
                  <a:lnTo>
                    <a:pt x="41" y="13"/>
                  </a:lnTo>
                  <a:lnTo>
                    <a:pt x="41" y="10"/>
                  </a:lnTo>
                  <a:lnTo>
                    <a:pt x="38" y="8"/>
                  </a:lnTo>
                  <a:lnTo>
                    <a:pt x="35" y="5"/>
                  </a:lnTo>
                  <a:lnTo>
                    <a:pt x="33" y="3"/>
                  </a:lnTo>
                  <a:lnTo>
                    <a:pt x="30" y="3"/>
                  </a:lnTo>
                  <a:lnTo>
                    <a:pt x="28" y="0"/>
                  </a:lnTo>
                  <a:lnTo>
                    <a:pt x="25" y="0"/>
                  </a:lnTo>
                  <a:lnTo>
                    <a:pt x="23" y="0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3" y="3"/>
                  </a:lnTo>
                  <a:lnTo>
                    <a:pt x="10" y="3"/>
                  </a:lnTo>
                  <a:lnTo>
                    <a:pt x="7" y="5"/>
                  </a:lnTo>
                  <a:lnTo>
                    <a:pt x="5" y="8"/>
                  </a:lnTo>
                  <a:lnTo>
                    <a:pt x="2" y="10"/>
                  </a:lnTo>
                  <a:lnTo>
                    <a:pt x="2" y="13"/>
                  </a:lnTo>
                  <a:lnTo>
                    <a:pt x="0" y="18"/>
                  </a:lnTo>
                  <a:lnTo>
                    <a:pt x="0" y="20"/>
                  </a:lnTo>
                  <a:lnTo>
                    <a:pt x="0" y="23"/>
                  </a:lnTo>
                  <a:lnTo>
                    <a:pt x="2" y="27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7" y="35"/>
                  </a:lnTo>
                  <a:lnTo>
                    <a:pt x="10" y="37"/>
                  </a:lnTo>
                  <a:lnTo>
                    <a:pt x="13" y="37"/>
                  </a:lnTo>
                  <a:lnTo>
                    <a:pt x="15" y="40"/>
                  </a:lnTo>
                  <a:lnTo>
                    <a:pt x="18" y="40"/>
                  </a:lnTo>
                  <a:lnTo>
                    <a:pt x="23" y="40"/>
                  </a:lnTo>
                  <a:lnTo>
                    <a:pt x="20" y="4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226" name="Freeform 138"/>
            <p:cNvSpPr>
              <a:spLocks/>
            </p:cNvSpPr>
            <p:nvPr/>
          </p:nvSpPr>
          <p:spPr bwMode="auto">
            <a:xfrm>
              <a:off x="2206" y="3820"/>
              <a:ext cx="43" cy="39"/>
            </a:xfrm>
            <a:custGeom>
              <a:avLst/>
              <a:gdLst>
                <a:gd name="T0" fmla="*/ 20 w 43"/>
                <a:gd name="T1" fmla="*/ 39 h 39"/>
                <a:gd name="T2" fmla="*/ 25 w 43"/>
                <a:gd name="T3" fmla="*/ 39 h 39"/>
                <a:gd name="T4" fmla="*/ 28 w 43"/>
                <a:gd name="T5" fmla="*/ 39 h 39"/>
                <a:gd name="T6" fmla="*/ 30 w 43"/>
                <a:gd name="T7" fmla="*/ 36 h 39"/>
                <a:gd name="T8" fmla="*/ 33 w 43"/>
                <a:gd name="T9" fmla="*/ 36 h 39"/>
                <a:gd name="T10" fmla="*/ 35 w 43"/>
                <a:gd name="T11" fmla="*/ 34 h 39"/>
                <a:gd name="T12" fmla="*/ 38 w 43"/>
                <a:gd name="T13" fmla="*/ 32 h 39"/>
                <a:gd name="T14" fmla="*/ 41 w 43"/>
                <a:gd name="T15" fmla="*/ 29 h 39"/>
                <a:gd name="T16" fmla="*/ 41 w 43"/>
                <a:gd name="T17" fmla="*/ 27 h 39"/>
                <a:gd name="T18" fmla="*/ 43 w 43"/>
                <a:gd name="T19" fmla="*/ 22 h 39"/>
                <a:gd name="T20" fmla="*/ 43 w 43"/>
                <a:gd name="T21" fmla="*/ 19 h 39"/>
                <a:gd name="T22" fmla="*/ 43 w 43"/>
                <a:gd name="T23" fmla="*/ 17 h 39"/>
                <a:gd name="T24" fmla="*/ 41 w 43"/>
                <a:gd name="T25" fmla="*/ 12 h 39"/>
                <a:gd name="T26" fmla="*/ 41 w 43"/>
                <a:gd name="T27" fmla="*/ 9 h 39"/>
                <a:gd name="T28" fmla="*/ 38 w 43"/>
                <a:gd name="T29" fmla="*/ 7 h 39"/>
                <a:gd name="T30" fmla="*/ 35 w 43"/>
                <a:gd name="T31" fmla="*/ 4 h 39"/>
                <a:gd name="T32" fmla="*/ 33 w 43"/>
                <a:gd name="T33" fmla="*/ 2 h 39"/>
                <a:gd name="T34" fmla="*/ 30 w 43"/>
                <a:gd name="T35" fmla="*/ 2 h 39"/>
                <a:gd name="T36" fmla="*/ 28 w 43"/>
                <a:gd name="T37" fmla="*/ 0 h 39"/>
                <a:gd name="T38" fmla="*/ 25 w 43"/>
                <a:gd name="T39" fmla="*/ 0 h 39"/>
                <a:gd name="T40" fmla="*/ 23 w 43"/>
                <a:gd name="T41" fmla="*/ 0 h 39"/>
                <a:gd name="T42" fmla="*/ 18 w 43"/>
                <a:gd name="T43" fmla="*/ 0 h 39"/>
                <a:gd name="T44" fmla="*/ 15 w 43"/>
                <a:gd name="T45" fmla="*/ 0 h 39"/>
                <a:gd name="T46" fmla="*/ 13 w 43"/>
                <a:gd name="T47" fmla="*/ 2 h 39"/>
                <a:gd name="T48" fmla="*/ 10 w 43"/>
                <a:gd name="T49" fmla="*/ 2 h 39"/>
                <a:gd name="T50" fmla="*/ 7 w 43"/>
                <a:gd name="T51" fmla="*/ 4 h 39"/>
                <a:gd name="T52" fmla="*/ 5 w 43"/>
                <a:gd name="T53" fmla="*/ 7 h 39"/>
                <a:gd name="T54" fmla="*/ 2 w 43"/>
                <a:gd name="T55" fmla="*/ 9 h 39"/>
                <a:gd name="T56" fmla="*/ 2 w 43"/>
                <a:gd name="T57" fmla="*/ 12 h 39"/>
                <a:gd name="T58" fmla="*/ 0 w 43"/>
                <a:gd name="T59" fmla="*/ 17 h 39"/>
                <a:gd name="T60" fmla="*/ 0 w 43"/>
                <a:gd name="T61" fmla="*/ 19 h 39"/>
                <a:gd name="T62" fmla="*/ 0 w 43"/>
                <a:gd name="T63" fmla="*/ 22 h 39"/>
                <a:gd name="T64" fmla="*/ 2 w 43"/>
                <a:gd name="T65" fmla="*/ 27 h 39"/>
                <a:gd name="T66" fmla="*/ 2 w 43"/>
                <a:gd name="T67" fmla="*/ 29 h 39"/>
                <a:gd name="T68" fmla="*/ 5 w 43"/>
                <a:gd name="T69" fmla="*/ 32 h 39"/>
                <a:gd name="T70" fmla="*/ 7 w 43"/>
                <a:gd name="T71" fmla="*/ 34 h 39"/>
                <a:gd name="T72" fmla="*/ 10 w 43"/>
                <a:gd name="T73" fmla="*/ 36 h 39"/>
                <a:gd name="T74" fmla="*/ 13 w 43"/>
                <a:gd name="T75" fmla="*/ 36 h 39"/>
                <a:gd name="T76" fmla="*/ 15 w 43"/>
                <a:gd name="T77" fmla="*/ 39 h 39"/>
                <a:gd name="T78" fmla="*/ 18 w 43"/>
                <a:gd name="T79" fmla="*/ 39 h 39"/>
                <a:gd name="T80" fmla="*/ 23 w 43"/>
                <a:gd name="T81" fmla="*/ 39 h 39"/>
                <a:gd name="T82" fmla="*/ 23 w 43"/>
                <a:gd name="T83" fmla="*/ 39 h 39"/>
                <a:gd name="T84" fmla="*/ 20 w 43"/>
                <a:gd name="T85" fmla="*/ 39 h 39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43" h="39">
                  <a:moveTo>
                    <a:pt x="20" y="39"/>
                  </a:moveTo>
                  <a:lnTo>
                    <a:pt x="25" y="39"/>
                  </a:lnTo>
                  <a:lnTo>
                    <a:pt x="28" y="39"/>
                  </a:lnTo>
                  <a:lnTo>
                    <a:pt x="30" y="36"/>
                  </a:lnTo>
                  <a:lnTo>
                    <a:pt x="33" y="36"/>
                  </a:lnTo>
                  <a:lnTo>
                    <a:pt x="35" y="34"/>
                  </a:lnTo>
                  <a:lnTo>
                    <a:pt x="38" y="32"/>
                  </a:lnTo>
                  <a:lnTo>
                    <a:pt x="41" y="29"/>
                  </a:lnTo>
                  <a:lnTo>
                    <a:pt x="41" y="27"/>
                  </a:lnTo>
                  <a:lnTo>
                    <a:pt x="43" y="22"/>
                  </a:lnTo>
                  <a:lnTo>
                    <a:pt x="43" y="19"/>
                  </a:lnTo>
                  <a:lnTo>
                    <a:pt x="43" y="17"/>
                  </a:lnTo>
                  <a:lnTo>
                    <a:pt x="41" y="12"/>
                  </a:lnTo>
                  <a:lnTo>
                    <a:pt x="41" y="9"/>
                  </a:lnTo>
                  <a:lnTo>
                    <a:pt x="38" y="7"/>
                  </a:lnTo>
                  <a:lnTo>
                    <a:pt x="35" y="4"/>
                  </a:lnTo>
                  <a:lnTo>
                    <a:pt x="33" y="2"/>
                  </a:lnTo>
                  <a:lnTo>
                    <a:pt x="30" y="2"/>
                  </a:lnTo>
                  <a:lnTo>
                    <a:pt x="28" y="0"/>
                  </a:lnTo>
                  <a:lnTo>
                    <a:pt x="25" y="0"/>
                  </a:lnTo>
                  <a:lnTo>
                    <a:pt x="23" y="0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3" y="2"/>
                  </a:lnTo>
                  <a:lnTo>
                    <a:pt x="10" y="2"/>
                  </a:lnTo>
                  <a:lnTo>
                    <a:pt x="7" y="4"/>
                  </a:lnTo>
                  <a:lnTo>
                    <a:pt x="5" y="7"/>
                  </a:lnTo>
                  <a:lnTo>
                    <a:pt x="2" y="9"/>
                  </a:lnTo>
                  <a:lnTo>
                    <a:pt x="2" y="12"/>
                  </a:lnTo>
                  <a:lnTo>
                    <a:pt x="0" y="17"/>
                  </a:lnTo>
                  <a:lnTo>
                    <a:pt x="0" y="19"/>
                  </a:lnTo>
                  <a:lnTo>
                    <a:pt x="0" y="22"/>
                  </a:lnTo>
                  <a:lnTo>
                    <a:pt x="2" y="27"/>
                  </a:lnTo>
                  <a:lnTo>
                    <a:pt x="2" y="29"/>
                  </a:lnTo>
                  <a:lnTo>
                    <a:pt x="5" y="32"/>
                  </a:lnTo>
                  <a:lnTo>
                    <a:pt x="7" y="34"/>
                  </a:lnTo>
                  <a:lnTo>
                    <a:pt x="10" y="36"/>
                  </a:lnTo>
                  <a:lnTo>
                    <a:pt x="13" y="36"/>
                  </a:lnTo>
                  <a:lnTo>
                    <a:pt x="15" y="39"/>
                  </a:lnTo>
                  <a:lnTo>
                    <a:pt x="18" y="39"/>
                  </a:lnTo>
                  <a:lnTo>
                    <a:pt x="23" y="39"/>
                  </a:lnTo>
                  <a:lnTo>
                    <a:pt x="20" y="3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227" name="Freeform 139"/>
            <p:cNvSpPr>
              <a:spLocks/>
            </p:cNvSpPr>
            <p:nvPr/>
          </p:nvSpPr>
          <p:spPr bwMode="auto">
            <a:xfrm>
              <a:off x="1112" y="1992"/>
              <a:ext cx="509" cy="123"/>
            </a:xfrm>
            <a:custGeom>
              <a:avLst/>
              <a:gdLst>
                <a:gd name="T0" fmla="*/ 509 w 509"/>
                <a:gd name="T1" fmla="*/ 123 h 123"/>
                <a:gd name="T2" fmla="*/ 509 w 509"/>
                <a:gd name="T3" fmla="*/ 0 h 123"/>
                <a:gd name="T4" fmla="*/ 0 w 509"/>
                <a:gd name="T5" fmla="*/ 0 h 123"/>
                <a:gd name="T6" fmla="*/ 0 w 509"/>
                <a:gd name="T7" fmla="*/ 123 h 123"/>
                <a:gd name="T8" fmla="*/ 509 w 509"/>
                <a:gd name="T9" fmla="*/ 123 h 123"/>
                <a:gd name="T10" fmla="*/ 509 w 509"/>
                <a:gd name="T11" fmla="*/ 123 h 1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09" h="123">
                  <a:moveTo>
                    <a:pt x="509" y="123"/>
                  </a:moveTo>
                  <a:lnTo>
                    <a:pt x="509" y="0"/>
                  </a:lnTo>
                  <a:lnTo>
                    <a:pt x="0" y="0"/>
                  </a:lnTo>
                  <a:lnTo>
                    <a:pt x="0" y="123"/>
                  </a:lnTo>
                  <a:lnTo>
                    <a:pt x="509" y="123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228" name="Rectangle 140"/>
            <p:cNvSpPr>
              <a:spLocks noChangeArrowheads="1"/>
            </p:cNvSpPr>
            <p:nvPr/>
          </p:nvSpPr>
          <p:spPr bwMode="auto">
            <a:xfrm>
              <a:off x="1145" y="1755"/>
              <a:ext cx="53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V</a:t>
              </a:r>
              <a:endParaRPr lang="en-US" sz="1600"/>
            </a:p>
          </p:txBody>
        </p:sp>
        <p:sp>
          <p:nvSpPr>
            <p:cNvPr id="46229" name="Rectangle 141"/>
            <p:cNvSpPr>
              <a:spLocks noChangeArrowheads="1"/>
            </p:cNvSpPr>
            <p:nvPr/>
          </p:nvSpPr>
          <p:spPr bwMode="auto">
            <a:xfrm>
              <a:off x="1201" y="1755"/>
              <a:ext cx="18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i</a:t>
              </a:r>
              <a:endParaRPr lang="en-US" sz="1600"/>
            </a:p>
          </p:txBody>
        </p:sp>
        <p:sp>
          <p:nvSpPr>
            <p:cNvPr id="46230" name="Rectangle 142"/>
            <p:cNvSpPr>
              <a:spLocks noChangeArrowheads="1"/>
            </p:cNvSpPr>
            <p:nvPr/>
          </p:nvSpPr>
          <p:spPr bwMode="auto">
            <a:xfrm>
              <a:off x="1221" y="1755"/>
              <a:ext cx="27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r</a:t>
              </a:r>
              <a:endParaRPr lang="en-US" sz="1600"/>
            </a:p>
          </p:txBody>
        </p:sp>
        <p:sp>
          <p:nvSpPr>
            <p:cNvPr id="46231" name="Rectangle 143"/>
            <p:cNvSpPr>
              <a:spLocks noChangeArrowheads="1"/>
            </p:cNvSpPr>
            <p:nvPr/>
          </p:nvSpPr>
          <p:spPr bwMode="auto">
            <a:xfrm>
              <a:off x="1249" y="1755"/>
              <a:ext cx="22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t</a:t>
              </a:r>
              <a:endParaRPr lang="en-US" sz="1600"/>
            </a:p>
          </p:txBody>
        </p:sp>
        <p:sp>
          <p:nvSpPr>
            <p:cNvPr id="46232" name="Rectangle 144"/>
            <p:cNvSpPr>
              <a:spLocks noChangeArrowheads="1"/>
            </p:cNvSpPr>
            <p:nvPr/>
          </p:nvSpPr>
          <p:spPr bwMode="auto">
            <a:xfrm>
              <a:off x="1272" y="1755"/>
              <a:ext cx="44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u</a:t>
              </a:r>
              <a:endParaRPr lang="en-US" sz="1600"/>
            </a:p>
          </p:txBody>
        </p:sp>
        <p:sp>
          <p:nvSpPr>
            <p:cNvPr id="46233" name="Rectangle 145"/>
            <p:cNvSpPr>
              <a:spLocks noChangeArrowheads="1"/>
            </p:cNvSpPr>
            <p:nvPr/>
          </p:nvSpPr>
          <p:spPr bwMode="auto">
            <a:xfrm>
              <a:off x="1320" y="1755"/>
              <a:ext cx="44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a</a:t>
              </a:r>
              <a:endParaRPr lang="en-US" sz="1600"/>
            </a:p>
          </p:txBody>
        </p:sp>
        <p:sp>
          <p:nvSpPr>
            <p:cNvPr id="46234" name="Rectangle 146"/>
            <p:cNvSpPr>
              <a:spLocks noChangeArrowheads="1"/>
            </p:cNvSpPr>
            <p:nvPr/>
          </p:nvSpPr>
          <p:spPr bwMode="auto">
            <a:xfrm>
              <a:off x="1366" y="1755"/>
              <a:ext cx="18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l</a:t>
              </a:r>
              <a:endParaRPr lang="en-US" sz="1600"/>
            </a:p>
          </p:txBody>
        </p:sp>
        <p:sp>
          <p:nvSpPr>
            <p:cNvPr id="46235" name="Rectangle 147"/>
            <p:cNvSpPr>
              <a:spLocks noChangeArrowheads="1"/>
            </p:cNvSpPr>
            <p:nvPr/>
          </p:nvSpPr>
          <p:spPr bwMode="auto">
            <a:xfrm>
              <a:off x="1386" y="1755"/>
              <a:ext cx="22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 </a:t>
              </a:r>
              <a:endParaRPr lang="en-US" sz="1600"/>
            </a:p>
          </p:txBody>
        </p:sp>
        <p:sp>
          <p:nvSpPr>
            <p:cNvPr id="46236" name="Rectangle 148"/>
            <p:cNvSpPr>
              <a:spLocks noChangeArrowheads="1"/>
            </p:cNvSpPr>
            <p:nvPr/>
          </p:nvSpPr>
          <p:spPr bwMode="auto">
            <a:xfrm>
              <a:off x="1409" y="1755"/>
              <a:ext cx="44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p</a:t>
              </a:r>
              <a:endParaRPr lang="en-US" sz="1600"/>
            </a:p>
          </p:txBody>
        </p:sp>
        <p:sp>
          <p:nvSpPr>
            <p:cNvPr id="46237" name="Rectangle 149"/>
            <p:cNvSpPr>
              <a:spLocks noChangeArrowheads="1"/>
            </p:cNvSpPr>
            <p:nvPr/>
          </p:nvSpPr>
          <p:spPr bwMode="auto">
            <a:xfrm>
              <a:off x="1455" y="1755"/>
              <a:ext cx="44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a</a:t>
              </a:r>
              <a:endParaRPr lang="en-US" sz="1600"/>
            </a:p>
          </p:txBody>
        </p:sp>
        <p:sp>
          <p:nvSpPr>
            <p:cNvPr id="46238" name="Rectangle 150"/>
            <p:cNvSpPr>
              <a:spLocks noChangeArrowheads="1"/>
            </p:cNvSpPr>
            <p:nvPr/>
          </p:nvSpPr>
          <p:spPr bwMode="auto">
            <a:xfrm>
              <a:off x="1503" y="1755"/>
              <a:ext cx="44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g</a:t>
              </a:r>
              <a:endParaRPr lang="en-US" sz="1600"/>
            </a:p>
          </p:txBody>
        </p:sp>
        <p:sp>
          <p:nvSpPr>
            <p:cNvPr id="46239" name="Rectangle 151"/>
            <p:cNvSpPr>
              <a:spLocks noChangeArrowheads="1"/>
            </p:cNvSpPr>
            <p:nvPr/>
          </p:nvSpPr>
          <p:spPr bwMode="auto">
            <a:xfrm>
              <a:off x="1549" y="1755"/>
              <a:ext cx="44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e</a:t>
              </a:r>
              <a:endParaRPr lang="en-US" sz="1600"/>
            </a:p>
          </p:txBody>
        </p:sp>
        <p:sp>
          <p:nvSpPr>
            <p:cNvPr id="46240" name="Rectangle 152"/>
            <p:cNvSpPr>
              <a:spLocks noChangeArrowheads="1"/>
            </p:cNvSpPr>
            <p:nvPr/>
          </p:nvSpPr>
          <p:spPr bwMode="auto">
            <a:xfrm>
              <a:off x="1598" y="1755"/>
              <a:ext cx="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 sz="1600"/>
            </a:p>
          </p:txBody>
        </p:sp>
        <p:sp>
          <p:nvSpPr>
            <p:cNvPr id="46241" name="Rectangle 153"/>
            <p:cNvSpPr>
              <a:spLocks noChangeArrowheads="1"/>
            </p:cNvSpPr>
            <p:nvPr/>
          </p:nvSpPr>
          <p:spPr bwMode="auto">
            <a:xfrm>
              <a:off x="1226" y="1854"/>
              <a:ext cx="44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n</a:t>
              </a:r>
              <a:endParaRPr lang="en-US" sz="1600"/>
            </a:p>
          </p:txBody>
        </p:sp>
        <p:sp>
          <p:nvSpPr>
            <p:cNvPr id="46242" name="Rectangle 154"/>
            <p:cNvSpPr>
              <a:spLocks noChangeArrowheads="1"/>
            </p:cNvSpPr>
            <p:nvPr/>
          </p:nvSpPr>
          <p:spPr bwMode="auto">
            <a:xfrm>
              <a:off x="1272" y="1854"/>
              <a:ext cx="44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u</a:t>
              </a:r>
              <a:endParaRPr lang="en-US" sz="1600"/>
            </a:p>
          </p:txBody>
        </p:sp>
        <p:sp>
          <p:nvSpPr>
            <p:cNvPr id="46243" name="Rectangle 155"/>
            <p:cNvSpPr>
              <a:spLocks noChangeArrowheads="1"/>
            </p:cNvSpPr>
            <p:nvPr/>
          </p:nvSpPr>
          <p:spPr bwMode="auto">
            <a:xfrm>
              <a:off x="1320" y="1854"/>
              <a:ext cx="67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m</a:t>
              </a:r>
              <a:endParaRPr lang="en-US" sz="1600"/>
            </a:p>
          </p:txBody>
        </p:sp>
        <p:sp>
          <p:nvSpPr>
            <p:cNvPr id="46244" name="Rectangle 156"/>
            <p:cNvSpPr>
              <a:spLocks noChangeArrowheads="1"/>
            </p:cNvSpPr>
            <p:nvPr/>
          </p:nvSpPr>
          <p:spPr bwMode="auto">
            <a:xfrm>
              <a:off x="1389" y="1854"/>
              <a:ext cx="44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b</a:t>
              </a:r>
              <a:endParaRPr lang="en-US" sz="1600"/>
            </a:p>
          </p:txBody>
        </p:sp>
        <p:sp>
          <p:nvSpPr>
            <p:cNvPr id="46245" name="Rectangle 157"/>
            <p:cNvSpPr>
              <a:spLocks noChangeArrowheads="1"/>
            </p:cNvSpPr>
            <p:nvPr/>
          </p:nvSpPr>
          <p:spPr bwMode="auto">
            <a:xfrm>
              <a:off x="1437" y="1854"/>
              <a:ext cx="44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e</a:t>
              </a:r>
              <a:endParaRPr lang="en-US" sz="1600"/>
            </a:p>
          </p:txBody>
        </p:sp>
        <p:sp>
          <p:nvSpPr>
            <p:cNvPr id="46246" name="Rectangle 158"/>
            <p:cNvSpPr>
              <a:spLocks noChangeArrowheads="1"/>
            </p:cNvSpPr>
            <p:nvPr/>
          </p:nvSpPr>
          <p:spPr bwMode="auto">
            <a:xfrm>
              <a:off x="1483" y="1854"/>
              <a:ext cx="27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r</a:t>
              </a:r>
              <a:endParaRPr lang="en-US" sz="1600"/>
            </a:p>
          </p:txBody>
        </p:sp>
        <p:sp>
          <p:nvSpPr>
            <p:cNvPr id="46247" name="Freeform 159"/>
            <p:cNvSpPr>
              <a:spLocks/>
            </p:cNvSpPr>
            <p:nvPr/>
          </p:nvSpPr>
          <p:spPr bwMode="auto">
            <a:xfrm>
              <a:off x="1366" y="2115"/>
              <a:ext cx="333" cy="985"/>
            </a:xfrm>
            <a:custGeom>
              <a:avLst/>
              <a:gdLst>
                <a:gd name="T0" fmla="*/ 0 w 333"/>
                <a:gd name="T1" fmla="*/ 0 h 985"/>
                <a:gd name="T2" fmla="*/ 0 w 333"/>
                <a:gd name="T3" fmla="*/ 985 h 985"/>
                <a:gd name="T4" fmla="*/ 333 w 333"/>
                <a:gd name="T5" fmla="*/ 985 h 98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33" h="985">
                  <a:moveTo>
                    <a:pt x="0" y="0"/>
                  </a:moveTo>
                  <a:lnTo>
                    <a:pt x="0" y="985"/>
                  </a:lnTo>
                  <a:lnTo>
                    <a:pt x="333" y="985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248" name="Freeform 160"/>
            <p:cNvSpPr>
              <a:spLocks/>
            </p:cNvSpPr>
            <p:nvPr/>
          </p:nvSpPr>
          <p:spPr bwMode="auto">
            <a:xfrm>
              <a:off x="3542" y="2167"/>
              <a:ext cx="45" cy="44"/>
            </a:xfrm>
            <a:custGeom>
              <a:avLst/>
              <a:gdLst>
                <a:gd name="T0" fmla="*/ 0 w 45"/>
                <a:gd name="T1" fmla="*/ 14 h 44"/>
                <a:gd name="T2" fmla="*/ 30 w 45"/>
                <a:gd name="T3" fmla="*/ 44 h 44"/>
                <a:gd name="T4" fmla="*/ 45 w 45"/>
                <a:gd name="T5" fmla="*/ 0 h 44"/>
                <a:gd name="T6" fmla="*/ 0 w 45"/>
                <a:gd name="T7" fmla="*/ 14 h 44"/>
                <a:gd name="T8" fmla="*/ 0 w 45"/>
                <a:gd name="T9" fmla="*/ 14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5" h="44">
                  <a:moveTo>
                    <a:pt x="0" y="14"/>
                  </a:moveTo>
                  <a:lnTo>
                    <a:pt x="30" y="44"/>
                  </a:lnTo>
                  <a:lnTo>
                    <a:pt x="45" y="0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249" name="Freeform 161"/>
            <p:cNvSpPr>
              <a:spLocks/>
            </p:cNvSpPr>
            <p:nvPr/>
          </p:nvSpPr>
          <p:spPr bwMode="auto">
            <a:xfrm>
              <a:off x="3488" y="3788"/>
              <a:ext cx="46" cy="39"/>
            </a:xfrm>
            <a:custGeom>
              <a:avLst/>
              <a:gdLst>
                <a:gd name="T0" fmla="*/ 21 w 46"/>
                <a:gd name="T1" fmla="*/ 0 h 39"/>
                <a:gd name="T2" fmla="*/ 0 w 46"/>
                <a:gd name="T3" fmla="*/ 36 h 39"/>
                <a:gd name="T4" fmla="*/ 46 w 46"/>
                <a:gd name="T5" fmla="*/ 39 h 39"/>
                <a:gd name="T6" fmla="*/ 21 w 46"/>
                <a:gd name="T7" fmla="*/ 2 h 39"/>
                <a:gd name="T8" fmla="*/ 21 w 46"/>
                <a:gd name="T9" fmla="*/ 2 h 39"/>
                <a:gd name="T10" fmla="*/ 21 w 46"/>
                <a:gd name="T11" fmla="*/ 0 h 3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39">
                  <a:moveTo>
                    <a:pt x="21" y="0"/>
                  </a:moveTo>
                  <a:lnTo>
                    <a:pt x="0" y="36"/>
                  </a:lnTo>
                  <a:lnTo>
                    <a:pt x="46" y="39"/>
                  </a:lnTo>
                  <a:lnTo>
                    <a:pt x="21" y="2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250" name="Rectangle 162"/>
            <p:cNvSpPr>
              <a:spLocks noChangeArrowheads="1"/>
            </p:cNvSpPr>
            <p:nvPr/>
          </p:nvSpPr>
          <p:spPr bwMode="auto">
            <a:xfrm>
              <a:off x="1964" y="2063"/>
              <a:ext cx="53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P</a:t>
              </a:r>
              <a:endParaRPr lang="en-US" sz="1600"/>
            </a:p>
          </p:txBody>
        </p:sp>
        <p:sp>
          <p:nvSpPr>
            <p:cNvPr id="46251" name="Rectangle 163"/>
            <p:cNvSpPr>
              <a:spLocks noChangeArrowheads="1"/>
            </p:cNvSpPr>
            <p:nvPr/>
          </p:nvSpPr>
          <p:spPr bwMode="auto">
            <a:xfrm>
              <a:off x="2020" y="2063"/>
              <a:ext cx="44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h</a:t>
              </a:r>
              <a:endParaRPr lang="en-US" sz="1600"/>
            </a:p>
          </p:txBody>
        </p:sp>
        <p:sp>
          <p:nvSpPr>
            <p:cNvPr id="46252" name="Rectangle 164"/>
            <p:cNvSpPr>
              <a:spLocks noChangeArrowheads="1"/>
            </p:cNvSpPr>
            <p:nvPr/>
          </p:nvSpPr>
          <p:spPr bwMode="auto">
            <a:xfrm>
              <a:off x="2068" y="2063"/>
              <a:ext cx="40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y</a:t>
              </a:r>
              <a:endParaRPr lang="en-US" sz="1600"/>
            </a:p>
          </p:txBody>
        </p:sp>
        <p:sp>
          <p:nvSpPr>
            <p:cNvPr id="46253" name="Rectangle 165"/>
            <p:cNvSpPr>
              <a:spLocks noChangeArrowheads="1"/>
            </p:cNvSpPr>
            <p:nvPr/>
          </p:nvSpPr>
          <p:spPr bwMode="auto">
            <a:xfrm>
              <a:off x="2112" y="2063"/>
              <a:ext cx="40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s</a:t>
              </a:r>
              <a:endParaRPr lang="en-US" sz="1600"/>
            </a:p>
          </p:txBody>
        </p:sp>
        <p:sp>
          <p:nvSpPr>
            <p:cNvPr id="46254" name="Rectangle 166"/>
            <p:cNvSpPr>
              <a:spLocks noChangeArrowheads="1"/>
            </p:cNvSpPr>
            <p:nvPr/>
          </p:nvSpPr>
          <p:spPr bwMode="auto">
            <a:xfrm>
              <a:off x="2152" y="2063"/>
              <a:ext cx="18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i</a:t>
              </a:r>
              <a:endParaRPr lang="en-US" sz="1600"/>
            </a:p>
          </p:txBody>
        </p:sp>
        <p:sp>
          <p:nvSpPr>
            <p:cNvPr id="46255" name="Rectangle 167"/>
            <p:cNvSpPr>
              <a:spLocks noChangeArrowheads="1"/>
            </p:cNvSpPr>
            <p:nvPr/>
          </p:nvSpPr>
          <p:spPr bwMode="auto">
            <a:xfrm>
              <a:off x="2173" y="2063"/>
              <a:ext cx="40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c</a:t>
              </a:r>
              <a:endParaRPr lang="en-US" sz="1600"/>
            </a:p>
          </p:txBody>
        </p:sp>
        <p:sp>
          <p:nvSpPr>
            <p:cNvPr id="46256" name="Rectangle 168"/>
            <p:cNvSpPr>
              <a:spLocks noChangeArrowheads="1"/>
            </p:cNvSpPr>
            <p:nvPr/>
          </p:nvSpPr>
          <p:spPr bwMode="auto">
            <a:xfrm>
              <a:off x="2213" y="2063"/>
              <a:ext cx="44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a</a:t>
              </a:r>
              <a:endParaRPr lang="en-US" sz="1600"/>
            </a:p>
          </p:txBody>
        </p:sp>
        <p:sp>
          <p:nvSpPr>
            <p:cNvPr id="46257" name="Rectangle 169"/>
            <p:cNvSpPr>
              <a:spLocks noChangeArrowheads="1"/>
            </p:cNvSpPr>
            <p:nvPr/>
          </p:nvSpPr>
          <p:spPr bwMode="auto">
            <a:xfrm>
              <a:off x="2262" y="2063"/>
              <a:ext cx="18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l</a:t>
              </a:r>
              <a:endParaRPr lang="en-US" sz="1600"/>
            </a:p>
          </p:txBody>
        </p:sp>
        <p:sp>
          <p:nvSpPr>
            <p:cNvPr id="46258" name="Rectangle 170"/>
            <p:cNvSpPr>
              <a:spLocks noChangeArrowheads="1"/>
            </p:cNvSpPr>
            <p:nvPr/>
          </p:nvSpPr>
          <p:spPr bwMode="auto">
            <a:xfrm>
              <a:off x="2280" y="2063"/>
              <a:ext cx="22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 </a:t>
              </a:r>
              <a:endParaRPr lang="en-US" sz="1600"/>
            </a:p>
          </p:txBody>
        </p:sp>
        <p:sp>
          <p:nvSpPr>
            <p:cNvPr id="46259" name="Rectangle 171"/>
            <p:cNvSpPr>
              <a:spLocks noChangeArrowheads="1"/>
            </p:cNvSpPr>
            <p:nvPr/>
          </p:nvSpPr>
          <p:spPr bwMode="auto">
            <a:xfrm>
              <a:off x="2302" y="2063"/>
              <a:ext cx="44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p</a:t>
              </a:r>
              <a:endParaRPr lang="en-US" sz="1600"/>
            </a:p>
          </p:txBody>
        </p:sp>
        <p:sp>
          <p:nvSpPr>
            <p:cNvPr id="46260" name="Rectangle 172"/>
            <p:cNvSpPr>
              <a:spLocks noChangeArrowheads="1"/>
            </p:cNvSpPr>
            <p:nvPr/>
          </p:nvSpPr>
          <p:spPr bwMode="auto">
            <a:xfrm>
              <a:off x="2351" y="2063"/>
              <a:ext cx="44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a</a:t>
              </a:r>
              <a:endParaRPr lang="en-US" sz="1600"/>
            </a:p>
          </p:txBody>
        </p:sp>
        <p:sp>
          <p:nvSpPr>
            <p:cNvPr id="46261" name="Rectangle 173"/>
            <p:cNvSpPr>
              <a:spLocks noChangeArrowheads="1"/>
            </p:cNvSpPr>
            <p:nvPr/>
          </p:nvSpPr>
          <p:spPr bwMode="auto">
            <a:xfrm>
              <a:off x="2399" y="2063"/>
              <a:ext cx="44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g</a:t>
              </a:r>
              <a:endParaRPr lang="en-US" sz="1600"/>
            </a:p>
          </p:txBody>
        </p:sp>
        <p:sp>
          <p:nvSpPr>
            <p:cNvPr id="46262" name="Rectangle 174"/>
            <p:cNvSpPr>
              <a:spLocks noChangeArrowheads="1"/>
            </p:cNvSpPr>
            <p:nvPr/>
          </p:nvSpPr>
          <p:spPr bwMode="auto">
            <a:xfrm>
              <a:off x="2445" y="2063"/>
              <a:ext cx="44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e</a:t>
              </a:r>
              <a:endParaRPr lang="en-US" sz="1600"/>
            </a:p>
          </p:txBody>
        </p:sp>
        <p:sp>
          <p:nvSpPr>
            <p:cNvPr id="46263" name="Rectangle 175"/>
            <p:cNvSpPr>
              <a:spLocks noChangeArrowheads="1"/>
            </p:cNvSpPr>
            <p:nvPr/>
          </p:nvSpPr>
          <p:spPr bwMode="auto">
            <a:xfrm>
              <a:off x="2493" y="2063"/>
              <a:ext cx="22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 </a:t>
              </a:r>
              <a:endParaRPr lang="en-US" sz="1600"/>
            </a:p>
          </p:txBody>
        </p:sp>
        <p:sp>
          <p:nvSpPr>
            <p:cNvPr id="46264" name="Rectangle 176"/>
            <p:cNvSpPr>
              <a:spLocks noChangeArrowheads="1"/>
            </p:cNvSpPr>
            <p:nvPr/>
          </p:nvSpPr>
          <p:spPr bwMode="auto">
            <a:xfrm>
              <a:off x="2516" y="2063"/>
              <a:ext cx="44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o</a:t>
              </a:r>
              <a:endParaRPr lang="en-US" sz="1600"/>
            </a:p>
          </p:txBody>
        </p:sp>
        <p:sp>
          <p:nvSpPr>
            <p:cNvPr id="46265" name="Rectangle 177"/>
            <p:cNvSpPr>
              <a:spLocks noChangeArrowheads="1"/>
            </p:cNvSpPr>
            <p:nvPr/>
          </p:nvSpPr>
          <p:spPr bwMode="auto">
            <a:xfrm>
              <a:off x="2562" y="2063"/>
              <a:ext cx="27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r</a:t>
              </a:r>
              <a:endParaRPr lang="en-US" sz="1600"/>
            </a:p>
          </p:txBody>
        </p:sp>
        <p:sp>
          <p:nvSpPr>
            <p:cNvPr id="46266" name="Rectangle 178"/>
            <p:cNvSpPr>
              <a:spLocks noChangeArrowheads="1"/>
            </p:cNvSpPr>
            <p:nvPr/>
          </p:nvSpPr>
          <p:spPr bwMode="auto">
            <a:xfrm>
              <a:off x="2590" y="2063"/>
              <a:ext cx="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 sz="1600"/>
            </a:p>
          </p:txBody>
        </p:sp>
        <p:sp>
          <p:nvSpPr>
            <p:cNvPr id="46267" name="Rectangle 179"/>
            <p:cNvSpPr>
              <a:spLocks noChangeArrowheads="1"/>
            </p:cNvSpPr>
            <p:nvPr/>
          </p:nvSpPr>
          <p:spPr bwMode="auto">
            <a:xfrm>
              <a:off x="2028" y="2159"/>
              <a:ext cx="44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d</a:t>
              </a:r>
              <a:endParaRPr lang="en-US" sz="1600"/>
            </a:p>
          </p:txBody>
        </p:sp>
        <p:sp>
          <p:nvSpPr>
            <p:cNvPr id="46268" name="Rectangle 180"/>
            <p:cNvSpPr>
              <a:spLocks noChangeArrowheads="1"/>
            </p:cNvSpPr>
            <p:nvPr/>
          </p:nvSpPr>
          <p:spPr bwMode="auto">
            <a:xfrm>
              <a:off x="2076" y="2159"/>
              <a:ext cx="18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i</a:t>
              </a:r>
              <a:endParaRPr lang="en-US" sz="1600"/>
            </a:p>
          </p:txBody>
        </p:sp>
        <p:sp>
          <p:nvSpPr>
            <p:cNvPr id="46269" name="Rectangle 181"/>
            <p:cNvSpPr>
              <a:spLocks noChangeArrowheads="1"/>
            </p:cNvSpPr>
            <p:nvPr/>
          </p:nvSpPr>
          <p:spPr bwMode="auto">
            <a:xfrm>
              <a:off x="2094" y="2159"/>
              <a:ext cx="40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s</a:t>
              </a:r>
              <a:endParaRPr lang="en-US" sz="1600"/>
            </a:p>
          </p:txBody>
        </p:sp>
        <p:sp>
          <p:nvSpPr>
            <p:cNvPr id="46270" name="Rectangle 182"/>
            <p:cNvSpPr>
              <a:spLocks noChangeArrowheads="1"/>
            </p:cNvSpPr>
            <p:nvPr/>
          </p:nvSpPr>
          <p:spPr bwMode="auto">
            <a:xfrm>
              <a:off x="2137" y="2159"/>
              <a:ext cx="40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k</a:t>
              </a:r>
              <a:endParaRPr lang="en-US" sz="1600"/>
            </a:p>
          </p:txBody>
        </p:sp>
        <p:sp>
          <p:nvSpPr>
            <p:cNvPr id="46271" name="Rectangle 183"/>
            <p:cNvSpPr>
              <a:spLocks noChangeArrowheads="1"/>
            </p:cNvSpPr>
            <p:nvPr/>
          </p:nvSpPr>
          <p:spPr bwMode="auto">
            <a:xfrm>
              <a:off x="2178" y="2159"/>
              <a:ext cx="22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 </a:t>
              </a:r>
              <a:endParaRPr lang="en-US" sz="1600"/>
            </a:p>
          </p:txBody>
        </p:sp>
        <p:sp>
          <p:nvSpPr>
            <p:cNvPr id="46272" name="Rectangle 184"/>
            <p:cNvSpPr>
              <a:spLocks noChangeArrowheads="1"/>
            </p:cNvSpPr>
            <p:nvPr/>
          </p:nvSpPr>
          <p:spPr bwMode="auto">
            <a:xfrm>
              <a:off x="2203" y="2159"/>
              <a:ext cx="44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a</a:t>
              </a:r>
              <a:endParaRPr lang="en-US" sz="1600"/>
            </a:p>
          </p:txBody>
        </p:sp>
        <p:sp>
          <p:nvSpPr>
            <p:cNvPr id="46273" name="Rectangle 185"/>
            <p:cNvSpPr>
              <a:spLocks noChangeArrowheads="1"/>
            </p:cNvSpPr>
            <p:nvPr/>
          </p:nvSpPr>
          <p:spPr bwMode="auto">
            <a:xfrm>
              <a:off x="2249" y="2159"/>
              <a:ext cx="44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d</a:t>
              </a:r>
              <a:endParaRPr lang="en-US" sz="1600"/>
            </a:p>
          </p:txBody>
        </p:sp>
        <p:sp>
          <p:nvSpPr>
            <p:cNvPr id="46274" name="Rectangle 186"/>
            <p:cNvSpPr>
              <a:spLocks noChangeArrowheads="1"/>
            </p:cNvSpPr>
            <p:nvPr/>
          </p:nvSpPr>
          <p:spPr bwMode="auto">
            <a:xfrm>
              <a:off x="2297" y="2159"/>
              <a:ext cx="44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d</a:t>
              </a:r>
              <a:endParaRPr lang="en-US" sz="1600"/>
            </a:p>
          </p:txBody>
        </p:sp>
        <p:sp>
          <p:nvSpPr>
            <p:cNvPr id="46275" name="Rectangle 187"/>
            <p:cNvSpPr>
              <a:spLocks noChangeArrowheads="1"/>
            </p:cNvSpPr>
            <p:nvPr/>
          </p:nvSpPr>
          <p:spPr bwMode="auto">
            <a:xfrm>
              <a:off x="2343" y="2159"/>
              <a:ext cx="27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r</a:t>
              </a:r>
              <a:endParaRPr lang="en-US" sz="1600"/>
            </a:p>
          </p:txBody>
        </p:sp>
        <p:sp>
          <p:nvSpPr>
            <p:cNvPr id="46276" name="Rectangle 188"/>
            <p:cNvSpPr>
              <a:spLocks noChangeArrowheads="1"/>
            </p:cNvSpPr>
            <p:nvPr/>
          </p:nvSpPr>
          <p:spPr bwMode="auto">
            <a:xfrm>
              <a:off x="2371" y="2159"/>
              <a:ext cx="44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e</a:t>
              </a:r>
              <a:endParaRPr lang="en-US" sz="1600"/>
            </a:p>
          </p:txBody>
        </p:sp>
        <p:sp>
          <p:nvSpPr>
            <p:cNvPr id="46277" name="Rectangle 189"/>
            <p:cNvSpPr>
              <a:spLocks noChangeArrowheads="1"/>
            </p:cNvSpPr>
            <p:nvPr/>
          </p:nvSpPr>
          <p:spPr bwMode="auto">
            <a:xfrm>
              <a:off x="2420" y="2159"/>
              <a:ext cx="40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s</a:t>
              </a:r>
              <a:endParaRPr lang="en-US" sz="1600"/>
            </a:p>
          </p:txBody>
        </p:sp>
        <p:sp>
          <p:nvSpPr>
            <p:cNvPr id="46278" name="Rectangle 190"/>
            <p:cNvSpPr>
              <a:spLocks noChangeArrowheads="1"/>
            </p:cNvSpPr>
            <p:nvPr/>
          </p:nvSpPr>
          <p:spPr bwMode="auto">
            <a:xfrm>
              <a:off x="2463" y="2159"/>
              <a:ext cx="40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s</a:t>
              </a:r>
              <a:endParaRPr lang="en-US" sz="1600"/>
            </a:p>
          </p:txBody>
        </p:sp>
        <p:sp>
          <p:nvSpPr>
            <p:cNvPr id="46279" name="Freeform 191"/>
            <p:cNvSpPr>
              <a:spLocks/>
            </p:cNvSpPr>
            <p:nvPr/>
          </p:nvSpPr>
          <p:spPr bwMode="auto">
            <a:xfrm>
              <a:off x="1687" y="3078"/>
              <a:ext cx="43" cy="42"/>
            </a:xfrm>
            <a:custGeom>
              <a:avLst/>
              <a:gdLst>
                <a:gd name="T0" fmla="*/ 0 w 43"/>
                <a:gd name="T1" fmla="*/ 0 h 42"/>
                <a:gd name="T2" fmla="*/ 2 w 43"/>
                <a:gd name="T3" fmla="*/ 42 h 42"/>
                <a:gd name="T4" fmla="*/ 43 w 43"/>
                <a:gd name="T5" fmla="*/ 22 h 42"/>
                <a:gd name="T6" fmla="*/ 2 w 43"/>
                <a:gd name="T7" fmla="*/ 2 h 42"/>
                <a:gd name="T8" fmla="*/ 2 w 43"/>
                <a:gd name="T9" fmla="*/ 2 h 42"/>
                <a:gd name="T10" fmla="*/ 0 w 43"/>
                <a:gd name="T11" fmla="*/ 0 h 4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2">
                  <a:moveTo>
                    <a:pt x="0" y="0"/>
                  </a:moveTo>
                  <a:lnTo>
                    <a:pt x="2" y="42"/>
                  </a:lnTo>
                  <a:lnTo>
                    <a:pt x="43" y="22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280" name="Line 192"/>
            <p:cNvSpPr>
              <a:spLocks noChangeShapeType="1"/>
            </p:cNvSpPr>
            <p:nvPr/>
          </p:nvSpPr>
          <p:spPr bwMode="auto">
            <a:xfrm>
              <a:off x="2226" y="2977"/>
              <a:ext cx="1285" cy="838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281" name="Freeform 193"/>
            <p:cNvSpPr>
              <a:spLocks/>
            </p:cNvSpPr>
            <p:nvPr/>
          </p:nvSpPr>
          <p:spPr bwMode="auto">
            <a:xfrm>
              <a:off x="3491" y="4127"/>
              <a:ext cx="43" cy="42"/>
            </a:xfrm>
            <a:custGeom>
              <a:avLst/>
              <a:gdLst>
                <a:gd name="T0" fmla="*/ 2 w 43"/>
                <a:gd name="T1" fmla="*/ 0 h 42"/>
                <a:gd name="T2" fmla="*/ 0 w 43"/>
                <a:gd name="T3" fmla="*/ 42 h 42"/>
                <a:gd name="T4" fmla="*/ 43 w 43"/>
                <a:gd name="T5" fmla="*/ 28 h 42"/>
                <a:gd name="T6" fmla="*/ 2 w 43"/>
                <a:gd name="T7" fmla="*/ 3 h 42"/>
                <a:gd name="T8" fmla="*/ 2 w 43"/>
                <a:gd name="T9" fmla="*/ 3 h 42"/>
                <a:gd name="T10" fmla="*/ 2 w 43"/>
                <a:gd name="T11" fmla="*/ 0 h 4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42">
                  <a:moveTo>
                    <a:pt x="2" y="0"/>
                  </a:moveTo>
                  <a:lnTo>
                    <a:pt x="0" y="42"/>
                  </a:lnTo>
                  <a:lnTo>
                    <a:pt x="43" y="28"/>
                  </a:lnTo>
                  <a:lnTo>
                    <a:pt x="2" y="3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282" name="Line 194"/>
            <p:cNvSpPr>
              <a:spLocks noChangeShapeType="1"/>
            </p:cNvSpPr>
            <p:nvPr/>
          </p:nvSpPr>
          <p:spPr bwMode="auto">
            <a:xfrm>
              <a:off x="2226" y="3716"/>
              <a:ext cx="1265" cy="434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283" name="Freeform 195"/>
            <p:cNvSpPr>
              <a:spLocks/>
            </p:cNvSpPr>
            <p:nvPr/>
          </p:nvSpPr>
          <p:spPr bwMode="auto">
            <a:xfrm>
              <a:off x="3486" y="3957"/>
              <a:ext cx="48" cy="40"/>
            </a:xfrm>
            <a:custGeom>
              <a:avLst/>
              <a:gdLst>
                <a:gd name="T0" fmla="*/ 12 w 48"/>
                <a:gd name="T1" fmla="*/ 0 h 40"/>
                <a:gd name="T2" fmla="*/ 0 w 48"/>
                <a:gd name="T3" fmla="*/ 40 h 40"/>
                <a:gd name="T4" fmla="*/ 48 w 48"/>
                <a:gd name="T5" fmla="*/ 33 h 40"/>
                <a:gd name="T6" fmla="*/ 12 w 48"/>
                <a:gd name="T7" fmla="*/ 0 h 40"/>
                <a:gd name="T8" fmla="*/ 12 w 48"/>
                <a:gd name="T9" fmla="*/ 0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40">
                  <a:moveTo>
                    <a:pt x="12" y="0"/>
                  </a:moveTo>
                  <a:lnTo>
                    <a:pt x="0" y="40"/>
                  </a:lnTo>
                  <a:lnTo>
                    <a:pt x="48" y="33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284" name="Line 196"/>
            <p:cNvSpPr>
              <a:spLocks noChangeShapeType="1"/>
            </p:cNvSpPr>
            <p:nvPr/>
          </p:nvSpPr>
          <p:spPr bwMode="auto">
            <a:xfrm>
              <a:off x="2226" y="3347"/>
              <a:ext cx="1275" cy="635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285" name="Line 197"/>
            <p:cNvSpPr>
              <a:spLocks noChangeShapeType="1"/>
            </p:cNvSpPr>
            <p:nvPr/>
          </p:nvSpPr>
          <p:spPr bwMode="auto">
            <a:xfrm flipV="1">
              <a:off x="2226" y="2189"/>
              <a:ext cx="1339" cy="128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286" name="Freeform 198"/>
            <p:cNvSpPr>
              <a:spLocks/>
            </p:cNvSpPr>
            <p:nvPr/>
          </p:nvSpPr>
          <p:spPr bwMode="auto">
            <a:xfrm>
              <a:off x="3542" y="2292"/>
              <a:ext cx="45" cy="44"/>
            </a:xfrm>
            <a:custGeom>
              <a:avLst/>
              <a:gdLst>
                <a:gd name="T0" fmla="*/ 0 w 45"/>
                <a:gd name="T1" fmla="*/ 17 h 44"/>
                <a:gd name="T2" fmla="*/ 33 w 45"/>
                <a:gd name="T3" fmla="*/ 44 h 44"/>
                <a:gd name="T4" fmla="*/ 45 w 45"/>
                <a:gd name="T5" fmla="*/ 0 h 44"/>
                <a:gd name="T6" fmla="*/ 0 w 45"/>
                <a:gd name="T7" fmla="*/ 17 h 44"/>
                <a:gd name="T8" fmla="*/ 0 w 45"/>
                <a:gd name="T9" fmla="*/ 17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5" h="44">
                  <a:moveTo>
                    <a:pt x="0" y="17"/>
                  </a:moveTo>
                  <a:lnTo>
                    <a:pt x="33" y="44"/>
                  </a:lnTo>
                  <a:lnTo>
                    <a:pt x="45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287" name="Line 199"/>
            <p:cNvSpPr>
              <a:spLocks noChangeShapeType="1"/>
            </p:cNvSpPr>
            <p:nvPr/>
          </p:nvSpPr>
          <p:spPr bwMode="auto">
            <a:xfrm flipV="1">
              <a:off x="2226" y="2314"/>
              <a:ext cx="1341" cy="1525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288" name="Freeform 200"/>
            <p:cNvSpPr>
              <a:spLocks/>
            </p:cNvSpPr>
            <p:nvPr/>
          </p:nvSpPr>
          <p:spPr bwMode="auto">
            <a:xfrm>
              <a:off x="3542" y="2393"/>
              <a:ext cx="45" cy="40"/>
            </a:xfrm>
            <a:custGeom>
              <a:avLst/>
              <a:gdLst>
                <a:gd name="T0" fmla="*/ 0 w 45"/>
                <a:gd name="T1" fmla="*/ 0 h 40"/>
                <a:gd name="T2" fmla="*/ 5 w 45"/>
                <a:gd name="T3" fmla="*/ 40 h 40"/>
                <a:gd name="T4" fmla="*/ 45 w 45"/>
                <a:gd name="T5" fmla="*/ 15 h 40"/>
                <a:gd name="T6" fmla="*/ 0 w 45"/>
                <a:gd name="T7" fmla="*/ 0 h 40"/>
                <a:gd name="T8" fmla="*/ 0 w 45"/>
                <a:gd name="T9" fmla="*/ 0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5" h="40">
                  <a:moveTo>
                    <a:pt x="0" y="0"/>
                  </a:moveTo>
                  <a:lnTo>
                    <a:pt x="5" y="40"/>
                  </a:lnTo>
                  <a:lnTo>
                    <a:pt x="45" y="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289" name="Line 201"/>
            <p:cNvSpPr>
              <a:spLocks noChangeShapeType="1"/>
            </p:cNvSpPr>
            <p:nvPr/>
          </p:nvSpPr>
          <p:spPr bwMode="auto">
            <a:xfrm flipV="1">
              <a:off x="2226" y="2410"/>
              <a:ext cx="1331" cy="19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290" name="Freeform 202"/>
            <p:cNvSpPr>
              <a:spLocks/>
            </p:cNvSpPr>
            <p:nvPr/>
          </p:nvSpPr>
          <p:spPr bwMode="auto">
            <a:xfrm>
              <a:off x="3539" y="2529"/>
              <a:ext cx="48" cy="39"/>
            </a:xfrm>
            <a:custGeom>
              <a:avLst/>
              <a:gdLst>
                <a:gd name="T0" fmla="*/ 0 w 48"/>
                <a:gd name="T1" fmla="*/ 0 h 39"/>
                <a:gd name="T2" fmla="*/ 18 w 48"/>
                <a:gd name="T3" fmla="*/ 39 h 39"/>
                <a:gd name="T4" fmla="*/ 48 w 48"/>
                <a:gd name="T5" fmla="*/ 2 h 39"/>
                <a:gd name="T6" fmla="*/ 0 w 48"/>
                <a:gd name="T7" fmla="*/ 2 h 39"/>
                <a:gd name="T8" fmla="*/ 0 w 48"/>
                <a:gd name="T9" fmla="*/ 2 h 39"/>
                <a:gd name="T10" fmla="*/ 0 w 48"/>
                <a:gd name="T11" fmla="*/ 0 h 3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8" h="39">
                  <a:moveTo>
                    <a:pt x="0" y="0"/>
                  </a:moveTo>
                  <a:lnTo>
                    <a:pt x="18" y="39"/>
                  </a:lnTo>
                  <a:lnTo>
                    <a:pt x="48" y="2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291" name="Line 203"/>
            <p:cNvSpPr>
              <a:spLocks noChangeShapeType="1"/>
            </p:cNvSpPr>
            <p:nvPr/>
          </p:nvSpPr>
          <p:spPr bwMode="auto">
            <a:xfrm flipV="1">
              <a:off x="2226" y="2543"/>
              <a:ext cx="1334" cy="55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292" name="Freeform 204"/>
            <p:cNvSpPr>
              <a:spLocks/>
            </p:cNvSpPr>
            <p:nvPr/>
          </p:nvSpPr>
          <p:spPr bwMode="auto">
            <a:xfrm>
              <a:off x="3539" y="2659"/>
              <a:ext cx="48" cy="40"/>
            </a:xfrm>
            <a:custGeom>
              <a:avLst/>
              <a:gdLst>
                <a:gd name="T0" fmla="*/ 0 w 48"/>
                <a:gd name="T1" fmla="*/ 5 h 40"/>
                <a:gd name="T2" fmla="*/ 26 w 48"/>
                <a:gd name="T3" fmla="*/ 40 h 40"/>
                <a:gd name="T4" fmla="*/ 48 w 48"/>
                <a:gd name="T5" fmla="*/ 0 h 40"/>
                <a:gd name="T6" fmla="*/ 0 w 48"/>
                <a:gd name="T7" fmla="*/ 8 h 40"/>
                <a:gd name="T8" fmla="*/ 0 w 48"/>
                <a:gd name="T9" fmla="*/ 8 h 40"/>
                <a:gd name="T10" fmla="*/ 0 w 48"/>
                <a:gd name="T11" fmla="*/ 5 h 4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8" h="40">
                  <a:moveTo>
                    <a:pt x="0" y="5"/>
                  </a:moveTo>
                  <a:lnTo>
                    <a:pt x="26" y="40"/>
                  </a:lnTo>
                  <a:lnTo>
                    <a:pt x="48" y="0"/>
                  </a:lnTo>
                  <a:lnTo>
                    <a:pt x="0" y="8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293" name="Line 205"/>
            <p:cNvSpPr>
              <a:spLocks noChangeShapeType="1"/>
            </p:cNvSpPr>
            <p:nvPr/>
          </p:nvSpPr>
          <p:spPr bwMode="auto">
            <a:xfrm flipV="1">
              <a:off x="2226" y="2674"/>
              <a:ext cx="1336" cy="919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6085" name="Freeform 207"/>
          <p:cNvSpPr>
            <a:spLocks/>
          </p:cNvSpPr>
          <p:nvPr/>
        </p:nvSpPr>
        <p:spPr bwMode="auto">
          <a:xfrm>
            <a:off x="5622925" y="4083050"/>
            <a:ext cx="71438" cy="66675"/>
          </a:xfrm>
          <a:custGeom>
            <a:avLst/>
            <a:gdLst>
              <a:gd name="T0" fmla="*/ 11113 w 45"/>
              <a:gd name="T1" fmla="*/ 0 h 42"/>
              <a:gd name="T2" fmla="*/ 0 w 45"/>
              <a:gd name="T3" fmla="*/ 66675 h 42"/>
              <a:gd name="T4" fmla="*/ 71438 w 45"/>
              <a:gd name="T5" fmla="*/ 47625 h 42"/>
              <a:gd name="T6" fmla="*/ 11113 w 45"/>
              <a:gd name="T7" fmla="*/ 3175 h 42"/>
              <a:gd name="T8" fmla="*/ 11113 w 45"/>
              <a:gd name="T9" fmla="*/ 3175 h 42"/>
              <a:gd name="T10" fmla="*/ 11113 w 45"/>
              <a:gd name="T11" fmla="*/ 0 h 4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45" h="42">
                <a:moveTo>
                  <a:pt x="7" y="0"/>
                </a:moveTo>
                <a:lnTo>
                  <a:pt x="0" y="42"/>
                </a:lnTo>
                <a:lnTo>
                  <a:pt x="45" y="30"/>
                </a:lnTo>
                <a:lnTo>
                  <a:pt x="7" y="2"/>
                </a:lnTo>
                <a:lnTo>
                  <a:pt x="7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6086" name="Line 208"/>
          <p:cNvSpPr>
            <a:spLocks noChangeShapeType="1"/>
          </p:cNvSpPr>
          <p:nvPr/>
        </p:nvSpPr>
        <p:spPr bwMode="auto">
          <a:xfrm>
            <a:off x="3533775" y="3671888"/>
            <a:ext cx="2108200" cy="450850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6087" name="Freeform 209"/>
          <p:cNvSpPr>
            <a:spLocks/>
          </p:cNvSpPr>
          <p:nvPr/>
        </p:nvSpPr>
        <p:spPr bwMode="auto">
          <a:xfrm>
            <a:off x="5622925" y="4286250"/>
            <a:ext cx="71438" cy="66675"/>
          </a:xfrm>
          <a:custGeom>
            <a:avLst/>
            <a:gdLst>
              <a:gd name="T0" fmla="*/ 7938 w 45"/>
              <a:gd name="T1" fmla="*/ 0 h 42"/>
              <a:gd name="T2" fmla="*/ 0 w 45"/>
              <a:gd name="T3" fmla="*/ 66675 h 42"/>
              <a:gd name="T4" fmla="*/ 71438 w 45"/>
              <a:gd name="T5" fmla="*/ 42863 h 42"/>
              <a:gd name="T6" fmla="*/ 7938 w 45"/>
              <a:gd name="T7" fmla="*/ 0 h 42"/>
              <a:gd name="T8" fmla="*/ 7938 w 45"/>
              <a:gd name="T9" fmla="*/ 0 h 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5" h="42">
                <a:moveTo>
                  <a:pt x="5" y="0"/>
                </a:moveTo>
                <a:lnTo>
                  <a:pt x="0" y="42"/>
                </a:lnTo>
                <a:lnTo>
                  <a:pt x="45" y="27"/>
                </a:lnTo>
                <a:lnTo>
                  <a:pt x="5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6088" name="Line 210"/>
          <p:cNvSpPr>
            <a:spLocks noChangeShapeType="1"/>
          </p:cNvSpPr>
          <p:nvPr/>
        </p:nvSpPr>
        <p:spPr bwMode="auto">
          <a:xfrm>
            <a:off x="3533775" y="4064000"/>
            <a:ext cx="2108200" cy="257175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6089" name="Freeform 211"/>
          <p:cNvSpPr>
            <a:spLocks/>
          </p:cNvSpPr>
          <p:nvPr/>
        </p:nvSpPr>
        <p:spPr bwMode="auto">
          <a:xfrm>
            <a:off x="5622925" y="4481513"/>
            <a:ext cx="71438" cy="66675"/>
          </a:xfrm>
          <a:custGeom>
            <a:avLst/>
            <a:gdLst>
              <a:gd name="T0" fmla="*/ 7938 w 45"/>
              <a:gd name="T1" fmla="*/ 0 h 42"/>
              <a:gd name="T2" fmla="*/ 0 w 45"/>
              <a:gd name="T3" fmla="*/ 66675 h 42"/>
              <a:gd name="T4" fmla="*/ 71438 w 45"/>
              <a:gd name="T5" fmla="*/ 42863 h 42"/>
              <a:gd name="T6" fmla="*/ 7938 w 45"/>
              <a:gd name="T7" fmla="*/ 0 h 42"/>
              <a:gd name="T8" fmla="*/ 7938 w 45"/>
              <a:gd name="T9" fmla="*/ 0 h 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5" h="42">
                <a:moveTo>
                  <a:pt x="5" y="0"/>
                </a:moveTo>
                <a:lnTo>
                  <a:pt x="0" y="42"/>
                </a:lnTo>
                <a:lnTo>
                  <a:pt x="45" y="27"/>
                </a:lnTo>
                <a:lnTo>
                  <a:pt x="5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6090" name="Line 212"/>
          <p:cNvSpPr>
            <a:spLocks noChangeShapeType="1"/>
          </p:cNvSpPr>
          <p:nvPr/>
        </p:nvSpPr>
        <p:spPr bwMode="auto">
          <a:xfrm>
            <a:off x="3533775" y="4259263"/>
            <a:ext cx="2112963" cy="257175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6091" name="Freeform 213"/>
          <p:cNvSpPr>
            <a:spLocks/>
          </p:cNvSpPr>
          <p:nvPr/>
        </p:nvSpPr>
        <p:spPr bwMode="auto">
          <a:xfrm>
            <a:off x="5622925" y="4689475"/>
            <a:ext cx="71438" cy="66675"/>
          </a:xfrm>
          <a:custGeom>
            <a:avLst/>
            <a:gdLst>
              <a:gd name="T0" fmla="*/ 0 w 45"/>
              <a:gd name="T1" fmla="*/ 0 h 42"/>
              <a:gd name="T2" fmla="*/ 3175 w 45"/>
              <a:gd name="T3" fmla="*/ 66675 h 42"/>
              <a:gd name="T4" fmla="*/ 71438 w 45"/>
              <a:gd name="T5" fmla="*/ 31750 h 42"/>
              <a:gd name="T6" fmla="*/ 3175 w 45"/>
              <a:gd name="T7" fmla="*/ 3175 h 42"/>
              <a:gd name="T8" fmla="*/ 3175 w 45"/>
              <a:gd name="T9" fmla="*/ 3175 h 42"/>
              <a:gd name="T10" fmla="*/ 0 w 45"/>
              <a:gd name="T11" fmla="*/ 0 h 4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45" h="42">
                <a:moveTo>
                  <a:pt x="0" y="0"/>
                </a:moveTo>
                <a:lnTo>
                  <a:pt x="2" y="42"/>
                </a:lnTo>
                <a:lnTo>
                  <a:pt x="45" y="20"/>
                </a:lnTo>
                <a:lnTo>
                  <a:pt x="2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6092" name="Line 214"/>
          <p:cNvSpPr>
            <a:spLocks noChangeShapeType="1"/>
          </p:cNvSpPr>
          <p:nvPr/>
        </p:nvSpPr>
        <p:spPr bwMode="auto">
          <a:xfrm flipV="1">
            <a:off x="3533775" y="4724400"/>
            <a:ext cx="2108200" cy="120650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6093" name="Text Box 5"/>
          <p:cNvSpPr txBox="1">
            <a:spLocks noChangeArrowheads="1"/>
          </p:cNvSpPr>
          <p:nvPr/>
        </p:nvSpPr>
        <p:spPr bwMode="auto">
          <a:xfrm>
            <a:off x="533400" y="5943600"/>
            <a:ext cx="3559175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b="1"/>
              <a:t>Page table maps virtual page to</a:t>
            </a:r>
          </a:p>
          <a:p>
            <a:r>
              <a:rPr lang="en-US" sz="1600" b="1"/>
              <a:t>either physical page or disk page</a:t>
            </a:r>
          </a:p>
        </p:txBody>
      </p:sp>
      <p:sp>
        <p:nvSpPr>
          <p:cNvPr id="214" name="Footer Placeholder 2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Mayank Pandey, MNNIT, Allahabad, India</a:t>
            </a:r>
            <a:endParaRPr lang="en-US"/>
          </a:p>
        </p:txBody>
      </p:sp>
    </p:spTree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915400" cy="1143000"/>
          </a:xfrm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sz="3200" dirty="0" smtClean="0"/>
              <a:t>Making Address Translation Fast with the</a:t>
            </a:r>
            <a:br>
              <a:rPr lang="en-US" sz="3200" dirty="0" smtClean="0"/>
            </a:br>
            <a:r>
              <a:rPr lang="en-US" sz="3200" dirty="0" smtClean="0"/>
              <a:t>Translation-look-aside Buffer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371600"/>
            <a:ext cx="8345488" cy="4114800"/>
          </a:xfrm>
          <a:noFill/>
        </p:spPr>
        <p:txBody>
          <a:bodyPr lIns="90488" tIns="44450" rIns="90488" bIns="44450"/>
          <a:lstStyle/>
          <a:p>
            <a:pPr eaLnBrk="1" hangingPunct="1"/>
            <a:r>
              <a:rPr lang="en-US" sz="2000" dirty="0" smtClean="0"/>
              <a:t>A </a:t>
            </a:r>
            <a:r>
              <a:rPr lang="en-US" sz="2000" i="1" dirty="0" smtClean="0"/>
              <a:t>cache </a:t>
            </a:r>
            <a:r>
              <a:rPr lang="en-US" sz="2000" dirty="0" smtClean="0"/>
              <a:t>for address translations – </a:t>
            </a:r>
            <a:r>
              <a:rPr lang="en-US" sz="2000" i="1" dirty="0" smtClean="0"/>
              <a:t>translation-look-aside buffer (TLB)</a:t>
            </a:r>
            <a:r>
              <a:rPr lang="en-US" sz="2000" dirty="0" smtClean="0"/>
              <a:t>:</a:t>
            </a:r>
          </a:p>
        </p:txBody>
      </p:sp>
      <p:grpSp>
        <p:nvGrpSpPr>
          <p:cNvPr id="2" name="Group 205"/>
          <p:cNvGrpSpPr>
            <a:grpSpLocks/>
          </p:cNvGrpSpPr>
          <p:nvPr/>
        </p:nvGrpSpPr>
        <p:grpSpPr bwMode="auto">
          <a:xfrm>
            <a:off x="1844675" y="1752600"/>
            <a:ext cx="3744913" cy="4006850"/>
            <a:chOff x="1210" y="1724"/>
            <a:chExt cx="2359" cy="2524"/>
          </a:xfrm>
        </p:grpSpPr>
        <p:sp>
          <p:nvSpPr>
            <p:cNvPr id="47210" name="Freeform 5"/>
            <p:cNvSpPr>
              <a:spLocks/>
            </p:cNvSpPr>
            <p:nvPr/>
          </p:nvSpPr>
          <p:spPr bwMode="auto">
            <a:xfrm>
              <a:off x="2460" y="2437"/>
              <a:ext cx="554" cy="98"/>
            </a:xfrm>
            <a:custGeom>
              <a:avLst/>
              <a:gdLst>
                <a:gd name="T0" fmla="*/ 554 w 554"/>
                <a:gd name="T1" fmla="*/ 96 h 98"/>
                <a:gd name="T2" fmla="*/ 554 w 554"/>
                <a:gd name="T3" fmla="*/ 0 h 98"/>
                <a:gd name="T4" fmla="*/ 0 w 554"/>
                <a:gd name="T5" fmla="*/ 0 h 98"/>
                <a:gd name="T6" fmla="*/ 0 w 554"/>
                <a:gd name="T7" fmla="*/ 98 h 98"/>
                <a:gd name="T8" fmla="*/ 554 w 554"/>
                <a:gd name="T9" fmla="*/ 98 h 98"/>
                <a:gd name="T10" fmla="*/ 554 w 554"/>
                <a:gd name="T11" fmla="*/ 98 h 9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54" h="98">
                  <a:moveTo>
                    <a:pt x="554" y="96"/>
                  </a:moveTo>
                  <a:lnTo>
                    <a:pt x="554" y="0"/>
                  </a:lnTo>
                  <a:lnTo>
                    <a:pt x="0" y="0"/>
                  </a:lnTo>
                  <a:lnTo>
                    <a:pt x="0" y="98"/>
                  </a:lnTo>
                  <a:lnTo>
                    <a:pt x="554" y="98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211" name="Freeform 6"/>
            <p:cNvSpPr>
              <a:spLocks/>
            </p:cNvSpPr>
            <p:nvPr/>
          </p:nvSpPr>
          <p:spPr bwMode="auto">
            <a:xfrm>
              <a:off x="1830" y="2144"/>
              <a:ext cx="84" cy="98"/>
            </a:xfrm>
            <a:custGeom>
              <a:avLst/>
              <a:gdLst>
                <a:gd name="T0" fmla="*/ 84 w 84"/>
                <a:gd name="T1" fmla="*/ 96 h 98"/>
                <a:gd name="T2" fmla="*/ 84 w 84"/>
                <a:gd name="T3" fmla="*/ 0 h 98"/>
                <a:gd name="T4" fmla="*/ 0 w 84"/>
                <a:gd name="T5" fmla="*/ 0 h 98"/>
                <a:gd name="T6" fmla="*/ 0 w 84"/>
                <a:gd name="T7" fmla="*/ 98 h 98"/>
                <a:gd name="T8" fmla="*/ 84 w 84"/>
                <a:gd name="T9" fmla="*/ 98 h 98"/>
                <a:gd name="T10" fmla="*/ 84 w 84"/>
                <a:gd name="T11" fmla="*/ 98 h 9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4" h="98">
                  <a:moveTo>
                    <a:pt x="84" y="96"/>
                  </a:moveTo>
                  <a:lnTo>
                    <a:pt x="84" y="0"/>
                  </a:lnTo>
                  <a:lnTo>
                    <a:pt x="0" y="0"/>
                  </a:lnTo>
                  <a:lnTo>
                    <a:pt x="0" y="98"/>
                  </a:lnTo>
                  <a:lnTo>
                    <a:pt x="84" y="98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212" name="Freeform 7"/>
            <p:cNvSpPr>
              <a:spLocks/>
            </p:cNvSpPr>
            <p:nvPr/>
          </p:nvSpPr>
          <p:spPr bwMode="auto">
            <a:xfrm>
              <a:off x="1830" y="2340"/>
              <a:ext cx="84" cy="97"/>
            </a:xfrm>
            <a:custGeom>
              <a:avLst/>
              <a:gdLst>
                <a:gd name="T0" fmla="*/ 84 w 84"/>
                <a:gd name="T1" fmla="*/ 95 h 97"/>
                <a:gd name="T2" fmla="*/ 84 w 84"/>
                <a:gd name="T3" fmla="*/ 0 h 97"/>
                <a:gd name="T4" fmla="*/ 0 w 84"/>
                <a:gd name="T5" fmla="*/ 0 h 97"/>
                <a:gd name="T6" fmla="*/ 0 w 84"/>
                <a:gd name="T7" fmla="*/ 97 h 97"/>
                <a:gd name="T8" fmla="*/ 84 w 84"/>
                <a:gd name="T9" fmla="*/ 97 h 97"/>
                <a:gd name="T10" fmla="*/ 84 w 84"/>
                <a:gd name="T11" fmla="*/ 97 h 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4" h="97">
                  <a:moveTo>
                    <a:pt x="84" y="95"/>
                  </a:moveTo>
                  <a:lnTo>
                    <a:pt x="84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84" y="9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213" name="Freeform 8"/>
            <p:cNvSpPr>
              <a:spLocks/>
            </p:cNvSpPr>
            <p:nvPr/>
          </p:nvSpPr>
          <p:spPr bwMode="auto">
            <a:xfrm>
              <a:off x="1830" y="2535"/>
              <a:ext cx="84" cy="98"/>
            </a:xfrm>
            <a:custGeom>
              <a:avLst/>
              <a:gdLst>
                <a:gd name="T0" fmla="*/ 84 w 84"/>
                <a:gd name="T1" fmla="*/ 96 h 98"/>
                <a:gd name="T2" fmla="*/ 84 w 84"/>
                <a:gd name="T3" fmla="*/ 0 h 98"/>
                <a:gd name="T4" fmla="*/ 0 w 84"/>
                <a:gd name="T5" fmla="*/ 0 h 98"/>
                <a:gd name="T6" fmla="*/ 0 w 84"/>
                <a:gd name="T7" fmla="*/ 98 h 98"/>
                <a:gd name="T8" fmla="*/ 84 w 84"/>
                <a:gd name="T9" fmla="*/ 98 h 98"/>
                <a:gd name="T10" fmla="*/ 84 w 84"/>
                <a:gd name="T11" fmla="*/ 98 h 9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4" h="98">
                  <a:moveTo>
                    <a:pt x="84" y="96"/>
                  </a:moveTo>
                  <a:lnTo>
                    <a:pt x="84" y="0"/>
                  </a:lnTo>
                  <a:lnTo>
                    <a:pt x="0" y="0"/>
                  </a:lnTo>
                  <a:lnTo>
                    <a:pt x="0" y="98"/>
                  </a:lnTo>
                  <a:lnTo>
                    <a:pt x="84" y="98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214" name="Freeform 9"/>
            <p:cNvSpPr>
              <a:spLocks/>
            </p:cNvSpPr>
            <p:nvPr/>
          </p:nvSpPr>
          <p:spPr bwMode="auto">
            <a:xfrm>
              <a:off x="1914" y="2144"/>
              <a:ext cx="546" cy="98"/>
            </a:xfrm>
            <a:custGeom>
              <a:avLst/>
              <a:gdLst>
                <a:gd name="T0" fmla="*/ 546 w 546"/>
                <a:gd name="T1" fmla="*/ 96 h 98"/>
                <a:gd name="T2" fmla="*/ 546 w 546"/>
                <a:gd name="T3" fmla="*/ 0 h 98"/>
                <a:gd name="T4" fmla="*/ 0 w 546"/>
                <a:gd name="T5" fmla="*/ 0 h 98"/>
                <a:gd name="T6" fmla="*/ 0 w 546"/>
                <a:gd name="T7" fmla="*/ 98 h 98"/>
                <a:gd name="T8" fmla="*/ 546 w 546"/>
                <a:gd name="T9" fmla="*/ 98 h 98"/>
                <a:gd name="T10" fmla="*/ 546 w 546"/>
                <a:gd name="T11" fmla="*/ 98 h 9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46" h="98">
                  <a:moveTo>
                    <a:pt x="546" y="96"/>
                  </a:moveTo>
                  <a:lnTo>
                    <a:pt x="546" y="0"/>
                  </a:lnTo>
                  <a:lnTo>
                    <a:pt x="0" y="0"/>
                  </a:lnTo>
                  <a:lnTo>
                    <a:pt x="0" y="98"/>
                  </a:lnTo>
                  <a:lnTo>
                    <a:pt x="546" y="98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215" name="Freeform 10"/>
            <p:cNvSpPr>
              <a:spLocks/>
            </p:cNvSpPr>
            <p:nvPr/>
          </p:nvSpPr>
          <p:spPr bwMode="auto">
            <a:xfrm>
              <a:off x="1914" y="2340"/>
              <a:ext cx="546" cy="97"/>
            </a:xfrm>
            <a:custGeom>
              <a:avLst/>
              <a:gdLst>
                <a:gd name="T0" fmla="*/ 546 w 546"/>
                <a:gd name="T1" fmla="*/ 95 h 97"/>
                <a:gd name="T2" fmla="*/ 546 w 546"/>
                <a:gd name="T3" fmla="*/ 0 h 97"/>
                <a:gd name="T4" fmla="*/ 0 w 546"/>
                <a:gd name="T5" fmla="*/ 0 h 97"/>
                <a:gd name="T6" fmla="*/ 0 w 546"/>
                <a:gd name="T7" fmla="*/ 97 h 97"/>
                <a:gd name="T8" fmla="*/ 546 w 546"/>
                <a:gd name="T9" fmla="*/ 97 h 97"/>
                <a:gd name="T10" fmla="*/ 546 w 546"/>
                <a:gd name="T11" fmla="*/ 97 h 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46" h="97">
                  <a:moveTo>
                    <a:pt x="546" y="95"/>
                  </a:moveTo>
                  <a:lnTo>
                    <a:pt x="546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546" y="9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216" name="Freeform 11"/>
            <p:cNvSpPr>
              <a:spLocks/>
            </p:cNvSpPr>
            <p:nvPr/>
          </p:nvSpPr>
          <p:spPr bwMode="auto">
            <a:xfrm>
              <a:off x="1914" y="2535"/>
              <a:ext cx="546" cy="98"/>
            </a:xfrm>
            <a:custGeom>
              <a:avLst/>
              <a:gdLst>
                <a:gd name="T0" fmla="*/ 546 w 546"/>
                <a:gd name="T1" fmla="*/ 96 h 98"/>
                <a:gd name="T2" fmla="*/ 546 w 546"/>
                <a:gd name="T3" fmla="*/ 0 h 98"/>
                <a:gd name="T4" fmla="*/ 0 w 546"/>
                <a:gd name="T5" fmla="*/ 0 h 98"/>
                <a:gd name="T6" fmla="*/ 0 w 546"/>
                <a:gd name="T7" fmla="*/ 98 h 98"/>
                <a:gd name="T8" fmla="*/ 546 w 546"/>
                <a:gd name="T9" fmla="*/ 98 h 98"/>
                <a:gd name="T10" fmla="*/ 546 w 546"/>
                <a:gd name="T11" fmla="*/ 98 h 9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46" h="98">
                  <a:moveTo>
                    <a:pt x="546" y="96"/>
                  </a:moveTo>
                  <a:lnTo>
                    <a:pt x="546" y="0"/>
                  </a:lnTo>
                  <a:lnTo>
                    <a:pt x="0" y="0"/>
                  </a:lnTo>
                  <a:lnTo>
                    <a:pt x="0" y="98"/>
                  </a:lnTo>
                  <a:lnTo>
                    <a:pt x="546" y="98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217" name="Freeform 12"/>
            <p:cNvSpPr>
              <a:spLocks/>
            </p:cNvSpPr>
            <p:nvPr/>
          </p:nvSpPr>
          <p:spPr bwMode="auto">
            <a:xfrm>
              <a:off x="1916" y="3174"/>
              <a:ext cx="552" cy="99"/>
            </a:xfrm>
            <a:custGeom>
              <a:avLst/>
              <a:gdLst>
                <a:gd name="T0" fmla="*/ 552 w 552"/>
                <a:gd name="T1" fmla="*/ 97 h 99"/>
                <a:gd name="T2" fmla="*/ 552 w 552"/>
                <a:gd name="T3" fmla="*/ 0 h 99"/>
                <a:gd name="T4" fmla="*/ 0 w 552"/>
                <a:gd name="T5" fmla="*/ 0 h 99"/>
                <a:gd name="T6" fmla="*/ 0 w 552"/>
                <a:gd name="T7" fmla="*/ 99 h 99"/>
                <a:gd name="T8" fmla="*/ 552 w 552"/>
                <a:gd name="T9" fmla="*/ 99 h 99"/>
                <a:gd name="T10" fmla="*/ 552 w 552"/>
                <a:gd name="T11" fmla="*/ 99 h 99"/>
                <a:gd name="T12" fmla="*/ 552 w 552"/>
                <a:gd name="T13" fmla="*/ 97 h 9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52" h="99">
                  <a:moveTo>
                    <a:pt x="552" y="97"/>
                  </a:moveTo>
                  <a:lnTo>
                    <a:pt x="552" y="0"/>
                  </a:lnTo>
                  <a:lnTo>
                    <a:pt x="0" y="0"/>
                  </a:lnTo>
                  <a:lnTo>
                    <a:pt x="0" y="99"/>
                  </a:lnTo>
                  <a:lnTo>
                    <a:pt x="552" y="99"/>
                  </a:lnTo>
                  <a:lnTo>
                    <a:pt x="552" y="97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218" name="Freeform 13"/>
            <p:cNvSpPr>
              <a:spLocks/>
            </p:cNvSpPr>
            <p:nvPr/>
          </p:nvSpPr>
          <p:spPr bwMode="auto">
            <a:xfrm>
              <a:off x="1916" y="3174"/>
              <a:ext cx="552" cy="99"/>
            </a:xfrm>
            <a:custGeom>
              <a:avLst/>
              <a:gdLst>
                <a:gd name="T0" fmla="*/ 552 w 552"/>
                <a:gd name="T1" fmla="*/ 97 h 99"/>
                <a:gd name="T2" fmla="*/ 552 w 552"/>
                <a:gd name="T3" fmla="*/ 0 h 99"/>
                <a:gd name="T4" fmla="*/ 0 w 552"/>
                <a:gd name="T5" fmla="*/ 0 h 99"/>
                <a:gd name="T6" fmla="*/ 0 w 552"/>
                <a:gd name="T7" fmla="*/ 99 h 99"/>
                <a:gd name="T8" fmla="*/ 552 w 552"/>
                <a:gd name="T9" fmla="*/ 99 h 99"/>
                <a:gd name="T10" fmla="*/ 552 w 552"/>
                <a:gd name="T11" fmla="*/ 99 h 9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52" h="99">
                  <a:moveTo>
                    <a:pt x="552" y="97"/>
                  </a:moveTo>
                  <a:lnTo>
                    <a:pt x="552" y="0"/>
                  </a:lnTo>
                  <a:lnTo>
                    <a:pt x="0" y="0"/>
                  </a:lnTo>
                  <a:lnTo>
                    <a:pt x="0" y="99"/>
                  </a:lnTo>
                  <a:lnTo>
                    <a:pt x="552" y="99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219" name="Freeform 14"/>
            <p:cNvSpPr>
              <a:spLocks/>
            </p:cNvSpPr>
            <p:nvPr/>
          </p:nvSpPr>
          <p:spPr bwMode="auto">
            <a:xfrm>
              <a:off x="1830" y="3172"/>
              <a:ext cx="84" cy="98"/>
            </a:xfrm>
            <a:custGeom>
              <a:avLst/>
              <a:gdLst>
                <a:gd name="T0" fmla="*/ 84 w 84"/>
                <a:gd name="T1" fmla="*/ 98 h 98"/>
                <a:gd name="T2" fmla="*/ 84 w 84"/>
                <a:gd name="T3" fmla="*/ 0 h 98"/>
                <a:gd name="T4" fmla="*/ 0 w 84"/>
                <a:gd name="T5" fmla="*/ 0 h 98"/>
                <a:gd name="T6" fmla="*/ 0 w 84"/>
                <a:gd name="T7" fmla="*/ 98 h 98"/>
                <a:gd name="T8" fmla="*/ 84 w 84"/>
                <a:gd name="T9" fmla="*/ 98 h 98"/>
                <a:gd name="T10" fmla="*/ 84 w 84"/>
                <a:gd name="T11" fmla="*/ 98 h 9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4" h="98">
                  <a:moveTo>
                    <a:pt x="84" y="98"/>
                  </a:moveTo>
                  <a:lnTo>
                    <a:pt x="84" y="0"/>
                  </a:lnTo>
                  <a:lnTo>
                    <a:pt x="0" y="0"/>
                  </a:lnTo>
                  <a:lnTo>
                    <a:pt x="0" y="98"/>
                  </a:lnTo>
                  <a:lnTo>
                    <a:pt x="84" y="98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220" name="Freeform 15"/>
            <p:cNvSpPr>
              <a:spLocks/>
            </p:cNvSpPr>
            <p:nvPr/>
          </p:nvSpPr>
          <p:spPr bwMode="auto">
            <a:xfrm>
              <a:off x="1830" y="3172"/>
              <a:ext cx="84" cy="98"/>
            </a:xfrm>
            <a:custGeom>
              <a:avLst/>
              <a:gdLst>
                <a:gd name="T0" fmla="*/ 84 w 84"/>
                <a:gd name="T1" fmla="*/ 98 h 98"/>
                <a:gd name="T2" fmla="*/ 84 w 84"/>
                <a:gd name="T3" fmla="*/ 0 h 98"/>
                <a:gd name="T4" fmla="*/ 0 w 84"/>
                <a:gd name="T5" fmla="*/ 0 h 98"/>
                <a:gd name="T6" fmla="*/ 0 w 84"/>
                <a:gd name="T7" fmla="*/ 98 h 98"/>
                <a:gd name="T8" fmla="*/ 84 w 84"/>
                <a:gd name="T9" fmla="*/ 98 h 98"/>
                <a:gd name="T10" fmla="*/ 84 w 84"/>
                <a:gd name="T11" fmla="*/ 98 h 9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4" h="98">
                  <a:moveTo>
                    <a:pt x="84" y="98"/>
                  </a:moveTo>
                  <a:lnTo>
                    <a:pt x="84" y="0"/>
                  </a:lnTo>
                  <a:lnTo>
                    <a:pt x="0" y="0"/>
                  </a:lnTo>
                  <a:lnTo>
                    <a:pt x="0" y="98"/>
                  </a:lnTo>
                  <a:lnTo>
                    <a:pt x="84" y="98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221" name="Freeform 16"/>
            <p:cNvSpPr>
              <a:spLocks/>
            </p:cNvSpPr>
            <p:nvPr/>
          </p:nvSpPr>
          <p:spPr bwMode="auto">
            <a:xfrm>
              <a:off x="1916" y="3369"/>
              <a:ext cx="552" cy="98"/>
            </a:xfrm>
            <a:custGeom>
              <a:avLst/>
              <a:gdLst>
                <a:gd name="T0" fmla="*/ 552 w 552"/>
                <a:gd name="T1" fmla="*/ 98 h 98"/>
                <a:gd name="T2" fmla="*/ 552 w 552"/>
                <a:gd name="T3" fmla="*/ 0 h 98"/>
                <a:gd name="T4" fmla="*/ 0 w 552"/>
                <a:gd name="T5" fmla="*/ 0 h 98"/>
                <a:gd name="T6" fmla="*/ 0 w 552"/>
                <a:gd name="T7" fmla="*/ 98 h 98"/>
                <a:gd name="T8" fmla="*/ 552 w 552"/>
                <a:gd name="T9" fmla="*/ 98 h 98"/>
                <a:gd name="T10" fmla="*/ 552 w 552"/>
                <a:gd name="T11" fmla="*/ 98 h 9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52" h="98">
                  <a:moveTo>
                    <a:pt x="552" y="98"/>
                  </a:moveTo>
                  <a:lnTo>
                    <a:pt x="552" y="0"/>
                  </a:lnTo>
                  <a:lnTo>
                    <a:pt x="0" y="0"/>
                  </a:lnTo>
                  <a:lnTo>
                    <a:pt x="0" y="98"/>
                  </a:lnTo>
                  <a:lnTo>
                    <a:pt x="552" y="98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222" name="Freeform 17"/>
            <p:cNvSpPr>
              <a:spLocks/>
            </p:cNvSpPr>
            <p:nvPr/>
          </p:nvSpPr>
          <p:spPr bwMode="auto">
            <a:xfrm>
              <a:off x="1916" y="3369"/>
              <a:ext cx="552" cy="98"/>
            </a:xfrm>
            <a:custGeom>
              <a:avLst/>
              <a:gdLst>
                <a:gd name="T0" fmla="*/ 552 w 552"/>
                <a:gd name="T1" fmla="*/ 98 h 98"/>
                <a:gd name="T2" fmla="*/ 552 w 552"/>
                <a:gd name="T3" fmla="*/ 0 h 98"/>
                <a:gd name="T4" fmla="*/ 0 w 552"/>
                <a:gd name="T5" fmla="*/ 0 h 98"/>
                <a:gd name="T6" fmla="*/ 0 w 552"/>
                <a:gd name="T7" fmla="*/ 98 h 98"/>
                <a:gd name="T8" fmla="*/ 552 w 552"/>
                <a:gd name="T9" fmla="*/ 98 h 98"/>
                <a:gd name="T10" fmla="*/ 552 w 552"/>
                <a:gd name="T11" fmla="*/ 98 h 9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52" h="98">
                  <a:moveTo>
                    <a:pt x="552" y="98"/>
                  </a:moveTo>
                  <a:lnTo>
                    <a:pt x="552" y="0"/>
                  </a:lnTo>
                  <a:lnTo>
                    <a:pt x="0" y="0"/>
                  </a:lnTo>
                  <a:lnTo>
                    <a:pt x="0" y="98"/>
                  </a:lnTo>
                  <a:lnTo>
                    <a:pt x="552" y="98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223" name="Freeform 18"/>
            <p:cNvSpPr>
              <a:spLocks/>
            </p:cNvSpPr>
            <p:nvPr/>
          </p:nvSpPr>
          <p:spPr bwMode="auto">
            <a:xfrm>
              <a:off x="1830" y="3367"/>
              <a:ext cx="84" cy="98"/>
            </a:xfrm>
            <a:custGeom>
              <a:avLst/>
              <a:gdLst>
                <a:gd name="T0" fmla="*/ 84 w 84"/>
                <a:gd name="T1" fmla="*/ 98 h 98"/>
                <a:gd name="T2" fmla="*/ 84 w 84"/>
                <a:gd name="T3" fmla="*/ 0 h 98"/>
                <a:gd name="T4" fmla="*/ 0 w 84"/>
                <a:gd name="T5" fmla="*/ 0 h 98"/>
                <a:gd name="T6" fmla="*/ 0 w 84"/>
                <a:gd name="T7" fmla="*/ 98 h 98"/>
                <a:gd name="T8" fmla="*/ 84 w 84"/>
                <a:gd name="T9" fmla="*/ 98 h 98"/>
                <a:gd name="T10" fmla="*/ 84 w 84"/>
                <a:gd name="T11" fmla="*/ 98 h 9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4" h="98">
                  <a:moveTo>
                    <a:pt x="84" y="98"/>
                  </a:moveTo>
                  <a:lnTo>
                    <a:pt x="84" y="0"/>
                  </a:lnTo>
                  <a:lnTo>
                    <a:pt x="0" y="0"/>
                  </a:lnTo>
                  <a:lnTo>
                    <a:pt x="0" y="98"/>
                  </a:lnTo>
                  <a:lnTo>
                    <a:pt x="84" y="98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224" name="Freeform 19"/>
            <p:cNvSpPr>
              <a:spLocks/>
            </p:cNvSpPr>
            <p:nvPr/>
          </p:nvSpPr>
          <p:spPr bwMode="auto">
            <a:xfrm>
              <a:off x="1830" y="3367"/>
              <a:ext cx="84" cy="98"/>
            </a:xfrm>
            <a:custGeom>
              <a:avLst/>
              <a:gdLst>
                <a:gd name="T0" fmla="*/ 84 w 84"/>
                <a:gd name="T1" fmla="*/ 98 h 98"/>
                <a:gd name="T2" fmla="*/ 84 w 84"/>
                <a:gd name="T3" fmla="*/ 0 h 98"/>
                <a:gd name="T4" fmla="*/ 0 w 84"/>
                <a:gd name="T5" fmla="*/ 0 h 98"/>
                <a:gd name="T6" fmla="*/ 0 w 84"/>
                <a:gd name="T7" fmla="*/ 98 h 98"/>
                <a:gd name="T8" fmla="*/ 84 w 84"/>
                <a:gd name="T9" fmla="*/ 98 h 98"/>
                <a:gd name="T10" fmla="*/ 84 w 84"/>
                <a:gd name="T11" fmla="*/ 98 h 9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4" h="98">
                  <a:moveTo>
                    <a:pt x="84" y="98"/>
                  </a:moveTo>
                  <a:lnTo>
                    <a:pt x="84" y="0"/>
                  </a:lnTo>
                  <a:lnTo>
                    <a:pt x="0" y="0"/>
                  </a:lnTo>
                  <a:lnTo>
                    <a:pt x="0" y="98"/>
                  </a:lnTo>
                  <a:lnTo>
                    <a:pt x="84" y="98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225" name="Freeform 20"/>
            <p:cNvSpPr>
              <a:spLocks/>
            </p:cNvSpPr>
            <p:nvPr/>
          </p:nvSpPr>
          <p:spPr bwMode="auto">
            <a:xfrm>
              <a:off x="1916" y="3563"/>
              <a:ext cx="552" cy="97"/>
            </a:xfrm>
            <a:custGeom>
              <a:avLst/>
              <a:gdLst>
                <a:gd name="T0" fmla="*/ 552 w 552"/>
                <a:gd name="T1" fmla="*/ 97 h 97"/>
                <a:gd name="T2" fmla="*/ 552 w 552"/>
                <a:gd name="T3" fmla="*/ 0 h 97"/>
                <a:gd name="T4" fmla="*/ 0 w 552"/>
                <a:gd name="T5" fmla="*/ 0 h 97"/>
                <a:gd name="T6" fmla="*/ 0 w 552"/>
                <a:gd name="T7" fmla="*/ 97 h 97"/>
                <a:gd name="T8" fmla="*/ 552 w 552"/>
                <a:gd name="T9" fmla="*/ 97 h 97"/>
                <a:gd name="T10" fmla="*/ 552 w 552"/>
                <a:gd name="T11" fmla="*/ 97 h 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52" h="97">
                  <a:moveTo>
                    <a:pt x="552" y="97"/>
                  </a:moveTo>
                  <a:lnTo>
                    <a:pt x="552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552" y="97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226" name="Freeform 21"/>
            <p:cNvSpPr>
              <a:spLocks/>
            </p:cNvSpPr>
            <p:nvPr/>
          </p:nvSpPr>
          <p:spPr bwMode="auto">
            <a:xfrm>
              <a:off x="1916" y="3563"/>
              <a:ext cx="552" cy="97"/>
            </a:xfrm>
            <a:custGeom>
              <a:avLst/>
              <a:gdLst>
                <a:gd name="T0" fmla="*/ 552 w 552"/>
                <a:gd name="T1" fmla="*/ 97 h 97"/>
                <a:gd name="T2" fmla="*/ 552 w 552"/>
                <a:gd name="T3" fmla="*/ 0 h 97"/>
                <a:gd name="T4" fmla="*/ 0 w 552"/>
                <a:gd name="T5" fmla="*/ 0 h 97"/>
                <a:gd name="T6" fmla="*/ 0 w 552"/>
                <a:gd name="T7" fmla="*/ 97 h 97"/>
                <a:gd name="T8" fmla="*/ 552 w 552"/>
                <a:gd name="T9" fmla="*/ 97 h 97"/>
                <a:gd name="T10" fmla="*/ 552 w 552"/>
                <a:gd name="T11" fmla="*/ 97 h 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52" h="97">
                  <a:moveTo>
                    <a:pt x="552" y="97"/>
                  </a:moveTo>
                  <a:lnTo>
                    <a:pt x="552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552" y="9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227" name="Freeform 22"/>
            <p:cNvSpPr>
              <a:spLocks/>
            </p:cNvSpPr>
            <p:nvPr/>
          </p:nvSpPr>
          <p:spPr bwMode="auto">
            <a:xfrm>
              <a:off x="1830" y="3563"/>
              <a:ext cx="84" cy="97"/>
            </a:xfrm>
            <a:custGeom>
              <a:avLst/>
              <a:gdLst>
                <a:gd name="T0" fmla="*/ 84 w 84"/>
                <a:gd name="T1" fmla="*/ 97 h 97"/>
                <a:gd name="T2" fmla="*/ 84 w 84"/>
                <a:gd name="T3" fmla="*/ 0 h 97"/>
                <a:gd name="T4" fmla="*/ 0 w 84"/>
                <a:gd name="T5" fmla="*/ 0 h 97"/>
                <a:gd name="T6" fmla="*/ 0 w 84"/>
                <a:gd name="T7" fmla="*/ 97 h 97"/>
                <a:gd name="T8" fmla="*/ 84 w 84"/>
                <a:gd name="T9" fmla="*/ 97 h 97"/>
                <a:gd name="T10" fmla="*/ 84 w 84"/>
                <a:gd name="T11" fmla="*/ 97 h 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4" h="97">
                  <a:moveTo>
                    <a:pt x="84" y="97"/>
                  </a:moveTo>
                  <a:lnTo>
                    <a:pt x="84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84" y="97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228" name="Freeform 23"/>
            <p:cNvSpPr>
              <a:spLocks/>
            </p:cNvSpPr>
            <p:nvPr/>
          </p:nvSpPr>
          <p:spPr bwMode="auto">
            <a:xfrm>
              <a:off x="1830" y="3563"/>
              <a:ext cx="84" cy="97"/>
            </a:xfrm>
            <a:custGeom>
              <a:avLst/>
              <a:gdLst>
                <a:gd name="T0" fmla="*/ 84 w 84"/>
                <a:gd name="T1" fmla="*/ 97 h 97"/>
                <a:gd name="T2" fmla="*/ 84 w 84"/>
                <a:gd name="T3" fmla="*/ 0 h 97"/>
                <a:gd name="T4" fmla="*/ 0 w 84"/>
                <a:gd name="T5" fmla="*/ 0 h 97"/>
                <a:gd name="T6" fmla="*/ 0 w 84"/>
                <a:gd name="T7" fmla="*/ 97 h 97"/>
                <a:gd name="T8" fmla="*/ 84 w 84"/>
                <a:gd name="T9" fmla="*/ 97 h 97"/>
                <a:gd name="T10" fmla="*/ 84 w 84"/>
                <a:gd name="T11" fmla="*/ 97 h 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4" h="97">
                  <a:moveTo>
                    <a:pt x="84" y="97"/>
                  </a:moveTo>
                  <a:lnTo>
                    <a:pt x="84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84" y="9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229" name="Freeform 24"/>
            <p:cNvSpPr>
              <a:spLocks/>
            </p:cNvSpPr>
            <p:nvPr/>
          </p:nvSpPr>
          <p:spPr bwMode="auto">
            <a:xfrm>
              <a:off x="1916" y="3760"/>
              <a:ext cx="552" cy="97"/>
            </a:xfrm>
            <a:custGeom>
              <a:avLst/>
              <a:gdLst>
                <a:gd name="T0" fmla="*/ 552 w 552"/>
                <a:gd name="T1" fmla="*/ 97 h 97"/>
                <a:gd name="T2" fmla="*/ 552 w 552"/>
                <a:gd name="T3" fmla="*/ 0 h 97"/>
                <a:gd name="T4" fmla="*/ 0 w 552"/>
                <a:gd name="T5" fmla="*/ 0 h 97"/>
                <a:gd name="T6" fmla="*/ 0 w 552"/>
                <a:gd name="T7" fmla="*/ 97 h 97"/>
                <a:gd name="T8" fmla="*/ 552 w 552"/>
                <a:gd name="T9" fmla="*/ 97 h 97"/>
                <a:gd name="T10" fmla="*/ 552 w 552"/>
                <a:gd name="T11" fmla="*/ 97 h 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52" h="97">
                  <a:moveTo>
                    <a:pt x="552" y="97"/>
                  </a:moveTo>
                  <a:lnTo>
                    <a:pt x="552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552" y="97"/>
                  </a:lnTo>
                  <a:close/>
                </a:path>
              </a:pathLst>
            </a:custGeom>
            <a:solidFill>
              <a:srgbClr val="CCCC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230" name="Freeform 25"/>
            <p:cNvSpPr>
              <a:spLocks/>
            </p:cNvSpPr>
            <p:nvPr/>
          </p:nvSpPr>
          <p:spPr bwMode="auto">
            <a:xfrm>
              <a:off x="1916" y="3760"/>
              <a:ext cx="552" cy="97"/>
            </a:xfrm>
            <a:custGeom>
              <a:avLst/>
              <a:gdLst>
                <a:gd name="T0" fmla="*/ 552 w 552"/>
                <a:gd name="T1" fmla="*/ 97 h 97"/>
                <a:gd name="T2" fmla="*/ 552 w 552"/>
                <a:gd name="T3" fmla="*/ 0 h 97"/>
                <a:gd name="T4" fmla="*/ 0 w 552"/>
                <a:gd name="T5" fmla="*/ 0 h 97"/>
                <a:gd name="T6" fmla="*/ 0 w 552"/>
                <a:gd name="T7" fmla="*/ 97 h 97"/>
                <a:gd name="T8" fmla="*/ 552 w 552"/>
                <a:gd name="T9" fmla="*/ 97 h 97"/>
                <a:gd name="T10" fmla="*/ 552 w 552"/>
                <a:gd name="T11" fmla="*/ 97 h 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52" h="97">
                  <a:moveTo>
                    <a:pt x="552" y="97"/>
                  </a:moveTo>
                  <a:lnTo>
                    <a:pt x="552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552" y="9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231" name="Freeform 26"/>
            <p:cNvSpPr>
              <a:spLocks/>
            </p:cNvSpPr>
            <p:nvPr/>
          </p:nvSpPr>
          <p:spPr bwMode="auto">
            <a:xfrm>
              <a:off x="1830" y="3758"/>
              <a:ext cx="84" cy="98"/>
            </a:xfrm>
            <a:custGeom>
              <a:avLst/>
              <a:gdLst>
                <a:gd name="T0" fmla="*/ 84 w 84"/>
                <a:gd name="T1" fmla="*/ 98 h 98"/>
                <a:gd name="T2" fmla="*/ 84 w 84"/>
                <a:gd name="T3" fmla="*/ 0 h 98"/>
                <a:gd name="T4" fmla="*/ 0 w 84"/>
                <a:gd name="T5" fmla="*/ 0 h 98"/>
                <a:gd name="T6" fmla="*/ 0 w 84"/>
                <a:gd name="T7" fmla="*/ 98 h 98"/>
                <a:gd name="T8" fmla="*/ 84 w 84"/>
                <a:gd name="T9" fmla="*/ 98 h 98"/>
                <a:gd name="T10" fmla="*/ 84 w 84"/>
                <a:gd name="T11" fmla="*/ 98 h 9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4" h="98">
                  <a:moveTo>
                    <a:pt x="84" y="98"/>
                  </a:moveTo>
                  <a:lnTo>
                    <a:pt x="84" y="0"/>
                  </a:lnTo>
                  <a:lnTo>
                    <a:pt x="0" y="0"/>
                  </a:lnTo>
                  <a:lnTo>
                    <a:pt x="0" y="98"/>
                  </a:lnTo>
                  <a:lnTo>
                    <a:pt x="84" y="98"/>
                  </a:lnTo>
                  <a:close/>
                </a:path>
              </a:pathLst>
            </a:custGeom>
            <a:solidFill>
              <a:srgbClr val="CCCC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232" name="Freeform 27"/>
            <p:cNvSpPr>
              <a:spLocks/>
            </p:cNvSpPr>
            <p:nvPr/>
          </p:nvSpPr>
          <p:spPr bwMode="auto">
            <a:xfrm>
              <a:off x="1830" y="3758"/>
              <a:ext cx="84" cy="98"/>
            </a:xfrm>
            <a:custGeom>
              <a:avLst/>
              <a:gdLst>
                <a:gd name="T0" fmla="*/ 84 w 84"/>
                <a:gd name="T1" fmla="*/ 98 h 98"/>
                <a:gd name="T2" fmla="*/ 84 w 84"/>
                <a:gd name="T3" fmla="*/ 0 h 98"/>
                <a:gd name="T4" fmla="*/ 0 w 84"/>
                <a:gd name="T5" fmla="*/ 0 h 98"/>
                <a:gd name="T6" fmla="*/ 0 w 84"/>
                <a:gd name="T7" fmla="*/ 98 h 98"/>
                <a:gd name="T8" fmla="*/ 84 w 84"/>
                <a:gd name="T9" fmla="*/ 98 h 98"/>
                <a:gd name="T10" fmla="*/ 84 w 84"/>
                <a:gd name="T11" fmla="*/ 98 h 9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4" h="98">
                  <a:moveTo>
                    <a:pt x="84" y="98"/>
                  </a:moveTo>
                  <a:lnTo>
                    <a:pt x="84" y="0"/>
                  </a:lnTo>
                  <a:lnTo>
                    <a:pt x="0" y="0"/>
                  </a:lnTo>
                  <a:lnTo>
                    <a:pt x="0" y="98"/>
                  </a:lnTo>
                  <a:lnTo>
                    <a:pt x="84" y="98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233" name="Freeform 28"/>
            <p:cNvSpPr>
              <a:spLocks/>
            </p:cNvSpPr>
            <p:nvPr/>
          </p:nvSpPr>
          <p:spPr bwMode="auto">
            <a:xfrm>
              <a:off x="1916" y="3955"/>
              <a:ext cx="552" cy="98"/>
            </a:xfrm>
            <a:custGeom>
              <a:avLst/>
              <a:gdLst>
                <a:gd name="T0" fmla="*/ 552 w 552"/>
                <a:gd name="T1" fmla="*/ 98 h 98"/>
                <a:gd name="T2" fmla="*/ 552 w 552"/>
                <a:gd name="T3" fmla="*/ 0 h 98"/>
                <a:gd name="T4" fmla="*/ 0 w 552"/>
                <a:gd name="T5" fmla="*/ 0 h 98"/>
                <a:gd name="T6" fmla="*/ 0 w 552"/>
                <a:gd name="T7" fmla="*/ 98 h 98"/>
                <a:gd name="T8" fmla="*/ 552 w 552"/>
                <a:gd name="T9" fmla="*/ 98 h 98"/>
                <a:gd name="T10" fmla="*/ 552 w 552"/>
                <a:gd name="T11" fmla="*/ 98 h 9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52" h="98">
                  <a:moveTo>
                    <a:pt x="552" y="98"/>
                  </a:moveTo>
                  <a:lnTo>
                    <a:pt x="552" y="0"/>
                  </a:lnTo>
                  <a:lnTo>
                    <a:pt x="0" y="0"/>
                  </a:lnTo>
                  <a:lnTo>
                    <a:pt x="0" y="98"/>
                  </a:lnTo>
                  <a:lnTo>
                    <a:pt x="552" y="98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234" name="Freeform 29"/>
            <p:cNvSpPr>
              <a:spLocks/>
            </p:cNvSpPr>
            <p:nvPr/>
          </p:nvSpPr>
          <p:spPr bwMode="auto">
            <a:xfrm>
              <a:off x="1916" y="3955"/>
              <a:ext cx="552" cy="98"/>
            </a:xfrm>
            <a:custGeom>
              <a:avLst/>
              <a:gdLst>
                <a:gd name="T0" fmla="*/ 552 w 552"/>
                <a:gd name="T1" fmla="*/ 98 h 98"/>
                <a:gd name="T2" fmla="*/ 552 w 552"/>
                <a:gd name="T3" fmla="*/ 0 h 98"/>
                <a:gd name="T4" fmla="*/ 0 w 552"/>
                <a:gd name="T5" fmla="*/ 0 h 98"/>
                <a:gd name="T6" fmla="*/ 0 w 552"/>
                <a:gd name="T7" fmla="*/ 98 h 98"/>
                <a:gd name="T8" fmla="*/ 552 w 552"/>
                <a:gd name="T9" fmla="*/ 98 h 98"/>
                <a:gd name="T10" fmla="*/ 552 w 552"/>
                <a:gd name="T11" fmla="*/ 98 h 9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52" h="98">
                  <a:moveTo>
                    <a:pt x="552" y="98"/>
                  </a:moveTo>
                  <a:lnTo>
                    <a:pt x="552" y="0"/>
                  </a:lnTo>
                  <a:lnTo>
                    <a:pt x="0" y="0"/>
                  </a:lnTo>
                  <a:lnTo>
                    <a:pt x="0" y="98"/>
                  </a:lnTo>
                  <a:lnTo>
                    <a:pt x="552" y="98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235" name="Freeform 30"/>
            <p:cNvSpPr>
              <a:spLocks/>
            </p:cNvSpPr>
            <p:nvPr/>
          </p:nvSpPr>
          <p:spPr bwMode="auto">
            <a:xfrm>
              <a:off x="1830" y="3953"/>
              <a:ext cx="84" cy="98"/>
            </a:xfrm>
            <a:custGeom>
              <a:avLst/>
              <a:gdLst>
                <a:gd name="T0" fmla="*/ 84 w 84"/>
                <a:gd name="T1" fmla="*/ 98 h 98"/>
                <a:gd name="T2" fmla="*/ 84 w 84"/>
                <a:gd name="T3" fmla="*/ 0 h 98"/>
                <a:gd name="T4" fmla="*/ 0 w 84"/>
                <a:gd name="T5" fmla="*/ 0 h 98"/>
                <a:gd name="T6" fmla="*/ 0 w 84"/>
                <a:gd name="T7" fmla="*/ 98 h 98"/>
                <a:gd name="T8" fmla="*/ 84 w 84"/>
                <a:gd name="T9" fmla="*/ 98 h 98"/>
                <a:gd name="T10" fmla="*/ 84 w 84"/>
                <a:gd name="T11" fmla="*/ 98 h 9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4" h="98">
                  <a:moveTo>
                    <a:pt x="84" y="98"/>
                  </a:moveTo>
                  <a:lnTo>
                    <a:pt x="84" y="0"/>
                  </a:lnTo>
                  <a:lnTo>
                    <a:pt x="0" y="0"/>
                  </a:lnTo>
                  <a:lnTo>
                    <a:pt x="0" y="98"/>
                  </a:lnTo>
                  <a:lnTo>
                    <a:pt x="84" y="98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236" name="Freeform 31"/>
            <p:cNvSpPr>
              <a:spLocks/>
            </p:cNvSpPr>
            <p:nvPr/>
          </p:nvSpPr>
          <p:spPr bwMode="auto">
            <a:xfrm>
              <a:off x="1830" y="3953"/>
              <a:ext cx="84" cy="98"/>
            </a:xfrm>
            <a:custGeom>
              <a:avLst/>
              <a:gdLst>
                <a:gd name="T0" fmla="*/ 84 w 84"/>
                <a:gd name="T1" fmla="*/ 98 h 98"/>
                <a:gd name="T2" fmla="*/ 84 w 84"/>
                <a:gd name="T3" fmla="*/ 0 h 98"/>
                <a:gd name="T4" fmla="*/ 0 w 84"/>
                <a:gd name="T5" fmla="*/ 0 h 98"/>
                <a:gd name="T6" fmla="*/ 0 w 84"/>
                <a:gd name="T7" fmla="*/ 98 h 98"/>
                <a:gd name="T8" fmla="*/ 84 w 84"/>
                <a:gd name="T9" fmla="*/ 98 h 98"/>
                <a:gd name="T10" fmla="*/ 84 w 84"/>
                <a:gd name="T11" fmla="*/ 98 h 9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4" h="98">
                  <a:moveTo>
                    <a:pt x="84" y="98"/>
                  </a:moveTo>
                  <a:lnTo>
                    <a:pt x="84" y="0"/>
                  </a:lnTo>
                  <a:lnTo>
                    <a:pt x="0" y="0"/>
                  </a:lnTo>
                  <a:lnTo>
                    <a:pt x="0" y="98"/>
                  </a:lnTo>
                  <a:lnTo>
                    <a:pt x="84" y="98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237" name="Freeform 32"/>
            <p:cNvSpPr>
              <a:spLocks/>
            </p:cNvSpPr>
            <p:nvPr/>
          </p:nvSpPr>
          <p:spPr bwMode="auto">
            <a:xfrm>
              <a:off x="1916" y="4151"/>
              <a:ext cx="552" cy="97"/>
            </a:xfrm>
            <a:custGeom>
              <a:avLst/>
              <a:gdLst>
                <a:gd name="T0" fmla="*/ 552 w 552"/>
                <a:gd name="T1" fmla="*/ 95 h 97"/>
                <a:gd name="T2" fmla="*/ 552 w 552"/>
                <a:gd name="T3" fmla="*/ 0 h 97"/>
                <a:gd name="T4" fmla="*/ 0 w 552"/>
                <a:gd name="T5" fmla="*/ 0 h 97"/>
                <a:gd name="T6" fmla="*/ 0 w 552"/>
                <a:gd name="T7" fmla="*/ 97 h 97"/>
                <a:gd name="T8" fmla="*/ 552 w 552"/>
                <a:gd name="T9" fmla="*/ 97 h 97"/>
                <a:gd name="T10" fmla="*/ 552 w 552"/>
                <a:gd name="T11" fmla="*/ 97 h 97"/>
                <a:gd name="T12" fmla="*/ 552 w 552"/>
                <a:gd name="T13" fmla="*/ 95 h 9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52" h="97">
                  <a:moveTo>
                    <a:pt x="552" y="95"/>
                  </a:moveTo>
                  <a:lnTo>
                    <a:pt x="552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552" y="97"/>
                  </a:lnTo>
                  <a:lnTo>
                    <a:pt x="552" y="95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238" name="Freeform 33"/>
            <p:cNvSpPr>
              <a:spLocks/>
            </p:cNvSpPr>
            <p:nvPr/>
          </p:nvSpPr>
          <p:spPr bwMode="auto">
            <a:xfrm>
              <a:off x="1916" y="4151"/>
              <a:ext cx="552" cy="97"/>
            </a:xfrm>
            <a:custGeom>
              <a:avLst/>
              <a:gdLst>
                <a:gd name="T0" fmla="*/ 552 w 552"/>
                <a:gd name="T1" fmla="*/ 95 h 97"/>
                <a:gd name="T2" fmla="*/ 552 w 552"/>
                <a:gd name="T3" fmla="*/ 0 h 97"/>
                <a:gd name="T4" fmla="*/ 0 w 552"/>
                <a:gd name="T5" fmla="*/ 0 h 97"/>
                <a:gd name="T6" fmla="*/ 0 w 552"/>
                <a:gd name="T7" fmla="*/ 97 h 97"/>
                <a:gd name="T8" fmla="*/ 552 w 552"/>
                <a:gd name="T9" fmla="*/ 97 h 97"/>
                <a:gd name="T10" fmla="*/ 552 w 552"/>
                <a:gd name="T11" fmla="*/ 97 h 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52" h="97">
                  <a:moveTo>
                    <a:pt x="552" y="95"/>
                  </a:moveTo>
                  <a:lnTo>
                    <a:pt x="552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552" y="9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239" name="Freeform 34"/>
            <p:cNvSpPr>
              <a:spLocks/>
            </p:cNvSpPr>
            <p:nvPr/>
          </p:nvSpPr>
          <p:spPr bwMode="auto">
            <a:xfrm>
              <a:off x="1830" y="4149"/>
              <a:ext cx="84" cy="97"/>
            </a:xfrm>
            <a:custGeom>
              <a:avLst/>
              <a:gdLst>
                <a:gd name="T0" fmla="*/ 84 w 84"/>
                <a:gd name="T1" fmla="*/ 97 h 97"/>
                <a:gd name="T2" fmla="*/ 84 w 84"/>
                <a:gd name="T3" fmla="*/ 0 h 97"/>
                <a:gd name="T4" fmla="*/ 0 w 84"/>
                <a:gd name="T5" fmla="*/ 0 h 97"/>
                <a:gd name="T6" fmla="*/ 0 w 84"/>
                <a:gd name="T7" fmla="*/ 97 h 97"/>
                <a:gd name="T8" fmla="*/ 84 w 84"/>
                <a:gd name="T9" fmla="*/ 97 h 97"/>
                <a:gd name="T10" fmla="*/ 84 w 84"/>
                <a:gd name="T11" fmla="*/ 97 h 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4" h="97">
                  <a:moveTo>
                    <a:pt x="84" y="97"/>
                  </a:moveTo>
                  <a:lnTo>
                    <a:pt x="84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84" y="97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240" name="Freeform 35"/>
            <p:cNvSpPr>
              <a:spLocks/>
            </p:cNvSpPr>
            <p:nvPr/>
          </p:nvSpPr>
          <p:spPr bwMode="auto">
            <a:xfrm>
              <a:off x="1830" y="4149"/>
              <a:ext cx="84" cy="97"/>
            </a:xfrm>
            <a:custGeom>
              <a:avLst/>
              <a:gdLst>
                <a:gd name="T0" fmla="*/ 84 w 84"/>
                <a:gd name="T1" fmla="*/ 97 h 97"/>
                <a:gd name="T2" fmla="*/ 84 w 84"/>
                <a:gd name="T3" fmla="*/ 0 h 97"/>
                <a:gd name="T4" fmla="*/ 0 w 84"/>
                <a:gd name="T5" fmla="*/ 0 h 97"/>
                <a:gd name="T6" fmla="*/ 0 w 84"/>
                <a:gd name="T7" fmla="*/ 97 h 97"/>
                <a:gd name="T8" fmla="*/ 84 w 84"/>
                <a:gd name="T9" fmla="*/ 97 h 97"/>
                <a:gd name="T10" fmla="*/ 84 w 84"/>
                <a:gd name="T11" fmla="*/ 97 h 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4" h="97">
                  <a:moveTo>
                    <a:pt x="84" y="97"/>
                  </a:moveTo>
                  <a:lnTo>
                    <a:pt x="84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84" y="9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241" name="Freeform 36"/>
            <p:cNvSpPr>
              <a:spLocks/>
            </p:cNvSpPr>
            <p:nvPr/>
          </p:nvSpPr>
          <p:spPr bwMode="auto">
            <a:xfrm>
              <a:off x="3531" y="3035"/>
              <a:ext cx="38" cy="31"/>
            </a:xfrm>
            <a:custGeom>
              <a:avLst/>
              <a:gdLst>
                <a:gd name="T0" fmla="*/ 18 w 38"/>
                <a:gd name="T1" fmla="*/ 0 h 31"/>
                <a:gd name="T2" fmla="*/ 0 w 38"/>
                <a:gd name="T3" fmla="*/ 27 h 31"/>
                <a:gd name="T4" fmla="*/ 38 w 38"/>
                <a:gd name="T5" fmla="*/ 31 h 31"/>
                <a:gd name="T6" fmla="*/ 20 w 38"/>
                <a:gd name="T7" fmla="*/ 0 h 31"/>
                <a:gd name="T8" fmla="*/ 20 w 38"/>
                <a:gd name="T9" fmla="*/ 0 h 31"/>
                <a:gd name="T10" fmla="*/ 18 w 38"/>
                <a:gd name="T11" fmla="*/ 0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8" h="31">
                  <a:moveTo>
                    <a:pt x="18" y="0"/>
                  </a:moveTo>
                  <a:lnTo>
                    <a:pt x="0" y="27"/>
                  </a:lnTo>
                  <a:lnTo>
                    <a:pt x="38" y="31"/>
                  </a:lnTo>
                  <a:lnTo>
                    <a:pt x="20" y="0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EB75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242" name="Freeform 37"/>
            <p:cNvSpPr>
              <a:spLocks/>
            </p:cNvSpPr>
            <p:nvPr/>
          </p:nvSpPr>
          <p:spPr bwMode="auto">
            <a:xfrm>
              <a:off x="3531" y="3035"/>
              <a:ext cx="38" cy="31"/>
            </a:xfrm>
            <a:custGeom>
              <a:avLst/>
              <a:gdLst>
                <a:gd name="T0" fmla="*/ 18 w 38"/>
                <a:gd name="T1" fmla="*/ 0 h 31"/>
                <a:gd name="T2" fmla="*/ 0 w 38"/>
                <a:gd name="T3" fmla="*/ 27 h 31"/>
                <a:gd name="T4" fmla="*/ 38 w 38"/>
                <a:gd name="T5" fmla="*/ 31 h 31"/>
                <a:gd name="T6" fmla="*/ 20 w 38"/>
                <a:gd name="T7" fmla="*/ 0 h 31"/>
                <a:gd name="T8" fmla="*/ 20 w 38"/>
                <a:gd name="T9" fmla="*/ 0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1">
                  <a:moveTo>
                    <a:pt x="18" y="0"/>
                  </a:moveTo>
                  <a:lnTo>
                    <a:pt x="0" y="27"/>
                  </a:lnTo>
                  <a:lnTo>
                    <a:pt x="38" y="31"/>
                  </a:lnTo>
                  <a:lnTo>
                    <a:pt x="20" y="0"/>
                  </a:lnTo>
                </a:path>
              </a:pathLst>
            </a:custGeom>
            <a:noFill/>
            <a:ln w="3175">
              <a:solidFill>
                <a:srgbClr val="EB75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243" name="Freeform 38"/>
            <p:cNvSpPr>
              <a:spLocks/>
            </p:cNvSpPr>
            <p:nvPr/>
          </p:nvSpPr>
          <p:spPr bwMode="auto">
            <a:xfrm>
              <a:off x="3531" y="2746"/>
              <a:ext cx="38" cy="31"/>
            </a:xfrm>
            <a:custGeom>
              <a:avLst/>
              <a:gdLst>
                <a:gd name="T0" fmla="*/ 14 w 38"/>
                <a:gd name="T1" fmla="*/ 0 h 31"/>
                <a:gd name="T2" fmla="*/ 0 w 38"/>
                <a:gd name="T3" fmla="*/ 31 h 31"/>
                <a:gd name="T4" fmla="*/ 38 w 38"/>
                <a:gd name="T5" fmla="*/ 29 h 31"/>
                <a:gd name="T6" fmla="*/ 14 w 38"/>
                <a:gd name="T7" fmla="*/ 2 h 31"/>
                <a:gd name="T8" fmla="*/ 14 w 38"/>
                <a:gd name="T9" fmla="*/ 2 h 31"/>
                <a:gd name="T10" fmla="*/ 14 w 38"/>
                <a:gd name="T11" fmla="*/ 0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8" h="31">
                  <a:moveTo>
                    <a:pt x="14" y="0"/>
                  </a:moveTo>
                  <a:lnTo>
                    <a:pt x="0" y="31"/>
                  </a:lnTo>
                  <a:lnTo>
                    <a:pt x="38" y="29"/>
                  </a:lnTo>
                  <a:lnTo>
                    <a:pt x="14" y="2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EB75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244" name="Freeform 39"/>
            <p:cNvSpPr>
              <a:spLocks/>
            </p:cNvSpPr>
            <p:nvPr/>
          </p:nvSpPr>
          <p:spPr bwMode="auto">
            <a:xfrm>
              <a:off x="3531" y="2746"/>
              <a:ext cx="38" cy="31"/>
            </a:xfrm>
            <a:custGeom>
              <a:avLst/>
              <a:gdLst>
                <a:gd name="T0" fmla="*/ 14 w 38"/>
                <a:gd name="T1" fmla="*/ 0 h 31"/>
                <a:gd name="T2" fmla="*/ 0 w 38"/>
                <a:gd name="T3" fmla="*/ 31 h 31"/>
                <a:gd name="T4" fmla="*/ 38 w 38"/>
                <a:gd name="T5" fmla="*/ 29 h 31"/>
                <a:gd name="T6" fmla="*/ 14 w 38"/>
                <a:gd name="T7" fmla="*/ 2 h 31"/>
                <a:gd name="T8" fmla="*/ 14 w 38"/>
                <a:gd name="T9" fmla="*/ 2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1">
                  <a:moveTo>
                    <a:pt x="14" y="0"/>
                  </a:moveTo>
                  <a:lnTo>
                    <a:pt x="0" y="31"/>
                  </a:lnTo>
                  <a:lnTo>
                    <a:pt x="38" y="29"/>
                  </a:lnTo>
                  <a:lnTo>
                    <a:pt x="14" y="2"/>
                  </a:lnTo>
                </a:path>
              </a:pathLst>
            </a:custGeom>
            <a:noFill/>
            <a:ln w="3175">
              <a:solidFill>
                <a:srgbClr val="EB75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245" name="Freeform 40"/>
            <p:cNvSpPr>
              <a:spLocks/>
            </p:cNvSpPr>
            <p:nvPr/>
          </p:nvSpPr>
          <p:spPr bwMode="auto">
            <a:xfrm>
              <a:off x="3531" y="2549"/>
              <a:ext cx="38" cy="31"/>
            </a:xfrm>
            <a:custGeom>
              <a:avLst/>
              <a:gdLst>
                <a:gd name="T0" fmla="*/ 16 w 38"/>
                <a:gd name="T1" fmla="*/ 0 h 31"/>
                <a:gd name="T2" fmla="*/ 0 w 38"/>
                <a:gd name="T3" fmla="*/ 29 h 31"/>
                <a:gd name="T4" fmla="*/ 38 w 38"/>
                <a:gd name="T5" fmla="*/ 31 h 31"/>
                <a:gd name="T6" fmla="*/ 18 w 38"/>
                <a:gd name="T7" fmla="*/ 0 h 31"/>
                <a:gd name="T8" fmla="*/ 18 w 38"/>
                <a:gd name="T9" fmla="*/ 0 h 31"/>
                <a:gd name="T10" fmla="*/ 16 w 38"/>
                <a:gd name="T11" fmla="*/ 0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8" h="31">
                  <a:moveTo>
                    <a:pt x="16" y="0"/>
                  </a:moveTo>
                  <a:lnTo>
                    <a:pt x="0" y="29"/>
                  </a:lnTo>
                  <a:lnTo>
                    <a:pt x="38" y="31"/>
                  </a:lnTo>
                  <a:lnTo>
                    <a:pt x="18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EB75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246" name="Freeform 41"/>
            <p:cNvSpPr>
              <a:spLocks/>
            </p:cNvSpPr>
            <p:nvPr/>
          </p:nvSpPr>
          <p:spPr bwMode="auto">
            <a:xfrm>
              <a:off x="3531" y="2549"/>
              <a:ext cx="38" cy="31"/>
            </a:xfrm>
            <a:custGeom>
              <a:avLst/>
              <a:gdLst>
                <a:gd name="T0" fmla="*/ 16 w 38"/>
                <a:gd name="T1" fmla="*/ 0 h 31"/>
                <a:gd name="T2" fmla="*/ 0 w 38"/>
                <a:gd name="T3" fmla="*/ 29 h 31"/>
                <a:gd name="T4" fmla="*/ 38 w 38"/>
                <a:gd name="T5" fmla="*/ 31 h 31"/>
                <a:gd name="T6" fmla="*/ 18 w 38"/>
                <a:gd name="T7" fmla="*/ 0 h 31"/>
                <a:gd name="T8" fmla="*/ 18 w 38"/>
                <a:gd name="T9" fmla="*/ 0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1">
                  <a:moveTo>
                    <a:pt x="16" y="0"/>
                  </a:moveTo>
                  <a:lnTo>
                    <a:pt x="0" y="29"/>
                  </a:lnTo>
                  <a:lnTo>
                    <a:pt x="38" y="31"/>
                  </a:lnTo>
                  <a:lnTo>
                    <a:pt x="18" y="0"/>
                  </a:lnTo>
                </a:path>
              </a:pathLst>
            </a:custGeom>
            <a:noFill/>
            <a:ln w="3175">
              <a:solidFill>
                <a:srgbClr val="EB75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247" name="Freeform 42"/>
            <p:cNvSpPr>
              <a:spLocks/>
            </p:cNvSpPr>
            <p:nvPr/>
          </p:nvSpPr>
          <p:spPr bwMode="auto">
            <a:xfrm>
              <a:off x="3535" y="2273"/>
              <a:ext cx="34" cy="33"/>
            </a:xfrm>
            <a:custGeom>
              <a:avLst/>
              <a:gdLst>
                <a:gd name="T0" fmla="*/ 0 w 34"/>
                <a:gd name="T1" fmla="*/ 0 h 33"/>
                <a:gd name="T2" fmla="*/ 0 w 34"/>
                <a:gd name="T3" fmla="*/ 33 h 33"/>
                <a:gd name="T4" fmla="*/ 34 w 34"/>
                <a:gd name="T5" fmla="*/ 18 h 33"/>
                <a:gd name="T6" fmla="*/ 0 w 34"/>
                <a:gd name="T7" fmla="*/ 2 h 33"/>
                <a:gd name="T8" fmla="*/ 0 w 34"/>
                <a:gd name="T9" fmla="*/ 2 h 33"/>
                <a:gd name="T10" fmla="*/ 0 w 34"/>
                <a:gd name="T11" fmla="*/ 0 h 3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4" h="33">
                  <a:moveTo>
                    <a:pt x="0" y="0"/>
                  </a:moveTo>
                  <a:lnTo>
                    <a:pt x="0" y="33"/>
                  </a:lnTo>
                  <a:lnTo>
                    <a:pt x="34" y="18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75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248" name="Freeform 43"/>
            <p:cNvSpPr>
              <a:spLocks/>
            </p:cNvSpPr>
            <p:nvPr/>
          </p:nvSpPr>
          <p:spPr bwMode="auto">
            <a:xfrm>
              <a:off x="3535" y="2273"/>
              <a:ext cx="34" cy="33"/>
            </a:xfrm>
            <a:custGeom>
              <a:avLst/>
              <a:gdLst>
                <a:gd name="T0" fmla="*/ 0 w 34"/>
                <a:gd name="T1" fmla="*/ 0 h 33"/>
                <a:gd name="T2" fmla="*/ 0 w 34"/>
                <a:gd name="T3" fmla="*/ 33 h 33"/>
                <a:gd name="T4" fmla="*/ 34 w 34"/>
                <a:gd name="T5" fmla="*/ 18 h 33"/>
                <a:gd name="T6" fmla="*/ 0 w 34"/>
                <a:gd name="T7" fmla="*/ 2 h 33"/>
                <a:gd name="T8" fmla="*/ 0 w 34"/>
                <a:gd name="T9" fmla="*/ 2 h 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33">
                  <a:moveTo>
                    <a:pt x="0" y="0"/>
                  </a:moveTo>
                  <a:lnTo>
                    <a:pt x="0" y="33"/>
                  </a:lnTo>
                  <a:lnTo>
                    <a:pt x="34" y="18"/>
                  </a:lnTo>
                  <a:lnTo>
                    <a:pt x="0" y="2"/>
                  </a:lnTo>
                </a:path>
              </a:pathLst>
            </a:custGeom>
            <a:noFill/>
            <a:ln w="3175">
              <a:solidFill>
                <a:srgbClr val="EB75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249" name="Freeform 44"/>
            <p:cNvSpPr>
              <a:spLocks/>
            </p:cNvSpPr>
            <p:nvPr/>
          </p:nvSpPr>
          <p:spPr bwMode="auto">
            <a:xfrm>
              <a:off x="2460" y="2437"/>
              <a:ext cx="554" cy="98"/>
            </a:xfrm>
            <a:custGeom>
              <a:avLst/>
              <a:gdLst>
                <a:gd name="T0" fmla="*/ 554 w 554"/>
                <a:gd name="T1" fmla="*/ 96 h 98"/>
                <a:gd name="T2" fmla="*/ 554 w 554"/>
                <a:gd name="T3" fmla="*/ 0 h 98"/>
                <a:gd name="T4" fmla="*/ 0 w 554"/>
                <a:gd name="T5" fmla="*/ 0 h 98"/>
                <a:gd name="T6" fmla="*/ 0 w 554"/>
                <a:gd name="T7" fmla="*/ 98 h 98"/>
                <a:gd name="T8" fmla="*/ 554 w 554"/>
                <a:gd name="T9" fmla="*/ 98 h 98"/>
                <a:gd name="T10" fmla="*/ 554 w 554"/>
                <a:gd name="T11" fmla="*/ 98 h 9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54" h="98">
                  <a:moveTo>
                    <a:pt x="554" y="96"/>
                  </a:moveTo>
                  <a:lnTo>
                    <a:pt x="554" y="0"/>
                  </a:lnTo>
                  <a:lnTo>
                    <a:pt x="0" y="0"/>
                  </a:lnTo>
                  <a:lnTo>
                    <a:pt x="0" y="98"/>
                  </a:lnTo>
                  <a:lnTo>
                    <a:pt x="554" y="98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250" name="Freeform 45"/>
            <p:cNvSpPr>
              <a:spLocks/>
            </p:cNvSpPr>
            <p:nvPr/>
          </p:nvSpPr>
          <p:spPr bwMode="auto">
            <a:xfrm>
              <a:off x="2727" y="2287"/>
              <a:ext cx="818" cy="8"/>
            </a:xfrm>
            <a:custGeom>
              <a:avLst/>
              <a:gdLst>
                <a:gd name="T0" fmla="*/ 0 w 818"/>
                <a:gd name="T1" fmla="*/ 8 h 8"/>
                <a:gd name="T2" fmla="*/ 818 w 818"/>
                <a:gd name="T3" fmla="*/ 8 h 8"/>
                <a:gd name="T4" fmla="*/ 818 w 818"/>
                <a:gd name="T5" fmla="*/ 0 h 8"/>
                <a:gd name="T6" fmla="*/ 2 w 818"/>
                <a:gd name="T7" fmla="*/ 0 h 8"/>
                <a:gd name="T8" fmla="*/ 2 w 818"/>
                <a:gd name="T9" fmla="*/ 8 h 8"/>
                <a:gd name="T10" fmla="*/ 2 w 818"/>
                <a:gd name="T11" fmla="*/ 8 h 8"/>
                <a:gd name="T12" fmla="*/ 0 w 818"/>
                <a:gd name="T13" fmla="*/ 8 h 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18" h="8">
                  <a:moveTo>
                    <a:pt x="0" y="8"/>
                  </a:moveTo>
                  <a:lnTo>
                    <a:pt x="818" y="8"/>
                  </a:lnTo>
                  <a:lnTo>
                    <a:pt x="818" y="0"/>
                  </a:lnTo>
                  <a:lnTo>
                    <a:pt x="2" y="0"/>
                  </a:lnTo>
                  <a:lnTo>
                    <a:pt x="2" y="8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EB75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251" name="Freeform 46"/>
            <p:cNvSpPr>
              <a:spLocks/>
            </p:cNvSpPr>
            <p:nvPr/>
          </p:nvSpPr>
          <p:spPr bwMode="auto">
            <a:xfrm>
              <a:off x="2727" y="2287"/>
              <a:ext cx="818" cy="8"/>
            </a:xfrm>
            <a:custGeom>
              <a:avLst/>
              <a:gdLst>
                <a:gd name="T0" fmla="*/ 0 w 818"/>
                <a:gd name="T1" fmla="*/ 8 h 8"/>
                <a:gd name="T2" fmla="*/ 818 w 818"/>
                <a:gd name="T3" fmla="*/ 8 h 8"/>
                <a:gd name="T4" fmla="*/ 818 w 818"/>
                <a:gd name="T5" fmla="*/ 0 h 8"/>
                <a:gd name="T6" fmla="*/ 2 w 818"/>
                <a:gd name="T7" fmla="*/ 0 h 8"/>
                <a:gd name="T8" fmla="*/ 2 w 818"/>
                <a:gd name="T9" fmla="*/ 8 h 8"/>
                <a:gd name="T10" fmla="*/ 2 w 818"/>
                <a:gd name="T11" fmla="*/ 8 h 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18" h="8">
                  <a:moveTo>
                    <a:pt x="0" y="8"/>
                  </a:moveTo>
                  <a:lnTo>
                    <a:pt x="818" y="8"/>
                  </a:lnTo>
                  <a:lnTo>
                    <a:pt x="818" y="0"/>
                  </a:lnTo>
                  <a:lnTo>
                    <a:pt x="2" y="0"/>
                  </a:lnTo>
                  <a:lnTo>
                    <a:pt x="2" y="8"/>
                  </a:lnTo>
                </a:path>
              </a:pathLst>
            </a:custGeom>
            <a:noFill/>
            <a:ln w="3175">
              <a:solidFill>
                <a:srgbClr val="EB75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252" name="Freeform 47"/>
            <p:cNvSpPr>
              <a:spLocks/>
            </p:cNvSpPr>
            <p:nvPr/>
          </p:nvSpPr>
          <p:spPr bwMode="auto">
            <a:xfrm>
              <a:off x="2733" y="2094"/>
              <a:ext cx="816" cy="478"/>
            </a:xfrm>
            <a:custGeom>
              <a:avLst/>
              <a:gdLst>
                <a:gd name="T0" fmla="*/ 0 w 816"/>
                <a:gd name="T1" fmla="*/ 7 h 478"/>
                <a:gd name="T2" fmla="*/ 812 w 816"/>
                <a:gd name="T3" fmla="*/ 478 h 478"/>
                <a:gd name="T4" fmla="*/ 816 w 816"/>
                <a:gd name="T5" fmla="*/ 470 h 478"/>
                <a:gd name="T6" fmla="*/ 6 w 816"/>
                <a:gd name="T7" fmla="*/ 0 h 478"/>
                <a:gd name="T8" fmla="*/ 2 w 816"/>
                <a:gd name="T9" fmla="*/ 7 h 478"/>
                <a:gd name="T10" fmla="*/ 2 w 816"/>
                <a:gd name="T11" fmla="*/ 7 h 478"/>
                <a:gd name="T12" fmla="*/ 0 w 816"/>
                <a:gd name="T13" fmla="*/ 7 h 4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16" h="478">
                  <a:moveTo>
                    <a:pt x="0" y="7"/>
                  </a:moveTo>
                  <a:lnTo>
                    <a:pt x="812" y="478"/>
                  </a:lnTo>
                  <a:lnTo>
                    <a:pt x="816" y="470"/>
                  </a:lnTo>
                  <a:lnTo>
                    <a:pt x="6" y="0"/>
                  </a:lnTo>
                  <a:lnTo>
                    <a:pt x="2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EB75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253" name="Freeform 48"/>
            <p:cNvSpPr>
              <a:spLocks/>
            </p:cNvSpPr>
            <p:nvPr/>
          </p:nvSpPr>
          <p:spPr bwMode="auto">
            <a:xfrm>
              <a:off x="2733" y="2094"/>
              <a:ext cx="816" cy="478"/>
            </a:xfrm>
            <a:custGeom>
              <a:avLst/>
              <a:gdLst>
                <a:gd name="T0" fmla="*/ 0 w 816"/>
                <a:gd name="T1" fmla="*/ 7 h 478"/>
                <a:gd name="T2" fmla="*/ 812 w 816"/>
                <a:gd name="T3" fmla="*/ 478 h 478"/>
                <a:gd name="T4" fmla="*/ 816 w 816"/>
                <a:gd name="T5" fmla="*/ 470 h 478"/>
                <a:gd name="T6" fmla="*/ 6 w 816"/>
                <a:gd name="T7" fmla="*/ 0 h 478"/>
                <a:gd name="T8" fmla="*/ 2 w 816"/>
                <a:gd name="T9" fmla="*/ 7 h 478"/>
                <a:gd name="T10" fmla="*/ 2 w 816"/>
                <a:gd name="T11" fmla="*/ 7 h 47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16" h="478">
                  <a:moveTo>
                    <a:pt x="0" y="7"/>
                  </a:moveTo>
                  <a:lnTo>
                    <a:pt x="812" y="478"/>
                  </a:lnTo>
                  <a:lnTo>
                    <a:pt x="816" y="470"/>
                  </a:lnTo>
                  <a:lnTo>
                    <a:pt x="6" y="0"/>
                  </a:lnTo>
                  <a:lnTo>
                    <a:pt x="2" y="7"/>
                  </a:lnTo>
                </a:path>
              </a:pathLst>
            </a:custGeom>
            <a:noFill/>
            <a:ln w="3175">
              <a:solidFill>
                <a:srgbClr val="EB75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254" name="Freeform 49"/>
            <p:cNvSpPr>
              <a:spLocks/>
            </p:cNvSpPr>
            <p:nvPr/>
          </p:nvSpPr>
          <p:spPr bwMode="auto">
            <a:xfrm>
              <a:off x="2727" y="2387"/>
              <a:ext cx="822" cy="384"/>
            </a:xfrm>
            <a:custGeom>
              <a:avLst/>
              <a:gdLst>
                <a:gd name="T0" fmla="*/ 0 w 822"/>
                <a:gd name="T1" fmla="*/ 5 h 384"/>
                <a:gd name="T2" fmla="*/ 820 w 822"/>
                <a:gd name="T3" fmla="*/ 384 h 384"/>
                <a:gd name="T4" fmla="*/ 822 w 822"/>
                <a:gd name="T5" fmla="*/ 377 h 384"/>
                <a:gd name="T6" fmla="*/ 4 w 822"/>
                <a:gd name="T7" fmla="*/ 0 h 384"/>
                <a:gd name="T8" fmla="*/ 2 w 822"/>
                <a:gd name="T9" fmla="*/ 5 h 384"/>
                <a:gd name="T10" fmla="*/ 2 w 822"/>
                <a:gd name="T11" fmla="*/ 5 h 384"/>
                <a:gd name="T12" fmla="*/ 0 w 822"/>
                <a:gd name="T13" fmla="*/ 5 h 38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22" h="384">
                  <a:moveTo>
                    <a:pt x="0" y="5"/>
                  </a:moveTo>
                  <a:lnTo>
                    <a:pt x="820" y="384"/>
                  </a:lnTo>
                  <a:lnTo>
                    <a:pt x="822" y="377"/>
                  </a:lnTo>
                  <a:lnTo>
                    <a:pt x="4" y="0"/>
                  </a:lnTo>
                  <a:lnTo>
                    <a:pt x="2" y="5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EB75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255" name="Freeform 50"/>
            <p:cNvSpPr>
              <a:spLocks/>
            </p:cNvSpPr>
            <p:nvPr/>
          </p:nvSpPr>
          <p:spPr bwMode="auto">
            <a:xfrm>
              <a:off x="2727" y="2387"/>
              <a:ext cx="822" cy="384"/>
            </a:xfrm>
            <a:custGeom>
              <a:avLst/>
              <a:gdLst>
                <a:gd name="T0" fmla="*/ 0 w 822"/>
                <a:gd name="T1" fmla="*/ 5 h 384"/>
                <a:gd name="T2" fmla="*/ 820 w 822"/>
                <a:gd name="T3" fmla="*/ 384 h 384"/>
                <a:gd name="T4" fmla="*/ 822 w 822"/>
                <a:gd name="T5" fmla="*/ 377 h 384"/>
                <a:gd name="T6" fmla="*/ 4 w 822"/>
                <a:gd name="T7" fmla="*/ 0 h 384"/>
                <a:gd name="T8" fmla="*/ 2 w 822"/>
                <a:gd name="T9" fmla="*/ 5 h 384"/>
                <a:gd name="T10" fmla="*/ 2 w 822"/>
                <a:gd name="T11" fmla="*/ 5 h 38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22" h="384">
                  <a:moveTo>
                    <a:pt x="0" y="5"/>
                  </a:moveTo>
                  <a:lnTo>
                    <a:pt x="820" y="384"/>
                  </a:lnTo>
                  <a:lnTo>
                    <a:pt x="822" y="377"/>
                  </a:lnTo>
                  <a:lnTo>
                    <a:pt x="4" y="0"/>
                  </a:lnTo>
                  <a:lnTo>
                    <a:pt x="2" y="5"/>
                  </a:lnTo>
                </a:path>
              </a:pathLst>
            </a:custGeom>
            <a:noFill/>
            <a:ln w="3175">
              <a:solidFill>
                <a:srgbClr val="EB75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256" name="Freeform 51"/>
            <p:cNvSpPr>
              <a:spLocks/>
            </p:cNvSpPr>
            <p:nvPr/>
          </p:nvSpPr>
          <p:spPr bwMode="auto">
            <a:xfrm>
              <a:off x="2727" y="2580"/>
              <a:ext cx="824" cy="477"/>
            </a:xfrm>
            <a:custGeom>
              <a:avLst/>
              <a:gdLst>
                <a:gd name="T0" fmla="*/ 0 w 824"/>
                <a:gd name="T1" fmla="*/ 6 h 477"/>
                <a:gd name="T2" fmla="*/ 818 w 824"/>
                <a:gd name="T3" fmla="*/ 477 h 477"/>
                <a:gd name="T4" fmla="*/ 824 w 824"/>
                <a:gd name="T5" fmla="*/ 471 h 477"/>
                <a:gd name="T6" fmla="*/ 6 w 824"/>
                <a:gd name="T7" fmla="*/ 0 h 477"/>
                <a:gd name="T8" fmla="*/ 2 w 824"/>
                <a:gd name="T9" fmla="*/ 6 h 477"/>
                <a:gd name="T10" fmla="*/ 2 w 824"/>
                <a:gd name="T11" fmla="*/ 6 h 477"/>
                <a:gd name="T12" fmla="*/ 0 w 824"/>
                <a:gd name="T13" fmla="*/ 6 h 47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24" h="477">
                  <a:moveTo>
                    <a:pt x="0" y="6"/>
                  </a:moveTo>
                  <a:lnTo>
                    <a:pt x="818" y="477"/>
                  </a:lnTo>
                  <a:lnTo>
                    <a:pt x="824" y="471"/>
                  </a:lnTo>
                  <a:lnTo>
                    <a:pt x="6" y="0"/>
                  </a:lnTo>
                  <a:lnTo>
                    <a:pt x="2" y="6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EB75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257" name="Freeform 52"/>
            <p:cNvSpPr>
              <a:spLocks/>
            </p:cNvSpPr>
            <p:nvPr/>
          </p:nvSpPr>
          <p:spPr bwMode="auto">
            <a:xfrm>
              <a:off x="2727" y="2580"/>
              <a:ext cx="824" cy="477"/>
            </a:xfrm>
            <a:custGeom>
              <a:avLst/>
              <a:gdLst>
                <a:gd name="T0" fmla="*/ 0 w 824"/>
                <a:gd name="T1" fmla="*/ 6 h 477"/>
                <a:gd name="T2" fmla="*/ 818 w 824"/>
                <a:gd name="T3" fmla="*/ 477 h 477"/>
                <a:gd name="T4" fmla="*/ 824 w 824"/>
                <a:gd name="T5" fmla="*/ 471 h 477"/>
                <a:gd name="T6" fmla="*/ 6 w 824"/>
                <a:gd name="T7" fmla="*/ 0 h 477"/>
                <a:gd name="T8" fmla="*/ 2 w 824"/>
                <a:gd name="T9" fmla="*/ 6 h 477"/>
                <a:gd name="T10" fmla="*/ 2 w 824"/>
                <a:gd name="T11" fmla="*/ 6 h 4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24" h="477">
                  <a:moveTo>
                    <a:pt x="0" y="6"/>
                  </a:moveTo>
                  <a:lnTo>
                    <a:pt x="818" y="477"/>
                  </a:lnTo>
                  <a:lnTo>
                    <a:pt x="824" y="471"/>
                  </a:lnTo>
                  <a:lnTo>
                    <a:pt x="6" y="0"/>
                  </a:lnTo>
                  <a:lnTo>
                    <a:pt x="2" y="6"/>
                  </a:lnTo>
                </a:path>
              </a:pathLst>
            </a:custGeom>
            <a:noFill/>
            <a:ln w="3175">
              <a:solidFill>
                <a:srgbClr val="EB75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258" name="Freeform 53"/>
            <p:cNvSpPr>
              <a:spLocks/>
            </p:cNvSpPr>
            <p:nvPr/>
          </p:nvSpPr>
          <p:spPr bwMode="auto">
            <a:xfrm>
              <a:off x="1916" y="3076"/>
              <a:ext cx="552" cy="98"/>
            </a:xfrm>
            <a:custGeom>
              <a:avLst/>
              <a:gdLst>
                <a:gd name="T0" fmla="*/ 552 w 552"/>
                <a:gd name="T1" fmla="*/ 98 h 98"/>
                <a:gd name="T2" fmla="*/ 552 w 552"/>
                <a:gd name="T3" fmla="*/ 0 h 98"/>
                <a:gd name="T4" fmla="*/ 0 w 552"/>
                <a:gd name="T5" fmla="*/ 0 h 98"/>
                <a:gd name="T6" fmla="*/ 0 w 552"/>
                <a:gd name="T7" fmla="*/ 98 h 98"/>
                <a:gd name="T8" fmla="*/ 552 w 552"/>
                <a:gd name="T9" fmla="*/ 98 h 98"/>
                <a:gd name="T10" fmla="*/ 552 w 552"/>
                <a:gd name="T11" fmla="*/ 98 h 9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52" h="98">
                  <a:moveTo>
                    <a:pt x="552" y="98"/>
                  </a:moveTo>
                  <a:lnTo>
                    <a:pt x="552" y="0"/>
                  </a:lnTo>
                  <a:lnTo>
                    <a:pt x="0" y="0"/>
                  </a:lnTo>
                  <a:lnTo>
                    <a:pt x="0" y="98"/>
                  </a:lnTo>
                  <a:lnTo>
                    <a:pt x="552" y="98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259" name="Freeform 54"/>
            <p:cNvSpPr>
              <a:spLocks/>
            </p:cNvSpPr>
            <p:nvPr/>
          </p:nvSpPr>
          <p:spPr bwMode="auto">
            <a:xfrm>
              <a:off x="1916" y="3076"/>
              <a:ext cx="552" cy="98"/>
            </a:xfrm>
            <a:custGeom>
              <a:avLst/>
              <a:gdLst>
                <a:gd name="T0" fmla="*/ 552 w 552"/>
                <a:gd name="T1" fmla="*/ 98 h 98"/>
                <a:gd name="T2" fmla="*/ 552 w 552"/>
                <a:gd name="T3" fmla="*/ 0 h 98"/>
                <a:gd name="T4" fmla="*/ 0 w 552"/>
                <a:gd name="T5" fmla="*/ 0 h 98"/>
                <a:gd name="T6" fmla="*/ 0 w 552"/>
                <a:gd name="T7" fmla="*/ 98 h 98"/>
                <a:gd name="T8" fmla="*/ 552 w 552"/>
                <a:gd name="T9" fmla="*/ 98 h 98"/>
                <a:gd name="T10" fmla="*/ 552 w 552"/>
                <a:gd name="T11" fmla="*/ 98 h 9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52" h="98">
                  <a:moveTo>
                    <a:pt x="552" y="98"/>
                  </a:moveTo>
                  <a:lnTo>
                    <a:pt x="552" y="0"/>
                  </a:lnTo>
                  <a:lnTo>
                    <a:pt x="0" y="0"/>
                  </a:lnTo>
                  <a:lnTo>
                    <a:pt x="0" y="98"/>
                  </a:lnTo>
                  <a:lnTo>
                    <a:pt x="552" y="98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260" name="Freeform 55"/>
            <p:cNvSpPr>
              <a:spLocks/>
            </p:cNvSpPr>
            <p:nvPr/>
          </p:nvSpPr>
          <p:spPr bwMode="auto">
            <a:xfrm>
              <a:off x="1830" y="3074"/>
              <a:ext cx="84" cy="98"/>
            </a:xfrm>
            <a:custGeom>
              <a:avLst/>
              <a:gdLst>
                <a:gd name="T0" fmla="*/ 84 w 84"/>
                <a:gd name="T1" fmla="*/ 98 h 98"/>
                <a:gd name="T2" fmla="*/ 84 w 84"/>
                <a:gd name="T3" fmla="*/ 0 h 98"/>
                <a:gd name="T4" fmla="*/ 0 w 84"/>
                <a:gd name="T5" fmla="*/ 0 h 98"/>
                <a:gd name="T6" fmla="*/ 0 w 84"/>
                <a:gd name="T7" fmla="*/ 98 h 98"/>
                <a:gd name="T8" fmla="*/ 84 w 84"/>
                <a:gd name="T9" fmla="*/ 98 h 98"/>
                <a:gd name="T10" fmla="*/ 84 w 84"/>
                <a:gd name="T11" fmla="*/ 98 h 9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4" h="98">
                  <a:moveTo>
                    <a:pt x="84" y="98"/>
                  </a:moveTo>
                  <a:lnTo>
                    <a:pt x="84" y="0"/>
                  </a:lnTo>
                  <a:lnTo>
                    <a:pt x="0" y="0"/>
                  </a:lnTo>
                  <a:lnTo>
                    <a:pt x="0" y="98"/>
                  </a:lnTo>
                  <a:lnTo>
                    <a:pt x="84" y="98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261" name="Freeform 56"/>
            <p:cNvSpPr>
              <a:spLocks/>
            </p:cNvSpPr>
            <p:nvPr/>
          </p:nvSpPr>
          <p:spPr bwMode="auto">
            <a:xfrm>
              <a:off x="1830" y="3074"/>
              <a:ext cx="84" cy="98"/>
            </a:xfrm>
            <a:custGeom>
              <a:avLst/>
              <a:gdLst>
                <a:gd name="T0" fmla="*/ 84 w 84"/>
                <a:gd name="T1" fmla="*/ 98 h 98"/>
                <a:gd name="T2" fmla="*/ 84 w 84"/>
                <a:gd name="T3" fmla="*/ 0 h 98"/>
                <a:gd name="T4" fmla="*/ 0 w 84"/>
                <a:gd name="T5" fmla="*/ 0 h 98"/>
                <a:gd name="T6" fmla="*/ 0 w 84"/>
                <a:gd name="T7" fmla="*/ 98 h 98"/>
                <a:gd name="T8" fmla="*/ 84 w 84"/>
                <a:gd name="T9" fmla="*/ 98 h 98"/>
                <a:gd name="T10" fmla="*/ 84 w 84"/>
                <a:gd name="T11" fmla="*/ 98 h 9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4" h="98">
                  <a:moveTo>
                    <a:pt x="84" y="98"/>
                  </a:moveTo>
                  <a:lnTo>
                    <a:pt x="84" y="0"/>
                  </a:lnTo>
                  <a:lnTo>
                    <a:pt x="0" y="0"/>
                  </a:lnTo>
                  <a:lnTo>
                    <a:pt x="0" y="98"/>
                  </a:lnTo>
                  <a:lnTo>
                    <a:pt x="84" y="98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262" name="Freeform 57"/>
            <p:cNvSpPr>
              <a:spLocks/>
            </p:cNvSpPr>
            <p:nvPr/>
          </p:nvSpPr>
          <p:spPr bwMode="auto">
            <a:xfrm>
              <a:off x="1916" y="3270"/>
              <a:ext cx="552" cy="99"/>
            </a:xfrm>
            <a:custGeom>
              <a:avLst/>
              <a:gdLst>
                <a:gd name="T0" fmla="*/ 552 w 552"/>
                <a:gd name="T1" fmla="*/ 97 h 99"/>
                <a:gd name="T2" fmla="*/ 552 w 552"/>
                <a:gd name="T3" fmla="*/ 0 h 99"/>
                <a:gd name="T4" fmla="*/ 0 w 552"/>
                <a:gd name="T5" fmla="*/ 0 h 99"/>
                <a:gd name="T6" fmla="*/ 0 w 552"/>
                <a:gd name="T7" fmla="*/ 99 h 99"/>
                <a:gd name="T8" fmla="*/ 552 w 552"/>
                <a:gd name="T9" fmla="*/ 99 h 99"/>
                <a:gd name="T10" fmla="*/ 552 w 552"/>
                <a:gd name="T11" fmla="*/ 99 h 99"/>
                <a:gd name="T12" fmla="*/ 552 w 552"/>
                <a:gd name="T13" fmla="*/ 97 h 9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52" h="99">
                  <a:moveTo>
                    <a:pt x="552" y="97"/>
                  </a:moveTo>
                  <a:lnTo>
                    <a:pt x="552" y="0"/>
                  </a:lnTo>
                  <a:lnTo>
                    <a:pt x="0" y="0"/>
                  </a:lnTo>
                  <a:lnTo>
                    <a:pt x="0" y="99"/>
                  </a:lnTo>
                  <a:lnTo>
                    <a:pt x="552" y="99"/>
                  </a:lnTo>
                  <a:lnTo>
                    <a:pt x="552" y="97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263" name="Freeform 58"/>
            <p:cNvSpPr>
              <a:spLocks/>
            </p:cNvSpPr>
            <p:nvPr/>
          </p:nvSpPr>
          <p:spPr bwMode="auto">
            <a:xfrm>
              <a:off x="1916" y="3270"/>
              <a:ext cx="552" cy="99"/>
            </a:xfrm>
            <a:custGeom>
              <a:avLst/>
              <a:gdLst>
                <a:gd name="T0" fmla="*/ 552 w 552"/>
                <a:gd name="T1" fmla="*/ 97 h 99"/>
                <a:gd name="T2" fmla="*/ 552 w 552"/>
                <a:gd name="T3" fmla="*/ 0 h 99"/>
                <a:gd name="T4" fmla="*/ 0 w 552"/>
                <a:gd name="T5" fmla="*/ 0 h 99"/>
                <a:gd name="T6" fmla="*/ 0 w 552"/>
                <a:gd name="T7" fmla="*/ 99 h 99"/>
                <a:gd name="T8" fmla="*/ 552 w 552"/>
                <a:gd name="T9" fmla="*/ 99 h 99"/>
                <a:gd name="T10" fmla="*/ 552 w 552"/>
                <a:gd name="T11" fmla="*/ 99 h 9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52" h="99">
                  <a:moveTo>
                    <a:pt x="552" y="97"/>
                  </a:moveTo>
                  <a:lnTo>
                    <a:pt x="552" y="0"/>
                  </a:lnTo>
                  <a:lnTo>
                    <a:pt x="0" y="0"/>
                  </a:lnTo>
                  <a:lnTo>
                    <a:pt x="0" y="99"/>
                  </a:lnTo>
                  <a:lnTo>
                    <a:pt x="552" y="99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264" name="Freeform 59"/>
            <p:cNvSpPr>
              <a:spLocks/>
            </p:cNvSpPr>
            <p:nvPr/>
          </p:nvSpPr>
          <p:spPr bwMode="auto">
            <a:xfrm>
              <a:off x="1830" y="3270"/>
              <a:ext cx="84" cy="97"/>
            </a:xfrm>
            <a:custGeom>
              <a:avLst/>
              <a:gdLst>
                <a:gd name="T0" fmla="*/ 84 w 84"/>
                <a:gd name="T1" fmla="*/ 97 h 97"/>
                <a:gd name="T2" fmla="*/ 84 w 84"/>
                <a:gd name="T3" fmla="*/ 0 h 97"/>
                <a:gd name="T4" fmla="*/ 0 w 84"/>
                <a:gd name="T5" fmla="*/ 0 h 97"/>
                <a:gd name="T6" fmla="*/ 0 w 84"/>
                <a:gd name="T7" fmla="*/ 97 h 97"/>
                <a:gd name="T8" fmla="*/ 84 w 84"/>
                <a:gd name="T9" fmla="*/ 97 h 97"/>
                <a:gd name="T10" fmla="*/ 84 w 84"/>
                <a:gd name="T11" fmla="*/ 97 h 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4" h="97">
                  <a:moveTo>
                    <a:pt x="84" y="97"/>
                  </a:moveTo>
                  <a:lnTo>
                    <a:pt x="84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84" y="97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265" name="Freeform 60"/>
            <p:cNvSpPr>
              <a:spLocks/>
            </p:cNvSpPr>
            <p:nvPr/>
          </p:nvSpPr>
          <p:spPr bwMode="auto">
            <a:xfrm>
              <a:off x="1830" y="3270"/>
              <a:ext cx="84" cy="97"/>
            </a:xfrm>
            <a:custGeom>
              <a:avLst/>
              <a:gdLst>
                <a:gd name="T0" fmla="*/ 84 w 84"/>
                <a:gd name="T1" fmla="*/ 97 h 97"/>
                <a:gd name="T2" fmla="*/ 84 w 84"/>
                <a:gd name="T3" fmla="*/ 0 h 97"/>
                <a:gd name="T4" fmla="*/ 0 w 84"/>
                <a:gd name="T5" fmla="*/ 0 h 97"/>
                <a:gd name="T6" fmla="*/ 0 w 84"/>
                <a:gd name="T7" fmla="*/ 97 h 97"/>
                <a:gd name="T8" fmla="*/ 84 w 84"/>
                <a:gd name="T9" fmla="*/ 97 h 97"/>
                <a:gd name="T10" fmla="*/ 84 w 84"/>
                <a:gd name="T11" fmla="*/ 97 h 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4" h="97">
                  <a:moveTo>
                    <a:pt x="84" y="97"/>
                  </a:moveTo>
                  <a:lnTo>
                    <a:pt x="84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84" y="9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266" name="Freeform 61"/>
            <p:cNvSpPr>
              <a:spLocks/>
            </p:cNvSpPr>
            <p:nvPr/>
          </p:nvSpPr>
          <p:spPr bwMode="auto">
            <a:xfrm>
              <a:off x="1916" y="3467"/>
              <a:ext cx="552" cy="97"/>
            </a:xfrm>
            <a:custGeom>
              <a:avLst/>
              <a:gdLst>
                <a:gd name="T0" fmla="*/ 552 w 552"/>
                <a:gd name="T1" fmla="*/ 96 h 97"/>
                <a:gd name="T2" fmla="*/ 552 w 552"/>
                <a:gd name="T3" fmla="*/ 0 h 97"/>
                <a:gd name="T4" fmla="*/ 0 w 552"/>
                <a:gd name="T5" fmla="*/ 0 h 97"/>
                <a:gd name="T6" fmla="*/ 0 w 552"/>
                <a:gd name="T7" fmla="*/ 97 h 97"/>
                <a:gd name="T8" fmla="*/ 552 w 552"/>
                <a:gd name="T9" fmla="*/ 97 h 97"/>
                <a:gd name="T10" fmla="*/ 552 w 552"/>
                <a:gd name="T11" fmla="*/ 97 h 97"/>
                <a:gd name="T12" fmla="*/ 552 w 552"/>
                <a:gd name="T13" fmla="*/ 96 h 9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52" h="97">
                  <a:moveTo>
                    <a:pt x="552" y="96"/>
                  </a:moveTo>
                  <a:lnTo>
                    <a:pt x="552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552" y="97"/>
                  </a:lnTo>
                  <a:lnTo>
                    <a:pt x="552" y="96"/>
                  </a:lnTo>
                  <a:close/>
                </a:path>
              </a:pathLst>
            </a:custGeom>
            <a:solidFill>
              <a:srgbClr val="CCCC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267" name="Freeform 62"/>
            <p:cNvSpPr>
              <a:spLocks/>
            </p:cNvSpPr>
            <p:nvPr/>
          </p:nvSpPr>
          <p:spPr bwMode="auto">
            <a:xfrm>
              <a:off x="1916" y="3467"/>
              <a:ext cx="552" cy="97"/>
            </a:xfrm>
            <a:custGeom>
              <a:avLst/>
              <a:gdLst>
                <a:gd name="T0" fmla="*/ 552 w 552"/>
                <a:gd name="T1" fmla="*/ 96 h 97"/>
                <a:gd name="T2" fmla="*/ 552 w 552"/>
                <a:gd name="T3" fmla="*/ 0 h 97"/>
                <a:gd name="T4" fmla="*/ 0 w 552"/>
                <a:gd name="T5" fmla="*/ 0 h 97"/>
                <a:gd name="T6" fmla="*/ 0 w 552"/>
                <a:gd name="T7" fmla="*/ 97 h 97"/>
                <a:gd name="T8" fmla="*/ 552 w 552"/>
                <a:gd name="T9" fmla="*/ 97 h 97"/>
                <a:gd name="T10" fmla="*/ 552 w 552"/>
                <a:gd name="T11" fmla="*/ 97 h 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52" h="97">
                  <a:moveTo>
                    <a:pt x="552" y="96"/>
                  </a:moveTo>
                  <a:lnTo>
                    <a:pt x="552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552" y="9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268" name="Freeform 63"/>
            <p:cNvSpPr>
              <a:spLocks/>
            </p:cNvSpPr>
            <p:nvPr/>
          </p:nvSpPr>
          <p:spPr bwMode="auto">
            <a:xfrm>
              <a:off x="1830" y="3465"/>
              <a:ext cx="84" cy="98"/>
            </a:xfrm>
            <a:custGeom>
              <a:avLst/>
              <a:gdLst>
                <a:gd name="T0" fmla="*/ 84 w 84"/>
                <a:gd name="T1" fmla="*/ 98 h 98"/>
                <a:gd name="T2" fmla="*/ 84 w 84"/>
                <a:gd name="T3" fmla="*/ 0 h 98"/>
                <a:gd name="T4" fmla="*/ 0 w 84"/>
                <a:gd name="T5" fmla="*/ 0 h 98"/>
                <a:gd name="T6" fmla="*/ 0 w 84"/>
                <a:gd name="T7" fmla="*/ 98 h 98"/>
                <a:gd name="T8" fmla="*/ 84 w 84"/>
                <a:gd name="T9" fmla="*/ 98 h 98"/>
                <a:gd name="T10" fmla="*/ 84 w 84"/>
                <a:gd name="T11" fmla="*/ 98 h 9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4" h="98">
                  <a:moveTo>
                    <a:pt x="84" y="98"/>
                  </a:moveTo>
                  <a:lnTo>
                    <a:pt x="84" y="0"/>
                  </a:lnTo>
                  <a:lnTo>
                    <a:pt x="0" y="0"/>
                  </a:lnTo>
                  <a:lnTo>
                    <a:pt x="0" y="98"/>
                  </a:lnTo>
                  <a:lnTo>
                    <a:pt x="84" y="98"/>
                  </a:lnTo>
                  <a:close/>
                </a:path>
              </a:pathLst>
            </a:custGeom>
            <a:solidFill>
              <a:srgbClr val="CCCC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269" name="Freeform 64"/>
            <p:cNvSpPr>
              <a:spLocks/>
            </p:cNvSpPr>
            <p:nvPr/>
          </p:nvSpPr>
          <p:spPr bwMode="auto">
            <a:xfrm>
              <a:off x="1830" y="3465"/>
              <a:ext cx="84" cy="98"/>
            </a:xfrm>
            <a:custGeom>
              <a:avLst/>
              <a:gdLst>
                <a:gd name="T0" fmla="*/ 84 w 84"/>
                <a:gd name="T1" fmla="*/ 98 h 98"/>
                <a:gd name="T2" fmla="*/ 84 w 84"/>
                <a:gd name="T3" fmla="*/ 0 h 98"/>
                <a:gd name="T4" fmla="*/ 0 w 84"/>
                <a:gd name="T5" fmla="*/ 0 h 98"/>
                <a:gd name="T6" fmla="*/ 0 w 84"/>
                <a:gd name="T7" fmla="*/ 98 h 98"/>
                <a:gd name="T8" fmla="*/ 84 w 84"/>
                <a:gd name="T9" fmla="*/ 98 h 98"/>
                <a:gd name="T10" fmla="*/ 84 w 84"/>
                <a:gd name="T11" fmla="*/ 98 h 9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4" h="98">
                  <a:moveTo>
                    <a:pt x="84" y="98"/>
                  </a:moveTo>
                  <a:lnTo>
                    <a:pt x="84" y="0"/>
                  </a:lnTo>
                  <a:lnTo>
                    <a:pt x="0" y="0"/>
                  </a:lnTo>
                  <a:lnTo>
                    <a:pt x="0" y="98"/>
                  </a:lnTo>
                  <a:lnTo>
                    <a:pt x="84" y="98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270" name="Freeform 65"/>
            <p:cNvSpPr>
              <a:spLocks/>
            </p:cNvSpPr>
            <p:nvPr/>
          </p:nvSpPr>
          <p:spPr bwMode="auto">
            <a:xfrm>
              <a:off x="1916" y="3660"/>
              <a:ext cx="552" cy="100"/>
            </a:xfrm>
            <a:custGeom>
              <a:avLst/>
              <a:gdLst>
                <a:gd name="T0" fmla="*/ 552 w 552"/>
                <a:gd name="T1" fmla="*/ 98 h 100"/>
                <a:gd name="T2" fmla="*/ 552 w 552"/>
                <a:gd name="T3" fmla="*/ 0 h 100"/>
                <a:gd name="T4" fmla="*/ 0 w 552"/>
                <a:gd name="T5" fmla="*/ 0 h 100"/>
                <a:gd name="T6" fmla="*/ 0 w 552"/>
                <a:gd name="T7" fmla="*/ 100 h 100"/>
                <a:gd name="T8" fmla="*/ 552 w 552"/>
                <a:gd name="T9" fmla="*/ 100 h 100"/>
                <a:gd name="T10" fmla="*/ 552 w 552"/>
                <a:gd name="T11" fmla="*/ 100 h 100"/>
                <a:gd name="T12" fmla="*/ 552 w 552"/>
                <a:gd name="T13" fmla="*/ 98 h 10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52" h="100">
                  <a:moveTo>
                    <a:pt x="552" y="98"/>
                  </a:moveTo>
                  <a:lnTo>
                    <a:pt x="552" y="0"/>
                  </a:lnTo>
                  <a:lnTo>
                    <a:pt x="0" y="0"/>
                  </a:lnTo>
                  <a:lnTo>
                    <a:pt x="0" y="100"/>
                  </a:lnTo>
                  <a:lnTo>
                    <a:pt x="552" y="100"/>
                  </a:lnTo>
                  <a:lnTo>
                    <a:pt x="552" y="98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271" name="Freeform 66"/>
            <p:cNvSpPr>
              <a:spLocks/>
            </p:cNvSpPr>
            <p:nvPr/>
          </p:nvSpPr>
          <p:spPr bwMode="auto">
            <a:xfrm>
              <a:off x="1916" y="3660"/>
              <a:ext cx="552" cy="100"/>
            </a:xfrm>
            <a:custGeom>
              <a:avLst/>
              <a:gdLst>
                <a:gd name="T0" fmla="*/ 552 w 552"/>
                <a:gd name="T1" fmla="*/ 98 h 100"/>
                <a:gd name="T2" fmla="*/ 552 w 552"/>
                <a:gd name="T3" fmla="*/ 0 h 100"/>
                <a:gd name="T4" fmla="*/ 0 w 552"/>
                <a:gd name="T5" fmla="*/ 0 h 100"/>
                <a:gd name="T6" fmla="*/ 0 w 552"/>
                <a:gd name="T7" fmla="*/ 100 h 100"/>
                <a:gd name="T8" fmla="*/ 552 w 552"/>
                <a:gd name="T9" fmla="*/ 100 h 100"/>
                <a:gd name="T10" fmla="*/ 552 w 552"/>
                <a:gd name="T11" fmla="*/ 100 h 1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52" h="100">
                  <a:moveTo>
                    <a:pt x="552" y="98"/>
                  </a:moveTo>
                  <a:lnTo>
                    <a:pt x="552" y="0"/>
                  </a:lnTo>
                  <a:lnTo>
                    <a:pt x="0" y="0"/>
                  </a:lnTo>
                  <a:lnTo>
                    <a:pt x="0" y="100"/>
                  </a:lnTo>
                  <a:lnTo>
                    <a:pt x="552" y="10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272" name="Freeform 67"/>
            <p:cNvSpPr>
              <a:spLocks/>
            </p:cNvSpPr>
            <p:nvPr/>
          </p:nvSpPr>
          <p:spPr bwMode="auto">
            <a:xfrm>
              <a:off x="1830" y="3660"/>
              <a:ext cx="84" cy="98"/>
            </a:xfrm>
            <a:custGeom>
              <a:avLst/>
              <a:gdLst>
                <a:gd name="T0" fmla="*/ 84 w 84"/>
                <a:gd name="T1" fmla="*/ 98 h 98"/>
                <a:gd name="T2" fmla="*/ 84 w 84"/>
                <a:gd name="T3" fmla="*/ 0 h 98"/>
                <a:gd name="T4" fmla="*/ 0 w 84"/>
                <a:gd name="T5" fmla="*/ 0 h 98"/>
                <a:gd name="T6" fmla="*/ 0 w 84"/>
                <a:gd name="T7" fmla="*/ 98 h 98"/>
                <a:gd name="T8" fmla="*/ 84 w 84"/>
                <a:gd name="T9" fmla="*/ 98 h 98"/>
                <a:gd name="T10" fmla="*/ 84 w 84"/>
                <a:gd name="T11" fmla="*/ 98 h 9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4" h="98">
                  <a:moveTo>
                    <a:pt x="84" y="98"/>
                  </a:moveTo>
                  <a:lnTo>
                    <a:pt x="84" y="0"/>
                  </a:lnTo>
                  <a:lnTo>
                    <a:pt x="0" y="0"/>
                  </a:lnTo>
                  <a:lnTo>
                    <a:pt x="0" y="98"/>
                  </a:lnTo>
                  <a:lnTo>
                    <a:pt x="84" y="98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273" name="Freeform 68"/>
            <p:cNvSpPr>
              <a:spLocks/>
            </p:cNvSpPr>
            <p:nvPr/>
          </p:nvSpPr>
          <p:spPr bwMode="auto">
            <a:xfrm>
              <a:off x="1830" y="3660"/>
              <a:ext cx="84" cy="98"/>
            </a:xfrm>
            <a:custGeom>
              <a:avLst/>
              <a:gdLst>
                <a:gd name="T0" fmla="*/ 84 w 84"/>
                <a:gd name="T1" fmla="*/ 98 h 98"/>
                <a:gd name="T2" fmla="*/ 84 w 84"/>
                <a:gd name="T3" fmla="*/ 0 h 98"/>
                <a:gd name="T4" fmla="*/ 0 w 84"/>
                <a:gd name="T5" fmla="*/ 0 h 98"/>
                <a:gd name="T6" fmla="*/ 0 w 84"/>
                <a:gd name="T7" fmla="*/ 98 h 98"/>
                <a:gd name="T8" fmla="*/ 84 w 84"/>
                <a:gd name="T9" fmla="*/ 98 h 98"/>
                <a:gd name="T10" fmla="*/ 84 w 84"/>
                <a:gd name="T11" fmla="*/ 98 h 9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4" h="98">
                  <a:moveTo>
                    <a:pt x="84" y="98"/>
                  </a:moveTo>
                  <a:lnTo>
                    <a:pt x="84" y="0"/>
                  </a:lnTo>
                  <a:lnTo>
                    <a:pt x="0" y="0"/>
                  </a:lnTo>
                  <a:lnTo>
                    <a:pt x="0" y="98"/>
                  </a:lnTo>
                  <a:lnTo>
                    <a:pt x="84" y="98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274" name="Freeform 69"/>
            <p:cNvSpPr>
              <a:spLocks/>
            </p:cNvSpPr>
            <p:nvPr/>
          </p:nvSpPr>
          <p:spPr bwMode="auto">
            <a:xfrm>
              <a:off x="1916" y="3857"/>
              <a:ext cx="552" cy="98"/>
            </a:xfrm>
            <a:custGeom>
              <a:avLst/>
              <a:gdLst>
                <a:gd name="T0" fmla="*/ 552 w 552"/>
                <a:gd name="T1" fmla="*/ 98 h 98"/>
                <a:gd name="T2" fmla="*/ 552 w 552"/>
                <a:gd name="T3" fmla="*/ 0 h 98"/>
                <a:gd name="T4" fmla="*/ 0 w 552"/>
                <a:gd name="T5" fmla="*/ 0 h 98"/>
                <a:gd name="T6" fmla="*/ 0 w 552"/>
                <a:gd name="T7" fmla="*/ 98 h 98"/>
                <a:gd name="T8" fmla="*/ 552 w 552"/>
                <a:gd name="T9" fmla="*/ 98 h 98"/>
                <a:gd name="T10" fmla="*/ 552 w 552"/>
                <a:gd name="T11" fmla="*/ 98 h 9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52" h="98">
                  <a:moveTo>
                    <a:pt x="552" y="98"/>
                  </a:moveTo>
                  <a:lnTo>
                    <a:pt x="552" y="0"/>
                  </a:lnTo>
                  <a:lnTo>
                    <a:pt x="0" y="0"/>
                  </a:lnTo>
                  <a:lnTo>
                    <a:pt x="0" y="98"/>
                  </a:lnTo>
                  <a:lnTo>
                    <a:pt x="552" y="98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275" name="Freeform 70"/>
            <p:cNvSpPr>
              <a:spLocks/>
            </p:cNvSpPr>
            <p:nvPr/>
          </p:nvSpPr>
          <p:spPr bwMode="auto">
            <a:xfrm>
              <a:off x="1916" y="3857"/>
              <a:ext cx="552" cy="98"/>
            </a:xfrm>
            <a:custGeom>
              <a:avLst/>
              <a:gdLst>
                <a:gd name="T0" fmla="*/ 552 w 552"/>
                <a:gd name="T1" fmla="*/ 98 h 98"/>
                <a:gd name="T2" fmla="*/ 552 w 552"/>
                <a:gd name="T3" fmla="*/ 0 h 98"/>
                <a:gd name="T4" fmla="*/ 0 w 552"/>
                <a:gd name="T5" fmla="*/ 0 h 98"/>
                <a:gd name="T6" fmla="*/ 0 w 552"/>
                <a:gd name="T7" fmla="*/ 98 h 98"/>
                <a:gd name="T8" fmla="*/ 552 w 552"/>
                <a:gd name="T9" fmla="*/ 98 h 98"/>
                <a:gd name="T10" fmla="*/ 552 w 552"/>
                <a:gd name="T11" fmla="*/ 98 h 9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52" h="98">
                  <a:moveTo>
                    <a:pt x="552" y="98"/>
                  </a:moveTo>
                  <a:lnTo>
                    <a:pt x="552" y="0"/>
                  </a:lnTo>
                  <a:lnTo>
                    <a:pt x="0" y="0"/>
                  </a:lnTo>
                  <a:lnTo>
                    <a:pt x="0" y="98"/>
                  </a:lnTo>
                  <a:lnTo>
                    <a:pt x="552" y="98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276" name="Freeform 71"/>
            <p:cNvSpPr>
              <a:spLocks/>
            </p:cNvSpPr>
            <p:nvPr/>
          </p:nvSpPr>
          <p:spPr bwMode="auto">
            <a:xfrm>
              <a:off x="1830" y="3856"/>
              <a:ext cx="84" cy="97"/>
            </a:xfrm>
            <a:custGeom>
              <a:avLst/>
              <a:gdLst>
                <a:gd name="T0" fmla="*/ 84 w 84"/>
                <a:gd name="T1" fmla="*/ 97 h 97"/>
                <a:gd name="T2" fmla="*/ 84 w 84"/>
                <a:gd name="T3" fmla="*/ 0 h 97"/>
                <a:gd name="T4" fmla="*/ 0 w 84"/>
                <a:gd name="T5" fmla="*/ 0 h 97"/>
                <a:gd name="T6" fmla="*/ 0 w 84"/>
                <a:gd name="T7" fmla="*/ 97 h 97"/>
                <a:gd name="T8" fmla="*/ 84 w 84"/>
                <a:gd name="T9" fmla="*/ 97 h 97"/>
                <a:gd name="T10" fmla="*/ 84 w 84"/>
                <a:gd name="T11" fmla="*/ 97 h 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4" h="97">
                  <a:moveTo>
                    <a:pt x="84" y="97"/>
                  </a:moveTo>
                  <a:lnTo>
                    <a:pt x="84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84" y="97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277" name="Freeform 72"/>
            <p:cNvSpPr>
              <a:spLocks/>
            </p:cNvSpPr>
            <p:nvPr/>
          </p:nvSpPr>
          <p:spPr bwMode="auto">
            <a:xfrm>
              <a:off x="1830" y="3856"/>
              <a:ext cx="84" cy="97"/>
            </a:xfrm>
            <a:custGeom>
              <a:avLst/>
              <a:gdLst>
                <a:gd name="T0" fmla="*/ 84 w 84"/>
                <a:gd name="T1" fmla="*/ 97 h 97"/>
                <a:gd name="T2" fmla="*/ 84 w 84"/>
                <a:gd name="T3" fmla="*/ 0 h 97"/>
                <a:gd name="T4" fmla="*/ 0 w 84"/>
                <a:gd name="T5" fmla="*/ 0 h 97"/>
                <a:gd name="T6" fmla="*/ 0 w 84"/>
                <a:gd name="T7" fmla="*/ 97 h 97"/>
                <a:gd name="T8" fmla="*/ 84 w 84"/>
                <a:gd name="T9" fmla="*/ 97 h 97"/>
                <a:gd name="T10" fmla="*/ 84 w 84"/>
                <a:gd name="T11" fmla="*/ 97 h 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4" h="97">
                  <a:moveTo>
                    <a:pt x="84" y="97"/>
                  </a:moveTo>
                  <a:lnTo>
                    <a:pt x="84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84" y="9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278" name="Freeform 73"/>
            <p:cNvSpPr>
              <a:spLocks/>
            </p:cNvSpPr>
            <p:nvPr/>
          </p:nvSpPr>
          <p:spPr bwMode="auto">
            <a:xfrm>
              <a:off x="1916" y="4051"/>
              <a:ext cx="552" cy="100"/>
            </a:xfrm>
            <a:custGeom>
              <a:avLst/>
              <a:gdLst>
                <a:gd name="T0" fmla="*/ 552 w 552"/>
                <a:gd name="T1" fmla="*/ 98 h 100"/>
                <a:gd name="T2" fmla="*/ 552 w 552"/>
                <a:gd name="T3" fmla="*/ 0 h 100"/>
                <a:gd name="T4" fmla="*/ 0 w 552"/>
                <a:gd name="T5" fmla="*/ 0 h 100"/>
                <a:gd name="T6" fmla="*/ 0 w 552"/>
                <a:gd name="T7" fmla="*/ 100 h 100"/>
                <a:gd name="T8" fmla="*/ 552 w 552"/>
                <a:gd name="T9" fmla="*/ 100 h 100"/>
                <a:gd name="T10" fmla="*/ 552 w 552"/>
                <a:gd name="T11" fmla="*/ 100 h 100"/>
                <a:gd name="T12" fmla="*/ 552 w 552"/>
                <a:gd name="T13" fmla="*/ 98 h 10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52" h="100">
                  <a:moveTo>
                    <a:pt x="552" y="98"/>
                  </a:moveTo>
                  <a:lnTo>
                    <a:pt x="552" y="0"/>
                  </a:lnTo>
                  <a:lnTo>
                    <a:pt x="0" y="0"/>
                  </a:lnTo>
                  <a:lnTo>
                    <a:pt x="0" y="100"/>
                  </a:lnTo>
                  <a:lnTo>
                    <a:pt x="552" y="100"/>
                  </a:lnTo>
                  <a:lnTo>
                    <a:pt x="552" y="98"/>
                  </a:lnTo>
                  <a:close/>
                </a:path>
              </a:pathLst>
            </a:custGeom>
            <a:solidFill>
              <a:srgbClr val="CCCC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279" name="Freeform 74"/>
            <p:cNvSpPr>
              <a:spLocks/>
            </p:cNvSpPr>
            <p:nvPr/>
          </p:nvSpPr>
          <p:spPr bwMode="auto">
            <a:xfrm>
              <a:off x="1916" y="4051"/>
              <a:ext cx="552" cy="100"/>
            </a:xfrm>
            <a:custGeom>
              <a:avLst/>
              <a:gdLst>
                <a:gd name="T0" fmla="*/ 552 w 552"/>
                <a:gd name="T1" fmla="*/ 98 h 100"/>
                <a:gd name="T2" fmla="*/ 552 w 552"/>
                <a:gd name="T3" fmla="*/ 0 h 100"/>
                <a:gd name="T4" fmla="*/ 0 w 552"/>
                <a:gd name="T5" fmla="*/ 0 h 100"/>
                <a:gd name="T6" fmla="*/ 0 w 552"/>
                <a:gd name="T7" fmla="*/ 100 h 100"/>
                <a:gd name="T8" fmla="*/ 552 w 552"/>
                <a:gd name="T9" fmla="*/ 100 h 100"/>
                <a:gd name="T10" fmla="*/ 552 w 552"/>
                <a:gd name="T11" fmla="*/ 100 h 1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52" h="100">
                  <a:moveTo>
                    <a:pt x="552" y="98"/>
                  </a:moveTo>
                  <a:lnTo>
                    <a:pt x="552" y="0"/>
                  </a:lnTo>
                  <a:lnTo>
                    <a:pt x="0" y="0"/>
                  </a:lnTo>
                  <a:lnTo>
                    <a:pt x="0" y="100"/>
                  </a:lnTo>
                  <a:lnTo>
                    <a:pt x="552" y="10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280" name="Freeform 75"/>
            <p:cNvSpPr>
              <a:spLocks/>
            </p:cNvSpPr>
            <p:nvPr/>
          </p:nvSpPr>
          <p:spPr bwMode="auto">
            <a:xfrm>
              <a:off x="1830" y="4051"/>
              <a:ext cx="84" cy="98"/>
            </a:xfrm>
            <a:custGeom>
              <a:avLst/>
              <a:gdLst>
                <a:gd name="T0" fmla="*/ 84 w 84"/>
                <a:gd name="T1" fmla="*/ 98 h 98"/>
                <a:gd name="T2" fmla="*/ 84 w 84"/>
                <a:gd name="T3" fmla="*/ 0 h 98"/>
                <a:gd name="T4" fmla="*/ 0 w 84"/>
                <a:gd name="T5" fmla="*/ 0 h 98"/>
                <a:gd name="T6" fmla="*/ 0 w 84"/>
                <a:gd name="T7" fmla="*/ 98 h 98"/>
                <a:gd name="T8" fmla="*/ 84 w 84"/>
                <a:gd name="T9" fmla="*/ 98 h 98"/>
                <a:gd name="T10" fmla="*/ 84 w 84"/>
                <a:gd name="T11" fmla="*/ 98 h 9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4" h="98">
                  <a:moveTo>
                    <a:pt x="84" y="98"/>
                  </a:moveTo>
                  <a:lnTo>
                    <a:pt x="84" y="0"/>
                  </a:lnTo>
                  <a:lnTo>
                    <a:pt x="0" y="0"/>
                  </a:lnTo>
                  <a:lnTo>
                    <a:pt x="0" y="98"/>
                  </a:lnTo>
                  <a:lnTo>
                    <a:pt x="84" y="98"/>
                  </a:lnTo>
                  <a:close/>
                </a:path>
              </a:pathLst>
            </a:custGeom>
            <a:solidFill>
              <a:srgbClr val="CCCC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281" name="Freeform 76"/>
            <p:cNvSpPr>
              <a:spLocks/>
            </p:cNvSpPr>
            <p:nvPr/>
          </p:nvSpPr>
          <p:spPr bwMode="auto">
            <a:xfrm>
              <a:off x="1830" y="4051"/>
              <a:ext cx="84" cy="98"/>
            </a:xfrm>
            <a:custGeom>
              <a:avLst/>
              <a:gdLst>
                <a:gd name="T0" fmla="*/ 84 w 84"/>
                <a:gd name="T1" fmla="*/ 98 h 98"/>
                <a:gd name="T2" fmla="*/ 84 w 84"/>
                <a:gd name="T3" fmla="*/ 0 h 98"/>
                <a:gd name="T4" fmla="*/ 0 w 84"/>
                <a:gd name="T5" fmla="*/ 0 h 98"/>
                <a:gd name="T6" fmla="*/ 0 w 84"/>
                <a:gd name="T7" fmla="*/ 98 h 98"/>
                <a:gd name="T8" fmla="*/ 84 w 84"/>
                <a:gd name="T9" fmla="*/ 98 h 98"/>
                <a:gd name="T10" fmla="*/ 84 w 84"/>
                <a:gd name="T11" fmla="*/ 98 h 9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4" h="98">
                  <a:moveTo>
                    <a:pt x="84" y="98"/>
                  </a:moveTo>
                  <a:lnTo>
                    <a:pt x="84" y="0"/>
                  </a:lnTo>
                  <a:lnTo>
                    <a:pt x="0" y="0"/>
                  </a:lnTo>
                  <a:lnTo>
                    <a:pt x="0" y="98"/>
                  </a:lnTo>
                  <a:lnTo>
                    <a:pt x="84" y="98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282" name="Freeform 77"/>
            <p:cNvSpPr>
              <a:spLocks/>
            </p:cNvSpPr>
            <p:nvPr/>
          </p:nvSpPr>
          <p:spPr bwMode="auto">
            <a:xfrm>
              <a:off x="1916" y="2978"/>
              <a:ext cx="552" cy="98"/>
            </a:xfrm>
            <a:custGeom>
              <a:avLst/>
              <a:gdLst>
                <a:gd name="T0" fmla="*/ 552 w 552"/>
                <a:gd name="T1" fmla="*/ 98 h 98"/>
                <a:gd name="T2" fmla="*/ 552 w 552"/>
                <a:gd name="T3" fmla="*/ 0 h 98"/>
                <a:gd name="T4" fmla="*/ 0 w 552"/>
                <a:gd name="T5" fmla="*/ 0 h 98"/>
                <a:gd name="T6" fmla="*/ 0 w 552"/>
                <a:gd name="T7" fmla="*/ 98 h 98"/>
                <a:gd name="T8" fmla="*/ 552 w 552"/>
                <a:gd name="T9" fmla="*/ 98 h 98"/>
                <a:gd name="T10" fmla="*/ 552 w 552"/>
                <a:gd name="T11" fmla="*/ 98 h 9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52" h="98">
                  <a:moveTo>
                    <a:pt x="552" y="98"/>
                  </a:moveTo>
                  <a:lnTo>
                    <a:pt x="552" y="0"/>
                  </a:lnTo>
                  <a:lnTo>
                    <a:pt x="0" y="0"/>
                  </a:lnTo>
                  <a:lnTo>
                    <a:pt x="0" y="98"/>
                  </a:lnTo>
                  <a:lnTo>
                    <a:pt x="552" y="98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283" name="Rectangle 78"/>
            <p:cNvSpPr>
              <a:spLocks noChangeArrowheads="1"/>
            </p:cNvSpPr>
            <p:nvPr/>
          </p:nvSpPr>
          <p:spPr bwMode="auto">
            <a:xfrm>
              <a:off x="1800" y="2894"/>
              <a:ext cx="43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V</a:t>
              </a:r>
              <a:endParaRPr lang="en-US" sz="1600"/>
            </a:p>
          </p:txBody>
        </p:sp>
        <p:sp>
          <p:nvSpPr>
            <p:cNvPr id="47284" name="Rectangle 79"/>
            <p:cNvSpPr>
              <a:spLocks noChangeArrowheads="1"/>
            </p:cNvSpPr>
            <p:nvPr/>
          </p:nvSpPr>
          <p:spPr bwMode="auto">
            <a:xfrm>
              <a:off x="1846" y="2894"/>
              <a:ext cx="36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a</a:t>
              </a:r>
              <a:endParaRPr lang="en-US" sz="1600"/>
            </a:p>
          </p:txBody>
        </p:sp>
        <p:sp>
          <p:nvSpPr>
            <p:cNvPr id="47285" name="Rectangle 80"/>
            <p:cNvSpPr>
              <a:spLocks noChangeArrowheads="1"/>
            </p:cNvSpPr>
            <p:nvPr/>
          </p:nvSpPr>
          <p:spPr bwMode="auto">
            <a:xfrm>
              <a:off x="1882" y="2894"/>
              <a:ext cx="14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l</a:t>
              </a:r>
              <a:endParaRPr lang="en-US" sz="1600"/>
            </a:p>
          </p:txBody>
        </p:sp>
        <p:sp>
          <p:nvSpPr>
            <p:cNvPr id="47286" name="Rectangle 81"/>
            <p:cNvSpPr>
              <a:spLocks noChangeArrowheads="1"/>
            </p:cNvSpPr>
            <p:nvPr/>
          </p:nvSpPr>
          <p:spPr bwMode="auto">
            <a:xfrm>
              <a:off x="1896" y="2894"/>
              <a:ext cx="14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i</a:t>
              </a:r>
              <a:endParaRPr lang="en-US" sz="1600"/>
            </a:p>
          </p:txBody>
        </p:sp>
        <p:sp>
          <p:nvSpPr>
            <p:cNvPr id="47287" name="Rectangle 82"/>
            <p:cNvSpPr>
              <a:spLocks noChangeArrowheads="1"/>
            </p:cNvSpPr>
            <p:nvPr/>
          </p:nvSpPr>
          <p:spPr bwMode="auto">
            <a:xfrm>
              <a:off x="1912" y="2894"/>
              <a:ext cx="36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d</a:t>
              </a:r>
              <a:endParaRPr lang="en-US" sz="1600"/>
            </a:p>
          </p:txBody>
        </p:sp>
        <p:sp>
          <p:nvSpPr>
            <p:cNvPr id="47288" name="Freeform 83"/>
            <p:cNvSpPr>
              <a:spLocks/>
            </p:cNvSpPr>
            <p:nvPr/>
          </p:nvSpPr>
          <p:spPr bwMode="auto">
            <a:xfrm>
              <a:off x="1830" y="2978"/>
              <a:ext cx="84" cy="96"/>
            </a:xfrm>
            <a:custGeom>
              <a:avLst/>
              <a:gdLst>
                <a:gd name="T0" fmla="*/ 84 w 84"/>
                <a:gd name="T1" fmla="*/ 96 h 96"/>
                <a:gd name="T2" fmla="*/ 84 w 84"/>
                <a:gd name="T3" fmla="*/ 0 h 96"/>
                <a:gd name="T4" fmla="*/ 0 w 84"/>
                <a:gd name="T5" fmla="*/ 0 h 96"/>
                <a:gd name="T6" fmla="*/ 0 w 84"/>
                <a:gd name="T7" fmla="*/ 96 h 96"/>
                <a:gd name="T8" fmla="*/ 84 w 84"/>
                <a:gd name="T9" fmla="*/ 96 h 96"/>
                <a:gd name="T10" fmla="*/ 84 w 84"/>
                <a:gd name="T11" fmla="*/ 96 h 9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0"/>
                  </a:lnTo>
                  <a:lnTo>
                    <a:pt x="0" y="0"/>
                  </a:lnTo>
                  <a:lnTo>
                    <a:pt x="0" y="96"/>
                  </a:lnTo>
                  <a:lnTo>
                    <a:pt x="84" y="96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289" name="Rectangle 84"/>
            <p:cNvSpPr>
              <a:spLocks noChangeArrowheads="1"/>
            </p:cNvSpPr>
            <p:nvPr/>
          </p:nvSpPr>
          <p:spPr bwMode="auto">
            <a:xfrm>
              <a:off x="1852" y="3083"/>
              <a:ext cx="36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1</a:t>
              </a:r>
              <a:endParaRPr lang="en-US" sz="1600"/>
            </a:p>
          </p:txBody>
        </p:sp>
        <p:sp>
          <p:nvSpPr>
            <p:cNvPr id="47290" name="Rectangle 85"/>
            <p:cNvSpPr>
              <a:spLocks noChangeArrowheads="1"/>
            </p:cNvSpPr>
            <p:nvPr/>
          </p:nvSpPr>
          <p:spPr bwMode="auto">
            <a:xfrm>
              <a:off x="1852" y="3181"/>
              <a:ext cx="36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1</a:t>
              </a:r>
              <a:endParaRPr lang="en-US" sz="1600"/>
            </a:p>
          </p:txBody>
        </p:sp>
        <p:sp>
          <p:nvSpPr>
            <p:cNvPr id="47291" name="Rectangle 86"/>
            <p:cNvSpPr>
              <a:spLocks noChangeArrowheads="1"/>
            </p:cNvSpPr>
            <p:nvPr/>
          </p:nvSpPr>
          <p:spPr bwMode="auto">
            <a:xfrm>
              <a:off x="1852" y="3279"/>
              <a:ext cx="36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1</a:t>
              </a:r>
              <a:endParaRPr lang="en-US" sz="1600"/>
            </a:p>
          </p:txBody>
        </p:sp>
        <p:sp>
          <p:nvSpPr>
            <p:cNvPr id="47292" name="Rectangle 87"/>
            <p:cNvSpPr>
              <a:spLocks noChangeArrowheads="1"/>
            </p:cNvSpPr>
            <p:nvPr/>
          </p:nvSpPr>
          <p:spPr bwMode="auto">
            <a:xfrm>
              <a:off x="1852" y="3377"/>
              <a:ext cx="36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1</a:t>
              </a:r>
              <a:endParaRPr lang="en-US" sz="1600"/>
            </a:p>
          </p:txBody>
        </p:sp>
        <p:sp>
          <p:nvSpPr>
            <p:cNvPr id="47293" name="Rectangle 88"/>
            <p:cNvSpPr>
              <a:spLocks noChangeArrowheads="1"/>
            </p:cNvSpPr>
            <p:nvPr/>
          </p:nvSpPr>
          <p:spPr bwMode="auto">
            <a:xfrm>
              <a:off x="1852" y="3474"/>
              <a:ext cx="36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0</a:t>
              </a:r>
              <a:endParaRPr lang="en-US" sz="1600"/>
            </a:p>
          </p:txBody>
        </p:sp>
        <p:sp>
          <p:nvSpPr>
            <p:cNvPr id="47294" name="Rectangle 89"/>
            <p:cNvSpPr>
              <a:spLocks noChangeArrowheads="1"/>
            </p:cNvSpPr>
            <p:nvPr/>
          </p:nvSpPr>
          <p:spPr bwMode="auto">
            <a:xfrm>
              <a:off x="1852" y="3572"/>
              <a:ext cx="36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1</a:t>
              </a:r>
              <a:endParaRPr lang="en-US" sz="1600"/>
            </a:p>
          </p:txBody>
        </p:sp>
        <p:sp>
          <p:nvSpPr>
            <p:cNvPr id="47295" name="Rectangle 90"/>
            <p:cNvSpPr>
              <a:spLocks noChangeArrowheads="1"/>
            </p:cNvSpPr>
            <p:nvPr/>
          </p:nvSpPr>
          <p:spPr bwMode="auto">
            <a:xfrm>
              <a:off x="1852" y="3670"/>
              <a:ext cx="36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1</a:t>
              </a:r>
              <a:endParaRPr lang="en-US" sz="1600"/>
            </a:p>
          </p:txBody>
        </p:sp>
        <p:sp>
          <p:nvSpPr>
            <p:cNvPr id="47296" name="Rectangle 91"/>
            <p:cNvSpPr>
              <a:spLocks noChangeArrowheads="1"/>
            </p:cNvSpPr>
            <p:nvPr/>
          </p:nvSpPr>
          <p:spPr bwMode="auto">
            <a:xfrm>
              <a:off x="1852" y="3767"/>
              <a:ext cx="36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0</a:t>
              </a:r>
              <a:endParaRPr lang="en-US" sz="1600"/>
            </a:p>
          </p:txBody>
        </p:sp>
        <p:sp>
          <p:nvSpPr>
            <p:cNvPr id="47297" name="Rectangle 92"/>
            <p:cNvSpPr>
              <a:spLocks noChangeArrowheads="1"/>
            </p:cNvSpPr>
            <p:nvPr/>
          </p:nvSpPr>
          <p:spPr bwMode="auto">
            <a:xfrm>
              <a:off x="1852" y="3865"/>
              <a:ext cx="36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1</a:t>
              </a:r>
              <a:endParaRPr lang="en-US" sz="1600"/>
            </a:p>
          </p:txBody>
        </p:sp>
        <p:sp>
          <p:nvSpPr>
            <p:cNvPr id="47298" name="Rectangle 93"/>
            <p:cNvSpPr>
              <a:spLocks noChangeArrowheads="1"/>
            </p:cNvSpPr>
            <p:nvPr/>
          </p:nvSpPr>
          <p:spPr bwMode="auto">
            <a:xfrm>
              <a:off x="1852" y="3963"/>
              <a:ext cx="36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1</a:t>
              </a:r>
              <a:endParaRPr lang="en-US" sz="1600"/>
            </a:p>
          </p:txBody>
        </p:sp>
        <p:sp>
          <p:nvSpPr>
            <p:cNvPr id="47299" name="Rectangle 94"/>
            <p:cNvSpPr>
              <a:spLocks noChangeArrowheads="1"/>
            </p:cNvSpPr>
            <p:nvPr/>
          </p:nvSpPr>
          <p:spPr bwMode="auto">
            <a:xfrm>
              <a:off x="1852" y="4060"/>
              <a:ext cx="36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0</a:t>
              </a:r>
              <a:endParaRPr lang="en-US" sz="1600"/>
            </a:p>
          </p:txBody>
        </p:sp>
        <p:sp>
          <p:nvSpPr>
            <p:cNvPr id="47300" name="Rectangle 95"/>
            <p:cNvSpPr>
              <a:spLocks noChangeArrowheads="1"/>
            </p:cNvSpPr>
            <p:nvPr/>
          </p:nvSpPr>
          <p:spPr bwMode="auto">
            <a:xfrm>
              <a:off x="1852" y="4158"/>
              <a:ext cx="36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1</a:t>
              </a:r>
              <a:endParaRPr lang="en-US" sz="1600"/>
            </a:p>
          </p:txBody>
        </p:sp>
        <p:sp>
          <p:nvSpPr>
            <p:cNvPr id="47301" name="Rectangle 96"/>
            <p:cNvSpPr>
              <a:spLocks noChangeArrowheads="1"/>
            </p:cNvSpPr>
            <p:nvPr/>
          </p:nvSpPr>
          <p:spPr bwMode="auto">
            <a:xfrm>
              <a:off x="1974" y="2728"/>
              <a:ext cx="43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P</a:t>
              </a:r>
              <a:endParaRPr lang="en-US" sz="1600"/>
            </a:p>
          </p:txBody>
        </p:sp>
        <p:sp>
          <p:nvSpPr>
            <p:cNvPr id="47302" name="Rectangle 97"/>
            <p:cNvSpPr>
              <a:spLocks noChangeArrowheads="1"/>
            </p:cNvSpPr>
            <p:nvPr/>
          </p:nvSpPr>
          <p:spPr bwMode="auto">
            <a:xfrm>
              <a:off x="2017" y="2728"/>
              <a:ext cx="36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a</a:t>
              </a:r>
              <a:endParaRPr lang="en-US" sz="1600"/>
            </a:p>
          </p:txBody>
        </p:sp>
        <p:sp>
          <p:nvSpPr>
            <p:cNvPr id="47303" name="Rectangle 98"/>
            <p:cNvSpPr>
              <a:spLocks noChangeArrowheads="1"/>
            </p:cNvSpPr>
            <p:nvPr/>
          </p:nvSpPr>
          <p:spPr bwMode="auto">
            <a:xfrm>
              <a:off x="2055" y="2728"/>
              <a:ext cx="36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g</a:t>
              </a:r>
              <a:endParaRPr lang="en-US" sz="1600"/>
            </a:p>
          </p:txBody>
        </p:sp>
        <p:sp>
          <p:nvSpPr>
            <p:cNvPr id="47304" name="Rectangle 99"/>
            <p:cNvSpPr>
              <a:spLocks noChangeArrowheads="1"/>
            </p:cNvSpPr>
            <p:nvPr/>
          </p:nvSpPr>
          <p:spPr bwMode="auto">
            <a:xfrm>
              <a:off x="2091" y="2728"/>
              <a:ext cx="36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e</a:t>
              </a:r>
              <a:endParaRPr lang="en-US" sz="1600"/>
            </a:p>
          </p:txBody>
        </p:sp>
        <p:sp>
          <p:nvSpPr>
            <p:cNvPr id="47305" name="Rectangle 100"/>
            <p:cNvSpPr>
              <a:spLocks noChangeArrowheads="1"/>
            </p:cNvSpPr>
            <p:nvPr/>
          </p:nvSpPr>
          <p:spPr bwMode="auto">
            <a:xfrm>
              <a:off x="2129" y="2728"/>
              <a:ext cx="18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 </a:t>
              </a:r>
              <a:endParaRPr lang="en-US" sz="1600"/>
            </a:p>
          </p:txBody>
        </p:sp>
        <p:sp>
          <p:nvSpPr>
            <p:cNvPr id="47306" name="Rectangle 101"/>
            <p:cNvSpPr>
              <a:spLocks noChangeArrowheads="1"/>
            </p:cNvSpPr>
            <p:nvPr/>
          </p:nvSpPr>
          <p:spPr bwMode="auto">
            <a:xfrm>
              <a:off x="2147" y="2728"/>
              <a:ext cx="18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t</a:t>
              </a:r>
              <a:endParaRPr lang="en-US" sz="1600"/>
            </a:p>
          </p:txBody>
        </p:sp>
        <p:sp>
          <p:nvSpPr>
            <p:cNvPr id="47307" name="Rectangle 102"/>
            <p:cNvSpPr>
              <a:spLocks noChangeArrowheads="1"/>
            </p:cNvSpPr>
            <p:nvPr/>
          </p:nvSpPr>
          <p:spPr bwMode="auto">
            <a:xfrm>
              <a:off x="2165" y="2728"/>
              <a:ext cx="36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a</a:t>
              </a:r>
              <a:endParaRPr lang="en-US" sz="1600"/>
            </a:p>
          </p:txBody>
        </p:sp>
        <p:sp>
          <p:nvSpPr>
            <p:cNvPr id="47308" name="Rectangle 103"/>
            <p:cNvSpPr>
              <a:spLocks noChangeArrowheads="1"/>
            </p:cNvSpPr>
            <p:nvPr/>
          </p:nvSpPr>
          <p:spPr bwMode="auto">
            <a:xfrm>
              <a:off x="2203" y="2728"/>
              <a:ext cx="36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b</a:t>
              </a:r>
              <a:endParaRPr lang="en-US" sz="1600"/>
            </a:p>
          </p:txBody>
        </p:sp>
        <p:sp>
          <p:nvSpPr>
            <p:cNvPr id="47309" name="Rectangle 104"/>
            <p:cNvSpPr>
              <a:spLocks noChangeArrowheads="1"/>
            </p:cNvSpPr>
            <p:nvPr/>
          </p:nvSpPr>
          <p:spPr bwMode="auto">
            <a:xfrm>
              <a:off x="2239" y="2728"/>
              <a:ext cx="14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l</a:t>
              </a:r>
              <a:endParaRPr lang="en-US" sz="1600"/>
            </a:p>
          </p:txBody>
        </p:sp>
        <p:sp>
          <p:nvSpPr>
            <p:cNvPr id="47310" name="Rectangle 105"/>
            <p:cNvSpPr>
              <a:spLocks noChangeArrowheads="1"/>
            </p:cNvSpPr>
            <p:nvPr/>
          </p:nvSpPr>
          <p:spPr bwMode="auto">
            <a:xfrm>
              <a:off x="2255" y="2728"/>
              <a:ext cx="36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e</a:t>
              </a:r>
              <a:endParaRPr lang="en-US" sz="1600"/>
            </a:p>
          </p:txBody>
        </p:sp>
        <p:sp>
          <p:nvSpPr>
            <p:cNvPr id="47311" name="Freeform 106"/>
            <p:cNvSpPr>
              <a:spLocks/>
            </p:cNvSpPr>
            <p:nvPr/>
          </p:nvSpPr>
          <p:spPr bwMode="auto">
            <a:xfrm>
              <a:off x="2171" y="3107"/>
              <a:ext cx="34" cy="34"/>
            </a:xfrm>
            <a:custGeom>
              <a:avLst/>
              <a:gdLst>
                <a:gd name="T0" fmla="*/ 16 w 34"/>
                <a:gd name="T1" fmla="*/ 32 h 34"/>
                <a:gd name="T2" fmla="*/ 20 w 34"/>
                <a:gd name="T3" fmla="*/ 34 h 34"/>
                <a:gd name="T4" fmla="*/ 22 w 34"/>
                <a:gd name="T5" fmla="*/ 32 h 34"/>
                <a:gd name="T6" fmla="*/ 24 w 34"/>
                <a:gd name="T7" fmla="*/ 32 h 34"/>
                <a:gd name="T8" fmla="*/ 26 w 34"/>
                <a:gd name="T9" fmla="*/ 30 h 34"/>
                <a:gd name="T10" fmla="*/ 28 w 34"/>
                <a:gd name="T11" fmla="*/ 28 h 34"/>
                <a:gd name="T12" fmla="*/ 30 w 34"/>
                <a:gd name="T13" fmla="*/ 26 h 34"/>
                <a:gd name="T14" fmla="*/ 32 w 34"/>
                <a:gd name="T15" fmla="*/ 24 h 34"/>
                <a:gd name="T16" fmla="*/ 32 w 34"/>
                <a:gd name="T17" fmla="*/ 22 h 34"/>
                <a:gd name="T18" fmla="*/ 34 w 34"/>
                <a:gd name="T19" fmla="*/ 20 h 34"/>
                <a:gd name="T20" fmla="*/ 34 w 34"/>
                <a:gd name="T21" fmla="*/ 16 h 34"/>
                <a:gd name="T22" fmla="*/ 34 w 34"/>
                <a:gd name="T23" fmla="*/ 14 h 34"/>
                <a:gd name="T24" fmla="*/ 32 w 34"/>
                <a:gd name="T25" fmla="*/ 12 h 34"/>
                <a:gd name="T26" fmla="*/ 32 w 34"/>
                <a:gd name="T27" fmla="*/ 10 h 34"/>
                <a:gd name="T28" fmla="*/ 30 w 34"/>
                <a:gd name="T29" fmla="*/ 6 h 34"/>
                <a:gd name="T30" fmla="*/ 28 w 34"/>
                <a:gd name="T31" fmla="*/ 6 h 34"/>
                <a:gd name="T32" fmla="*/ 26 w 34"/>
                <a:gd name="T33" fmla="*/ 4 h 34"/>
                <a:gd name="T34" fmla="*/ 24 w 34"/>
                <a:gd name="T35" fmla="*/ 2 h 34"/>
                <a:gd name="T36" fmla="*/ 22 w 34"/>
                <a:gd name="T37" fmla="*/ 0 h 34"/>
                <a:gd name="T38" fmla="*/ 20 w 34"/>
                <a:gd name="T39" fmla="*/ 0 h 34"/>
                <a:gd name="T40" fmla="*/ 16 w 34"/>
                <a:gd name="T41" fmla="*/ 0 h 34"/>
                <a:gd name="T42" fmla="*/ 14 w 34"/>
                <a:gd name="T43" fmla="*/ 0 h 34"/>
                <a:gd name="T44" fmla="*/ 12 w 34"/>
                <a:gd name="T45" fmla="*/ 0 h 34"/>
                <a:gd name="T46" fmla="*/ 10 w 34"/>
                <a:gd name="T47" fmla="*/ 2 h 34"/>
                <a:gd name="T48" fmla="*/ 8 w 34"/>
                <a:gd name="T49" fmla="*/ 4 h 34"/>
                <a:gd name="T50" fmla="*/ 6 w 34"/>
                <a:gd name="T51" fmla="*/ 6 h 34"/>
                <a:gd name="T52" fmla="*/ 4 w 34"/>
                <a:gd name="T53" fmla="*/ 6 h 34"/>
                <a:gd name="T54" fmla="*/ 2 w 34"/>
                <a:gd name="T55" fmla="*/ 10 h 34"/>
                <a:gd name="T56" fmla="*/ 2 w 34"/>
                <a:gd name="T57" fmla="*/ 12 h 34"/>
                <a:gd name="T58" fmla="*/ 0 w 34"/>
                <a:gd name="T59" fmla="*/ 14 h 34"/>
                <a:gd name="T60" fmla="*/ 0 w 34"/>
                <a:gd name="T61" fmla="*/ 16 h 34"/>
                <a:gd name="T62" fmla="*/ 0 w 34"/>
                <a:gd name="T63" fmla="*/ 20 h 34"/>
                <a:gd name="T64" fmla="*/ 2 w 34"/>
                <a:gd name="T65" fmla="*/ 22 h 34"/>
                <a:gd name="T66" fmla="*/ 2 w 34"/>
                <a:gd name="T67" fmla="*/ 24 h 34"/>
                <a:gd name="T68" fmla="*/ 4 w 34"/>
                <a:gd name="T69" fmla="*/ 26 h 34"/>
                <a:gd name="T70" fmla="*/ 6 w 34"/>
                <a:gd name="T71" fmla="*/ 28 h 34"/>
                <a:gd name="T72" fmla="*/ 8 w 34"/>
                <a:gd name="T73" fmla="*/ 30 h 34"/>
                <a:gd name="T74" fmla="*/ 10 w 34"/>
                <a:gd name="T75" fmla="*/ 32 h 34"/>
                <a:gd name="T76" fmla="*/ 12 w 34"/>
                <a:gd name="T77" fmla="*/ 32 h 34"/>
                <a:gd name="T78" fmla="*/ 14 w 34"/>
                <a:gd name="T79" fmla="*/ 34 h 34"/>
                <a:gd name="T80" fmla="*/ 16 w 34"/>
                <a:gd name="T81" fmla="*/ 34 h 34"/>
                <a:gd name="T82" fmla="*/ 16 w 34"/>
                <a:gd name="T83" fmla="*/ 34 h 34"/>
                <a:gd name="T84" fmla="*/ 16 w 34"/>
                <a:gd name="T85" fmla="*/ 32 h 3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34" h="34">
                  <a:moveTo>
                    <a:pt x="16" y="32"/>
                  </a:moveTo>
                  <a:lnTo>
                    <a:pt x="20" y="34"/>
                  </a:lnTo>
                  <a:lnTo>
                    <a:pt x="22" y="32"/>
                  </a:lnTo>
                  <a:lnTo>
                    <a:pt x="24" y="32"/>
                  </a:lnTo>
                  <a:lnTo>
                    <a:pt x="26" y="30"/>
                  </a:lnTo>
                  <a:lnTo>
                    <a:pt x="28" y="28"/>
                  </a:lnTo>
                  <a:lnTo>
                    <a:pt x="30" y="26"/>
                  </a:lnTo>
                  <a:lnTo>
                    <a:pt x="32" y="24"/>
                  </a:lnTo>
                  <a:lnTo>
                    <a:pt x="32" y="22"/>
                  </a:lnTo>
                  <a:lnTo>
                    <a:pt x="34" y="20"/>
                  </a:lnTo>
                  <a:lnTo>
                    <a:pt x="34" y="16"/>
                  </a:lnTo>
                  <a:lnTo>
                    <a:pt x="34" y="14"/>
                  </a:lnTo>
                  <a:lnTo>
                    <a:pt x="32" y="12"/>
                  </a:lnTo>
                  <a:lnTo>
                    <a:pt x="32" y="10"/>
                  </a:lnTo>
                  <a:lnTo>
                    <a:pt x="30" y="6"/>
                  </a:lnTo>
                  <a:lnTo>
                    <a:pt x="28" y="6"/>
                  </a:lnTo>
                  <a:lnTo>
                    <a:pt x="26" y="4"/>
                  </a:lnTo>
                  <a:lnTo>
                    <a:pt x="24" y="2"/>
                  </a:lnTo>
                  <a:lnTo>
                    <a:pt x="22" y="0"/>
                  </a:lnTo>
                  <a:lnTo>
                    <a:pt x="20" y="0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2"/>
                  </a:lnTo>
                  <a:lnTo>
                    <a:pt x="8" y="4"/>
                  </a:lnTo>
                  <a:lnTo>
                    <a:pt x="6" y="6"/>
                  </a:lnTo>
                  <a:lnTo>
                    <a:pt x="4" y="6"/>
                  </a:lnTo>
                  <a:lnTo>
                    <a:pt x="2" y="10"/>
                  </a:lnTo>
                  <a:lnTo>
                    <a:pt x="2" y="12"/>
                  </a:lnTo>
                  <a:lnTo>
                    <a:pt x="0" y="14"/>
                  </a:lnTo>
                  <a:lnTo>
                    <a:pt x="0" y="16"/>
                  </a:lnTo>
                  <a:lnTo>
                    <a:pt x="0" y="20"/>
                  </a:lnTo>
                  <a:lnTo>
                    <a:pt x="2" y="22"/>
                  </a:lnTo>
                  <a:lnTo>
                    <a:pt x="2" y="24"/>
                  </a:lnTo>
                  <a:lnTo>
                    <a:pt x="4" y="26"/>
                  </a:lnTo>
                  <a:lnTo>
                    <a:pt x="6" y="28"/>
                  </a:lnTo>
                  <a:lnTo>
                    <a:pt x="8" y="30"/>
                  </a:lnTo>
                  <a:lnTo>
                    <a:pt x="10" y="32"/>
                  </a:lnTo>
                  <a:lnTo>
                    <a:pt x="12" y="32"/>
                  </a:lnTo>
                  <a:lnTo>
                    <a:pt x="14" y="34"/>
                  </a:lnTo>
                  <a:lnTo>
                    <a:pt x="16" y="34"/>
                  </a:lnTo>
                  <a:lnTo>
                    <a:pt x="16" y="3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312" name="Freeform 107"/>
            <p:cNvSpPr>
              <a:spLocks/>
            </p:cNvSpPr>
            <p:nvPr/>
          </p:nvSpPr>
          <p:spPr bwMode="auto">
            <a:xfrm>
              <a:off x="2171" y="3205"/>
              <a:ext cx="34" cy="33"/>
            </a:xfrm>
            <a:custGeom>
              <a:avLst/>
              <a:gdLst>
                <a:gd name="T0" fmla="*/ 16 w 34"/>
                <a:gd name="T1" fmla="*/ 31 h 33"/>
                <a:gd name="T2" fmla="*/ 20 w 34"/>
                <a:gd name="T3" fmla="*/ 33 h 33"/>
                <a:gd name="T4" fmla="*/ 22 w 34"/>
                <a:gd name="T5" fmla="*/ 31 h 33"/>
                <a:gd name="T6" fmla="*/ 24 w 34"/>
                <a:gd name="T7" fmla="*/ 31 h 33"/>
                <a:gd name="T8" fmla="*/ 26 w 34"/>
                <a:gd name="T9" fmla="*/ 29 h 33"/>
                <a:gd name="T10" fmla="*/ 28 w 34"/>
                <a:gd name="T11" fmla="*/ 27 h 33"/>
                <a:gd name="T12" fmla="*/ 30 w 34"/>
                <a:gd name="T13" fmla="*/ 25 h 33"/>
                <a:gd name="T14" fmla="*/ 32 w 34"/>
                <a:gd name="T15" fmla="*/ 23 h 33"/>
                <a:gd name="T16" fmla="*/ 32 w 34"/>
                <a:gd name="T17" fmla="*/ 22 h 33"/>
                <a:gd name="T18" fmla="*/ 34 w 34"/>
                <a:gd name="T19" fmla="*/ 20 h 33"/>
                <a:gd name="T20" fmla="*/ 34 w 34"/>
                <a:gd name="T21" fmla="*/ 16 h 33"/>
                <a:gd name="T22" fmla="*/ 34 w 34"/>
                <a:gd name="T23" fmla="*/ 14 h 33"/>
                <a:gd name="T24" fmla="*/ 32 w 34"/>
                <a:gd name="T25" fmla="*/ 12 h 33"/>
                <a:gd name="T26" fmla="*/ 32 w 34"/>
                <a:gd name="T27" fmla="*/ 10 h 33"/>
                <a:gd name="T28" fmla="*/ 30 w 34"/>
                <a:gd name="T29" fmla="*/ 6 h 33"/>
                <a:gd name="T30" fmla="*/ 28 w 34"/>
                <a:gd name="T31" fmla="*/ 6 h 33"/>
                <a:gd name="T32" fmla="*/ 26 w 34"/>
                <a:gd name="T33" fmla="*/ 4 h 33"/>
                <a:gd name="T34" fmla="*/ 24 w 34"/>
                <a:gd name="T35" fmla="*/ 2 h 33"/>
                <a:gd name="T36" fmla="*/ 22 w 34"/>
                <a:gd name="T37" fmla="*/ 0 h 33"/>
                <a:gd name="T38" fmla="*/ 20 w 34"/>
                <a:gd name="T39" fmla="*/ 0 h 33"/>
                <a:gd name="T40" fmla="*/ 16 w 34"/>
                <a:gd name="T41" fmla="*/ 0 h 33"/>
                <a:gd name="T42" fmla="*/ 14 w 34"/>
                <a:gd name="T43" fmla="*/ 0 h 33"/>
                <a:gd name="T44" fmla="*/ 12 w 34"/>
                <a:gd name="T45" fmla="*/ 0 h 33"/>
                <a:gd name="T46" fmla="*/ 10 w 34"/>
                <a:gd name="T47" fmla="*/ 2 h 33"/>
                <a:gd name="T48" fmla="*/ 8 w 34"/>
                <a:gd name="T49" fmla="*/ 4 h 33"/>
                <a:gd name="T50" fmla="*/ 6 w 34"/>
                <a:gd name="T51" fmla="*/ 6 h 33"/>
                <a:gd name="T52" fmla="*/ 4 w 34"/>
                <a:gd name="T53" fmla="*/ 6 h 33"/>
                <a:gd name="T54" fmla="*/ 2 w 34"/>
                <a:gd name="T55" fmla="*/ 10 h 33"/>
                <a:gd name="T56" fmla="*/ 2 w 34"/>
                <a:gd name="T57" fmla="*/ 12 h 33"/>
                <a:gd name="T58" fmla="*/ 0 w 34"/>
                <a:gd name="T59" fmla="*/ 14 h 33"/>
                <a:gd name="T60" fmla="*/ 0 w 34"/>
                <a:gd name="T61" fmla="*/ 16 h 33"/>
                <a:gd name="T62" fmla="*/ 0 w 34"/>
                <a:gd name="T63" fmla="*/ 20 h 33"/>
                <a:gd name="T64" fmla="*/ 2 w 34"/>
                <a:gd name="T65" fmla="*/ 22 h 33"/>
                <a:gd name="T66" fmla="*/ 2 w 34"/>
                <a:gd name="T67" fmla="*/ 23 h 33"/>
                <a:gd name="T68" fmla="*/ 4 w 34"/>
                <a:gd name="T69" fmla="*/ 25 h 33"/>
                <a:gd name="T70" fmla="*/ 6 w 34"/>
                <a:gd name="T71" fmla="*/ 27 h 33"/>
                <a:gd name="T72" fmla="*/ 8 w 34"/>
                <a:gd name="T73" fmla="*/ 29 h 33"/>
                <a:gd name="T74" fmla="*/ 10 w 34"/>
                <a:gd name="T75" fmla="*/ 31 h 33"/>
                <a:gd name="T76" fmla="*/ 12 w 34"/>
                <a:gd name="T77" fmla="*/ 31 h 33"/>
                <a:gd name="T78" fmla="*/ 14 w 34"/>
                <a:gd name="T79" fmla="*/ 33 h 33"/>
                <a:gd name="T80" fmla="*/ 16 w 34"/>
                <a:gd name="T81" fmla="*/ 33 h 33"/>
                <a:gd name="T82" fmla="*/ 16 w 34"/>
                <a:gd name="T83" fmla="*/ 33 h 33"/>
                <a:gd name="T84" fmla="*/ 16 w 34"/>
                <a:gd name="T85" fmla="*/ 31 h 33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34" h="33">
                  <a:moveTo>
                    <a:pt x="16" y="31"/>
                  </a:moveTo>
                  <a:lnTo>
                    <a:pt x="20" y="33"/>
                  </a:lnTo>
                  <a:lnTo>
                    <a:pt x="22" y="31"/>
                  </a:lnTo>
                  <a:lnTo>
                    <a:pt x="24" y="31"/>
                  </a:lnTo>
                  <a:lnTo>
                    <a:pt x="26" y="29"/>
                  </a:lnTo>
                  <a:lnTo>
                    <a:pt x="28" y="27"/>
                  </a:lnTo>
                  <a:lnTo>
                    <a:pt x="30" y="25"/>
                  </a:lnTo>
                  <a:lnTo>
                    <a:pt x="32" y="23"/>
                  </a:lnTo>
                  <a:lnTo>
                    <a:pt x="32" y="22"/>
                  </a:lnTo>
                  <a:lnTo>
                    <a:pt x="34" y="20"/>
                  </a:lnTo>
                  <a:lnTo>
                    <a:pt x="34" y="16"/>
                  </a:lnTo>
                  <a:lnTo>
                    <a:pt x="34" y="14"/>
                  </a:lnTo>
                  <a:lnTo>
                    <a:pt x="32" y="12"/>
                  </a:lnTo>
                  <a:lnTo>
                    <a:pt x="32" y="10"/>
                  </a:lnTo>
                  <a:lnTo>
                    <a:pt x="30" y="6"/>
                  </a:lnTo>
                  <a:lnTo>
                    <a:pt x="28" y="6"/>
                  </a:lnTo>
                  <a:lnTo>
                    <a:pt x="26" y="4"/>
                  </a:lnTo>
                  <a:lnTo>
                    <a:pt x="24" y="2"/>
                  </a:lnTo>
                  <a:lnTo>
                    <a:pt x="22" y="0"/>
                  </a:lnTo>
                  <a:lnTo>
                    <a:pt x="20" y="0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2"/>
                  </a:lnTo>
                  <a:lnTo>
                    <a:pt x="8" y="4"/>
                  </a:lnTo>
                  <a:lnTo>
                    <a:pt x="6" y="6"/>
                  </a:lnTo>
                  <a:lnTo>
                    <a:pt x="4" y="6"/>
                  </a:lnTo>
                  <a:lnTo>
                    <a:pt x="2" y="10"/>
                  </a:lnTo>
                  <a:lnTo>
                    <a:pt x="2" y="12"/>
                  </a:lnTo>
                  <a:lnTo>
                    <a:pt x="0" y="14"/>
                  </a:lnTo>
                  <a:lnTo>
                    <a:pt x="0" y="16"/>
                  </a:lnTo>
                  <a:lnTo>
                    <a:pt x="0" y="20"/>
                  </a:lnTo>
                  <a:lnTo>
                    <a:pt x="2" y="22"/>
                  </a:lnTo>
                  <a:lnTo>
                    <a:pt x="2" y="23"/>
                  </a:lnTo>
                  <a:lnTo>
                    <a:pt x="4" y="25"/>
                  </a:lnTo>
                  <a:lnTo>
                    <a:pt x="6" y="27"/>
                  </a:lnTo>
                  <a:lnTo>
                    <a:pt x="8" y="29"/>
                  </a:lnTo>
                  <a:lnTo>
                    <a:pt x="10" y="31"/>
                  </a:lnTo>
                  <a:lnTo>
                    <a:pt x="12" y="31"/>
                  </a:lnTo>
                  <a:lnTo>
                    <a:pt x="14" y="33"/>
                  </a:lnTo>
                  <a:lnTo>
                    <a:pt x="16" y="33"/>
                  </a:lnTo>
                  <a:lnTo>
                    <a:pt x="16" y="3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313" name="Freeform 108"/>
            <p:cNvSpPr>
              <a:spLocks/>
            </p:cNvSpPr>
            <p:nvPr/>
          </p:nvSpPr>
          <p:spPr bwMode="auto">
            <a:xfrm>
              <a:off x="2171" y="3303"/>
              <a:ext cx="34" cy="33"/>
            </a:xfrm>
            <a:custGeom>
              <a:avLst/>
              <a:gdLst>
                <a:gd name="T0" fmla="*/ 16 w 34"/>
                <a:gd name="T1" fmla="*/ 31 h 33"/>
                <a:gd name="T2" fmla="*/ 20 w 34"/>
                <a:gd name="T3" fmla="*/ 33 h 33"/>
                <a:gd name="T4" fmla="*/ 22 w 34"/>
                <a:gd name="T5" fmla="*/ 31 h 33"/>
                <a:gd name="T6" fmla="*/ 24 w 34"/>
                <a:gd name="T7" fmla="*/ 31 h 33"/>
                <a:gd name="T8" fmla="*/ 26 w 34"/>
                <a:gd name="T9" fmla="*/ 29 h 33"/>
                <a:gd name="T10" fmla="*/ 28 w 34"/>
                <a:gd name="T11" fmla="*/ 27 h 33"/>
                <a:gd name="T12" fmla="*/ 30 w 34"/>
                <a:gd name="T13" fmla="*/ 25 h 33"/>
                <a:gd name="T14" fmla="*/ 32 w 34"/>
                <a:gd name="T15" fmla="*/ 23 h 33"/>
                <a:gd name="T16" fmla="*/ 32 w 34"/>
                <a:gd name="T17" fmla="*/ 21 h 33"/>
                <a:gd name="T18" fmla="*/ 34 w 34"/>
                <a:gd name="T19" fmla="*/ 19 h 33"/>
                <a:gd name="T20" fmla="*/ 34 w 34"/>
                <a:gd name="T21" fmla="*/ 15 h 33"/>
                <a:gd name="T22" fmla="*/ 34 w 34"/>
                <a:gd name="T23" fmla="*/ 13 h 33"/>
                <a:gd name="T24" fmla="*/ 32 w 34"/>
                <a:gd name="T25" fmla="*/ 11 h 33"/>
                <a:gd name="T26" fmla="*/ 32 w 34"/>
                <a:gd name="T27" fmla="*/ 9 h 33"/>
                <a:gd name="T28" fmla="*/ 30 w 34"/>
                <a:gd name="T29" fmla="*/ 6 h 33"/>
                <a:gd name="T30" fmla="*/ 28 w 34"/>
                <a:gd name="T31" fmla="*/ 6 h 33"/>
                <a:gd name="T32" fmla="*/ 26 w 34"/>
                <a:gd name="T33" fmla="*/ 4 h 33"/>
                <a:gd name="T34" fmla="*/ 24 w 34"/>
                <a:gd name="T35" fmla="*/ 2 h 33"/>
                <a:gd name="T36" fmla="*/ 22 w 34"/>
                <a:gd name="T37" fmla="*/ 0 h 33"/>
                <a:gd name="T38" fmla="*/ 20 w 34"/>
                <a:gd name="T39" fmla="*/ 0 h 33"/>
                <a:gd name="T40" fmla="*/ 16 w 34"/>
                <a:gd name="T41" fmla="*/ 0 h 33"/>
                <a:gd name="T42" fmla="*/ 14 w 34"/>
                <a:gd name="T43" fmla="*/ 0 h 33"/>
                <a:gd name="T44" fmla="*/ 12 w 34"/>
                <a:gd name="T45" fmla="*/ 0 h 33"/>
                <a:gd name="T46" fmla="*/ 10 w 34"/>
                <a:gd name="T47" fmla="*/ 2 h 33"/>
                <a:gd name="T48" fmla="*/ 8 w 34"/>
                <a:gd name="T49" fmla="*/ 4 h 33"/>
                <a:gd name="T50" fmla="*/ 6 w 34"/>
                <a:gd name="T51" fmla="*/ 6 h 33"/>
                <a:gd name="T52" fmla="*/ 4 w 34"/>
                <a:gd name="T53" fmla="*/ 6 h 33"/>
                <a:gd name="T54" fmla="*/ 2 w 34"/>
                <a:gd name="T55" fmla="*/ 9 h 33"/>
                <a:gd name="T56" fmla="*/ 2 w 34"/>
                <a:gd name="T57" fmla="*/ 11 h 33"/>
                <a:gd name="T58" fmla="*/ 0 w 34"/>
                <a:gd name="T59" fmla="*/ 13 h 33"/>
                <a:gd name="T60" fmla="*/ 0 w 34"/>
                <a:gd name="T61" fmla="*/ 15 h 33"/>
                <a:gd name="T62" fmla="*/ 0 w 34"/>
                <a:gd name="T63" fmla="*/ 19 h 33"/>
                <a:gd name="T64" fmla="*/ 2 w 34"/>
                <a:gd name="T65" fmla="*/ 21 h 33"/>
                <a:gd name="T66" fmla="*/ 2 w 34"/>
                <a:gd name="T67" fmla="*/ 23 h 33"/>
                <a:gd name="T68" fmla="*/ 4 w 34"/>
                <a:gd name="T69" fmla="*/ 25 h 33"/>
                <a:gd name="T70" fmla="*/ 6 w 34"/>
                <a:gd name="T71" fmla="*/ 27 h 33"/>
                <a:gd name="T72" fmla="*/ 8 w 34"/>
                <a:gd name="T73" fmla="*/ 29 h 33"/>
                <a:gd name="T74" fmla="*/ 10 w 34"/>
                <a:gd name="T75" fmla="*/ 31 h 33"/>
                <a:gd name="T76" fmla="*/ 12 w 34"/>
                <a:gd name="T77" fmla="*/ 31 h 33"/>
                <a:gd name="T78" fmla="*/ 14 w 34"/>
                <a:gd name="T79" fmla="*/ 33 h 33"/>
                <a:gd name="T80" fmla="*/ 16 w 34"/>
                <a:gd name="T81" fmla="*/ 33 h 33"/>
                <a:gd name="T82" fmla="*/ 16 w 34"/>
                <a:gd name="T83" fmla="*/ 33 h 33"/>
                <a:gd name="T84" fmla="*/ 16 w 34"/>
                <a:gd name="T85" fmla="*/ 31 h 33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34" h="33">
                  <a:moveTo>
                    <a:pt x="16" y="31"/>
                  </a:moveTo>
                  <a:lnTo>
                    <a:pt x="20" y="33"/>
                  </a:lnTo>
                  <a:lnTo>
                    <a:pt x="22" y="31"/>
                  </a:lnTo>
                  <a:lnTo>
                    <a:pt x="24" y="31"/>
                  </a:lnTo>
                  <a:lnTo>
                    <a:pt x="26" y="29"/>
                  </a:lnTo>
                  <a:lnTo>
                    <a:pt x="28" y="27"/>
                  </a:lnTo>
                  <a:lnTo>
                    <a:pt x="30" y="25"/>
                  </a:lnTo>
                  <a:lnTo>
                    <a:pt x="32" y="23"/>
                  </a:lnTo>
                  <a:lnTo>
                    <a:pt x="32" y="21"/>
                  </a:lnTo>
                  <a:lnTo>
                    <a:pt x="34" y="19"/>
                  </a:lnTo>
                  <a:lnTo>
                    <a:pt x="34" y="15"/>
                  </a:lnTo>
                  <a:lnTo>
                    <a:pt x="34" y="13"/>
                  </a:lnTo>
                  <a:lnTo>
                    <a:pt x="32" y="11"/>
                  </a:lnTo>
                  <a:lnTo>
                    <a:pt x="32" y="9"/>
                  </a:lnTo>
                  <a:lnTo>
                    <a:pt x="30" y="6"/>
                  </a:lnTo>
                  <a:lnTo>
                    <a:pt x="28" y="6"/>
                  </a:lnTo>
                  <a:lnTo>
                    <a:pt x="26" y="4"/>
                  </a:lnTo>
                  <a:lnTo>
                    <a:pt x="24" y="2"/>
                  </a:lnTo>
                  <a:lnTo>
                    <a:pt x="22" y="0"/>
                  </a:lnTo>
                  <a:lnTo>
                    <a:pt x="20" y="0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2"/>
                  </a:lnTo>
                  <a:lnTo>
                    <a:pt x="8" y="4"/>
                  </a:lnTo>
                  <a:lnTo>
                    <a:pt x="6" y="6"/>
                  </a:lnTo>
                  <a:lnTo>
                    <a:pt x="4" y="6"/>
                  </a:lnTo>
                  <a:lnTo>
                    <a:pt x="2" y="9"/>
                  </a:lnTo>
                  <a:lnTo>
                    <a:pt x="2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9"/>
                  </a:lnTo>
                  <a:lnTo>
                    <a:pt x="2" y="21"/>
                  </a:lnTo>
                  <a:lnTo>
                    <a:pt x="2" y="23"/>
                  </a:lnTo>
                  <a:lnTo>
                    <a:pt x="4" y="25"/>
                  </a:lnTo>
                  <a:lnTo>
                    <a:pt x="6" y="27"/>
                  </a:lnTo>
                  <a:lnTo>
                    <a:pt x="8" y="29"/>
                  </a:lnTo>
                  <a:lnTo>
                    <a:pt x="10" y="31"/>
                  </a:lnTo>
                  <a:lnTo>
                    <a:pt x="12" y="31"/>
                  </a:lnTo>
                  <a:lnTo>
                    <a:pt x="14" y="33"/>
                  </a:lnTo>
                  <a:lnTo>
                    <a:pt x="16" y="33"/>
                  </a:lnTo>
                  <a:lnTo>
                    <a:pt x="16" y="3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314" name="Freeform 109"/>
            <p:cNvSpPr>
              <a:spLocks/>
            </p:cNvSpPr>
            <p:nvPr/>
          </p:nvSpPr>
          <p:spPr bwMode="auto">
            <a:xfrm>
              <a:off x="2171" y="3400"/>
              <a:ext cx="34" cy="34"/>
            </a:xfrm>
            <a:custGeom>
              <a:avLst/>
              <a:gdLst>
                <a:gd name="T0" fmla="*/ 16 w 34"/>
                <a:gd name="T1" fmla="*/ 32 h 34"/>
                <a:gd name="T2" fmla="*/ 20 w 34"/>
                <a:gd name="T3" fmla="*/ 34 h 34"/>
                <a:gd name="T4" fmla="*/ 22 w 34"/>
                <a:gd name="T5" fmla="*/ 32 h 34"/>
                <a:gd name="T6" fmla="*/ 24 w 34"/>
                <a:gd name="T7" fmla="*/ 32 h 34"/>
                <a:gd name="T8" fmla="*/ 26 w 34"/>
                <a:gd name="T9" fmla="*/ 30 h 34"/>
                <a:gd name="T10" fmla="*/ 28 w 34"/>
                <a:gd name="T11" fmla="*/ 28 h 34"/>
                <a:gd name="T12" fmla="*/ 30 w 34"/>
                <a:gd name="T13" fmla="*/ 26 h 34"/>
                <a:gd name="T14" fmla="*/ 32 w 34"/>
                <a:gd name="T15" fmla="*/ 24 h 34"/>
                <a:gd name="T16" fmla="*/ 32 w 34"/>
                <a:gd name="T17" fmla="*/ 22 h 34"/>
                <a:gd name="T18" fmla="*/ 34 w 34"/>
                <a:gd name="T19" fmla="*/ 20 h 34"/>
                <a:gd name="T20" fmla="*/ 34 w 34"/>
                <a:gd name="T21" fmla="*/ 16 h 34"/>
                <a:gd name="T22" fmla="*/ 34 w 34"/>
                <a:gd name="T23" fmla="*/ 14 h 34"/>
                <a:gd name="T24" fmla="*/ 32 w 34"/>
                <a:gd name="T25" fmla="*/ 12 h 34"/>
                <a:gd name="T26" fmla="*/ 32 w 34"/>
                <a:gd name="T27" fmla="*/ 10 h 34"/>
                <a:gd name="T28" fmla="*/ 30 w 34"/>
                <a:gd name="T29" fmla="*/ 6 h 34"/>
                <a:gd name="T30" fmla="*/ 28 w 34"/>
                <a:gd name="T31" fmla="*/ 6 h 34"/>
                <a:gd name="T32" fmla="*/ 26 w 34"/>
                <a:gd name="T33" fmla="*/ 4 h 34"/>
                <a:gd name="T34" fmla="*/ 24 w 34"/>
                <a:gd name="T35" fmla="*/ 2 h 34"/>
                <a:gd name="T36" fmla="*/ 22 w 34"/>
                <a:gd name="T37" fmla="*/ 0 h 34"/>
                <a:gd name="T38" fmla="*/ 20 w 34"/>
                <a:gd name="T39" fmla="*/ 0 h 34"/>
                <a:gd name="T40" fmla="*/ 16 w 34"/>
                <a:gd name="T41" fmla="*/ 0 h 34"/>
                <a:gd name="T42" fmla="*/ 14 w 34"/>
                <a:gd name="T43" fmla="*/ 0 h 34"/>
                <a:gd name="T44" fmla="*/ 12 w 34"/>
                <a:gd name="T45" fmla="*/ 0 h 34"/>
                <a:gd name="T46" fmla="*/ 10 w 34"/>
                <a:gd name="T47" fmla="*/ 2 h 34"/>
                <a:gd name="T48" fmla="*/ 8 w 34"/>
                <a:gd name="T49" fmla="*/ 4 h 34"/>
                <a:gd name="T50" fmla="*/ 6 w 34"/>
                <a:gd name="T51" fmla="*/ 6 h 34"/>
                <a:gd name="T52" fmla="*/ 4 w 34"/>
                <a:gd name="T53" fmla="*/ 6 h 34"/>
                <a:gd name="T54" fmla="*/ 2 w 34"/>
                <a:gd name="T55" fmla="*/ 10 h 34"/>
                <a:gd name="T56" fmla="*/ 2 w 34"/>
                <a:gd name="T57" fmla="*/ 12 h 34"/>
                <a:gd name="T58" fmla="*/ 0 w 34"/>
                <a:gd name="T59" fmla="*/ 14 h 34"/>
                <a:gd name="T60" fmla="*/ 0 w 34"/>
                <a:gd name="T61" fmla="*/ 16 h 34"/>
                <a:gd name="T62" fmla="*/ 0 w 34"/>
                <a:gd name="T63" fmla="*/ 20 h 34"/>
                <a:gd name="T64" fmla="*/ 2 w 34"/>
                <a:gd name="T65" fmla="*/ 22 h 34"/>
                <a:gd name="T66" fmla="*/ 2 w 34"/>
                <a:gd name="T67" fmla="*/ 24 h 34"/>
                <a:gd name="T68" fmla="*/ 4 w 34"/>
                <a:gd name="T69" fmla="*/ 26 h 34"/>
                <a:gd name="T70" fmla="*/ 6 w 34"/>
                <a:gd name="T71" fmla="*/ 28 h 34"/>
                <a:gd name="T72" fmla="*/ 8 w 34"/>
                <a:gd name="T73" fmla="*/ 30 h 34"/>
                <a:gd name="T74" fmla="*/ 10 w 34"/>
                <a:gd name="T75" fmla="*/ 32 h 34"/>
                <a:gd name="T76" fmla="*/ 12 w 34"/>
                <a:gd name="T77" fmla="*/ 32 h 34"/>
                <a:gd name="T78" fmla="*/ 14 w 34"/>
                <a:gd name="T79" fmla="*/ 34 h 34"/>
                <a:gd name="T80" fmla="*/ 16 w 34"/>
                <a:gd name="T81" fmla="*/ 34 h 34"/>
                <a:gd name="T82" fmla="*/ 16 w 34"/>
                <a:gd name="T83" fmla="*/ 34 h 34"/>
                <a:gd name="T84" fmla="*/ 16 w 34"/>
                <a:gd name="T85" fmla="*/ 32 h 3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34" h="34">
                  <a:moveTo>
                    <a:pt x="16" y="32"/>
                  </a:moveTo>
                  <a:lnTo>
                    <a:pt x="20" y="34"/>
                  </a:lnTo>
                  <a:lnTo>
                    <a:pt x="22" y="32"/>
                  </a:lnTo>
                  <a:lnTo>
                    <a:pt x="24" y="32"/>
                  </a:lnTo>
                  <a:lnTo>
                    <a:pt x="26" y="30"/>
                  </a:lnTo>
                  <a:lnTo>
                    <a:pt x="28" y="28"/>
                  </a:lnTo>
                  <a:lnTo>
                    <a:pt x="30" y="26"/>
                  </a:lnTo>
                  <a:lnTo>
                    <a:pt x="32" y="24"/>
                  </a:lnTo>
                  <a:lnTo>
                    <a:pt x="32" y="22"/>
                  </a:lnTo>
                  <a:lnTo>
                    <a:pt x="34" y="20"/>
                  </a:lnTo>
                  <a:lnTo>
                    <a:pt x="34" y="16"/>
                  </a:lnTo>
                  <a:lnTo>
                    <a:pt x="34" y="14"/>
                  </a:lnTo>
                  <a:lnTo>
                    <a:pt x="32" y="12"/>
                  </a:lnTo>
                  <a:lnTo>
                    <a:pt x="32" y="10"/>
                  </a:lnTo>
                  <a:lnTo>
                    <a:pt x="30" y="6"/>
                  </a:lnTo>
                  <a:lnTo>
                    <a:pt x="28" y="6"/>
                  </a:lnTo>
                  <a:lnTo>
                    <a:pt x="26" y="4"/>
                  </a:lnTo>
                  <a:lnTo>
                    <a:pt x="24" y="2"/>
                  </a:lnTo>
                  <a:lnTo>
                    <a:pt x="22" y="0"/>
                  </a:lnTo>
                  <a:lnTo>
                    <a:pt x="20" y="0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2"/>
                  </a:lnTo>
                  <a:lnTo>
                    <a:pt x="8" y="4"/>
                  </a:lnTo>
                  <a:lnTo>
                    <a:pt x="6" y="6"/>
                  </a:lnTo>
                  <a:lnTo>
                    <a:pt x="4" y="6"/>
                  </a:lnTo>
                  <a:lnTo>
                    <a:pt x="2" y="10"/>
                  </a:lnTo>
                  <a:lnTo>
                    <a:pt x="2" y="12"/>
                  </a:lnTo>
                  <a:lnTo>
                    <a:pt x="0" y="14"/>
                  </a:lnTo>
                  <a:lnTo>
                    <a:pt x="0" y="16"/>
                  </a:lnTo>
                  <a:lnTo>
                    <a:pt x="0" y="20"/>
                  </a:lnTo>
                  <a:lnTo>
                    <a:pt x="2" y="22"/>
                  </a:lnTo>
                  <a:lnTo>
                    <a:pt x="2" y="24"/>
                  </a:lnTo>
                  <a:lnTo>
                    <a:pt x="4" y="26"/>
                  </a:lnTo>
                  <a:lnTo>
                    <a:pt x="6" y="28"/>
                  </a:lnTo>
                  <a:lnTo>
                    <a:pt x="8" y="30"/>
                  </a:lnTo>
                  <a:lnTo>
                    <a:pt x="10" y="32"/>
                  </a:lnTo>
                  <a:lnTo>
                    <a:pt x="12" y="32"/>
                  </a:lnTo>
                  <a:lnTo>
                    <a:pt x="14" y="34"/>
                  </a:lnTo>
                  <a:lnTo>
                    <a:pt x="16" y="34"/>
                  </a:lnTo>
                  <a:lnTo>
                    <a:pt x="16" y="3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315" name="Freeform 110"/>
            <p:cNvSpPr>
              <a:spLocks/>
            </p:cNvSpPr>
            <p:nvPr/>
          </p:nvSpPr>
          <p:spPr bwMode="auto">
            <a:xfrm>
              <a:off x="2171" y="3498"/>
              <a:ext cx="34" cy="33"/>
            </a:xfrm>
            <a:custGeom>
              <a:avLst/>
              <a:gdLst>
                <a:gd name="T0" fmla="*/ 16 w 34"/>
                <a:gd name="T1" fmla="*/ 31 h 33"/>
                <a:gd name="T2" fmla="*/ 20 w 34"/>
                <a:gd name="T3" fmla="*/ 33 h 33"/>
                <a:gd name="T4" fmla="*/ 22 w 34"/>
                <a:gd name="T5" fmla="*/ 31 h 33"/>
                <a:gd name="T6" fmla="*/ 24 w 34"/>
                <a:gd name="T7" fmla="*/ 31 h 33"/>
                <a:gd name="T8" fmla="*/ 26 w 34"/>
                <a:gd name="T9" fmla="*/ 29 h 33"/>
                <a:gd name="T10" fmla="*/ 28 w 34"/>
                <a:gd name="T11" fmla="*/ 27 h 33"/>
                <a:gd name="T12" fmla="*/ 30 w 34"/>
                <a:gd name="T13" fmla="*/ 25 h 33"/>
                <a:gd name="T14" fmla="*/ 32 w 34"/>
                <a:gd name="T15" fmla="*/ 24 h 33"/>
                <a:gd name="T16" fmla="*/ 32 w 34"/>
                <a:gd name="T17" fmla="*/ 22 h 33"/>
                <a:gd name="T18" fmla="*/ 34 w 34"/>
                <a:gd name="T19" fmla="*/ 20 h 33"/>
                <a:gd name="T20" fmla="*/ 34 w 34"/>
                <a:gd name="T21" fmla="*/ 16 h 33"/>
                <a:gd name="T22" fmla="*/ 34 w 34"/>
                <a:gd name="T23" fmla="*/ 14 h 33"/>
                <a:gd name="T24" fmla="*/ 32 w 34"/>
                <a:gd name="T25" fmla="*/ 12 h 33"/>
                <a:gd name="T26" fmla="*/ 32 w 34"/>
                <a:gd name="T27" fmla="*/ 10 h 33"/>
                <a:gd name="T28" fmla="*/ 30 w 34"/>
                <a:gd name="T29" fmla="*/ 6 h 33"/>
                <a:gd name="T30" fmla="*/ 28 w 34"/>
                <a:gd name="T31" fmla="*/ 6 h 33"/>
                <a:gd name="T32" fmla="*/ 26 w 34"/>
                <a:gd name="T33" fmla="*/ 4 h 33"/>
                <a:gd name="T34" fmla="*/ 24 w 34"/>
                <a:gd name="T35" fmla="*/ 2 h 33"/>
                <a:gd name="T36" fmla="*/ 22 w 34"/>
                <a:gd name="T37" fmla="*/ 0 h 33"/>
                <a:gd name="T38" fmla="*/ 20 w 34"/>
                <a:gd name="T39" fmla="*/ 0 h 33"/>
                <a:gd name="T40" fmla="*/ 16 w 34"/>
                <a:gd name="T41" fmla="*/ 0 h 33"/>
                <a:gd name="T42" fmla="*/ 14 w 34"/>
                <a:gd name="T43" fmla="*/ 0 h 33"/>
                <a:gd name="T44" fmla="*/ 12 w 34"/>
                <a:gd name="T45" fmla="*/ 0 h 33"/>
                <a:gd name="T46" fmla="*/ 10 w 34"/>
                <a:gd name="T47" fmla="*/ 2 h 33"/>
                <a:gd name="T48" fmla="*/ 8 w 34"/>
                <a:gd name="T49" fmla="*/ 4 h 33"/>
                <a:gd name="T50" fmla="*/ 6 w 34"/>
                <a:gd name="T51" fmla="*/ 6 h 33"/>
                <a:gd name="T52" fmla="*/ 4 w 34"/>
                <a:gd name="T53" fmla="*/ 6 h 33"/>
                <a:gd name="T54" fmla="*/ 2 w 34"/>
                <a:gd name="T55" fmla="*/ 10 h 33"/>
                <a:gd name="T56" fmla="*/ 2 w 34"/>
                <a:gd name="T57" fmla="*/ 12 h 33"/>
                <a:gd name="T58" fmla="*/ 0 w 34"/>
                <a:gd name="T59" fmla="*/ 14 h 33"/>
                <a:gd name="T60" fmla="*/ 0 w 34"/>
                <a:gd name="T61" fmla="*/ 16 h 33"/>
                <a:gd name="T62" fmla="*/ 0 w 34"/>
                <a:gd name="T63" fmla="*/ 20 h 33"/>
                <a:gd name="T64" fmla="*/ 2 w 34"/>
                <a:gd name="T65" fmla="*/ 22 h 33"/>
                <a:gd name="T66" fmla="*/ 2 w 34"/>
                <a:gd name="T67" fmla="*/ 24 h 33"/>
                <a:gd name="T68" fmla="*/ 4 w 34"/>
                <a:gd name="T69" fmla="*/ 25 h 33"/>
                <a:gd name="T70" fmla="*/ 6 w 34"/>
                <a:gd name="T71" fmla="*/ 27 h 33"/>
                <a:gd name="T72" fmla="*/ 8 w 34"/>
                <a:gd name="T73" fmla="*/ 29 h 33"/>
                <a:gd name="T74" fmla="*/ 10 w 34"/>
                <a:gd name="T75" fmla="*/ 31 h 33"/>
                <a:gd name="T76" fmla="*/ 12 w 34"/>
                <a:gd name="T77" fmla="*/ 31 h 33"/>
                <a:gd name="T78" fmla="*/ 14 w 34"/>
                <a:gd name="T79" fmla="*/ 33 h 33"/>
                <a:gd name="T80" fmla="*/ 16 w 34"/>
                <a:gd name="T81" fmla="*/ 33 h 33"/>
                <a:gd name="T82" fmla="*/ 16 w 34"/>
                <a:gd name="T83" fmla="*/ 33 h 33"/>
                <a:gd name="T84" fmla="*/ 16 w 34"/>
                <a:gd name="T85" fmla="*/ 31 h 33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34" h="33">
                  <a:moveTo>
                    <a:pt x="16" y="31"/>
                  </a:moveTo>
                  <a:lnTo>
                    <a:pt x="20" y="33"/>
                  </a:lnTo>
                  <a:lnTo>
                    <a:pt x="22" y="31"/>
                  </a:lnTo>
                  <a:lnTo>
                    <a:pt x="24" y="31"/>
                  </a:lnTo>
                  <a:lnTo>
                    <a:pt x="26" y="29"/>
                  </a:lnTo>
                  <a:lnTo>
                    <a:pt x="28" y="27"/>
                  </a:lnTo>
                  <a:lnTo>
                    <a:pt x="30" y="25"/>
                  </a:lnTo>
                  <a:lnTo>
                    <a:pt x="32" y="24"/>
                  </a:lnTo>
                  <a:lnTo>
                    <a:pt x="32" y="22"/>
                  </a:lnTo>
                  <a:lnTo>
                    <a:pt x="34" y="20"/>
                  </a:lnTo>
                  <a:lnTo>
                    <a:pt x="34" y="16"/>
                  </a:lnTo>
                  <a:lnTo>
                    <a:pt x="34" y="14"/>
                  </a:lnTo>
                  <a:lnTo>
                    <a:pt x="32" y="12"/>
                  </a:lnTo>
                  <a:lnTo>
                    <a:pt x="32" y="10"/>
                  </a:lnTo>
                  <a:lnTo>
                    <a:pt x="30" y="6"/>
                  </a:lnTo>
                  <a:lnTo>
                    <a:pt x="28" y="6"/>
                  </a:lnTo>
                  <a:lnTo>
                    <a:pt x="26" y="4"/>
                  </a:lnTo>
                  <a:lnTo>
                    <a:pt x="24" y="2"/>
                  </a:lnTo>
                  <a:lnTo>
                    <a:pt x="22" y="0"/>
                  </a:lnTo>
                  <a:lnTo>
                    <a:pt x="20" y="0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2"/>
                  </a:lnTo>
                  <a:lnTo>
                    <a:pt x="8" y="4"/>
                  </a:lnTo>
                  <a:lnTo>
                    <a:pt x="6" y="6"/>
                  </a:lnTo>
                  <a:lnTo>
                    <a:pt x="4" y="6"/>
                  </a:lnTo>
                  <a:lnTo>
                    <a:pt x="2" y="10"/>
                  </a:lnTo>
                  <a:lnTo>
                    <a:pt x="2" y="12"/>
                  </a:lnTo>
                  <a:lnTo>
                    <a:pt x="0" y="14"/>
                  </a:lnTo>
                  <a:lnTo>
                    <a:pt x="0" y="16"/>
                  </a:lnTo>
                  <a:lnTo>
                    <a:pt x="0" y="20"/>
                  </a:lnTo>
                  <a:lnTo>
                    <a:pt x="2" y="22"/>
                  </a:lnTo>
                  <a:lnTo>
                    <a:pt x="2" y="24"/>
                  </a:lnTo>
                  <a:lnTo>
                    <a:pt x="4" y="25"/>
                  </a:lnTo>
                  <a:lnTo>
                    <a:pt x="6" y="27"/>
                  </a:lnTo>
                  <a:lnTo>
                    <a:pt x="8" y="29"/>
                  </a:lnTo>
                  <a:lnTo>
                    <a:pt x="10" y="31"/>
                  </a:lnTo>
                  <a:lnTo>
                    <a:pt x="12" y="31"/>
                  </a:lnTo>
                  <a:lnTo>
                    <a:pt x="14" y="33"/>
                  </a:lnTo>
                  <a:lnTo>
                    <a:pt x="16" y="33"/>
                  </a:lnTo>
                  <a:lnTo>
                    <a:pt x="16" y="3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316" name="Freeform 111"/>
            <p:cNvSpPr>
              <a:spLocks/>
            </p:cNvSpPr>
            <p:nvPr/>
          </p:nvSpPr>
          <p:spPr bwMode="auto">
            <a:xfrm>
              <a:off x="2171" y="3596"/>
              <a:ext cx="34" cy="33"/>
            </a:xfrm>
            <a:custGeom>
              <a:avLst/>
              <a:gdLst>
                <a:gd name="T0" fmla="*/ 16 w 34"/>
                <a:gd name="T1" fmla="*/ 31 h 33"/>
                <a:gd name="T2" fmla="*/ 20 w 34"/>
                <a:gd name="T3" fmla="*/ 33 h 33"/>
                <a:gd name="T4" fmla="*/ 22 w 34"/>
                <a:gd name="T5" fmla="*/ 31 h 33"/>
                <a:gd name="T6" fmla="*/ 24 w 34"/>
                <a:gd name="T7" fmla="*/ 31 h 33"/>
                <a:gd name="T8" fmla="*/ 26 w 34"/>
                <a:gd name="T9" fmla="*/ 29 h 33"/>
                <a:gd name="T10" fmla="*/ 28 w 34"/>
                <a:gd name="T11" fmla="*/ 27 h 33"/>
                <a:gd name="T12" fmla="*/ 30 w 34"/>
                <a:gd name="T13" fmla="*/ 25 h 33"/>
                <a:gd name="T14" fmla="*/ 32 w 34"/>
                <a:gd name="T15" fmla="*/ 23 h 33"/>
                <a:gd name="T16" fmla="*/ 32 w 34"/>
                <a:gd name="T17" fmla="*/ 21 h 33"/>
                <a:gd name="T18" fmla="*/ 34 w 34"/>
                <a:gd name="T19" fmla="*/ 19 h 33"/>
                <a:gd name="T20" fmla="*/ 34 w 34"/>
                <a:gd name="T21" fmla="*/ 15 h 33"/>
                <a:gd name="T22" fmla="*/ 34 w 34"/>
                <a:gd name="T23" fmla="*/ 13 h 33"/>
                <a:gd name="T24" fmla="*/ 32 w 34"/>
                <a:gd name="T25" fmla="*/ 11 h 33"/>
                <a:gd name="T26" fmla="*/ 32 w 34"/>
                <a:gd name="T27" fmla="*/ 10 h 33"/>
                <a:gd name="T28" fmla="*/ 30 w 34"/>
                <a:gd name="T29" fmla="*/ 6 h 33"/>
                <a:gd name="T30" fmla="*/ 28 w 34"/>
                <a:gd name="T31" fmla="*/ 6 h 33"/>
                <a:gd name="T32" fmla="*/ 26 w 34"/>
                <a:gd name="T33" fmla="*/ 4 h 33"/>
                <a:gd name="T34" fmla="*/ 24 w 34"/>
                <a:gd name="T35" fmla="*/ 2 h 33"/>
                <a:gd name="T36" fmla="*/ 22 w 34"/>
                <a:gd name="T37" fmla="*/ 0 h 33"/>
                <a:gd name="T38" fmla="*/ 20 w 34"/>
                <a:gd name="T39" fmla="*/ 0 h 33"/>
                <a:gd name="T40" fmla="*/ 16 w 34"/>
                <a:gd name="T41" fmla="*/ 0 h 33"/>
                <a:gd name="T42" fmla="*/ 14 w 34"/>
                <a:gd name="T43" fmla="*/ 0 h 33"/>
                <a:gd name="T44" fmla="*/ 12 w 34"/>
                <a:gd name="T45" fmla="*/ 0 h 33"/>
                <a:gd name="T46" fmla="*/ 10 w 34"/>
                <a:gd name="T47" fmla="*/ 2 h 33"/>
                <a:gd name="T48" fmla="*/ 8 w 34"/>
                <a:gd name="T49" fmla="*/ 4 h 33"/>
                <a:gd name="T50" fmla="*/ 6 w 34"/>
                <a:gd name="T51" fmla="*/ 6 h 33"/>
                <a:gd name="T52" fmla="*/ 4 w 34"/>
                <a:gd name="T53" fmla="*/ 6 h 33"/>
                <a:gd name="T54" fmla="*/ 2 w 34"/>
                <a:gd name="T55" fmla="*/ 10 h 33"/>
                <a:gd name="T56" fmla="*/ 2 w 34"/>
                <a:gd name="T57" fmla="*/ 11 h 33"/>
                <a:gd name="T58" fmla="*/ 0 w 34"/>
                <a:gd name="T59" fmla="*/ 13 h 33"/>
                <a:gd name="T60" fmla="*/ 0 w 34"/>
                <a:gd name="T61" fmla="*/ 15 h 33"/>
                <a:gd name="T62" fmla="*/ 0 w 34"/>
                <a:gd name="T63" fmla="*/ 19 h 33"/>
                <a:gd name="T64" fmla="*/ 2 w 34"/>
                <a:gd name="T65" fmla="*/ 21 h 33"/>
                <a:gd name="T66" fmla="*/ 2 w 34"/>
                <a:gd name="T67" fmla="*/ 23 h 33"/>
                <a:gd name="T68" fmla="*/ 4 w 34"/>
                <a:gd name="T69" fmla="*/ 25 h 33"/>
                <a:gd name="T70" fmla="*/ 6 w 34"/>
                <a:gd name="T71" fmla="*/ 27 h 33"/>
                <a:gd name="T72" fmla="*/ 8 w 34"/>
                <a:gd name="T73" fmla="*/ 29 h 33"/>
                <a:gd name="T74" fmla="*/ 10 w 34"/>
                <a:gd name="T75" fmla="*/ 31 h 33"/>
                <a:gd name="T76" fmla="*/ 12 w 34"/>
                <a:gd name="T77" fmla="*/ 31 h 33"/>
                <a:gd name="T78" fmla="*/ 14 w 34"/>
                <a:gd name="T79" fmla="*/ 33 h 33"/>
                <a:gd name="T80" fmla="*/ 16 w 34"/>
                <a:gd name="T81" fmla="*/ 33 h 33"/>
                <a:gd name="T82" fmla="*/ 16 w 34"/>
                <a:gd name="T83" fmla="*/ 33 h 33"/>
                <a:gd name="T84" fmla="*/ 16 w 34"/>
                <a:gd name="T85" fmla="*/ 31 h 33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34" h="33">
                  <a:moveTo>
                    <a:pt x="16" y="31"/>
                  </a:moveTo>
                  <a:lnTo>
                    <a:pt x="20" y="33"/>
                  </a:lnTo>
                  <a:lnTo>
                    <a:pt x="22" y="31"/>
                  </a:lnTo>
                  <a:lnTo>
                    <a:pt x="24" y="31"/>
                  </a:lnTo>
                  <a:lnTo>
                    <a:pt x="26" y="29"/>
                  </a:lnTo>
                  <a:lnTo>
                    <a:pt x="28" y="27"/>
                  </a:lnTo>
                  <a:lnTo>
                    <a:pt x="30" y="25"/>
                  </a:lnTo>
                  <a:lnTo>
                    <a:pt x="32" y="23"/>
                  </a:lnTo>
                  <a:lnTo>
                    <a:pt x="32" y="21"/>
                  </a:lnTo>
                  <a:lnTo>
                    <a:pt x="34" y="19"/>
                  </a:lnTo>
                  <a:lnTo>
                    <a:pt x="34" y="15"/>
                  </a:lnTo>
                  <a:lnTo>
                    <a:pt x="34" y="13"/>
                  </a:lnTo>
                  <a:lnTo>
                    <a:pt x="32" y="11"/>
                  </a:lnTo>
                  <a:lnTo>
                    <a:pt x="32" y="10"/>
                  </a:lnTo>
                  <a:lnTo>
                    <a:pt x="30" y="6"/>
                  </a:lnTo>
                  <a:lnTo>
                    <a:pt x="28" y="6"/>
                  </a:lnTo>
                  <a:lnTo>
                    <a:pt x="26" y="4"/>
                  </a:lnTo>
                  <a:lnTo>
                    <a:pt x="24" y="2"/>
                  </a:lnTo>
                  <a:lnTo>
                    <a:pt x="22" y="0"/>
                  </a:lnTo>
                  <a:lnTo>
                    <a:pt x="20" y="0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2"/>
                  </a:lnTo>
                  <a:lnTo>
                    <a:pt x="8" y="4"/>
                  </a:lnTo>
                  <a:lnTo>
                    <a:pt x="6" y="6"/>
                  </a:lnTo>
                  <a:lnTo>
                    <a:pt x="4" y="6"/>
                  </a:lnTo>
                  <a:lnTo>
                    <a:pt x="2" y="10"/>
                  </a:lnTo>
                  <a:lnTo>
                    <a:pt x="2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9"/>
                  </a:lnTo>
                  <a:lnTo>
                    <a:pt x="2" y="21"/>
                  </a:lnTo>
                  <a:lnTo>
                    <a:pt x="2" y="23"/>
                  </a:lnTo>
                  <a:lnTo>
                    <a:pt x="4" y="25"/>
                  </a:lnTo>
                  <a:lnTo>
                    <a:pt x="6" y="27"/>
                  </a:lnTo>
                  <a:lnTo>
                    <a:pt x="8" y="29"/>
                  </a:lnTo>
                  <a:lnTo>
                    <a:pt x="10" y="31"/>
                  </a:lnTo>
                  <a:lnTo>
                    <a:pt x="12" y="31"/>
                  </a:lnTo>
                  <a:lnTo>
                    <a:pt x="14" y="33"/>
                  </a:lnTo>
                  <a:lnTo>
                    <a:pt x="16" y="33"/>
                  </a:lnTo>
                  <a:lnTo>
                    <a:pt x="16" y="3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317" name="Freeform 112"/>
            <p:cNvSpPr>
              <a:spLocks/>
            </p:cNvSpPr>
            <p:nvPr/>
          </p:nvSpPr>
          <p:spPr bwMode="auto">
            <a:xfrm>
              <a:off x="2171" y="3693"/>
              <a:ext cx="34" cy="34"/>
            </a:xfrm>
            <a:custGeom>
              <a:avLst/>
              <a:gdLst>
                <a:gd name="T0" fmla="*/ 16 w 34"/>
                <a:gd name="T1" fmla="*/ 32 h 34"/>
                <a:gd name="T2" fmla="*/ 20 w 34"/>
                <a:gd name="T3" fmla="*/ 34 h 34"/>
                <a:gd name="T4" fmla="*/ 22 w 34"/>
                <a:gd name="T5" fmla="*/ 32 h 34"/>
                <a:gd name="T6" fmla="*/ 24 w 34"/>
                <a:gd name="T7" fmla="*/ 32 h 34"/>
                <a:gd name="T8" fmla="*/ 26 w 34"/>
                <a:gd name="T9" fmla="*/ 30 h 34"/>
                <a:gd name="T10" fmla="*/ 28 w 34"/>
                <a:gd name="T11" fmla="*/ 28 h 34"/>
                <a:gd name="T12" fmla="*/ 30 w 34"/>
                <a:gd name="T13" fmla="*/ 26 h 34"/>
                <a:gd name="T14" fmla="*/ 32 w 34"/>
                <a:gd name="T15" fmla="*/ 24 h 34"/>
                <a:gd name="T16" fmla="*/ 32 w 34"/>
                <a:gd name="T17" fmla="*/ 22 h 34"/>
                <a:gd name="T18" fmla="*/ 34 w 34"/>
                <a:gd name="T19" fmla="*/ 20 h 34"/>
                <a:gd name="T20" fmla="*/ 34 w 34"/>
                <a:gd name="T21" fmla="*/ 16 h 34"/>
                <a:gd name="T22" fmla="*/ 34 w 34"/>
                <a:gd name="T23" fmla="*/ 14 h 34"/>
                <a:gd name="T24" fmla="*/ 32 w 34"/>
                <a:gd name="T25" fmla="*/ 12 h 34"/>
                <a:gd name="T26" fmla="*/ 32 w 34"/>
                <a:gd name="T27" fmla="*/ 10 h 34"/>
                <a:gd name="T28" fmla="*/ 30 w 34"/>
                <a:gd name="T29" fmla="*/ 6 h 34"/>
                <a:gd name="T30" fmla="*/ 28 w 34"/>
                <a:gd name="T31" fmla="*/ 6 h 34"/>
                <a:gd name="T32" fmla="*/ 26 w 34"/>
                <a:gd name="T33" fmla="*/ 4 h 34"/>
                <a:gd name="T34" fmla="*/ 24 w 34"/>
                <a:gd name="T35" fmla="*/ 2 h 34"/>
                <a:gd name="T36" fmla="*/ 22 w 34"/>
                <a:gd name="T37" fmla="*/ 0 h 34"/>
                <a:gd name="T38" fmla="*/ 20 w 34"/>
                <a:gd name="T39" fmla="*/ 0 h 34"/>
                <a:gd name="T40" fmla="*/ 16 w 34"/>
                <a:gd name="T41" fmla="*/ 0 h 34"/>
                <a:gd name="T42" fmla="*/ 14 w 34"/>
                <a:gd name="T43" fmla="*/ 0 h 34"/>
                <a:gd name="T44" fmla="*/ 12 w 34"/>
                <a:gd name="T45" fmla="*/ 0 h 34"/>
                <a:gd name="T46" fmla="*/ 10 w 34"/>
                <a:gd name="T47" fmla="*/ 2 h 34"/>
                <a:gd name="T48" fmla="*/ 8 w 34"/>
                <a:gd name="T49" fmla="*/ 4 h 34"/>
                <a:gd name="T50" fmla="*/ 6 w 34"/>
                <a:gd name="T51" fmla="*/ 6 h 34"/>
                <a:gd name="T52" fmla="*/ 4 w 34"/>
                <a:gd name="T53" fmla="*/ 6 h 34"/>
                <a:gd name="T54" fmla="*/ 2 w 34"/>
                <a:gd name="T55" fmla="*/ 10 h 34"/>
                <a:gd name="T56" fmla="*/ 2 w 34"/>
                <a:gd name="T57" fmla="*/ 12 h 34"/>
                <a:gd name="T58" fmla="*/ 0 w 34"/>
                <a:gd name="T59" fmla="*/ 14 h 34"/>
                <a:gd name="T60" fmla="*/ 0 w 34"/>
                <a:gd name="T61" fmla="*/ 16 h 34"/>
                <a:gd name="T62" fmla="*/ 0 w 34"/>
                <a:gd name="T63" fmla="*/ 20 h 34"/>
                <a:gd name="T64" fmla="*/ 2 w 34"/>
                <a:gd name="T65" fmla="*/ 22 h 34"/>
                <a:gd name="T66" fmla="*/ 2 w 34"/>
                <a:gd name="T67" fmla="*/ 24 h 34"/>
                <a:gd name="T68" fmla="*/ 4 w 34"/>
                <a:gd name="T69" fmla="*/ 26 h 34"/>
                <a:gd name="T70" fmla="*/ 6 w 34"/>
                <a:gd name="T71" fmla="*/ 28 h 34"/>
                <a:gd name="T72" fmla="*/ 8 w 34"/>
                <a:gd name="T73" fmla="*/ 30 h 34"/>
                <a:gd name="T74" fmla="*/ 10 w 34"/>
                <a:gd name="T75" fmla="*/ 32 h 34"/>
                <a:gd name="T76" fmla="*/ 12 w 34"/>
                <a:gd name="T77" fmla="*/ 32 h 34"/>
                <a:gd name="T78" fmla="*/ 14 w 34"/>
                <a:gd name="T79" fmla="*/ 34 h 34"/>
                <a:gd name="T80" fmla="*/ 16 w 34"/>
                <a:gd name="T81" fmla="*/ 34 h 34"/>
                <a:gd name="T82" fmla="*/ 16 w 34"/>
                <a:gd name="T83" fmla="*/ 34 h 34"/>
                <a:gd name="T84" fmla="*/ 16 w 34"/>
                <a:gd name="T85" fmla="*/ 32 h 3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34" h="34">
                  <a:moveTo>
                    <a:pt x="16" y="32"/>
                  </a:moveTo>
                  <a:lnTo>
                    <a:pt x="20" y="34"/>
                  </a:lnTo>
                  <a:lnTo>
                    <a:pt x="22" y="32"/>
                  </a:lnTo>
                  <a:lnTo>
                    <a:pt x="24" y="32"/>
                  </a:lnTo>
                  <a:lnTo>
                    <a:pt x="26" y="30"/>
                  </a:lnTo>
                  <a:lnTo>
                    <a:pt x="28" y="28"/>
                  </a:lnTo>
                  <a:lnTo>
                    <a:pt x="30" y="26"/>
                  </a:lnTo>
                  <a:lnTo>
                    <a:pt x="32" y="24"/>
                  </a:lnTo>
                  <a:lnTo>
                    <a:pt x="32" y="22"/>
                  </a:lnTo>
                  <a:lnTo>
                    <a:pt x="34" y="20"/>
                  </a:lnTo>
                  <a:lnTo>
                    <a:pt x="34" y="16"/>
                  </a:lnTo>
                  <a:lnTo>
                    <a:pt x="34" y="14"/>
                  </a:lnTo>
                  <a:lnTo>
                    <a:pt x="32" y="12"/>
                  </a:lnTo>
                  <a:lnTo>
                    <a:pt x="32" y="10"/>
                  </a:lnTo>
                  <a:lnTo>
                    <a:pt x="30" y="6"/>
                  </a:lnTo>
                  <a:lnTo>
                    <a:pt x="28" y="6"/>
                  </a:lnTo>
                  <a:lnTo>
                    <a:pt x="26" y="4"/>
                  </a:lnTo>
                  <a:lnTo>
                    <a:pt x="24" y="2"/>
                  </a:lnTo>
                  <a:lnTo>
                    <a:pt x="22" y="0"/>
                  </a:lnTo>
                  <a:lnTo>
                    <a:pt x="20" y="0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2"/>
                  </a:lnTo>
                  <a:lnTo>
                    <a:pt x="8" y="4"/>
                  </a:lnTo>
                  <a:lnTo>
                    <a:pt x="6" y="6"/>
                  </a:lnTo>
                  <a:lnTo>
                    <a:pt x="4" y="6"/>
                  </a:lnTo>
                  <a:lnTo>
                    <a:pt x="2" y="10"/>
                  </a:lnTo>
                  <a:lnTo>
                    <a:pt x="2" y="12"/>
                  </a:lnTo>
                  <a:lnTo>
                    <a:pt x="0" y="14"/>
                  </a:lnTo>
                  <a:lnTo>
                    <a:pt x="0" y="16"/>
                  </a:lnTo>
                  <a:lnTo>
                    <a:pt x="0" y="20"/>
                  </a:lnTo>
                  <a:lnTo>
                    <a:pt x="2" y="22"/>
                  </a:lnTo>
                  <a:lnTo>
                    <a:pt x="2" y="24"/>
                  </a:lnTo>
                  <a:lnTo>
                    <a:pt x="4" y="26"/>
                  </a:lnTo>
                  <a:lnTo>
                    <a:pt x="6" y="28"/>
                  </a:lnTo>
                  <a:lnTo>
                    <a:pt x="8" y="30"/>
                  </a:lnTo>
                  <a:lnTo>
                    <a:pt x="10" y="32"/>
                  </a:lnTo>
                  <a:lnTo>
                    <a:pt x="12" y="32"/>
                  </a:lnTo>
                  <a:lnTo>
                    <a:pt x="14" y="34"/>
                  </a:lnTo>
                  <a:lnTo>
                    <a:pt x="16" y="34"/>
                  </a:lnTo>
                  <a:lnTo>
                    <a:pt x="16" y="3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318" name="Freeform 113"/>
            <p:cNvSpPr>
              <a:spLocks/>
            </p:cNvSpPr>
            <p:nvPr/>
          </p:nvSpPr>
          <p:spPr bwMode="auto">
            <a:xfrm>
              <a:off x="2171" y="3791"/>
              <a:ext cx="34" cy="33"/>
            </a:xfrm>
            <a:custGeom>
              <a:avLst/>
              <a:gdLst>
                <a:gd name="T0" fmla="*/ 16 w 34"/>
                <a:gd name="T1" fmla="*/ 31 h 33"/>
                <a:gd name="T2" fmla="*/ 20 w 34"/>
                <a:gd name="T3" fmla="*/ 33 h 33"/>
                <a:gd name="T4" fmla="*/ 22 w 34"/>
                <a:gd name="T5" fmla="*/ 31 h 33"/>
                <a:gd name="T6" fmla="*/ 24 w 34"/>
                <a:gd name="T7" fmla="*/ 31 h 33"/>
                <a:gd name="T8" fmla="*/ 26 w 34"/>
                <a:gd name="T9" fmla="*/ 29 h 33"/>
                <a:gd name="T10" fmla="*/ 28 w 34"/>
                <a:gd name="T11" fmla="*/ 27 h 33"/>
                <a:gd name="T12" fmla="*/ 30 w 34"/>
                <a:gd name="T13" fmla="*/ 25 h 33"/>
                <a:gd name="T14" fmla="*/ 32 w 34"/>
                <a:gd name="T15" fmla="*/ 24 h 33"/>
                <a:gd name="T16" fmla="*/ 32 w 34"/>
                <a:gd name="T17" fmla="*/ 22 h 33"/>
                <a:gd name="T18" fmla="*/ 34 w 34"/>
                <a:gd name="T19" fmla="*/ 20 h 33"/>
                <a:gd name="T20" fmla="*/ 34 w 34"/>
                <a:gd name="T21" fmla="*/ 16 h 33"/>
                <a:gd name="T22" fmla="*/ 34 w 34"/>
                <a:gd name="T23" fmla="*/ 14 h 33"/>
                <a:gd name="T24" fmla="*/ 32 w 34"/>
                <a:gd name="T25" fmla="*/ 12 h 33"/>
                <a:gd name="T26" fmla="*/ 32 w 34"/>
                <a:gd name="T27" fmla="*/ 10 h 33"/>
                <a:gd name="T28" fmla="*/ 30 w 34"/>
                <a:gd name="T29" fmla="*/ 6 h 33"/>
                <a:gd name="T30" fmla="*/ 28 w 34"/>
                <a:gd name="T31" fmla="*/ 6 h 33"/>
                <a:gd name="T32" fmla="*/ 26 w 34"/>
                <a:gd name="T33" fmla="*/ 4 h 33"/>
                <a:gd name="T34" fmla="*/ 24 w 34"/>
                <a:gd name="T35" fmla="*/ 2 h 33"/>
                <a:gd name="T36" fmla="*/ 22 w 34"/>
                <a:gd name="T37" fmla="*/ 0 h 33"/>
                <a:gd name="T38" fmla="*/ 20 w 34"/>
                <a:gd name="T39" fmla="*/ 0 h 33"/>
                <a:gd name="T40" fmla="*/ 16 w 34"/>
                <a:gd name="T41" fmla="*/ 0 h 33"/>
                <a:gd name="T42" fmla="*/ 14 w 34"/>
                <a:gd name="T43" fmla="*/ 0 h 33"/>
                <a:gd name="T44" fmla="*/ 12 w 34"/>
                <a:gd name="T45" fmla="*/ 0 h 33"/>
                <a:gd name="T46" fmla="*/ 10 w 34"/>
                <a:gd name="T47" fmla="*/ 2 h 33"/>
                <a:gd name="T48" fmla="*/ 8 w 34"/>
                <a:gd name="T49" fmla="*/ 4 h 33"/>
                <a:gd name="T50" fmla="*/ 6 w 34"/>
                <a:gd name="T51" fmla="*/ 6 h 33"/>
                <a:gd name="T52" fmla="*/ 4 w 34"/>
                <a:gd name="T53" fmla="*/ 6 h 33"/>
                <a:gd name="T54" fmla="*/ 2 w 34"/>
                <a:gd name="T55" fmla="*/ 10 h 33"/>
                <a:gd name="T56" fmla="*/ 2 w 34"/>
                <a:gd name="T57" fmla="*/ 12 h 33"/>
                <a:gd name="T58" fmla="*/ 0 w 34"/>
                <a:gd name="T59" fmla="*/ 14 h 33"/>
                <a:gd name="T60" fmla="*/ 0 w 34"/>
                <a:gd name="T61" fmla="*/ 16 h 33"/>
                <a:gd name="T62" fmla="*/ 0 w 34"/>
                <a:gd name="T63" fmla="*/ 20 h 33"/>
                <a:gd name="T64" fmla="*/ 2 w 34"/>
                <a:gd name="T65" fmla="*/ 22 h 33"/>
                <a:gd name="T66" fmla="*/ 2 w 34"/>
                <a:gd name="T67" fmla="*/ 24 h 33"/>
                <a:gd name="T68" fmla="*/ 4 w 34"/>
                <a:gd name="T69" fmla="*/ 25 h 33"/>
                <a:gd name="T70" fmla="*/ 6 w 34"/>
                <a:gd name="T71" fmla="*/ 27 h 33"/>
                <a:gd name="T72" fmla="*/ 8 w 34"/>
                <a:gd name="T73" fmla="*/ 29 h 33"/>
                <a:gd name="T74" fmla="*/ 10 w 34"/>
                <a:gd name="T75" fmla="*/ 31 h 33"/>
                <a:gd name="T76" fmla="*/ 12 w 34"/>
                <a:gd name="T77" fmla="*/ 31 h 33"/>
                <a:gd name="T78" fmla="*/ 14 w 34"/>
                <a:gd name="T79" fmla="*/ 33 h 33"/>
                <a:gd name="T80" fmla="*/ 16 w 34"/>
                <a:gd name="T81" fmla="*/ 33 h 33"/>
                <a:gd name="T82" fmla="*/ 16 w 34"/>
                <a:gd name="T83" fmla="*/ 33 h 33"/>
                <a:gd name="T84" fmla="*/ 16 w 34"/>
                <a:gd name="T85" fmla="*/ 31 h 33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34" h="33">
                  <a:moveTo>
                    <a:pt x="16" y="31"/>
                  </a:moveTo>
                  <a:lnTo>
                    <a:pt x="20" y="33"/>
                  </a:lnTo>
                  <a:lnTo>
                    <a:pt x="22" y="31"/>
                  </a:lnTo>
                  <a:lnTo>
                    <a:pt x="24" y="31"/>
                  </a:lnTo>
                  <a:lnTo>
                    <a:pt x="26" y="29"/>
                  </a:lnTo>
                  <a:lnTo>
                    <a:pt x="28" y="27"/>
                  </a:lnTo>
                  <a:lnTo>
                    <a:pt x="30" y="25"/>
                  </a:lnTo>
                  <a:lnTo>
                    <a:pt x="32" y="24"/>
                  </a:lnTo>
                  <a:lnTo>
                    <a:pt x="32" y="22"/>
                  </a:lnTo>
                  <a:lnTo>
                    <a:pt x="34" y="20"/>
                  </a:lnTo>
                  <a:lnTo>
                    <a:pt x="34" y="16"/>
                  </a:lnTo>
                  <a:lnTo>
                    <a:pt x="34" y="14"/>
                  </a:lnTo>
                  <a:lnTo>
                    <a:pt x="32" y="12"/>
                  </a:lnTo>
                  <a:lnTo>
                    <a:pt x="32" y="10"/>
                  </a:lnTo>
                  <a:lnTo>
                    <a:pt x="30" y="6"/>
                  </a:lnTo>
                  <a:lnTo>
                    <a:pt x="28" y="6"/>
                  </a:lnTo>
                  <a:lnTo>
                    <a:pt x="26" y="4"/>
                  </a:lnTo>
                  <a:lnTo>
                    <a:pt x="24" y="2"/>
                  </a:lnTo>
                  <a:lnTo>
                    <a:pt x="22" y="0"/>
                  </a:lnTo>
                  <a:lnTo>
                    <a:pt x="20" y="0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2"/>
                  </a:lnTo>
                  <a:lnTo>
                    <a:pt x="8" y="4"/>
                  </a:lnTo>
                  <a:lnTo>
                    <a:pt x="6" y="6"/>
                  </a:lnTo>
                  <a:lnTo>
                    <a:pt x="4" y="6"/>
                  </a:lnTo>
                  <a:lnTo>
                    <a:pt x="2" y="10"/>
                  </a:lnTo>
                  <a:lnTo>
                    <a:pt x="2" y="12"/>
                  </a:lnTo>
                  <a:lnTo>
                    <a:pt x="0" y="14"/>
                  </a:lnTo>
                  <a:lnTo>
                    <a:pt x="0" y="16"/>
                  </a:lnTo>
                  <a:lnTo>
                    <a:pt x="0" y="20"/>
                  </a:lnTo>
                  <a:lnTo>
                    <a:pt x="2" y="22"/>
                  </a:lnTo>
                  <a:lnTo>
                    <a:pt x="2" y="24"/>
                  </a:lnTo>
                  <a:lnTo>
                    <a:pt x="4" y="25"/>
                  </a:lnTo>
                  <a:lnTo>
                    <a:pt x="6" y="27"/>
                  </a:lnTo>
                  <a:lnTo>
                    <a:pt x="8" y="29"/>
                  </a:lnTo>
                  <a:lnTo>
                    <a:pt x="10" y="31"/>
                  </a:lnTo>
                  <a:lnTo>
                    <a:pt x="12" y="31"/>
                  </a:lnTo>
                  <a:lnTo>
                    <a:pt x="14" y="33"/>
                  </a:lnTo>
                  <a:lnTo>
                    <a:pt x="16" y="33"/>
                  </a:lnTo>
                  <a:lnTo>
                    <a:pt x="16" y="3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319" name="Freeform 114"/>
            <p:cNvSpPr>
              <a:spLocks/>
            </p:cNvSpPr>
            <p:nvPr/>
          </p:nvSpPr>
          <p:spPr bwMode="auto">
            <a:xfrm>
              <a:off x="2171" y="3889"/>
              <a:ext cx="34" cy="33"/>
            </a:xfrm>
            <a:custGeom>
              <a:avLst/>
              <a:gdLst>
                <a:gd name="T0" fmla="*/ 16 w 34"/>
                <a:gd name="T1" fmla="*/ 31 h 33"/>
                <a:gd name="T2" fmla="*/ 20 w 34"/>
                <a:gd name="T3" fmla="*/ 33 h 33"/>
                <a:gd name="T4" fmla="*/ 22 w 34"/>
                <a:gd name="T5" fmla="*/ 31 h 33"/>
                <a:gd name="T6" fmla="*/ 24 w 34"/>
                <a:gd name="T7" fmla="*/ 31 h 33"/>
                <a:gd name="T8" fmla="*/ 26 w 34"/>
                <a:gd name="T9" fmla="*/ 29 h 33"/>
                <a:gd name="T10" fmla="*/ 28 w 34"/>
                <a:gd name="T11" fmla="*/ 27 h 33"/>
                <a:gd name="T12" fmla="*/ 30 w 34"/>
                <a:gd name="T13" fmla="*/ 25 h 33"/>
                <a:gd name="T14" fmla="*/ 32 w 34"/>
                <a:gd name="T15" fmla="*/ 23 h 33"/>
                <a:gd name="T16" fmla="*/ 32 w 34"/>
                <a:gd name="T17" fmla="*/ 21 h 33"/>
                <a:gd name="T18" fmla="*/ 34 w 34"/>
                <a:gd name="T19" fmla="*/ 19 h 33"/>
                <a:gd name="T20" fmla="*/ 34 w 34"/>
                <a:gd name="T21" fmla="*/ 15 h 33"/>
                <a:gd name="T22" fmla="*/ 34 w 34"/>
                <a:gd name="T23" fmla="*/ 13 h 33"/>
                <a:gd name="T24" fmla="*/ 32 w 34"/>
                <a:gd name="T25" fmla="*/ 11 h 33"/>
                <a:gd name="T26" fmla="*/ 32 w 34"/>
                <a:gd name="T27" fmla="*/ 10 h 33"/>
                <a:gd name="T28" fmla="*/ 30 w 34"/>
                <a:gd name="T29" fmla="*/ 6 h 33"/>
                <a:gd name="T30" fmla="*/ 28 w 34"/>
                <a:gd name="T31" fmla="*/ 6 h 33"/>
                <a:gd name="T32" fmla="*/ 26 w 34"/>
                <a:gd name="T33" fmla="*/ 4 h 33"/>
                <a:gd name="T34" fmla="*/ 24 w 34"/>
                <a:gd name="T35" fmla="*/ 2 h 33"/>
                <a:gd name="T36" fmla="*/ 22 w 34"/>
                <a:gd name="T37" fmla="*/ 0 h 33"/>
                <a:gd name="T38" fmla="*/ 20 w 34"/>
                <a:gd name="T39" fmla="*/ 0 h 33"/>
                <a:gd name="T40" fmla="*/ 16 w 34"/>
                <a:gd name="T41" fmla="*/ 0 h 33"/>
                <a:gd name="T42" fmla="*/ 14 w 34"/>
                <a:gd name="T43" fmla="*/ 0 h 33"/>
                <a:gd name="T44" fmla="*/ 12 w 34"/>
                <a:gd name="T45" fmla="*/ 0 h 33"/>
                <a:gd name="T46" fmla="*/ 10 w 34"/>
                <a:gd name="T47" fmla="*/ 2 h 33"/>
                <a:gd name="T48" fmla="*/ 8 w 34"/>
                <a:gd name="T49" fmla="*/ 4 h 33"/>
                <a:gd name="T50" fmla="*/ 6 w 34"/>
                <a:gd name="T51" fmla="*/ 6 h 33"/>
                <a:gd name="T52" fmla="*/ 4 w 34"/>
                <a:gd name="T53" fmla="*/ 6 h 33"/>
                <a:gd name="T54" fmla="*/ 2 w 34"/>
                <a:gd name="T55" fmla="*/ 10 h 33"/>
                <a:gd name="T56" fmla="*/ 2 w 34"/>
                <a:gd name="T57" fmla="*/ 11 h 33"/>
                <a:gd name="T58" fmla="*/ 0 w 34"/>
                <a:gd name="T59" fmla="*/ 13 h 33"/>
                <a:gd name="T60" fmla="*/ 0 w 34"/>
                <a:gd name="T61" fmla="*/ 15 h 33"/>
                <a:gd name="T62" fmla="*/ 0 w 34"/>
                <a:gd name="T63" fmla="*/ 19 h 33"/>
                <a:gd name="T64" fmla="*/ 2 w 34"/>
                <a:gd name="T65" fmla="*/ 21 h 33"/>
                <a:gd name="T66" fmla="*/ 2 w 34"/>
                <a:gd name="T67" fmla="*/ 23 h 33"/>
                <a:gd name="T68" fmla="*/ 4 w 34"/>
                <a:gd name="T69" fmla="*/ 25 h 33"/>
                <a:gd name="T70" fmla="*/ 6 w 34"/>
                <a:gd name="T71" fmla="*/ 27 h 33"/>
                <a:gd name="T72" fmla="*/ 8 w 34"/>
                <a:gd name="T73" fmla="*/ 29 h 33"/>
                <a:gd name="T74" fmla="*/ 10 w 34"/>
                <a:gd name="T75" fmla="*/ 31 h 33"/>
                <a:gd name="T76" fmla="*/ 12 w 34"/>
                <a:gd name="T77" fmla="*/ 31 h 33"/>
                <a:gd name="T78" fmla="*/ 14 w 34"/>
                <a:gd name="T79" fmla="*/ 33 h 33"/>
                <a:gd name="T80" fmla="*/ 16 w 34"/>
                <a:gd name="T81" fmla="*/ 33 h 33"/>
                <a:gd name="T82" fmla="*/ 16 w 34"/>
                <a:gd name="T83" fmla="*/ 33 h 33"/>
                <a:gd name="T84" fmla="*/ 16 w 34"/>
                <a:gd name="T85" fmla="*/ 31 h 33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34" h="33">
                  <a:moveTo>
                    <a:pt x="16" y="31"/>
                  </a:moveTo>
                  <a:lnTo>
                    <a:pt x="20" y="33"/>
                  </a:lnTo>
                  <a:lnTo>
                    <a:pt x="22" y="31"/>
                  </a:lnTo>
                  <a:lnTo>
                    <a:pt x="24" y="31"/>
                  </a:lnTo>
                  <a:lnTo>
                    <a:pt x="26" y="29"/>
                  </a:lnTo>
                  <a:lnTo>
                    <a:pt x="28" y="27"/>
                  </a:lnTo>
                  <a:lnTo>
                    <a:pt x="30" y="25"/>
                  </a:lnTo>
                  <a:lnTo>
                    <a:pt x="32" y="23"/>
                  </a:lnTo>
                  <a:lnTo>
                    <a:pt x="32" y="21"/>
                  </a:lnTo>
                  <a:lnTo>
                    <a:pt x="34" y="19"/>
                  </a:lnTo>
                  <a:lnTo>
                    <a:pt x="34" y="15"/>
                  </a:lnTo>
                  <a:lnTo>
                    <a:pt x="34" y="13"/>
                  </a:lnTo>
                  <a:lnTo>
                    <a:pt x="32" y="11"/>
                  </a:lnTo>
                  <a:lnTo>
                    <a:pt x="32" y="10"/>
                  </a:lnTo>
                  <a:lnTo>
                    <a:pt x="30" y="6"/>
                  </a:lnTo>
                  <a:lnTo>
                    <a:pt x="28" y="6"/>
                  </a:lnTo>
                  <a:lnTo>
                    <a:pt x="26" y="4"/>
                  </a:lnTo>
                  <a:lnTo>
                    <a:pt x="24" y="2"/>
                  </a:lnTo>
                  <a:lnTo>
                    <a:pt x="22" y="0"/>
                  </a:lnTo>
                  <a:lnTo>
                    <a:pt x="20" y="0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2"/>
                  </a:lnTo>
                  <a:lnTo>
                    <a:pt x="8" y="4"/>
                  </a:lnTo>
                  <a:lnTo>
                    <a:pt x="6" y="6"/>
                  </a:lnTo>
                  <a:lnTo>
                    <a:pt x="4" y="6"/>
                  </a:lnTo>
                  <a:lnTo>
                    <a:pt x="2" y="10"/>
                  </a:lnTo>
                  <a:lnTo>
                    <a:pt x="2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9"/>
                  </a:lnTo>
                  <a:lnTo>
                    <a:pt x="2" y="21"/>
                  </a:lnTo>
                  <a:lnTo>
                    <a:pt x="2" y="23"/>
                  </a:lnTo>
                  <a:lnTo>
                    <a:pt x="4" y="25"/>
                  </a:lnTo>
                  <a:lnTo>
                    <a:pt x="6" y="27"/>
                  </a:lnTo>
                  <a:lnTo>
                    <a:pt x="8" y="29"/>
                  </a:lnTo>
                  <a:lnTo>
                    <a:pt x="10" y="31"/>
                  </a:lnTo>
                  <a:lnTo>
                    <a:pt x="12" y="31"/>
                  </a:lnTo>
                  <a:lnTo>
                    <a:pt x="14" y="33"/>
                  </a:lnTo>
                  <a:lnTo>
                    <a:pt x="16" y="33"/>
                  </a:lnTo>
                  <a:lnTo>
                    <a:pt x="16" y="3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320" name="Freeform 115"/>
            <p:cNvSpPr>
              <a:spLocks/>
            </p:cNvSpPr>
            <p:nvPr/>
          </p:nvSpPr>
          <p:spPr bwMode="auto">
            <a:xfrm>
              <a:off x="2171" y="3986"/>
              <a:ext cx="34" cy="34"/>
            </a:xfrm>
            <a:custGeom>
              <a:avLst/>
              <a:gdLst>
                <a:gd name="T0" fmla="*/ 16 w 34"/>
                <a:gd name="T1" fmla="*/ 32 h 34"/>
                <a:gd name="T2" fmla="*/ 20 w 34"/>
                <a:gd name="T3" fmla="*/ 34 h 34"/>
                <a:gd name="T4" fmla="*/ 22 w 34"/>
                <a:gd name="T5" fmla="*/ 32 h 34"/>
                <a:gd name="T6" fmla="*/ 24 w 34"/>
                <a:gd name="T7" fmla="*/ 32 h 34"/>
                <a:gd name="T8" fmla="*/ 26 w 34"/>
                <a:gd name="T9" fmla="*/ 30 h 34"/>
                <a:gd name="T10" fmla="*/ 28 w 34"/>
                <a:gd name="T11" fmla="*/ 28 h 34"/>
                <a:gd name="T12" fmla="*/ 30 w 34"/>
                <a:gd name="T13" fmla="*/ 26 h 34"/>
                <a:gd name="T14" fmla="*/ 32 w 34"/>
                <a:gd name="T15" fmla="*/ 24 h 34"/>
                <a:gd name="T16" fmla="*/ 32 w 34"/>
                <a:gd name="T17" fmla="*/ 22 h 34"/>
                <a:gd name="T18" fmla="*/ 34 w 34"/>
                <a:gd name="T19" fmla="*/ 20 h 34"/>
                <a:gd name="T20" fmla="*/ 34 w 34"/>
                <a:gd name="T21" fmla="*/ 16 h 34"/>
                <a:gd name="T22" fmla="*/ 34 w 34"/>
                <a:gd name="T23" fmla="*/ 14 h 34"/>
                <a:gd name="T24" fmla="*/ 32 w 34"/>
                <a:gd name="T25" fmla="*/ 12 h 34"/>
                <a:gd name="T26" fmla="*/ 32 w 34"/>
                <a:gd name="T27" fmla="*/ 10 h 34"/>
                <a:gd name="T28" fmla="*/ 30 w 34"/>
                <a:gd name="T29" fmla="*/ 6 h 34"/>
                <a:gd name="T30" fmla="*/ 28 w 34"/>
                <a:gd name="T31" fmla="*/ 6 h 34"/>
                <a:gd name="T32" fmla="*/ 26 w 34"/>
                <a:gd name="T33" fmla="*/ 4 h 34"/>
                <a:gd name="T34" fmla="*/ 24 w 34"/>
                <a:gd name="T35" fmla="*/ 2 h 34"/>
                <a:gd name="T36" fmla="*/ 22 w 34"/>
                <a:gd name="T37" fmla="*/ 0 h 34"/>
                <a:gd name="T38" fmla="*/ 20 w 34"/>
                <a:gd name="T39" fmla="*/ 0 h 34"/>
                <a:gd name="T40" fmla="*/ 16 w 34"/>
                <a:gd name="T41" fmla="*/ 0 h 34"/>
                <a:gd name="T42" fmla="*/ 14 w 34"/>
                <a:gd name="T43" fmla="*/ 0 h 34"/>
                <a:gd name="T44" fmla="*/ 12 w 34"/>
                <a:gd name="T45" fmla="*/ 0 h 34"/>
                <a:gd name="T46" fmla="*/ 10 w 34"/>
                <a:gd name="T47" fmla="*/ 2 h 34"/>
                <a:gd name="T48" fmla="*/ 8 w 34"/>
                <a:gd name="T49" fmla="*/ 4 h 34"/>
                <a:gd name="T50" fmla="*/ 6 w 34"/>
                <a:gd name="T51" fmla="*/ 6 h 34"/>
                <a:gd name="T52" fmla="*/ 4 w 34"/>
                <a:gd name="T53" fmla="*/ 6 h 34"/>
                <a:gd name="T54" fmla="*/ 2 w 34"/>
                <a:gd name="T55" fmla="*/ 10 h 34"/>
                <a:gd name="T56" fmla="*/ 2 w 34"/>
                <a:gd name="T57" fmla="*/ 12 h 34"/>
                <a:gd name="T58" fmla="*/ 0 w 34"/>
                <a:gd name="T59" fmla="*/ 14 h 34"/>
                <a:gd name="T60" fmla="*/ 0 w 34"/>
                <a:gd name="T61" fmla="*/ 16 h 34"/>
                <a:gd name="T62" fmla="*/ 0 w 34"/>
                <a:gd name="T63" fmla="*/ 20 h 34"/>
                <a:gd name="T64" fmla="*/ 2 w 34"/>
                <a:gd name="T65" fmla="*/ 22 h 34"/>
                <a:gd name="T66" fmla="*/ 2 w 34"/>
                <a:gd name="T67" fmla="*/ 24 h 34"/>
                <a:gd name="T68" fmla="*/ 4 w 34"/>
                <a:gd name="T69" fmla="*/ 26 h 34"/>
                <a:gd name="T70" fmla="*/ 6 w 34"/>
                <a:gd name="T71" fmla="*/ 28 h 34"/>
                <a:gd name="T72" fmla="*/ 8 w 34"/>
                <a:gd name="T73" fmla="*/ 30 h 34"/>
                <a:gd name="T74" fmla="*/ 10 w 34"/>
                <a:gd name="T75" fmla="*/ 32 h 34"/>
                <a:gd name="T76" fmla="*/ 12 w 34"/>
                <a:gd name="T77" fmla="*/ 32 h 34"/>
                <a:gd name="T78" fmla="*/ 14 w 34"/>
                <a:gd name="T79" fmla="*/ 34 h 34"/>
                <a:gd name="T80" fmla="*/ 16 w 34"/>
                <a:gd name="T81" fmla="*/ 34 h 34"/>
                <a:gd name="T82" fmla="*/ 16 w 34"/>
                <a:gd name="T83" fmla="*/ 34 h 34"/>
                <a:gd name="T84" fmla="*/ 16 w 34"/>
                <a:gd name="T85" fmla="*/ 32 h 3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34" h="34">
                  <a:moveTo>
                    <a:pt x="16" y="32"/>
                  </a:moveTo>
                  <a:lnTo>
                    <a:pt x="20" y="34"/>
                  </a:lnTo>
                  <a:lnTo>
                    <a:pt x="22" y="32"/>
                  </a:lnTo>
                  <a:lnTo>
                    <a:pt x="24" y="32"/>
                  </a:lnTo>
                  <a:lnTo>
                    <a:pt x="26" y="30"/>
                  </a:lnTo>
                  <a:lnTo>
                    <a:pt x="28" y="28"/>
                  </a:lnTo>
                  <a:lnTo>
                    <a:pt x="30" y="26"/>
                  </a:lnTo>
                  <a:lnTo>
                    <a:pt x="32" y="24"/>
                  </a:lnTo>
                  <a:lnTo>
                    <a:pt x="32" y="22"/>
                  </a:lnTo>
                  <a:lnTo>
                    <a:pt x="34" y="20"/>
                  </a:lnTo>
                  <a:lnTo>
                    <a:pt x="34" y="16"/>
                  </a:lnTo>
                  <a:lnTo>
                    <a:pt x="34" y="14"/>
                  </a:lnTo>
                  <a:lnTo>
                    <a:pt x="32" y="12"/>
                  </a:lnTo>
                  <a:lnTo>
                    <a:pt x="32" y="10"/>
                  </a:lnTo>
                  <a:lnTo>
                    <a:pt x="30" y="6"/>
                  </a:lnTo>
                  <a:lnTo>
                    <a:pt x="28" y="6"/>
                  </a:lnTo>
                  <a:lnTo>
                    <a:pt x="26" y="4"/>
                  </a:lnTo>
                  <a:lnTo>
                    <a:pt x="24" y="2"/>
                  </a:lnTo>
                  <a:lnTo>
                    <a:pt x="22" y="0"/>
                  </a:lnTo>
                  <a:lnTo>
                    <a:pt x="20" y="0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2"/>
                  </a:lnTo>
                  <a:lnTo>
                    <a:pt x="8" y="4"/>
                  </a:lnTo>
                  <a:lnTo>
                    <a:pt x="6" y="6"/>
                  </a:lnTo>
                  <a:lnTo>
                    <a:pt x="4" y="6"/>
                  </a:lnTo>
                  <a:lnTo>
                    <a:pt x="2" y="10"/>
                  </a:lnTo>
                  <a:lnTo>
                    <a:pt x="2" y="12"/>
                  </a:lnTo>
                  <a:lnTo>
                    <a:pt x="0" y="14"/>
                  </a:lnTo>
                  <a:lnTo>
                    <a:pt x="0" y="16"/>
                  </a:lnTo>
                  <a:lnTo>
                    <a:pt x="0" y="20"/>
                  </a:lnTo>
                  <a:lnTo>
                    <a:pt x="2" y="22"/>
                  </a:lnTo>
                  <a:lnTo>
                    <a:pt x="2" y="24"/>
                  </a:lnTo>
                  <a:lnTo>
                    <a:pt x="4" y="26"/>
                  </a:lnTo>
                  <a:lnTo>
                    <a:pt x="6" y="28"/>
                  </a:lnTo>
                  <a:lnTo>
                    <a:pt x="8" y="30"/>
                  </a:lnTo>
                  <a:lnTo>
                    <a:pt x="10" y="32"/>
                  </a:lnTo>
                  <a:lnTo>
                    <a:pt x="12" y="32"/>
                  </a:lnTo>
                  <a:lnTo>
                    <a:pt x="14" y="34"/>
                  </a:lnTo>
                  <a:lnTo>
                    <a:pt x="16" y="34"/>
                  </a:lnTo>
                  <a:lnTo>
                    <a:pt x="16" y="3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321" name="Freeform 116"/>
            <p:cNvSpPr>
              <a:spLocks/>
            </p:cNvSpPr>
            <p:nvPr/>
          </p:nvSpPr>
          <p:spPr bwMode="auto">
            <a:xfrm>
              <a:off x="2171" y="4084"/>
              <a:ext cx="34" cy="33"/>
            </a:xfrm>
            <a:custGeom>
              <a:avLst/>
              <a:gdLst>
                <a:gd name="T0" fmla="*/ 16 w 34"/>
                <a:gd name="T1" fmla="*/ 31 h 33"/>
                <a:gd name="T2" fmla="*/ 20 w 34"/>
                <a:gd name="T3" fmla="*/ 33 h 33"/>
                <a:gd name="T4" fmla="*/ 22 w 34"/>
                <a:gd name="T5" fmla="*/ 31 h 33"/>
                <a:gd name="T6" fmla="*/ 24 w 34"/>
                <a:gd name="T7" fmla="*/ 31 h 33"/>
                <a:gd name="T8" fmla="*/ 26 w 34"/>
                <a:gd name="T9" fmla="*/ 29 h 33"/>
                <a:gd name="T10" fmla="*/ 28 w 34"/>
                <a:gd name="T11" fmla="*/ 27 h 33"/>
                <a:gd name="T12" fmla="*/ 30 w 34"/>
                <a:gd name="T13" fmla="*/ 25 h 33"/>
                <a:gd name="T14" fmla="*/ 32 w 34"/>
                <a:gd name="T15" fmla="*/ 24 h 33"/>
                <a:gd name="T16" fmla="*/ 32 w 34"/>
                <a:gd name="T17" fmla="*/ 22 h 33"/>
                <a:gd name="T18" fmla="*/ 34 w 34"/>
                <a:gd name="T19" fmla="*/ 20 h 33"/>
                <a:gd name="T20" fmla="*/ 34 w 34"/>
                <a:gd name="T21" fmla="*/ 16 h 33"/>
                <a:gd name="T22" fmla="*/ 34 w 34"/>
                <a:gd name="T23" fmla="*/ 14 h 33"/>
                <a:gd name="T24" fmla="*/ 32 w 34"/>
                <a:gd name="T25" fmla="*/ 12 h 33"/>
                <a:gd name="T26" fmla="*/ 32 w 34"/>
                <a:gd name="T27" fmla="*/ 10 h 33"/>
                <a:gd name="T28" fmla="*/ 30 w 34"/>
                <a:gd name="T29" fmla="*/ 6 h 33"/>
                <a:gd name="T30" fmla="*/ 28 w 34"/>
                <a:gd name="T31" fmla="*/ 6 h 33"/>
                <a:gd name="T32" fmla="*/ 26 w 34"/>
                <a:gd name="T33" fmla="*/ 4 h 33"/>
                <a:gd name="T34" fmla="*/ 24 w 34"/>
                <a:gd name="T35" fmla="*/ 2 h 33"/>
                <a:gd name="T36" fmla="*/ 22 w 34"/>
                <a:gd name="T37" fmla="*/ 0 h 33"/>
                <a:gd name="T38" fmla="*/ 20 w 34"/>
                <a:gd name="T39" fmla="*/ 0 h 33"/>
                <a:gd name="T40" fmla="*/ 16 w 34"/>
                <a:gd name="T41" fmla="*/ 0 h 33"/>
                <a:gd name="T42" fmla="*/ 14 w 34"/>
                <a:gd name="T43" fmla="*/ 0 h 33"/>
                <a:gd name="T44" fmla="*/ 12 w 34"/>
                <a:gd name="T45" fmla="*/ 0 h 33"/>
                <a:gd name="T46" fmla="*/ 10 w 34"/>
                <a:gd name="T47" fmla="*/ 2 h 33"/>
                <a:gd name="T48" fmla="*/ 8 w 34"/>
                <a:gd name="T49" fmla="*/ 4 h 33"/>
                <a:gd name="T50" fmla="*/ 6 w 34"/>
                <a:gd name="T51" fmla="*/ 6 h 33"/>
                <a:gd name="T52" fmla="*/ 4 w 34"/>
                <a:gd name="T53" fmla="*/ 6 h 33"/>
                <a:gd name="T54" fmla="*/ 2 w 34"/>
                <a:gd name="T55" fmla="*/ 10 h 33"/>
                <a:gd name="T56" fmla="*/ 2 w 34"/>
                <a:gd name="T57" fmla="*/ 12 h 33"/>
                <a:gd name="T58" fmla="*/ 0 w 34"/>
                <a:gd name="T59" fmla="*/ 14 h 33"/>
                <a:gd name="T60" fmla="*/ 0 w 34"/>
                <a:gd name="T61" fmla="*/ 16 h 33"/>
                <a:gd name="T62" fmla="*/ 0 w 34"/>
                <a:gd name="T63" fmla="*/ 20 h 33"/>
                <a:gd name="T64" fmla="*/ 2 w 34"/>
                <a:gd name="T65" fmla="*/ 22 h 33"/>
                <a:gd name="T66" fmla="*/ 2 w 34"/>
                <a:gd name="T67" fmla="*/ 24 h 33"/>
                <a:gd name="T68" fmla="*/ 4 w 34"/>
                <a:gd name="T69" fmla="*/ 25 h 33"/>
                <a:gd name="T70" fmla="*/ 6 w 34"/>
                <a:gd name="T71" fmla="*/ 27 h 33"/>
                <a:gd name="T72" fmla="*/ 8 w 34"/>
                <a:gd name="T73" fmla="*/ 29 h 33"/>
                <a:gd name="T74" fmla="*/ 10 w 34"/>
                <a:gd name="T75" fmla="*/ 31 h 33"/>
                <a:gd name="T76" fmla="*/ 12 w 34"/>
                <a:gd name="T77" fmla="*/ 31 h 33"/>
                <a:gd name="T78" fmla="*/ 14 w 34"/>
                <a:gd name="T79" fmla="*/ 33 h 33"/>
                <a:gd name="T80" fmla="*/ 16 w 34"/>
                <a:gd name="T81" fmla="*/ 33 h 33"/>
                <a:gd name="T82" fmla="*/ 16 w 34"/>
                <a:gd name="T83" fmla="*/ 33 h 33"/>
                <a:gd name="T84" fmla="*/ 16 w 34"/>
                <a:gd name="T85" fmla="*/ 31 h 33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34" h="33">
                  <a:moveTo>
                    <a:pt x="16" y="31"/>
                  </a:moveTo>
                  <a:lnTo>
                    <a:pt x="20" y="33"/>
                  </a:lnTo>
                  <a:lnTo>
                    <a:pt x="22" y="31"/>
                  </a:lnTo>
                  <a:lnTo>
                    <a:pt x="24" y="31"/>
                  </a:lnTo>
                  <a:lnTo>
                    <a:pt x="26" y="29"/>
                  </a:lnTo>
                  <a:lnTo>
                    <a:pt x="28" y="27"/>
                  </a:lnTo>
                  <a:lnTo>
                    <a:pt x="30" y="25"/>
                  </a:lnTo>
                  <a:lnTo>
                    <a:pt x="32" y="24"/>
                  </a:lnTo>
                  <a:lnTo>
                    <a:pt x="32" y="22"/>
                  </a:lnTo>
                  <a:lnTo>
                    <a:pt x="34" y="20"/>
                  </a:lnTo>
                  <a:lnTo>
                    <a:pt x="34" y="16"/>
                  </a:lnTo>
                  <a:lnTo>
                    <a:pt x="34" y="14"/>
                  </a:lnTo>
                  <a:lnTo>
                    <a:pt x="32" y="12"/>
                  </a:lnTo>
                  <a:lnTo>
                    <a:pt x="32" y="10"/>
                  </a:lnTo>
                  <a:lnTo>
                    <a:pt x="30" y="6"/>
                  </a:lnTo>
                  <a:lnTo>
                    <a:pt x="28" y="6"/>
                  </a:lnTo>
                  <a:lnTo>
                    <a:pt x="26" y="4"/>
                  </a:lnTo>
                  <a:lnTo>
                    <a:pt x="24" y="2"/>
                  </a:lnTo>
                  <a:lnTo>
                    <a:pt x="22" y="0"/>
                  </a:lnTo>
                  <a:lnTo>
                    <a:pt x="20" y="0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2"/>
                  </a:lnTo>
                  <a:lnTo>
                    <a:pt x="8" y="4"/>
                  </a:lnTo>
                  <a:lnTo>
                    <a:pt x="6" y="6"/>
                  </a:lnTo>
                  <a:lnTo>
                    <a:pt x="4" y="6"/>
                  </a:lnTo>
                  <a:lnTo>
                    <a:pt x="2" y="10"/>
                  </a:lnTo>
                  <a:lnTo>
                    <a:pt x="2" y="12"/>
                  </a:lnTo>
                  <a:lnTo>
                    <a:pt x="0" y="14"/>
                  </a:lnTo>
                  <a:lnTo>
                    <a:pt x="0" y="16"/>
                  </a:lnTo>
                  <a:lnTo>
                    <a:pt x="0" y="20"/>
                  </a:lnTo>
                  <a:lnTo>
                    <a:pt x="2" y="22"/>
                  </a:lnTo>
                  <a:lnTo>
                    <a:pt x="2" y="24"/>
                  </a:lnTo>
                  <a:lnTo>
                    <a:pt x="4" y="25"/>
                  </a:lnTo>
                  <a:lnTo>
                    <a:pt x="6" y="27"/>
                  </a:lnTo>
                  <a:lnTo>
                    <a:pt x="8" y="29"/>
                  </a:lnTo>
                  <a:lnTo>
                    <a:pt x="10" y="31"/>
                  </a:lnTo>
                  <a:lnTo>
                    <a:pt x="12" y="31"/>
                  </a:lnTo>
                  <a:lnTo>
                    <a:pt x="14" y="33"/>
                  </a:lnTo>
                  <a:lnTo>
                    <a:pt x="16" y="33"/>
                  </a:lnTo>
                  <a:lnTo>
                    <a:pt x="16" y="3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322" name="Freeform 117"/>
            <p:cNvSpPr>
              <a:spLocks/>
            </p:cNvSpPr>
            <p:nvPr/>
          </p:nvSpPr>
          <p:spPr bwMode="auto">
            <a:xfrm>
              <a:off x="2171" y="4182"/>
              <a:ext cx="34" cy="33"/>
            </a:xfrm>
            <a:custGeom>
              <a:avLst/>
              <a:gdLst>
                <a:gd name="T0" fmla="*/ 16 w 34"/>
                <a:gd name="T1" fmla="*/ 31 h 33"/>
                <a:gd name="T2" fmla="*/ 20 w 34"/>
                <a:gd name="T3" fmla="*/ 33 h 33"/>
                <a:gd name="T4" fmla="*/ 22 w 34"/>
                <a:gd name="T5" fmla="*/ 31 h 33"/>
                <a:gd name="T6" fmla="*/ 24 w 34"/>
                <a:gd name="T7" fmla="*/ 31 h 33"/>
                <a:gd name="T8" fmla="*/ 26 w 34"/>
                <a:gd name="T9" fmla="*/ 29 h 33"/>
                <a:gd name="T10" fmla="*/ 28 w 34"/>
                <a:gd name="T11" fmla="*/ 27 h 33"/>
                <a:gd name="T12" fmla="*/ 30 w 34"/>
                <a:gd name="T13" fmla="*/ 25 h 33"/>
                <a:gd name="T14" fmla="*/ 32 w 34"/>
                <a:gd name="T15" fmla="*/ 23 h 33"/>
                <a:gd name="T16" fmla="*/ 32 w 34"/>
                <a:gd name="T17" fmla="*/ 21 h 33"/>
                <a:gd name="T18" fmla="*/ 34 w 34"/>
                <a:gd name="T19" fmla="*/ 19 h 33"/>
                <a:gd name="T20" fmla="*/ 34 w 34"/>
                <a:gd name="T21" fmla="*/ 15 h 33"/>
                <a:gd name="T22" fmla="*/ 34 w 34"/>
                <a:gd name="T23" fmla="*/ 13 h 33"/>
                <a:gd name="T24" fmla="*/ 32 w 34"/>
                <a:gd name="T25" fmla="*/ 11 h 33"/>
                <a:gd name="T26" fmla="*/ 32 w 34"/>
                <a:gd name="T27" fmla="*/ 10 h 33"/>
                <a:gd name="T28" fmla="*/ 30 w 34"/>
                <a:gd name="T29" fmla="*/ 6 h 33"/>
                <a:gd name="T30" fmla="*/ 28 w 34"/>
                <a:gd name="T31" fmla="*/ 6 h 33"/>
                <a:gd name="T32" fmla="*/ 26 w 34"/>
                <a:gd name="T33" fmla="*/ 4 h 33"/>
                <a:gd name="T34" fmla="*/ 24 w 34"/>
                <a:gd name="T35" fmla="*/ 2 h 33"/>
                <a:gd name="T36" fmla="*/ 22 w 34"/>
                <a:gd name="T37" fmla="*/ 0 h 33"/>
                <a:gd name="T38" fmla="*/ 20 w 34"/>
                <a:gd name="T39" fmla="*/ 0 h 33"/>
                <a:gd name="T40" fmla="*/ 16 w 34"/>
                <a:gd name="T41" fmla="*/ 0 h 33"/>
                <a:gd name="T42" fmla="*/ 14 w 34"/>
                <a:gd name="T43" fmla="*/ 0 h 33"/>
                <a:gd name="T44" fmla="*/ 12 w 34"/>
                <a:gd name="T45" fmla="*/ 0 h 33"/>
                <a:gd name="T46" fmla="*/ 10 w 34"/>
                <a:gd name="T47" fmla="*/ 2 h 33"/>
                <a:gd name="T48" fmla="*/ 8 w 34"/>
                <a:gd name="T49" fmla="*/ 4 h 33"/>
                <a:gd name="T50" fmla="*/ 6 w 34"/>
                <a:gd name="T51" fmla="*/ 6 h 33"/>
                <a:gd name="T52" fmla="*/ 4 w 34"/>
                <a:gd name="T53" fmla="*/ 6 h 33"/>
                <a:gd name="T54" fmla="*/ 2 w 34"/>
                <a:gd name="T55" fmla="*/ 10 h 33"/>
                <a:gd name="T56" fmla="*/ 2 w 34"/>
                <a:gd name="T57" fmla="*/ 11 h 33"/>
                <a:gd name="T58" fmla="*/ 0 w 34"/>
                <a:gd name="T59" fmla="*/ 13 h 33"/>
                <a:gd name="T60" fmla="*/ 0 w 34"/>
                <a:gd name="T61" fmla="*/ 15 h 33"/>
                <a:gd name="T62" fmla="*/ 0 w 34"/>
                <a:gd name="T63" fmla="*/ 19 h 33"/>
                <a:gd name="T64" fmla="*/ 2 w 34"/>
                <a:gd name="T65" fmla="*/ 21 h 33"/>
                <a:gd name="T66" fmla="*/ 2 w 34"/>
                <a:gd name="T67" fmla="*/ 23 h 33"/>
                <a:gd name="T68" fmla="*/ 4 w 34"/>
                <a:gd name="T69" fmla="*/ 25 h 33"/>
                <a:gd name="T70" fmla="*/ 6 w 34"/>
                <a:gd name="T71" fmla="*/ 27 h 33"/>
                <a:gd name="T72" fmla="*/ 8 w 34"/>
                <a:gd name="T73" fmla="*/ 29 h 33"/>
                <a:gd name="T74" fmla="*/ 10 w 34"/>
                <a:gd name="T75" fmla="*/ 31 h 33"/>
                <a:gd name="T76" fmla="*/ 12 w 34"/>
                <a:gd name="T77" fmla="*/ 31 h 33"/>
                <a:gd name="T78" fmla="*/ 14 w 34"/>
                <a:gd name="T79" fmla="*/ 33 h 33"/>
                <a:gd name="T80" fmla="*/ 16 w 34"/>
                <a:gd name="T81" fmla="*/ 33 h 33"/>
                <a:gd name="T82" fmla="*/ 16 w 34"/>
                <a:gd name="T83" fmla="*/ 33 h 33"/>
                <a:gd name="T84" fmla="*/ 16 w 34"/>
                <a:gd name="T85" fmla="*/ 31 h 33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34" h="33">
                  <a:moveTo>
                    <a:pt x="16" y="31"/>
                  </a:moveTo>
                  <a:lnTo>
                    <a:pt x="20" y="33"/>
                  </a:lnTo>
                  <a:lnTo>
                    <a:pt x="22" y="31"/>
                  </a:lnTo>
                  <a:lnTo>
                    <a:pt x="24" y="31"/>
                  </a:lnTo>
                  <a:lnTo>
                    <a:pt x="26" y="29"/>
                  </a:lnTo>
                  <a:lnTo>
                    <a:pt x="28" y="27"/>
                  </a:lnTo>
                  <a:lnTo>
                    <a:pt x="30" y="25"/>
                  </a:lnTo>
                  <a:lnTo>
                    <a:pt x="32" y="23"/>
                  </a:lnTo>
                  <a:lnTo>
                    <a:pt x="32" y="21"/>
                  </a:lnTo>
                  <a:lnTo>
                    <a:pt x="34" y="19"/>
                  </a:lnTo>
                  <a:lnTo>
                    <a:pt x="34" y="15"/>
                  </a:lnTo>
                  <a:lnTo>
                    <a:pt x="34" y="13"/>
                  </a:lnTo>
                  <a:lnTo>
                    <a:pt x="32" y="11"/>
                  </a:lnTo>
                  <a:lnTo>
                    <a:pt x="32" y="10"/>
                  </a:lnTo>
                  <a:lnTo>
                    <a:pt x="30" y="6"/>
                  </a:lnTo>
                  <a:lnTo>
                    <a:pt x="28" y="6"/>
                  </a:lnTo>
                  <a:lnTo>
                    <a:pt x="26" y="4"/>
                  </a:lnTo>
                  <a:lnTo>
                    <a:pt x="24" y="2"/>
                  </a:lnTo>
                  <a:lnTo>
                    <a:pt x="22" y="0"/>
                  </a:lnTo>
                  <a:lnTo>
                    <a:pt x="20" y="0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2"/>
                  </a:lnTo>
                  <a:lnTo>
                    <a:pt x="8" y="4"/>
                  </a:lnTo>
                  <a:lnTo>
                    <a:pt x="6" y="6"/>
                  </a:lnTo>
                  <a:lnTo>
                    <a:pt x="4" y="6"/>
                  </a:lnTo>
                  <a:lnTo>
                    <a:pt x="2" y="10"/>
                  </a:lnTo>
                  <a:lnTo>
                    <a:pt x="2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9"/>
                  </a:lnTo>
                  <a:lnTo>
                    <a:pt x="2" y="21"/>
                  </a:lnTo>
                  <a:lnTo>
                    <a:pt x="2" y="23"/>
                  </a:lnTo>
                  <a:lnTo>
                    <a:pt x="4" y="25"/>
                  </a:lnTo>
                  <a:lnTo>
                    <a:pt x="6" y="27"/>
                  </a:lnTo>
                  <a:lnTo>
                    <a:pt x="8" y="29"/>
                  </a:lnTo>
                  <a:lnTo>
                    <a:pt x="10" y="31"/>
                  </a:lnTo>
                  <a:lnTo>
                    <a:pt x="12" y="31"/>
                  </a:lnTo>
                  <a:lnTo>
                    <a:pt x="14" y="33"/>
                  </a:lnTo>
                  <a:lnTo>
                    <a:pt x="16" y="33"/>
                  </a:lnTo>
                  <a:lnTo>
                    <a:pt x="16" y="3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323" name="Freeform 118"/>
            <p:cNvSpPr>
              <a:spLocks/>
            </p:cNvSpPr>
            <p:nvPr/>
          </p:nvSpPr>
          <p:spPr bwMode="auto">
            <a:xfrm>
              <a:off x="1830" y="2047"/>
              <a:ext cx="84" cy="97"/>
            </a:xfrm>
            <a:custGeom>
              <a:avLst/>
              <a:gdLst>
                <a:gd name="T0" fmla="*/ 84 w 84"/>
                <a:gd name="T1" fmla="*/ 95 h 97"/>
                <a:gd name="T2" fmla="*/ 84 w 84"/>
                <a:gd name="T3" fmla="*/ 0 h 97"/>
                <a:gd name="T4" fmla="*/ 0 w 84"/>
                <a:gd name="T5" fmla="*/ 0 h 97"/>
                <a:gd name="T6" fmla="*/ 0 w 84"/>
                <a:gd name="T7" fmla="*/ 97 h 97"/>
                <a:gd name="T8" fmla="*/ 84 w 84"/>
                <a:gd name="T9" fmla="*/ 97 h 97"/>
                <a:gd name="T10" fmla="*/ 84 w 84"/>
                <a:gd name="T11" fmla="*/ 97 h 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4" h="97">
                  <a:moveTo>
                    <a:pt x="84" y="95"/>
                  </a:moveTo>
                  <a:lnTo>
                    <a:pt x="84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84" y="9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324" name="Freeform 119"/>
            <p:cNvSpPr>
              <a:spLocks/>
            </p:cNvSpPr>
            <p:nvPr/>
          </p:nvSpPr>
          <p:spPr bwMode="auto">
            <a:xfrm>
              <a:off x="1830" y="2242"/>
              <a:ext cx="84" cy="98"/>
            </a:xfrm>
            <a:custGeom>
              <a:avLst/>
              <a:gdLst>
                <a:gd name="T0" fmla="*/ 84 w 84"/>
                <a:gd name="T1" fmla="*/ 96 h 98"/>
                <a:gd name="T2" fmla="*/ 84 w 84"/>
                <a:gd name="T3" fmla="*/ 0 h 98"/>
                <a:gd name="T4" fmla="*/ 0 w 84"/>
                <a:gd name="T5" fmla="*/ 0 h 98"/>
                <a:gd name="T6" fmla="*/ 0 w 84"/>
                <a:gd name="T7" fmla="*/ 98 h 98"/>
                <a:gd name="T8" fmla="*/ 84 w 84"/>
                <a:gd name="T9" fmla="*/ 98 h 98"/>
                <a:gd name="T10" fmla="*/ 84 w 84"/>
                <a:gd name="T11" fmla="*/ 98 h 9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4" h="98">
                  <a:moveTo>
                    <a:pt x="84" y="96"/>
                  </a:moveTo>
                  <a:lnTo>
                    <a:pt x="84" y="0"/>
                  </a:lnTo>
                  <a:lnTo>
                    <a:pt x="0" y="0"/>
                  </a:lnTo>
                  <a:lnTo>
                    <a:pt x="0" y="98"/>
                  </a:lnTo>
                  <a:lnTo>
                    <a:pt x="84" y="98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325" name="Freeform 120"/>
            <p:cNvSpPr>
              <a:spLocks/>
            </p:cNvSpPr>
            <p:nvPr/>
          </p:nvSpPr>
          <p:spPr bwMode="auto">
            <a:xfrm>
              <a:off x="1830" y="2437"/>
              <a:ext cx="84" cy="98"/>
            </a:xfrm>
            <a:custGeom>
              <a:avLst/>
              <a:gdLst>
                <a:gd name="T0" fmla="*/ 84 w 84"/>
                <a:gd name="T1" fmla="*/ 96 h 98"/>
                <a:gd name="T2" fmla="*/ 84 w 84"/>
                <a:gd name="T3" fmla="*/ 0 h 98"/>
                <a:gd name="T4" fmla="*/ 0 w 84"/>
                <a:gd name="T5" fmla="*/ 0 h 98"/>
                <a:gd name="T6" fmla="*/ 0 w 84"/>
                <a:gd name="T7" fmla="*/ 98 h 98"/>
                <a:gd name="T8" fmla="*/ 84 w 84"/>
                <a:gd name="T9" fmla="*/ 98 h 98"/>
                <a:gd name="T10" fmla="*/ 84 w 84"/>
                <a:gd name="T11" fmla="*/ 98 h 9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4" h="98">
                  <a:moveTo>
                    <a:pt x="84" y="96"/>
                  </a:moveTo>
                  <a:lnTo>
                    <a:pt x="84" y="0"/>
                  </a:lnTo>
                  <a:lnTo>
                    <a:pt x="0" y="0"/>
                  </a:lnTo>
                  <a:lnTo>
                    <a:pt x="0" y="98"/>
                  </a:lnTo>
                  <a:lnTo>
                    <a:pt x="84" y="98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326" name="Rectangle 121"/>
            <p:cNvSpPr>
              <a:spLocks noChangeArrowheads="1"/>
            </p:cNvSpPr>
            <p:nvPr/>
          </p:nvSpPr>
          <p:spPr bwMode="auto">
            <a:xfrm>
              <a:off x="2536" y="1784"/>
              <a:ext cx="43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P</a:t>
              </a:r>
              <a:endParaRPr lang="en-US" sz="1600"/>
            </a:p>
          </p:txBody>
        </p:sp>
        <p:sp>
          <p:nvSpPr>
            <p:cNvPr id="47327" name="Rectangle 122"/>
            <p:cNvSpPr>
              <a:spLocks noChangeArrowheads="1"/>
            </p:cNvSpPr>
            <p:nvPr/>
          </p:nvSpPr>
          <p:spPr bwMode="auto">
            <a:xfrm>
              <a:off x="2582" y="1784"/>
              <a:ext cx="36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h</a:t>
              </a:r>
              <a:endParaRPr lang="en-US" sz="1600"/>
            </a:p>
          </p:txBody>
        </p:sp>
        <p:sp>
          <p:nvSpPr>
            <p:cNvPr id="47328" name="Rectangle 123"/>
            <p:cNvSpPr>
              <a:spLocks noChangeArrowheads="1"/>
            </p:cNvSpPr>
            <p:nvPr/>
          </p:nvSpPr>
          <p:spPr bwMode="auto">
            <a:xfrm>
              <a:off x="2618" y="1784"/>
              <a:ext cx="32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y</a:t>
              </a:r>
              <a:endParaRPr lang="en-US" sz="1600"/>
            </a:p>
          </p:txBody>
        </p:sp>
        <p:sp>
          <p:nvSpPr>
            <p:cNvPr id="47329" name="Rectangle 124"/>
            <p:cNvSpPr>
              <a:spLocks noChangeArrowheads="1"/>
            </p:cNvSpPr>
            <p:nvPr/>
          </p:nvSpPr>
          <p:spPr bwMode="auto">
            <a:xfrm>
              <a:off x="2651" y="1784"/>
              <a:ext cx="32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s</a:t>
              </a:r>
              <a:endParaRPr lang="en-US" sz="1600"/>
            </a:p>
          </p:txBody>
        </p:sp>
        <p:sp>
          <p:nvSpPr>
            <p:cNvPr id="47330" name="Rectangle 125"/>
            <p:cNvSpPr>
              <a:spLocks noChangeArrowheads="1"/>
            </p:cNvSpPr>
            <p:nvPr/>
          </p:nvSpPr>
          <p:spPr bwMode="auto">
            <a:xfrm>
              <a:off x="2683" y="1784"/>
              <a:ext cx="14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i</a:t>
              </a:r>
              <a:endParaRPr lang="en-US" sz="1600"/>
            </a:p>
          </p:txBody>
        </p:sp>
        <p:sp>
          <p:nvSpPr>
            <p:cNvPr id="47331" name="Rectangle 126"/>
            <p:cNvSpPr>
              <a:spLocks noChangeArrowheads="1"/>
            </p:cNvSpPr>
            <p:nvPr/>
          </p:nvSpPr>
          <p:spPr bwMode="auto">
            <a:xfrm>
              <a:off x="2699" y="1784"/>
              <a:ext cx="32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c</a:t>
              </a:r>
              <a:endParaRPr lang="en-US" sz="1600"/>
            </a:p>
          </p:txBody>
        </p:sp>
        <p:sp>
          <p:nvSpPr>
            <p:cNvPr id="47332" name="Rectangle 127"/>
            <p:cNvSpPr>
              <a:spLocks noChangeArrowheads="1"/>
            </p:cNvSpPr>
            <p:nvPr/>
          </p:nvSpPr>
          <p:spPr bwMode="auto">
            <a:xfrm>
              <a:off x="2731" y="1784"/>
              <a:ext cx="36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a</a:t>
              </a:r>
              <a:endParaRPr lang="en-US" sz="1600"/>
            </a:p>
          </p:txBody>
        </p:sp>
        <p:sp>
          <p:nvSpPr>
            <p:cNvPr id="47333" name="Rectangle 128"/>
            <p:cNvSpPr>
              <a:spLocks noChangeArrowheads="1"/>
            </p:cNvSpPr>
            <p:nvPr/>
          </p:nvSpPr>
          <p:spPr bwMode="auto">
            <a:xfrm>
              <a:off x="2769" y="1784"/>
              <a:ext cx="14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l</a:t>
              </a:r>
              <a:endParaRPr lang="en-US" sz="1600"/>
            </a:p>
          </p:txBody>
        </p:sp>
        <p:sp>
          <p:nvSpPr>
            <p:cNvPr id="47334" name="Rectangle 129"/>
            <p:cNvSpPr>
              <a:spLocks noChangeArrowheads="1"/>
            </p:cNvSpPr>
            <p:nvPr/>
          </p:nvSpPr>
          <p:spPr bwMode="auto">
            <a:xfrm>
              <a:off x="2783" y="1784"/>
              <a:ext cx="18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 </a:t>
              </a:r>
              <a:endParaRPr lang="en-US" sz="1600"/>
            </a:p>
          </p:txBody>
        </p:sp>
        <p:sp>
          <p:nvSpPr>
            <p:cNvPr id="47335" name="Rectangle 130"/>
            <p:cNvSpPr>
              <a:spLocks noChangeArrowheads="1"/>
            </p:cNvSpPr>
            <p:nvPr/>
          </p:nvSpPr>
          <p:spPr bwMode="auto">
            <a:xfrm>
              <a:off x="2803" y="1784"/>
              <a:ext cx="36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p</a:t>
              </a:r>
              <a:endParaRPr lang="en-US" sz="1600"/>
            </a:p>
          </p:txBody>
        </p:sp>
        <p:sp>
          <p:nvSpPr>
            <p:cNvPr id="47336" name="Rectangle 131"/>
            <p:cNvSpPr>
              <a:spLocks noChangeArrowheads="1"/>
            </p:cNvSpPr>
            <p:nvPr/>
          </p:nvSpPr>
          <p:spPr bwMode="auto">
            <a:xfrm>
              <a:off x="2839" y="1784"/>
              <a:ext cx="36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a</a:t>
              </a:r>
              <a:endParaRPr lang="en-US" sz="1600"/>
            </a:p>
          </p:txBody>
        </p:sp>
        <p:sp>
          <p:nvSpPr>
            <p:cNvPr id="47337" name="Rectangle 132"/>
            <p:cNvSpPr>
              <a:spLocks noChangeArrowheads="1"/>
            </p:cNvSpPr>
            <p:nvPr/>
          </p:nvSpPr>
          <p:spPr bwMode="auto">
            <a:xfrm>
              <a:off x="2877" y="1784"/>
              <a:ext cx="36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g</a:t>
              </a:r>
              <a:endParaRPr lang="en-US" sz="1600"/>
            </a:p>
          </p:txBody>
        </p:sp>
        <p:sp>
          <p:nvSpPr>
            <p:cNvPr id="47338" name="Rectangle 133"/>
            <p:cNvSpPr>
              <a:spLocks noChangeArrowheads="1"/>
            </p:cNvSpPr>
            <p:nvPr/>
          </p:nvSpPr>
          <p:spPr bwMode="auto">
            <a:xfrm>
              <a:off x="2913" y="1784"/>
              <a:ext cx="36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e</a:t>
              </a:r>
              <a:endParaRPr lang="en-US" sz="1600"/>
            </a:p>
          </p:txBody>
        </p:sp>
        <p:sp>
          <p:nvSpPr>
            <p:cNvPr id="47339" name="Rectangle 134"/>
            <p:cNvSpPr>
              <a:spLocks noChangeArrowheads="1"/>
            </p:cNvSpPr>
            <p:nvPr/>
          </p:nvSpPr>
          <p:spPr bwMode="auto">
            <a:xfrm>
              <a:off x="2951" y="1784"/>
              <a:ext cx="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 sz="1600"/>
            </a:p>
          </p:txBody>
        </p:sp>
        <p:sp>
          <p:nvSpPr>
            <p:cNvPr id="47340" name="Rectangle 135"/>
            <p:cNvSpPr>
              <a:spLocks noChangeArrowheads="1"/>
            </p:cNvSpPr>
            <p:nvPr/>
          </p:nvSpPr>
          <p:spPr bwMode="auto">
            <a:xfrm>
              <a:off x="2618" y="1863"/>
              <a:ext cx="36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a</a:t>
              </a:r>
              <a:endParaRPr lang="en-US" sz="1600"/>
            </a:p>
          </p:txBody>
        </p:sp>
        <p:sp>
          <p:nvSpPr>
            <p:cNvPr id="47341" name="Rectangle 136"/>
            <p:cNvSpPr>
              <a:spLocks noChangeArrowheads="1"/>
            </p:cNvSpPr>
            <p:nvPr/>
          </p:nvSpPr>
          <p:spPr bwMode="auto">
            <a:xfrm>
              <a:off x="2655" y="1863"/>
              <a:ext cx="36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d</a:t>
              </a:r>
              <a:endParaRPr lang="en-US" sz="1600"/>
            </a:p>
          </p:txBody>
        </p:sp>
        <p:sp>
          <p:nvSpPr>
            <p:cNvPr id="47342" name="Rectangle 137"/>
            <p:cNvSpPr>
              <a:spLocks noChangeArrowheads="1"/>
            </p:cNvSpPr>
            <p:nvPr/>
          </p:nvSpPr>
          <p:spPr bwMode="auto">
            <a:xfrm>
              <a:off x="2691" y="1863"/>
              <a:ext cx="36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d</a:t>
              </a:r>
              <a:endParaRPr lang="en-US" sz="1600"/>
            </a:p>
          </p:txBody>
        </p:sp>
        <p:sp>
          <p:nvSpPr>
            <p:cNvPr id="47343" name="Rectangle 138"/>
            <p:cNvSpPr>
              <a:spLocks noChangeArrowheads="1"/>
            </p:cNvSpPr>
            <p:nvPr/>
          </p:nvSpPr>
          <p:spPr bwMode="auto">
            <a:xfrm>
              <a:off x="2729" y="1863"/>
              <a:ext cx="21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r</a:t>
              </a:r>
              <a:endParaRPr lang="en-US" sz="1600"/>
            </a:p>
          </p:txBody>
        </p:sp>
        <p:sp>
          <p:nvSpPr>
            <p:cNvPr id="47344" name="Rectangle 139"/>
            <p:cNvSpPr>
              <a:spLocks noChangeArrowheads="1"/>
            </p:cNvSpPr>
            <p:nvPr/>
          </p:nvSpPr>
          <p:spPr bwMode="auto">
            <a:xfrm>
              <a:off x="2751" y="1863"/>
              <a:ext cx="36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e</a:t>
              </a:r>
              <a:endParaRPr lang="en-US" sz="1600"/>
            </a:p>
          </p:txBody>
        </p:sp>
        <p:sp>
          <p:nvSpPr>
            <p:cNvPr id="47345" name="Rectangle 140"/>
            <p:cNvSpPr>
              <a:spLocks noChangeArrowheads="1"/>
            </p:cNvSpPr>
            <p:nvPr/>
          </p:nvSpPr>
          <p:spPr bwMode="auto">
            <a:xfrm>
              <a:off x="2787" y="1863"/>
              <a:ext cx="32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s</a:t>
              </a:r>
              <a:endParaRPr lang="en-US" sz="1600"/>
            </a:p>
          </p:txBody>
        </p:sp>
        <p:sp>
          <p:nvSpPr>
            <p:cNvPr id="47346" name="Rectangle 141"/>
            <p:cNvSpPr>
              <a:spLocks noChangeArrowheads="1"/>
            </p:cNvSpPr>
            <p:nvPr/>
          </p:nvSpPr>
          <p:spPr bwMode="auto">
            <a:xfrm>
              <a:off x="2821" y="1863"/>
              <a:ext cx="32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s</a:t>
              </a:r>
              <a:endParaRPr lang="en-US" sz="1600"/>
            </a:p>
          </p:txBody>
        </p:sp>
        <p:sp>
          <p:nvSpPr>
            <p:cNvPr id="47347" name="Freeform 142"/>
            <p:cNvSpPr>
              <a:spLocks/>
            </p:cNvSpPr>
            <p:nvPr/>
          </p:nvSpPr>
          <p:spPr bwMode="auto">
            <a:xfrm>
              <a:off x="2460" y="1949"/>
              <a:ext cx="554" cy="98"/>
            </a:xfrm>
            <a:custGeom>
              <a:avLst/>
              <a:gdLst>
                <a:gd name="T0" fmla="*/ 554 w 554"/>
                <a:gd name="T1" fmla="*/ 96 h 98"/>
                <a:gd name="T2" fmla="*/ 554 w 554"/>
                <a:gd name="T3" fmla="*/ 0 h 98"/>
                <a:gd name="T4" fmla="*/ 0 w 554"/>
                <a:gd name="T5" fmla="*/ 0 h 98"/>
                <a:gd name="T6" fmla="*/ 0 w 554"/>
                <a:gd name="T7" fmla="*/ 98 h 98"/>
                <a:gd name="T8" fmla="*/ 554 w 554"/>
                <a:gd name="T9" fmla="*/ 98 h 98"/>
                <a:gd name="T10" fmla="*/ 554 w 554"/>
                <a:gd name="T11" fmla="*/ 98 h 9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54" h="98">
                  <a:moveTo>
                    <a:pt x="554" y="96"/>
                  </a:moveTo>
                  <a:lnTo>
                    <a:pt x="554" y="0"/>
                  </a:lnTo>
                  <a:lnTo>
                    <a:pt x="0" y="0"/>
                  </a:lnTo>
                  <a:lnTo>
                    <a:pt x="0" y="98"/>
                  </a:lnTo>
                  <a:lnTo>
                    <a:pt x="554" y="98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348" name="Rectangle 143"/>
            <p:cNvSpPr>
              <a:spLocks noChangeArrowheads="1"/>
            </p:cNvSpPr>
            <p:nvPr/>
          </p:nvSpPr>
          <p:spPr bwMode="auto">
            <a:xfrm>
              <a:off x="1798" y="1845"/>
              <a:ext cx="43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V</a:t>
              </a:r>
              <a:endParaRPr lang="en-US" sz="1600"/>
            </a:p>
          </p:txBody>
        </p:sp>
        <p:sp>
          <p:nvSpPr>
            <p:cNvPr id="47349" name="Rectangle 144"/>
            <p:cNvSpPr>
              <a:spLocks noChangeArrowheads="1"/>
            </p:cNvSpPr>
            <p:nvPr/>
          </p:nvSpPr>
          <p:spPr bwMode="auto">
            <a:xfrm>
              <a:off x="1842" y="1845"/>
              <a:ext cx="36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a</a:t>
              </a:r>
              <a:endParaRPr lang="en-US" sz="1600"/>
            </a:p>
          </p:txBody>
        </p:sp>
        <p:sp>
          <p:nvSpPr>
            <p:cNvPr id="47350" name="Rectangle 145"/>
            <p:cNvSpPr>
              <a:spLocks noChangeArrowheads="1"/>
            </p:cNvSpPr>
            <p:nvPr/>
          </p:nvSpPr>
          <p:spPr bwMode="auto">
            <a:xfrm>
              <a:off x="1878" y="1845"/>
              <a:ext cx="14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l</a:t>
              </a:r>
              <a:endParaRPr lang="en-US" sz="1600"/>
            </a:p>
          </p:txBody>
        </p:sp>
        <p:sp>
          <p:nvSpPr>
            <p:cNvPr id="47351" name="Rectangle 146"/>
            <p:cNvSpPr>
              <a:spLocks noChangeArrowheads="1"/>
            </p:cNvSpPr>
            <p:nvPr/>
          </p:nvSpPr>
          <p:spPr bwMode="auto">
            <a:xfrm>
              <a:off x="1894" y="1845"/>
              <a:ext cx="14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i</a:t>
              </a:r>
              <a:endParaRPr lang="en-US" sz="1600"/>
            </a:p>
          </p:txBody>
        </p:sp>
        <p:sp>
          <p:nvSpPr>
            <p:cNvPr id="47352" name="Rectangle 147"/>
            <p:cNvSpPr>
              <a:spLocks noChangeArrowheads="1"/>
            </p:cNvSpPr>
            <p:nvPr/>
          </p:nvSpPr>
          <p:spPr bwMode="auto">
            <a:xfrm>
              <a:off x="1908" y="1845"/>
              <a:ext cx="36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d</a:t>
              </a:r>
              <a:endParaRPr lang="en-US" sz="1600"/>
            </a:p>
          </p:txBody>
        </p:sp>
        <p:sp>
          <p:nvSpPr>
            <p:cNvPr id="47353" name="Freeform 148"/>
            <p:cNvSpPr>
              <a:spLocks/>
            </p:cNvSpPr>
            <p:nvPr/>
          </p:nvSpPr>
          <p:spPr bwMode="auto">
            <a:xfrm>
              <a:off x="1830" y="1949"/>
              <a:ext cx="84" cy="98"/>
            </a:xfrm>
            <a:custGeom>
              <a:avLst/>
              <a:gdLst>
                <a:gd name="T0" fmla="*/ 84 w 84"/>
                <a:gd name="T1" fmla="*/ 96 h 98"/>
                <a:gd name="T2" fmla="*/ 84 w 84"/>
                <a:gd name="T3" fmla="*/ 0 h 98"/>
                <a:gd name="T4" fmla="*/ 0 w 84"/>
                <a:gd name="T5" fmla="*/ 0 h 98"/>
                <a:gd name="T6" fmla="*/ 0 w 84"/>
                <a:gd name="T7" fmla="*/ 98 h 98"/>
                <a:gd name="T8" fmla="*/ 84 w 84"/>
                <a:gd name="T9" fmla="*/ 98 h 98"/>
                <a:gd name="T10" fmla="*/ 84 w 84"/>
                <a:gd name="T11" fmla="*/ 98 h 9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4" h="98">
                  <a:moveTo>
                    <a:pt x="84" y="96"/>
                  </a:moveTo>
                  <a:lnTo>
                    <a:pt x="84" y="0"/>
                  </a:lnTo>
                  <a:lnTo>
                    <a:pt x="0" y="0"/>
                  </a:lnTo>
                  <a:lnTo>
                    <a:pt x="0" y="98"/>
                  </a:lnTo>
                  <a:lnTo>
                    <a:pt x="84" y="98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354" name="Rectangle 149"/>
            <p:cNvSpPr>
              <a:spLocks noChangeArrowheads="1"/>
            </p:cNvSpPr>
            <p:nvPr/>
          </p:nvSpPr>
          <p:spPr bwMode="auto">
            <a:xfrm>
              <a:off x="2398" y="1724"/>
              <a:ext cx="39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T</a:t>
              </a:r>
              <a:endParaRPr lang="en-US" sz="1600"/>
            </a:p>
          </p:txBody>
        </p:sp>
        <p:sp>
          <p:nvSpPr>
            <p:cNvPr id="47355" name="Rectangle 150"/>
            <p:cNvSpPr>
              <a:spLocks noChangeArrowheads="1"/>
            </p:cNvSpPr>
            <p:nvPr/>
          </p:nvSpPr>
          <p:spPr bwMode="auto">
            <a:xfrm>
              <a:off x="2438" y="1724"/>
              <a:ext cx="36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L</a:t>
              </a:r>
              <a:endParaRPr lang="en-US" sz="1600"/>
            </a:p>
          </p:txBody>
        </p:sp>
        <p:sp>
          <p:nvSpPr>
            <p:cNvPr id="47356" name="Rectangle 151"/>
            <p:cNvSpPr>
              <a:spLocks noChangeArrowheads="1"/>
            </p:cNvSpPr>
            <p:nvPr/>
          </p:nvSpPr>
          <p:spPr bwMode="auto">
            <a:xfrm>
              <a:off x="2476" y="1724"/>
              <a:ext cx="43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B</a:t>
              </a:r>
              <a:endParaRPr lang="en-US" sz="1600"/>
            </a:p>
          </p:txBody>
        </p:sp>
        <p:sp>
          <p:nvSpPr>
            <p:cNvPr id="47357" name="Rectangle 152"/>
            <p:cNvSpPr>
              <a:spLocks noChangeArrowheads="1"/>
            </p:cNvSpPr>
            <p:nvPr/>
          </p:nvSpPr>
          <p:spPr bwMode="auto">
            <a:xfrm>
              <a:off x="1852" y="2056"/>
              <a:ext cx="36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1</a:t>
              </a:r>
              <a:endParaRPr lang="en-US" sz="1600"/>
            </a:p>
          </p:txBody>
        </p:sp>
        <p:sp>
          <p:nvSpPr>
            <p:cNvPr id="47358" name="Rectangle 153"/>
            <p:cNvSpPr>
              <a:spLocks noChangeArrowheads="1"/>
            </p:cNvSpPr>
            <p:nvPr/>
          </p:nvSpPr>
          <p:spPr bwMode="auto">
            <a:xfrm>
              <a:off x="1852" y="2154"/>
              <a:ext cx="36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1</a:t>
              </a:r>
              <a:endParaRPr lang="en-US" sz="1600"/>
            </a:p>
          </p:txBody>
        </p:sp>
        <p:sp>
          <p:nvSpPr>
            <p:cNvPr id="47359" name="Rectangle 154"/>
            <p:cNvSpPr>
              <a:spLocks noChangeArrowheads="1"/>
            </p:cNvSpPr>
            <p:nvPr/>
          </p:nvSpPr>
          <p:spPr bwMode="auto">
            <a:xfrm>
              <a:off x="1852" y="2251"/>
              <a:ext cx="36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1</a:t>
              </a:r>
              <a:endParaRPr lang="en-US" sz="1600"/>
            </a:p>
          </p:txBody>
        </p:sp>
        <p:sp>
          <p:nvSpPr>
            <p:cNvPr id="47360" name="Rectangle 155"/>
            <p:cNvSpPr>
              <a:spLocks noChangeArrowheads="1"/>
            </p:cNvSpPr>
            <p:nvPr/>
          </p:nvSpPr>
          <p:spPr bwMode="auto">
            <a:xfrm>
              <a:off x="1852" y="2349"/>
              <a:ext cx="36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1</a:t>
              </a:r>
              <a:endParaRPr lang="en-US" sz="1600"/>
            </a:p>
          </p:txBody>
        </p:sp>
        <p:sp>
          <p:nvSpPr>
            <p:cNvPr id="47361" name="Rectangle 156"/>
            <p:cNvSpPr>
              <a:spLocks noChangeArrowheads="1"/>
            </p:cNvSpPr>
            <p:nvPr/>
          </p:nvSpPr>
          <p:spPr bwMode="auto">
            <a:xfrm>
              <a:off x="1852" y="2447"/>
              <a:ext cx="36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0</a:t>
              </a:r>
              <a:endParaRPr lang="en-US" sz="1600"/>
            </a:p>
          </p:txBody>
        </p:sp>
        <p:sp>
          <p:nvSpPr>
            <p:cNvPr id="47362" name="Rectangle 157"/>
            <p:cNvSpPr>
              <a:spLocks noChangeArrowheads="1"/>
            </p:cNvSpPr>
            <p:nvPr/>
          </p:nvSpPr>
          <p:spPr bwMode="auto">
            <a:xfrm>
              <a:off x="1852" y="2544"/>
              <a:ext cx="36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1</a:t>
              </a:r>
              <a:endParaRPr lang="en-US" sz="1600"/>
            </a:p>
          </p:txBody>
        </p:sp>
        <p:sp>
          <p:nvSpPr>
            <p:cNvPr id="47363" name="Freeform 158"/>
            <p:cNvSpPr>
              <a:spLocks/>
            </p:cNvSpPr>
            <p:nvPr/>
          </p:nvSpPr>
          <p:spPr bwMode="auto">
            <a:xfrm>
              <a:off x="1914" y="2047"/>
              <a:ext cx="546" cy="97"/>
            </a:xfrm>
            <a:custGeom>
              <a:avLst/>
              <a:gdLst>
                <a:gd name="T0" fmla="*/ 546 w 546"/>
                <a:gd name="T1" fmla="*/ 95 h 97"/>
                <a:gd name="T2" fmla="*/ 546 w 546"/>
                <a:gd name="T3" fmla="*/ 0 h 97"/>
                <a:gd name="T4" fmla="*/ 0 w 546"/>
                <a:gd name="T5" fmla="*/ 0 h 97"/>
                <a:gd name="T6" fmla="*/ 0 w 546"/>
                <a:gd name="T7" fmla="*/ 97 h 97"/>
                <a:gd name="T8" fmla="*/ 546 w 546"/>
                <a:gd name="T9" fmla="*/ 97 h 97"/>
                <a:gd name="T10" fmla="*/ 546 w 546"/>
                <a:gd name="T11" fmla="*/ 97 h 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46" h="97">
                  <a:moveTo>
                    <a:pt x="546" y="95"/>
                  </a:moveTo>
                  <a:lnTo>
                    <a:pt x="546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546" y="9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364" name="Freeform 159"/>
            <p:cNvSpPr>
              <a:spLocks/>
            </p:cNvSpPr>
            <p:nvPr/>
          </p:nvSpPr>
          <p:spPr bwMode="auto">
            <a:xfrm>
              <a:off x="1914" y="2242"/>
              <a:ext cx="546" cy="98"/>
            </a:xfrm>
            <a:custGeom>
              <a:avLst/>
              <a:gdLst>
                <a:gd name="T0" fmla="*/ 546 w 546"/>
                <a:gd name="T1" fmla="*/ 96 h 98"/>
                <a:gd name="T2" fmla="*/ 546 w 546"/>
                <a:gd name="T3" fmla="*/ 0 h 98"/>
                <a:gd name="T4" fmla="*/ 0 w 546"/>
                <a:gd name="T5" fmla="*/ 0 h 98"/>
                <a:gd name="T6" fmla="*/ 0 w 546"/>
                <a:gd name="T7" fmla="*/ 98 h 98"/>
                <a:gd name="T8" fmla="*/ 546 w 546"/>
                <a:gd name="T9" fmla="*/ 98 h 98"/>
                <a:gd name="T10" fmla="*/ 546 w 546"/>
                <a:gd name="T11" fmla="*/ 98 h 9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46" h="98">
                  <a:moveTo>
                    <a:pt x="546" y="96"/>
                  </a:moveTo>
                  <a:lnTo>
                    <a:pt x="546" y="0"/>
                  </a:lnTo>
                  <a:lnTo>
                    <a:pt x="0" y="0"/>
                  </a:lnTo>
                  <a:lnTo>
                    <a:pt x="0" y="98"/>
                  </a:lnTo>
                  <a:lnTo>
                    <a:pt x="546" y="98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365" name="Freeform 160"/>
            <p:cNvSpPr>
              <a:spLocks/>
            </p:cNvSpPr>
            <p:nvPr/>
          </p:nvSpPr>
          <p:spPr bwMode="auto">
            <a:xfrm>
              <a:off x="1914" y="2437"/>
              <a:ext cx="546" cy="98"/>
            </a:xfrm>
            <a:custGeom>
              <a:avLst/>
              <a:gdLst>
                <a:gd name="T0" fmla="*/ 546 w 546"/>
                <a:gd name="T1" fmla="*/ 96 h 98"/>
                <a:gd name="T2" fmla="*/ 546 w 546"/>
                <a:gd name="T3" fmla="*/ 0 h 98"/>
                <a:gd name="T4" fmla="*/ 0 w 546"/>
                <a:gd name="T5" fmla="*/ 0 h 98"/>
                <a:gd name="T6" fmla="*/ 0 w 546"/>
                <a:gd name="T7" fmla="*/ 98 h 98"/>
                <a:gd name="T8" fmla="*/ 546 w 546"/>
                <a:gd name="T9" fmla="*/ 98 h 98"/>
                <a:gd name="T10" fmla="*/ 546 w 546"/>
                <a:gd name="T11" fmla="*/ 98 h 9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46" h="98">
                  <a:moveTo>
                    <a:pt x="546" y="96"/>
                  </a:moveTo>
                  <a:lnTo>
                    <a:pt x="546" y="0"/>
                  </a:lnTo>
                  <a:lnTo>
                    <a:pt x="0" y="0"/>
                  </a:lnTo>
                  <a:lnTo>
                    <a:pt x="0" y="98"/>
                  </a:lnTo>
                  <a:lnTo>
                    <a:pt x="546" y="98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366" name="Rectangle 161"/>
            <p:cNvSpPr>
              <a:spLocks noChangeArrowheads="1"/>
            </p:cNvSpPr>
            <p:nvPr/>
          </p:nvSpPr>
          <p:spPr bwMode="auto">
            <a:xfrm>
              <a:off x="2127" y="1845"/>
              <a:ext cx="39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T</a:t>
              </a:r>
              <a:endParaRPr lang="en-US" sz="1600"/>
            </a:p>
          </p:txBody>
        </p:sp>
        <p:sp>
          <p:nvSpPr>
            <p:cNvPr id="47367" name="Rectangle 162"/>
            <p:cNvSpPr>
              <a:spLocks noChangeArrowheads="1"/>
            </p:cNvSpPr>
            <p:nvPr/>
          </p:nvSpPr>
          <p:spPr bwMode="auto">
            <a:xfrm>
              <a:off x="2167" y="1845"/>
              <a:ext cx="36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a</a:t>
              </a:r>
              <a:endParaRPr lang="en-US" sz="1600"/>
            </a:p>
          </p:txBody>
        </p:sp>
        <p:sp>
          <p:nvSpPr>
            <p:cNvPr id="47368" name="Rectangle 163"/>
            <p:cNvSpPr>
              <a:spLocks noChangeArrowheads="1"/>
            </p:cNvSpPr>
            <p:nvPr/>
          </p:nvSpPr>
          <p:spPr bwMode="auto">
            <a:xfrm>
              <a:off x="2205" y="1845"/>
              <a:ext cx="36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g</a:t>
              </a:r>
              <a:endParaRPr lang="en-US" sz="1600"/>
            </a:p>
          </p:txBody>
        </p:sp>
        <p:sp>
          <p:nvSpPr>
            <p:cNvPr id="47369" name="Freeform 164"/>
            <p:cNvSpPr>
              <a:spLocks/>
            </p:cNvSpPr>
            <p:nvPr/>
          </p:nvSpPr>
          <p:spPr bwMode="auto">
            <a:xfrm>
              <a:off x="1914" y="1949"/>
              <a:ext cx="546" cy="98"/>
            </a:xfrm>
            <a:custGeom>
              <a:avLst/>
              <a:gdLst>
                <a:gd name="T0" fmla="*/ 546 w 546"/>
                <a:gd name="T1" fmla="*/ 96 h 98"/>
                <a:gd name="T2" fmla="*/ 546 w 546"/>
                <a:gd name="T3" fmla="*/ 0 h 98"/>
                <a:gd name="T4" fmla="*/ 0 w 546"/>
                <a:gd name="T5" fmla="*/ 0 h 98"/>
                <a:gd name="T6" fmla="*/ 0 w 546"/>
                <a:gd name="T7" fmla="*/ 98 h 98"/>
                <a:gd name="T8" fmla="*/ 546 w 546"/>
                <a:gd name="T9" fmla="*/ 98 h 98"/>
                <a:gd name="T10" fmla="*/ 546 w 546"/>
                <a:gd name="T11" fmla="*/ 98 h 9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46" h="98">
                  <a:moveTo>
                    <a:pt x="546" y="96"/>
                  </a:moveTo>
                  <a:lnTo>
                    <a:pt x="546" y="0"/>
                  </a:lnTo>
                  <a:lnTo>
                    <a:pt x="0" y="0"/>
                  </a:lnTo>
                  <a:lnTo>
                    <a:pt x="0" y="98"/>
                  </a:lnTo>
                  <a:lnTo>
                    <a:pt x="546" y="98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370" name="Freeform 165"/>
            <p:cNvSpPr>
              <a:spLocks/>
            </p:cNvSpPr>
            <p:nvPr/>
          </p:nvSpPr>
          <p:spPr bwMode="auto">
            <a:xfrm>
              <a:off x="1210" y="1947"/>
              <a:ext cx="574" cy="98"/>
            </a:xfrm>
            <a:custGeom>
              <a:avLst/>
              <a:gdLst>
                <a:gd name="T0" fmla="*/ 572 w 574"/>
                <a:gd name="T1" fmla="*/ 98 h 98"/>
                <a:gd name="T2" fmla="*/ 574 w 574"/>
                <a:gd name="T3" fmla="*/ 0 h 98"/>
                <a:gd name="T4" fmla="*/ 0 w 574"/>
                <a:gd name="T5" fmla="*/ 0 h 98"/>
                <a:gd name="T6" fmla="*/ 0 w 574"/>
                <a:gd name="T7" fmla="*/ 98 h 98"/>
                <a:gd name="T8" fmla="*/ 574 w 574"/>
                <a:gd name="T9" fmla="*/ 98 h 98"/>
                <a:gd name="T10" fmla="*/ 574 w 574"/>
                <a:gd name="T11" fmla="*/ 98 h 9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4" h="98">
                  <a:moveTo>
                    <a:pt x="572" y="98"/>
                  </a:moveTo>
                  <a:lnTo>
                    <a:pt x="574" y="0"/>
                  </a:lnTo>
                  <a:lnTo>
                    <a:pt x="0" y="0"/>
                  </a:lnTo>
                  <a:lnTo>
                    <a:pt x="0" y="98"/>
                  </a:lnTo>
                  <a:lnTo>
                    <a:pt x="574" y="98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371" name="Rectangle 166"/>
            <p:cNvSpPr>
              <a:spLocks noChangeArrowheads="1"/>
            </p:cNvSpPr>
            <p:nvPr/>
          </p:nvSpPr>
          <p:spPr bwMode="auto">
            <a:xfrm>
              <a:off x="1328" y="1761"/>
              <a:ext cx="43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V</a:t>
              </a:r>
              <a:endParaRPr lang="en-US" sz="1600"/>
            </a:p>
          </p:txBody>
        </p:sp>
        <p:sp>
          <p:nvSpPr>
            <p:cNvPr id="47372" name="Rectangle 167"/>
            <p:cNvSpPr>
              <a:spLocks noChangeArrowheads="1"/>
            </p:cNvSpPr>
            <p:nvPr/>
          </p:nvSpPr>
          <p:spPr bwMode="auto">
            <a:xfrm>
              <a:off x="1371" y="1761"/>
              <a:ext cx="14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i</a:t>
              </a:r>
              <a:endParaRPr lang="en-US" sz="1600"/>
            </a:p>
          </p:txBody>
        </p:sp>
        <p:sp>
          <p:nvSpPr>
            <p:cNvPr id="47373" name="Rectangle 168"/>
            <p:cNvSpPr>
              <a:spLocks noChangeArrowheads="1"/>
            </p:cNvSpPr>
            <p:nvPr/>
          </p:nvSpPr>
          <p:spPr bwMode="auto">
            <a:xfrm>
              <a:off x="1387" y="1761"/>
              <a:ext cx="21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r</a:t>
              </a:r>
              <a:endParaRPr lang="en-US" sz="1600"/>
            </a:p>
          </p:txBody>
        </p:sp>
        <p:sp>
          <p:nvSpPr>
            <p:cNvPr id="47374" name="Rectangle 169"/>
            <p:cNvSpPr>
              <a:spLocks noChangeArrowheads="1"/>
            </p:cNvSpPr>
            <p:nvPr/>
          </p:nvSpPr>
          <p:spPr bwMode="auto">
            <a:xfrm>
              <a:off x="1409" y="1761"/>
              <a:ext cx="18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t</a:t>
              </a:r>
              <a:endParaRPr lang="en-US" sz="1600"/>
            </a:p>
          </p:txBody>
        </p:sp>
        <p:sp>
          <p:nvSpPr>
            <p:cNvPr id="47375" name="Rectangle 170"/>
            <p:cNvSpPr>
              <a:spLocks noChangeArrowheads="1"/>
            </p:cNvSpPr>
            <p:nvPr/>
          </p:nvSpPr>
          <p:spPr bwMode="auto">
            <a:xfrm>
              <a:off x="1427" y="1761"/>
              <a:ext cx="36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u</a:t>
              </a:r>
              <a:endParaRPr lang="en-US" sz="1600"/>
            </a:p>
          </p:txBody>
        </p:sp>
        <p:sp>
          <p:nvSpPr>
            <p:cNvPr id="47376" name="Rectangle 171"/>
            <p:cNvSpPr>
              <a:spLocks noChangeArrowheads="1"/>
            </p:cNvSpPr>
            <p:nvPr/>
          </p:nvSpPr>
          <p:spPr bwMode="auto">
            <a:xfrm>
              <a:off x="1465" y="1761"/>
              <a:ext cx="36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a</a:t>
              </a:r>
              <a:endParaRPr lang="en-US" sz="1600"/>
            </a:p>
          </p:txBody>
        </p:sp>
        <p:sp>
          <p:nvSpPr>
            <p:cNvPr id="47377" name="Rectangle 172"/>
            <p:cNvSpPr>
              <a:spLocks noChangeArrowheads="1"/>
            </p:cNvSpPr>
            <p:nvPr/>
          </p:nvSpPr>
          <p:spPr bwMode="auto">
            <a:xfrm>
              <a:off x="1501" y="1761"/>
              <a:ext cx="14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l</a:t>
              </a:r>
              <a:endParaRPr lang="en-US" sz="1600"/>
            </a:p>
          </p:txBody>
        </p:sp>
        <p:sp>
          <p:nvSpPr>
            <p:cNvPr id="47378" name="Rectangle 173"/>
            <p:cNvSpPr>
              <a:spLocks noChangeArrowheads="1"/>
            </p:cNvSpPr>
            <p:nvPr/>
          </p:nvSpPr>
          <p:spPr bwMode="auto">
            <a:xfrm>
              <a:off x="1517" y="1761"/>
              <a:ext cx="18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 </a:t>
              </a:r>
              <a:endParaRPr lang="en-US" sz="1600"/>
            </a:p>
          </p:txBody>
        </p:sp>
        <p:sp>
          <p:nvSpPr>
            <p:cNvPr id="47379" name="Rectangle 174"/>
            <p:cNvSpPr>
              <a:spLocks noChangeArrowheads="1"/>
            </p:cNvSpPr>
            <p:nvPr/>
          </p:nvSpPr>
          <p:spPr bwMode="auto">
            <a:xfrm>
              <a:off x="1535" y="1761"/>
              <a:ext cx="36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p</a:t>
              </a:r>
              <a:endParaRPr lang="en-US" sz="1600"/>
            </a:p>
          </p:txBody>
        </p:sp>
        <p:sp>
          <p:nvSpPr>
            <p:cNvPr id="47380" name="Rectangle 175"/>
            <p:cNvSpPr>
              <a:spLocks noChangeArrowheads="1"/>
            </p:cNvSpPr>
            <p:nvPr/>
          </p:nvSpPr>
          <p:spPr bwMode="auto">
            <a:xfrm>
              <a:off x="1571" y="1761"/>
              <a:ext cx="36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a</a:t>
              </a:r>
              <a:endParaRPr lang="en-US" sz="1600"/>
            </a:p>
          </p:txBody>
        </p:sp>
        <p:sp>
          <p:nvSpPr>
            <p:cNvPr id="47381" name="Rectangle 176"/>
            <p:cNvSpPr>
              <a:spLocks noChangeArrowheads="1"/>
            </p:cNvSpPr>
            <p:nvPr/>
          </p:nvSpPr>
          <p:spPr bwMode="auto">
            <a:xfrm>
              <a:off x="1609" y="1761"/>
              <a:ext cx="36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g</a:t>
              </a:r>
              <a:endParaRPr lang="en-US" sz="1600"/>
            </a:p>
          </p:txBody>
        </p:sp>
        <p:sp>
          <p:nvSpPr>
            <p:cNvPr id="47382" name="Rectangle 177"/>
            <p:cNvSpPr>
              <a:spLocks noChangeArrowheads="1"/>
            </p:cNvSpPr>
            <p:nvPr/>
          </p:nvSpPr>
          <p:spPr bwMode="auto">
            <a:xfrm>
              <a:off x="1645" y="1761"/>
              <a:ext cx="36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e</a:t>
              </a:r>
              <a:endParaRPr lang="en-US" sz="1600"/>
            </a:p>
          </p:txBody>
        </p:sp>
        <p:sp>
          <p:nvSpPr>
            <p:cNvPr id="47383" name="Rectangle 178"/>
            <p:cNvSpPr>
              <a:spLocks noChangeArrowheads="1"/>
            </p:cNvSpPr>
            <p:nvPr/>
          </p:nvSpPr>
          <p:spPr bwMode="auto">
            <a:xfrm>
              <a:off x="1682" y="1761"/>
              <a:ext cx="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 sz="1600"/>
            </a:p>
          </p:txBody>
        </p:sp>
        <p:sp>
          <p:nvSpPr>
            <p:cNvPr id="47384" name="Rectangle 179"/>
            <p:cNvSpPr>
              <a:spLocks noChangeArrowheads="1"/>
            </p:cNvSpPr>
            <p:nvPr/>
          </p:nvSpPr>
          <p:spPr bwMode="auto">
            <a:xfrm>
              <a:off x="1391" y="1837"/>
              <a:ext cx="36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n</a:t>
              </a:r>
              <a:endParaRPr lang="en-US" sz="1600"/>
            </a:p>
          </p:txBody>
        </p:sp>
        <p:sp>
          <p:nvSpPr>
            <p:cNvPr id="47385" name="Rectangle 180"/>
            <p:cNvSpPr>
              <a:spLocks noChangeArrowheads="1"/>
            </p:cNvSpPr>
            <p:nvPr/>
          </p:nvSpPr>
          <p:spPr bwMode="auto">
            <a:xfrm>
              <a:off x="1427" y="1837"/>
              <a:ext cx="36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u</a:t>
              </a:r>
              <a:endParaRPr lang="en-US" sz="1600"/>
            </a:p>
          </p:txBody>
        </p:sp>
        <p:sp>
          <p:nvSpPr>
            <p:cNvPr id="47386" name="Rectangle 181"/>
            <p:cNvSpPr>
              <a:spLocks noChangeArrowheads="1"/>
            </p:cNvSpPr>
            <p:nvPr/>
          </p:nvSpPr>
          <p:spPr bwMode="auto">
            <a:xfrm>
              <a:off x="1465" y="1837"/>
              <a:ext cx="53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m</a:t>
              </a:r>
              <a:endParaRPr lang="en-US" sz="1600"/>
            </a:p>
          </p:txBody>
        </p:sp>
        <p:sp>
          <p:nvSpPr>
            <p:cNvPr id="47387" name="Rectangle 182"/>
            <p:cNvSpPr>
              <a:spLocks noChangeArrowheads="1"/>
            </p:cNvSpPr>
            <p:nvPr/>
          </p:nvSpPr>
          <p:spPr bwMode="auto">
            <a:xfrm>
              <a:off x="1519" y="1837"/>
              <a:ext cx="36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b</a:t>
              </a:r>
              <a:endParaRPr lang="en-US" sz="1600"/>
            </a:p>
          </p:txBody>
        </p:sp>
        <p:sp>
          <p:nvSpPr>
            <p:cNvPr id="47388" name="Rectangle 183"/>
            <p:cNvSpPr>
              <a:spLocks noChangeArrowheads="1"/>
            </p:cNvSpPr>
            <p:nvPr/>
          </p:nvSpPr>
          <p:spPr bwMode="auto">
            <a:xfrm>
              <a:off x="1557" y="1837"/>
              <a:ext cx="36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e</a:t>
              </a:r>
              <a:endParaRPr lang="en-US" sz="1600"/>
            </a:p>
          </p:txBody>
        </p:sp>
        <p:sp>
          <p:nvSpPr>
            <p:cNvPr id="47389" name="Rectangle 184"/>
            <p:cNvSpPr>
              <a:spLocks noChangeArrowheads="1"/>
            </p:cNvSpPr>
            <p:nvPr/>
          </p:nvSpPr>
          <p:spPr bwMode="auto">
            <a:xfrm>
              <a:off x="1593" y="1837"/>
              <a:ext cx="21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r</a:t>
              </a:r>
              <a:endParaRPr lang="en-US" sz="1600"/>
            </a:p>
          </p:txBody>
        </p:sp>
        <p:sp>
          <p:nvSpPr>
            <p:cNvPr id="47390" name="Freeform 185"/>
            <p:cNvSpPr>
              <a:spLocks/>
            </p:cNvSpPr>
            <p:nvPr/>
          </p:nvSpPr>
          <p:spPr bwMode="auto">
            <a:xfrm>
              <a:off x="1539" y="2045"/>
              <a:ext cx="261" cy="1566"/>
            </a:xfrm>
            <a:custGeom>
              <a:avLst/>
              <a:gdLst>
                <a:gd name="T0" fmla="*/ 0 w 261"/>
                <a:gd name="T1" fmla="*/ 0 h 1566"/>
                <a:gd name="T2" fmla="*/ 0 w 261"/>
                <a:gd name="T3" fmla="*/ 1566 h 1566"/>
                <a:gd name="T4" fmla="*/ 261 w 261"/>
                <a:gd name="T5" fmla="*/ 1566 h 156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61" h="1566">
                  <a:moveTo>
                    <a:pt x="0" y="0"/>
                  </a:moveTo>
                  <a:lnTo>
                    <a:pt x="0" y="1566"/>
                  </a:lnTo>
                  <a:lnTo>
                    <a:pt x="261" y="1566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391" name="Freeform 186"/>
            <p:cNvSpPr>
              <a:spLocks/>
            </p:cNvSpPr>
            <p:nvPr/>
          </p:nvSpPr>
          <p:spPr bwMode="auto">
            <a:xfrm>
              <a:off x="3535" y="2299"/>
              <a:ext cx="34" cy="37"/>
            </a:xfrm>
            <a:custGeom>
              <a:avLst/>
              <a:gdLst>
                <a:gd name="T0" fmla="*/ 0 w 34"/>
                <a:gd name="T1" fmla="*/ 17 h 37"/>
                <a:gd name="T2" fmla="*/ 28 w 34"/>
                <a:gd name="T3" fmla="*/ 37 h 37"/>
                <a:gd name="T4" fmla="*/ 34 w 34"/>
                <a:gd name="T5" fmla="*/ 0 h 37"/>
                <a:gd name="T6" fmla="*/ 0 w 34"/>
                <a:gd name="T7" fmla="*/ 17 h 37"/>
                <a:gd name="T8" fmla="*/ 0 w 34"/>
                <a:gd name="T9" fmla="*/ 17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37">
                  <a:moveTo>
                    <a:pt x="0" y="17"/>
                  </a:moveTo>
                  <a:lnTo>
                    <a:pt x="28" y="37"/>
                  </a:lnTo>
                  <a:lnTo>
                    <a:pt x="34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392" name="Freeform 187"/>
            <p:cNvSpPr>
              <a:spLocks/>
            </p:cNvSpPr>
            <p:nvPr/>
          </p:nvSpPr>
          <p:spPr bwMode="auto">
            <a:xfrm>
              <a:off x="3537" y="2398"/>
              <a:ext cx="32" cy="35"/>
            </a:xfrm>
            <a:custGeom>
              <a:avLst/>
              <a:gdLst>
                <a:gd name="T0" fmla="*/ 0 w 32"/>
                <a:gd name="T1" fmla="*/ 18 h 35"/>
                <a:gd name="T2" fmla="*/ 28 w 32"/>
                <a:gd name="T3" fmla="*/ 35 h 35"/>
                <a:gd name="T4" fmla="*/ 32 w 32"/>
                <a:gd name="T5" fmla="*/ 0 h 35"/>
                <a:gd name="T6" fmla="*/ 0 w 32"/>
                <a:gd name="T7" fmla="*/ 20 h 35"/>
                <a:gd name="T8" fmla="*/ 0 w 32"/>
                <a:gd name="T9" fmla="*/ 20 h 35"/>
                <a:gd name="T10" fmla="*/ 0 w 32"/>
                <a:gd name="T11" fmla="*/ 18 h 3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2" h="35">
                  <a:moveTo>
                    <a:pt x="0" y="18"/>
                  </a:moveTo>
                  <a:lnTo>
                    <a:pt x="28" y="35"/>
                  </a:lnTo>
                  <a:lnTo>
                    <a:pt x="32" y="0"/>
                  </a:lnTo>
                  <a:lnTo>
                    <a:pt x="0" y="2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393" name="Freeform 188"/>
            <p:cNvSpPr>
              <a:spLocks/>
            </p:cNvSpPr>
            <p:nvPr/>
          </p:nvSpPr>
          <p:spPr bwMode="auto">
            <a:xfrm>
              <a:off x="3531" y="2488"/>
              <a:ext cx="38" cy="31"/>
            </a:xfrm>
            <a:custGeom>
              <a:avLst/>
              <a:gdLst>
                <a:gd name="T0" fmla="*/ 0 w 38"/>
                <a:gd name="T1" fmla="*/ 0 h 31"/>
                <a:gd name="T2" fmla="*/ 16 w 38"/>
                <a:gd name="T3" fmla="*/ 31 h 31"/>
                <a:gd name="T4" fmla="*/ 38 w 38"/>
                <a:gd name="T5" fmla="*/ 0 h 31"/>
                <a:gd name="T6" fmla="*/ 0 w 38"/>
                <a:gd name="T7" fmla="*/ 2 h 31"/>
                <a:gd name="T8" fmla="*/ 0 w 38"/>
                <a:gd name="T9" fmla="*/ 2 h 31"/>
                <a:gd name="T10" fmla="*/ 0 w 38"/>
                <a:gd name="T11" fmla="*/ 0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8" h="31">
                  <a:moveTo>
                    <a:pt x="0" y="0"/>
                  </a:moveTo>
                  <a:lnTo>
                    <a:pt x="16" y="31"/>
                  </a:lnTo>
                  <a:lnTo>
                    <a:pt x="38" y="0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394" name="Freeform 189"/>
            <p:cNvSpPr>
              <a:spLocks/>
            </p:cNvSpPr>
            <p:nvPr/>
          </p:nvSpPr>
          <p:spPr bwMode="auto">
            <a:xfrm>
              <a:off x="3531" y="2588"/>
              <a:ext cx="38" cy="33"/>
            </a:xfrm>
            <a:custGeom>
              <a:avLst/>
              <a:gdLst>
                <a:gd name="T0" fmla="*/ 0 w 38"/>
                <a:gd name="T1" fmla="*/ 4 h 33"/>
                <a:gd name="T2" fmla="*/ 20 w 38"/>
                <a:gd name="T3" fmla="*/ 33 h 33"/>
                <a:gd name="T4" fmla="*/ 38 w 38"/>
                <a:gd name="T5" fmla="*/ 0 h 33"/>
                <a:gd name="T6" fmla="*/ 0 w 38"/>
                <a:gd name="T7" fmla="*/ 6 h 33"/>
                <a:gd name="T8" fmla="*/ 0 w 38"/>
                <a:gd name="T9" fmla="*/ 6 h 33"/>
                <a:gd name="T10" fmla="*/ 0 w 38"/>
                <a:gd name="T11" fmla="*/ 4 h 3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8" h="33">
                  <a:moveTo>
                    <a:pt x="0" y="4"/>
                  </a:moveTo>
                  <a:lnTo>
                    <a:pt x="20" y="33"/>
                  </a:lnTo>
                  <a:lnTo>
                    <a:pt x="38" y="0"/>
                  </a:lnTo>
                  <a:lnTo>
                    <a:pt x="0" y="6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395" name="Freeform 190"/>
            <p:cNvSpPr>
              <a:spLocks/>
            </p:cNvSpPr>
            <p:nvPr/>
          </p:nvSpPr>
          <p:spPr bwMode="auto">
            <a:xfrm>
              <a:off x="3533" y="2687"/>
              <a:ext cx="36" cy="38"/>
            </a:xfrm>
            <a:custGeom>
              <a:avLst/>
              <a:gdLst>
                <a:gd name="T0" fmla="*/ 0 w 36"/>
                <a:gd name="T1" fmla="*/ 14 h 38"/>
                <a:gd name="T2" fmla="*/ 26 w 36"/>
                <a:gd name="T3" fmla="*/ 38 h 38"/>
                <a:gd name="T4" fmla="*/ 36 w 36"/>
                <a:gd name="T5" fmla="*/ 0 h 38"/>
                <a:gd name="T6" fmla="*/ 2 w 36"/>
                <a:gd name="T7" fmla="*/ 16 h 38"/>
                <a:gd name="T8" fmla="*/ 2 w 36"/>
                <a:gd name="T9" fmla="*/ 16 h 38"/>
                <a:gd name="T10" fmla="*/ 0 w 36"/>
                <a:gd name="T11" fmla="*/ 14 h 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6" h="38">
                  <a:moveTo>
                    <a:pt x="0" y="14"/>
                  </a:moveTo>
                  <a:lnTo>
                    <a:pt x="26" y="38"/>
                  </a:lnTo>
                  <a:lnTo>
                    <a:pt x="36" y="0"/>
                  </a:lnTo>
                  <a:lnTo>
                    <a:pt x="2" y="16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396" name="Freeform 191"/>
            <p:cNvSpPr>
              <a:spLocks/>
            </p:cNvSpPr>
            <p:nvPr/>
          </p:nvSpPr>
          <p:spPr bwMode="auto">
            <a:xfrm>
              <a:off x="3531" y="2783"/>
              <a:ext cx="38" cy="31"/>
            </a:xfrm>
            <a:custGeom>
              <a:avLst/>
              <a:gdLst>
                <a:gd name="T0" fmla="*/ 0 w 38"/>
                <a:gd name="T1" fmla="*/ 4 h 31"/>
                <a:gd name="T2" fmla="*/ 20 w 38"/>
                <a:gd name="T3" fmla="*/ 31 h 31"/>
                <a:gd name="T4" fmla="*/ 38 w 38"/>
                <a:gd name="T5" fmla="*/ 0 h 31"/>
                <a:gd name="T6" fmla="*/ 0 w 38"/>
                <a:gd name="T7" fmla="*/ 6 h 31"/>
                <a:gd name="T8" fmla="*/ 0 w 38"/>
                <a:gd name="T9" fmla="*/ 6 h 31"/>
                <a:gd name="T10" fmla="*/ 0 w 38"/>
                <a:gd name="T11" fmla="*/ 4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8" h="31">
                  <a:moveTo>
                    <a:pt x="0" y="4"/>
                  </a:moveTo>
                  <a:lnTo>
                    <a:pt x="20" y="31"/>
                  </a:lnTo>
                  <a:lnTo>
                    <a:pt x="38" y="0"/>
                  </a:lnTo>
                  <a:lnTo>
                    <a:pt x="0" y="6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397" name="Freeform 192"/>
            <p:cNvSpPr>
              <a:spLocks/>
            </p:cNvSpPr>
            <p:nvPr/>
          </p:nvSpPr>
          <p:spPr bwMode="auto">
            <a:xfrm>
              <a:off x="3531" y="2869"/>
              <a:ext cx="38" cy="31"/>
            </a:xfrm>
            <a:custGeom>
              <a:avLst/>
              <a:gdLst>
                <a:gd name="T0" fmla="*/ 0 w 38"/>
                <a:gd name="T1" fmla="*/ 0 h 31"/>
                <a:gd name="T2" fmla="*/ 8 w 38"/>
                <a:gd name="T3" fmla="*/ 31 h 31"/>
                <a:gd name="T4" fmla="*/ 38 w 38"/>
                <a:gd name="T5" fmla="*/ 10 h 31"/>
                <a:gd name="T6" fmla="*/ 2 w 38"/>
                <a:gd name="T7" fmla="*/ 0 h 31"/>
                <a:gd name="T8" fmla="*/ 2 w 38"/>
                <a:gd name="T9" fmla="*/ 0 h 31"/>
                <a:gd name="T10" fmla="*/ 0 w 38"/>
                <a:gd name="T11" fmla="*/ 0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8" h="31">
                  <a:moveTo>
                    <a:pt x="0" y="0"/>
                  </a:moveTo>
                  <a:lnTo>
                    <a:pt x="8" y="31"/>
                  </a:lnTo>
                  <a:lnTo>
                    <a:pt x="38" y="10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398" name="Freeform 193"/>
            <p:cNvSpPr>
              <a:spLocks/>
            </p:cNvSpPr>
            <p:nvPr/>
          </p:nvSpPr>
          <p:spPr bwMode="auto">
            <a:xfrm>
              <a:off x="3531" y="2967"/>
              <a:ext cx="38" cy="31"/>
            </a:xfrm>
            <a:custGeom>
              <a:avLst/>
              <a:gdLst>
                <a:gd name="T0" fmla="*/ 0 w 38"/>
                <a:gd name="T1" fmla="*/ 0 h 31"/>
                <a:gd name="T2" fmla="*/ 8 w 38"/>
                <a:gd name="T3" fmla="*/ 31 h 31"/>
                <a:gd name="T4" fmla="*/ 38 w 38"/>
                <a:gd name="T5" fmla="*/ 10 h 31"/>
                <a:gd name="T6" fmla="*/ 2 w 38"/>
                <a:gd name="T7" fmla="*/ 0 h 31"/>
                <a:gd name="T8" fmla="*/ 2 w 38"/>
                <a:gd name="T9" fmla="*/ 0 h 31"/>
                <a:gd name="T10" fmla="*/ 0 w 38"/>
                <a:gd name="T11" fmla="*/ 0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8" h="31">
                  <a:moveTo>
                    <a:pt x="0" y="0"/>
                  </a:moveTo>
                  <a:lnTo>
                    <a:pt x="8" y="31"/>
                  </a:lnTo>
                  <a:lnTo>
                    <a:pt x="38" y="10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399" name="Freeform 194"/>
            <p:cNvSpPr>
              <a:spLocks/>
            </p:cNvSpPr>
            <p:nvPr/>
          </p:nvSpPr>
          <p:spPr bwMode="auto">
            <a:xfrm>
              <a:off x="3531" y="3074"/>
              <a:ext cx="38" cy="29"/>
            </a:xfrm>
            <a:custGeom>
              <a:avLst/>
              <a:gdLst>
                <a:gd name="T0" fmla="*/ 0 w 38"/>
                <a:gd name="T1" fmla="*/ 0 h 29"/>
                <a:gd name="T2" fmla="*/ 16 w 38"/>
                <a:gd name="T3" fmla="*/ 29 h 29"/>
                <a:gd name="T4" fmla="*/ 38 w 38"/>
                <a:gd name="T5" fmla="*/ 0 h 29"/>
                <a:gd name="T6" fmla="*/ 0 w 38"/>
                <a:gd name="T7" fmla="*/ 0 h 29"/>
                <a:gd name="T8" fmla="*/ 0 w 38"/>
                <a:gd name="T9" fmla="*/ 0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29">
                  <a:moveTo>
                    <a:pt x="0" y="0"/>
                  </a:moveTo>
                  <a:lnTo>
                    <a:pt x="16" y="29"/>
                  </a:lnTo>
                  <a:lnTo>
                    <a:pt x="3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400" name="Rectangle 195"/>
            <p:cNvSpPr>
              <a:spLocks noChangeArrowheads="1"/>
            </p:cNvSpPr>
            <p:nvPr/>
          </p:nvSpPr>
          <p:spPr bwMode="auto">
            <a:xfrm>
              <a:off x="1994" y="2816"/>
              <a:ext cx="43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P</a:t>
              </a:r>
              <a:endParaRPr lang="en-US" sz="1600"/>
            </a:p>
          </p:txBody>
        </p:sp>
        <p:sp>
          <p:nvSpPr>
            <p:cNvPr id="47401" name="Rectangle 196"/>
            <p:cNvSpPr>
              <a:spLocks noChangeArrowheads="1"/>
            </p:cNvSpPr>
            <p:nvPr/>
          </p:nvSpPr>
          <p:spPr bwMode="auto">
            <a:xfrm>
              <a:off x="2037" y="2816"/>
              <a:ext cx="36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h</a:t>
              </a:r>
              <a:endParaRPr lang="en-US" sz="1600"/>
            </a:p>
          </p:txBody>
        </p:sp>
        <p:sp>
          <p:nvSpPr>
            <p:cNvPr id="47402" name="Rectangle 197"/>
            <p:cNvSpPr>
              <a:spLocks noChangeArrowheads="1"/>
            </p:cNvSpPr>
            <p:nvPr/>
          </p:nvSpPr>
          <p:spPr bwMode="auto">
            <a:xfrm>
              <a:off x="2075" y="2816"/>
              <a:ext cx="32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y</a:t>
              </a:r>
              <a:endParaRPr lang="en-US" sz="1600"/>
            </a:p>
          </p:txBody>
        </p:sp>
        <p:sp>
          <p:nvSpPr>
            <p:cNvPr id="47403" name="Rectangle 198"/>
            <p:cNvSpPr>
              <a:spLocks noChangeArrowheads="1"/>
            </p:cNvSpPr>
            <p:nvPr/>
          </p:nvSpPr>
          <p:spPr bwMode="auto">
            <a:xfrm>
              <a:off x="2109" y="2816"/>
              <a:ext cx="32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s</a:t>
              </a:r>
              <a:endParaRPr lang="en-US" sz="1600"/>
            </a:p>
          </p:txBody>
        </p:sp>
        <p:sp>
          <p:nvSpPr>
            <p:cNvPr id="47404" name="Rectangle 199"/>
            <p:cNvSpPr>
              <a:spLocks noChangeArrowheads="1"/>
            </p:cNvSpPr>
            <p:nvPr/>
          </p:nvSpPr>
          <p:spPr bwMode="auto">
            <a:xfrm>
              <a:off x="2141" y="2816"/>
              <a:ext cx="14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i</a:t>
              </a:r>
              <a:endParaRPr lang="en-US" sz="1600"/>
            </a:p>
          </p:txBody>
        </p:sp>
        <p:sp>
          <p:nvSpPr>
            <p:cNvPr id="47405" name="Rectangle 200"/>
            <p:cNvSpPr>
              <a:spLocks noChangeArrowheads="1"/>
            </p:cNvSpPr>
            <p:nvPr/>
          </p:nvSpPr>
          <p:spPr bwMode="auto">
            <a:xfrm>
              <a:off x="2157" y="2816"/>
              <a:ext cx="32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c</a:t>
              </a:r>
              <a:endParaRPr lang="en-US" sz="1600"/>
            </a:p>
          </p:txBody>
        </p:sp>
        <p:sp>
          <p:nvSpPr>
            <p:cNvPr id="47406" name="Rectangle 201"/>
            <p:cNvSpPr>
              <a:spLocks noChangeArrowheads="1"/>
            </p:cNvSpPr>
            <p:nvPr/>
          </p:nvSpPr>
          <p:spPr bwMode="auto">
            <a:xfrm>
              <a:off x="2189" y="2816"/>
              <a:ext cx="36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a</a:t>
              </a:r>
              <a:endParaRPr lang="en-US" sz="1600"/>
            </a:p>
          </p:txBody>
        </p:sp>
        <p:sp>
          <p:nvSpPr>
            <p:cNvPr id="47407" name="Rectangle 202"/>
            <p:cNvSpPr>
              <a:spLocks noChangeArrowheads="1"/>
            </p:cNvSpPr>
            <p:nvPr/>
          </p:nvSpPr>
          <p:spPr bwMode="auto">
            <a:xfrm>
              <a:off x="2227" y="2816"/>
              <a:ext cx="14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l</a:t>
              </a:r>
              <a:endParaRPr lang="en-US" sz="1600"/>
            </a:p>
          </p:txBody>
        </p:sp>
        <p:sp>
          <p:nvSpPr>
            <p:cNvPr id="47408" name="Rectangle 203"/>
            <p:cNvSpPr>
              <a:spLocks noChangeArrowheads="1"/>
            </p:cNvSpPr>
            <p:nvPr/>
          </p:nvSpPr>
          <p:spPr bwMode="auto">
            <a:xfrm>
              <a:off x="2241" y="2816"/>
              <a:ext cx="18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 </a:t>
              </a:r>
              <a:endParaRPr lang="en-US" sz="1600"/>
            </a:p>
          </p:txBody>
        </p:sp>
        <p:sp>
          <p:nvSpPr>
            <p:cNvPr id="47409" name="Rectangle 204"/>
            <p:cNvSpPr>
              <a:spLocks noChangeArrowheads="1"/>
            </p:cNvSpPr>
            <p:nvPr/>
          </p:nvSpPr>
          <p:spPr bwMode="auto">
            <a:xfrm>
              <a:off x="2259" y="2816"/>
              <a:ext cx="36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p</a:t>
              </a:r>
              <a:endParaRPr lang="en-US" sz="1600"/>
            </a:p>
          </p:txBody>
        </p:sp>
      </p:grpSp>
      <p:sp>
        <p:nvSpPr>
          <p:cNvPr id="47109" name="Rectangle 206"/>
          <p:cNvSpPr>
            <a:spLocks noChangeArrowheads="1"/>
          </p:cNvSpPr>
          <p:nvPr/>
        </p:nvSpPr>
        <p:spPr bwMode="auto">
          <a:xfrm>
            <a:off x="3570288" y="3562350"/>
            <a:ext cx="57150" cy="122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charset="0"/>
              </a:rPr>
              <a:t>a</a:t>
            </a:r>
            <a:endParaRPr lang="en-US" sz="1600"/>
          </a:p>
        </p:txBody>
      </p:sp>
      <p:sp>
        <p:nvSpPr>
          <p:cNvPr id="47110" name="Rectangle 207"/>
          <p:cNvSpPr>
            <a:spLocks noChangeArrowheads="1"/>
          </p:cNvSpPr>
          <p:nvPr/>
        </p:nvSpPr>
        <p:spPr bwMode="auto">
          <a:xfrm>
            <a:off x="3625850" y="3562350"/>
            <a:ext cx="57150" cy="122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charset="0"/>
              </a:rPr>
              <a:t>g</a:t>
            </a:r>
            <a:endParaRPr lang="en-US" sz="1600"/>
          </a:p>
        </p:txBody>
      </p:sp>
      <p:sp>
        <p:nvSpPr>
          <p:cNvPr id="47111" name="Rectangle 208"/>
          <p:cNvSpPr>
            <a:spLocks noChangeArrowheads="1"/>
          </p:cNvSpPr>
          <p:nvPr/>
        </p:nvSpPr>
        <p:spPr bwMode="auto">
          <a:xfrm>
            <a:off x="3686175" y="3562350"/>
            <a:ext cx="57150" cy="122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charset="0"/>
              </a:rPr>
              <a:t>e</a:t>
            </a:r>
            <a:endParaRPr lang="en-US" sz="1600"/>
          </a:p>
        </p:txBody>
      </p:sp>
      <p:sp>
        <p:nvSpPr>
          <p:cNvPr id="47112" name="Rectangle 209"/>
          <p:cNvSpPr>
            <a:spLocks noChangeArrowheads="1"/>
          </p:cNvSpPr>
          <p:nvPr/>
        </p:nvSpPr>
        <p:spPr bwMode="auto">
          <a:xfrm>
            <a:off x="3746500" y="3562350"/>
            <a:ext cx="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en-US" sz="1600"/>
          </a:p>
        </p:txBody>
      </p:sp>
      <p:sp>
        <p:nvSpPr>
          <p:cNvPr id="47113" name="Rectangle 210"/>
          <p:cNvSpPr>
            <a:spLocks noChangeArrowheads="1"/>
          </p:cNvSpPr>
          <p:nvPr/>
        </p:nvSpPr>
        <p:spPr bwMode="auto">
          <a:xfrm>
            <a:off x="3044825" y="3686175"/>
            <a:ext cx="57150" cy="122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charset="0"/>
              </a:rPr>
              <a:t>o</a:t>
            </a:r>
            <a:endParaRPr lang="en-US" sz="1600"/>
          </a:p>
        </p:txBody>
      </p:sp>
      <p:sp>
        <p:nvSpPr>
          <p:cNvPr id="47114" name="Rectangle 211"/>
          <p:cNvSpPr>
            <a:spLocks noChangeArrowheads="1"/>
          </p:cNvSpPr>
          <p:nvPr/>
        </p:nvSpPr>
        <p:spPr bwMode="auto">
          <a:xfrm>
            <a:off x="3103563" y="3686175"/>
            <a:ext cx="33337" cy="122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charset="0"/>
              </a:rPr>
              <a:t>r</a:t>
            </a:r>
            <a:endParaRPr lang="en-US" sz="1600"/>
          </a:p>
        </p:txBody>
      </p:sp>
      <p:sp>
        <p:nvSpPr>
          <p:cNvPr id="47115" name="Rectangle 212"/>
          <p:cNvSpPr>
            <a:spLocks noChangeArrowheads="1"/>
          </p:cNvSpPr>
          <p:nvPr/>
        </p:nvSpPr>
        <p:spPr bwMode="auto">
          <a:xfrm>
            <a:off x="3138488" y="3686175"/>
            <a:ext cx="28575" cy="122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charset="0"/>
              </a:rPr>
              <a:t> </a:t>
            </a:r>
            <a:endParaRPr lang="en-US" sz="1600"/>
          </a:p>
        </p:txBody>
      </p:sp>
      <p:sp>
        <p:nvSpPr>
          <p:cNvPr id="47116" name="Rectangle 213"/>
          <p:cNvSpPr>
            <a:spLocks noChangeArrowheads="1"/>
          </p:cNvSpPr>
          <p:nvPr/>
        </p:nvSpPr>
        <p:spPr bwMode="auto">
          <a:xfrm>
            <a:off x="3167063" y="3686175"/>
            <a:ext cx="57150" cy="122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charset="0"/>
              </a:rPr>
              <a:t>d</a:t>
            </a:r>
            <a:endParaRPr lang="en-US" sz="1600"/>
          </a:p>
        </p:txBody>
      </p:sp>
      <p:sp>
        <p:nvSpPr>
          <p:cNvPr id="47117" name="Rectangle 214"/>
          <p:cNvSpPr>
            <a:spLocks noChangeArrowheads="1"/>
          </p:cNvSpPr>
          <p:nvPr/>
        </p:nvSpPr>
        <p:spPr bwMode="auto">
          <a:xfrm>
            <a:off x="3227388" y="3686175"/>
            <a:ext cx="22225" cy="122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charset="0"/>
              </a:rPr>
              <a:t>i</a:t>
            </a:r>
            <a:endParaRPr lang="en-US" sz="1600"/>
          </a:p>
        </p:txBody>
      </p:sp>
      <p:sp>
        <p:nvSpPr>
          <p:cNvPr id="47118" name="Rectangle 215"/>
          <p:cNvSpPr>
            <a:spLocks noChangeArrowheads="1"/>
          </p:cNvSpPr>
          <p:nvPr/>
        </p:nvSpPr>
        <p:spPr bwMode="auto">
          <a:xfrm>
            <a:off x="3249613" y="3686175"/>
            <a:ext cx="50800" cy="122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charset="0"/>
              </a:rPr>
              <a:t>s</a:t>
            </a:r>
            <a:endParaRPr lang="en-US" sz="1600"/>
          </a:p>
        </p:txBody>
      </p:sp>
      <p:sp>
        <p:nvSpPr>
          <p:cNvPr id="47119" name="Rectangle 216"/>
          <p:cNvSpPr>
            <a:spLocks noChangeArrowheads="1"/>
          </p:cNvSpPr>
          <p:nvPr/>
        </p:nvSpPr>
        <p:spPr bwMode="auto">
          <a:xfrm>
            <a:off x="3303588" y="3686175"/>
            <a:ext cx="50800" cy="122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charset="0"/>
              </a:rPr>
              <a:t>k</a:t>
            </a:r>
            <a:endParaRPr lang="en-US" sz="1600"/>
          </a:p>
        </p:txBody>
      </p:sp>
      <p:sp>
        <p:nvSpPr>
          <p:cNvPr id="47120" name="Rectangle 217"/>
          <p:cNvSpPr>
            <a:spLocks noChangeArrowheads="1"/>
          </p:cNvSpPr>
          <p:nvPr/>
        </p:nvSpPr>
        <p:spPr bwMode="auto">
          <a:xfrm>
            <a:off x="3357563" y="3686175"/>
            <a:ext cx="28575" cy="122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charset="0"/>
              </a:rPr>
              <a:t> </a:t>
            </a:r>
            <a:endParaRPr lang="en-US" sz="1600"/>
          </a:p>
        </p:txBody>
      </p:sp>
      <p:sp>
        <p:nvSpPr>
          <p:cNvPr id="47121" name="Rectangle 218"/>
          <p:cNvSpPr>
            <a:spLocks noChangeArrowheads="1"/>
          </p:cNvSpPr>
          <p:nvPr/>
        </p:nvSpPr>
        <p:spPr bwMode="auto">
          <a:xfrm>
            <a:off x="3386138" y="3686175"/>
            <a:ext cx="57150" cy="122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charset="0"/>
              </a:rPr>
              <a:t>a</a:t>
            </a:r>
            <a:endParaRPr lang="en-US" sz="1600"/>
          </a:p>
        </p:txBody>
      </p:sp>
      <p:sp>
        <p:nvSpPr>
          <p:cNvPr id="47122" name="Rectangle 219"/>
          <p:cNvSpPr>
            <a:spLocks noChangeArrowheads="1"/>
          </p:cNvSpPr>
          <p:nvPr/>
        </p:nvSpPr>
        <p:spPr bwMode="auto">
          <a:xfrm>
            <a:off x="3443288" y="3686175"/>
            <a:ext cx="57150" cy="122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charset="0"/>
              </a:rPr>
              <a:t>d</a:t>
            </a:r>
            <a:endParaRPr lang="en-US" sz="1600"/>
          </a:p>
        </p:txBody>
      </p:sp>
      <p:sp>
        <p:nvSpPr>
          <p:cNvPr id="47123" name="Rectangle 220"/>
          <p:cNvSpPr>
            <a:spLocks noChangeArrowheads="1"/>
          </p:cNvSpPr>
          <p:nvPr/>
        </p:nvSpPr>
        <p:spPr bwMode="auto">
          <a:xfrm>
            <a:off x="3503613" y="3686175"/>
            <a:ext cx="57150" cy="122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charset="0"/>
              </a:rPr>
              <a:t>d</a:t>
            </a:r>
            <a:endParaRPr lang="en-US" sz="1600"/>
          </a:p>
        </p:txBody>
      </p:sp>
      <p:sp>
        <p:nvSpPr>
          <p:cNvPr id="47124" name="Rectangle 221"/>
          <p:cNvSpPr>
            <a:spLocks noChangeArrowheads="1"/>
          </p:cNvSpPr>
          <p:nvPr/>
        </p:nvSpPr>
        <p:spPr bwMode="auto">
          <a:xfrm>
            <a:off x="3560763" y="3686175"/>
            <a:ext cx="33337" cy="122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charset="0"/>
              </a:rPr>
              <a:t>r</a:t>
            </a:r>
            <a:endParaRPr lang="en-US" sz="1600"/>
          </a:p>
        </p:txBody>
      </p:sp>
      <p:sp>
        <p:nvSpPr>
          <p:cNvPr id="47125" name="Rectangle 222"/>
          <p:cNvSpPr>
            <a:spLocks noChangeArrowheads="1"/>
          </p:cNvSpPr>
          <p:nvPr/>
        </p:nvSpPr>
        <p:spPr bwMode="auto">
          <a:xfrm>
            <a:off x="3598863" y="3686175"/>
            <a:ext cx="57150" cy="122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charset="0"/>
              </a:rPr>
              <a:t>e</a:t>
            </a:r>
            <a:endParaRPr lang="en-US" sz="1600"/>
          </a:p>
        </p:txBody>
      </p:sp>
      <p:sp>
        <p:nvSpPr>
          <p:cNvPr id="47126" name="Rectangle 223"/>
          <p:cNvSpPr>
            <a:spLocks noChangeArrowheads="1"/>
          </p:cNvSpPr>
          <p:nvPr/>
        </p:nvSpPr>
        <p:spPr bwMode="auto">
          <a:xfrm>
            <a:off x="3654425" y="3686175"/>
            <a:ext cx="50800" cy="122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charset="0"/>
              </a:rPr>
              <a:t>s</a:t>
            </a:r>
            <a:endParaRPr lang="en-US" sz="1600"/>
          </a:p>
        </p:txBody>
      </p:sp>
      <p:sp>
        <p:nvSpPr>
          <p:cNvPr id="47127" name="Rectangle 224"/>
          <p:cNvSpPr>
            <a:spLocks noChangeArrowheads="1"/>
          </p:cNvSpPr>
          <p:nvPr/>
        </p:nvSpPr>
        <p:spPr bwMode="auto">
          <a:xfrm>
            <a:off x="3708400" y="3686175"/>
            <a:ext cx="50800" cy="122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charset="0"/>
              </a:rPr>
              <a:t>s</a:t>
            </a:r>
            <a:endParaRPr lang="en-US" sz="1600"/>
          </a:p>
        </p:txBody>
      </p:sp>
      <p:sp>
        <p:nvSpPr>
          <p:cNvPr id="47128" name="Freeform 225"/>
          <p:cNvSpPr>
            <a:spLocks/>
          </p:cNvSpPr>
          <p:nvPr/>
        </p:nvSpPr>
        <p:spPr bwMode="auto">
          <a:xfrm>
            <a:off x="2765425" y="2700338"/>
            <a:ext cx="53975" cy="52387"/>
          </a:xfrm>
          <a:custGeom>
            <a:avLst/>
            <a:gdLst>
              <a:gd name="T0" fmla="*/ 0 w 34"/>
              <a:gd name="T1" fmla="*/ 0 h 33"/>
              <a:gd name="T2" fmla="*/ 0 w 34"/>
              <a:gd name="T3" fmla="*/ 52387 h 33"/>
              <a:gd name="T4" fmla="*/ 53975 w 34"/>
              <a:gd name="T5" fmla="*/ 25400 h 33"/>
              <a:gd name="T6" fmla="*/ 0 w 34"/>
              <a:gd name="T7" fmla="*/ 0 h 33"/>
              <a:gd name="T8" fmla="*/ 0 w 34"/>
              <a:gd name="T9" fmla="*/ 0 h 3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4" h="33">
                <a:moveTo>
                  <a:pt x="0" y="0"/>
                </a:moveTo>
                <a:lnTo>
                  <a:pt x="0" y="33"/>
                </a:lnTo>
                <a:lnTo>
                  <a:pt x="34" y="1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7129" name="Line 226"/>
          <p:cNvSpPr>
            <a:spLocks noChangeShapeType="1"/>
          </p:cNvSpPr>
          <p:nvPr/>
        </p:nvSpPr>
        <p:spPr bwMode="auto">
          <a:xfrm>
            <a:off x="2366963" y="2725738"/>
            <a:ext cx="411162" cy="15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7130" name="Freeform 227"/>
          <p:cNvSpPr>
            <a:spLocks/>
          </p:cNvSpPr>
          <p:nvPr/>
        </p:nvSpPr>
        <p:spPr bwMode="auto">
          <a:xfrm>
            <a:off x="2765425" y="4800600"/>
            <a:ext cx="53975" cy="52388"/>
          </a:xfrm>
          <a:custGeom>
            <a:avLst/>
            <a:gdLst>
              <a:gd name="T0" fmla="*/ 0 w 34"/>
              <a:gd name="T1" fmla="*/ 0 h 33"/>
              <a:gd name="T2" fmla="*/ 0 w 34"/>
              <a:gd name="T3" fmla="*/ 52388 h 33"/>
              <a:gd name="T4" fmla="*/ 53975 w 34"/>
              <a:gd name="T5" fmla="*/ 23813 h 33"/>
              <a:gd name="T6" fmla="*/ 0 w 34"/>
              <a:gd name="T7" fmla="*/ 0 h 33"/>
              <a:gd name="T8" fmla="*/ 0 w 34"/>
              <a:gd name="T9" fmla="*/ 0 h 3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4" h="33">
                <a:moveTo>
                  <a:pt x="0" y="0"/>
                </a:moveTo>
                <a:lnTo>
                  <a:pt x="0" y="33"/>
                </a:lnTo>
                <a:lnTo>
                  <a:pt x="34" y="1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7131" name="Freeform 228"/>
          <p:cNvSpPr>
            <a:spLocks/>
          </p:cNvSpPr>
          <p:nvPr/>
        </p:nvSpPr>
        <p:spPr bwMode="auto">
          <a:xfrm>
            <a:off x="4237038" y="2393950"/>
            <a:ext cx="53975" cy="49213"/>
          </a:xfrm>
          <a:custGeom>
            <a:avLst/>
            <a:gdLst>
              <a:gd name="T0" fmla="*/ 25400 w 34"/>
              <a:gd name="T1" fmla="*/ 49213 h 31"/>
              <a:gd name="T2" fmla="*/ 31750 w 34"/>
              <a:gd name="T3" fmla="*/ 49213 h 31"/>
              <a:gd name="T4" fmla="*/ 34925 w 34"/>
              <a:gd name="T5" fmla="*/ 49213 h 31"/>
              <a:gd name="T6" fmla="*/ 41275 w 34"/>
              <a:gd name="T7" fmla="*/ 46038 h 31"/>
              <a:gd name="T8" fmla="*/ 44450 w 34"/>
              <a:gd name="T9" fmla="*/ 46038 h 31"/>
              <a:gd name="T10" fmla="*/ 47625 w 34"/>
              <a:gd name="T11" fmla="*/ 42863 h 31"/>
              <a:gd name="T12" fmla="*/ 47625 w 34"/>
              <a:gd name="T13" fmla="*/ 39688 h 31"/>
              <a:gd name="T14" fmla="*/ 50800 w 34"/>
              <a:gd name="T15" fmla="*/ 36513 h 31"/>
              <a:gd name="T16" fmla="*/ 53975 w 34"/>
              <a:gd name="T17" fmla="*/ 30163 h 31"/>
              <a:gd name="T18" fmla="*/ 53975 w 34"/>
              <a:gd name="T19" fmla="*/ 26988 h 31"/>
              <a:gd name="T20" fmla="*/ 53975 w 34"/>
              <a:gd name="T21" fmla="*/ 25400 h 31"/>
              <a:gd name="T22" fmla="*/ 53975 w 34"/>
              <a:gd name="T23" fmla="*/ 19050 h 31"/>
              <a:gd name="T24" fmla="*/ 53975 w 34"/>
              <a:gd name="T25" fmla="*/ 15875 h 31"/>
              <a:gd name="T26" fmla="*/ 50800 w 34"/>
              <a:gd name="T27" fmla="*/ 12700 h 31"/>
              <a:gd name="T28" fmla="*/ 47625 w 34"/>
              <a:gd name="T29" fmla="*/ 9525 h 31"/>
              <a:gd name="T30" fmla="*/ 47625 w 34"/>
              <a:gd name="T31" fmla="*/ 6350 h 31"/>
              <a:gd name="T32" fmla="*/ 44450 w 34"/>
              <a:gd name="T33" fmla="*/ 3175 h 31"/>
              <a:gd name="T34" fmla="*/ 41275 w 34"/>
              <a:gd name="T35" fmla="*/ 0 h 31"/>
              <a:gd name="T36" fmla="*/ 34925 w 34"/>
              <a:gd name="T37" fmla="*/ 0 h 31"/>
              <a:gd name="T38" fmla="*/ 31750 w 34"/>
              <a:gd name="T39" fmla="*/ 0 h 31"/>
              <a:gd name="T40" fmla="*/ 28575 w 34"/>
              <a:gd name="T41" fmla="*/ 0 h 31"/>
              <a:gd name="T42" fmla="*/ 22225 w 34"/>
              <a:gd name="T43" fmla="*/ 0 h 31"/>
              <a:gd name="T44" fmla="*/ 19050 w 34"/>
              <a:gd name="T45" fmla="*/ 0 h 31"/>
              <a:gd name="T46" fmla="*/ 15875 w 34"/>
              <a:gd name="T47" fmla="*/ 0 h 31"/>
              <a:gd name="T48" fmla="*/ 12700 w 34"/>
              <a:gd name="T49" fmla="*/ 3175 h 31"/>
              <a:gd name="T50" fmla="*/ 9525 w 34"/>
              <a:gd name="T51" fmla="*/ 6350 h 31"/>
              <a:gd name="T52" fmla="*/ 6350 w 34"/>
              <a:gd name="T53" fmla="*/ 9525 h 31"/>
              <a:gd name="T54" fmla="*/ 3175 w 34"/>
              <a:gd name="T55" fmla="*/ 12700 h 31"/>
              <a:gd name="T56" fmla="*/ 3175 w 34"/>
              <a:gd name="T57" fmla="*/ 15875 h 31"/>
              <a:gd name="T58" fmla="*/ 0 w 34"/>
              <a:gd name="T59" fmla="*/ 19050 h 31"/>
              <a:gd name="T60" fmla="*/ 0 w 34"/>
              <a:gd name="T61" fmla="*/ 25400 h 31"/>
              <a:gd name="T62" fmla="*/ 0 w 34"/>
              <a:gd name="T63" fmla="*/ 26988 h 31"/>
              <a:gd name="T64" fmla="*/ 3175 w 34"/>
              <a:gd name="T65" fmla="*/ 30163 h 31"/>
              <a:gd name="T66" fmla="*/ 3175 w 34"/>
              <a:gd name="T67" fmla="*/ 36513 h 31"/>
              <a:gd name="T68" fmla="*/ 6350 w 34"/>
              <a:gd name="T69" fmla="*/ 39688 h 31"/>
              <a:gd name="T70" fmla="*/ 9525 w 34"/>
              <a:gd name="T71" fmla="*/ 42863 h 31"/>
              <a:gd name="T72" fmla="*/ 12700 w 34"/>
              <a:gd name="T73" fmla="*/ 46038 h 31"/>
              <a:gd name="T74" fmla="*/ 15875 w 34"/>
              <a:gd name="T75" fmla="*/ 46038 h 31"/>
              <a:gd name="T76" fmla="*/ 19050 w 34"/>
              <a:gd name="T77" fmla="*/ 49213 h 31"/>
              <a:gd name="T78" fmla="*/ 22225 w 34"/>
              <a:gd name="T79" fmla="*/ 49213 h 31"/>
              <a:gd name="T80" fmla="*/ 28575 w 34"/>
              <a:gd name="T81" fmla="*/ 49213 h 31"/>
              <a:gd name="T82" fmla="*/ 28575 w 34"/>
              <a:gd name="T83" fmla="*/ 49213 h 31"/>
              <a:gd name="T84" fmla="*/ 25400 w 34"/>
              <a:gd name="T85" fmla="*/ 49213 h 31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0" t="0" r="r" b="b"/>
            <a:pathLst>
              <a:path w="34" h="31">
                <a:moveTo>
                  <a:pt x="16" y="31"/>
                </a:moveTo>
                <a:lnTo>
                  <a:pt x="20" y="31"/>
                </a:lnTo>
                <a:lnTo>
                  <a:pt x="22" y="31"/>
                </a:lnTo>
                <a:lnTo>
                  <a:pt x="26" y="29"/>
                </a:lnTo>
                <a:lnTo>
                  <a:pt x="28" y="29"/>
                </a:lnTo>
                <a:lnTo>
                  <a:pt x="30" y="27"/>
                </a:lnTo>
                <a:lnTo>
                  <a:pt x="30" y="25"/>
                </a:lnTo>
                <a:lnTo>
                  <a:pt x="32" y="23"/>
                </a:lnTo>
                <a:lnTo>
                  <a:pt x="34" y="19"/>
                </a:lnTo>
                <a:lnTo>
                  <a:pt x="34" y="17"/>
                </a:lnTo>
                <a:lnTo>
                  <a:pt x="34" y="16"/>
                </a:lnTo>
                <a:lnTo>
                  <a:pt x="34" y="12"/>
                </a:lnTo>
                <a:lnTo>
                  <a:pt x="34" y="10"/>
                </a:lnTo>
                <a:lnTo>
                  <a:pt x="32" y="8"/>
                </a:lnTo>
                <a:lnTo>
                  <a:pt x="30" y="6"/>
                </a:lnTo>
                <a:lnTo>
                  <a:pt x="30" y="4"/>
                </a:lnTo>
                <a:lnTo>
                  <a:pt x="28" y="2"/>
                </a:lnTo>
                <a:lnTo>
                  <a:pt x="26" y="0"/>
                </a:lnTo>
                <a:lnTo>
                  <a:pt x="22" y="0"/>
                </a:lnTo>
                <a:lnTo>
                  <a:pt x="20" y="0"/>
                </a:lnTo>
                <a:lnTo>
                  <a:pt x="18" y="0"/>
                </a:lnTo>
                <a:lnTo>
                  <a:pt x="14" y="0"/>
                </a:lnTo>
                <a:lnTo>
                  <a:pt x="12" y="0"/>
                </a:lnTo>
                <a:lnTo>
                  <a:pt x="10" y="0"/>
                </a:lnTo>
                <a:lnTo>
                  <a:pt x="8" y="2"/>
                </a:lnTo>
                <a:lnTo>
                  <a:pt x="6" y="4"/>
                </a:lnTo>
                <a:lnTo>
                  <a:pt x="4" y="6"/>
                </a:lnTo>
                <a:lnTo>
                  <a:pt x="2" y="8"/>
                </a:lnTo>
                <a:lnTo>
                  <a:pt x="2" y="10"/>
                </a:lnTo>
                <a:lnTo>
                  <a:pt x="0" y="12"/>
                </a:lnTo>
                <a:lnTo>
                  <a:pt x="0" y="16"/>
                </a:lnTo>
                <a:lnTo>
                  <a:pt x="0" y="17"/>
                </a:lnTo>
                <a:lnTo>
                  <a:pt x="2" y="19"/>
                </a:lnTo>
                <a:lnTo>
                  <a:pt x="2" y="23"/>
                </a:lnTo>
                <a:lnTo>
                  <a:pt x="4" y="25"/>
                </a:lnTo>
                <a:lnTo>
                  <a:pt x="6" y="27"/>
                </a:lnTo>
                <a:lnTo>
                  <a:pt x="8" y="29"/>
                </a:lnTo>
                <a:lnTo>
                  <a:pt x="10" y="29"/>
                </a:lnTo>
                <a:lnTo>
                  <a:pt x="12" y="31"/>
                </a:lnTo>
                <a:lnTo>
                  <a:pt x="14" y="31"/>
                </a:lnTo>
                <a:lnTo>
                  <a:pt x="18" y="31"/>
                </a:lnTo>
                <a:lnTo>
                  <a:pt x="16" y="31"/>
                </a:lnTo>
                <a:close/>
              </a:path>
            </a:pathLst>
          </a:custGeom>
          <a:solidFill>
            <a:srgbClr val="EB75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7132" name="Freeform 229"/>
          <p:cNvSpPr>
            <a:spLocks/>
          </p:cNvSpPr>
          <p:nvPr/>
        </p:nvSpPr>
        <p:spPr bwMode="auto">
          <a:xfrm>
            <a:off x="4237038" y="2393950"/>
            <a:ext cx="53975" cy="49213"/>
          </a:xfrm>
          <a:custGeom>
            <a:avLst/>
            <a:gdLst>
              <a:gd name="T0" fmla="*/ 25400 w 34"/>
              <a:gd name="T1" fmla="*/ 49213 h 31"/>
              <a:gd name="T2" fmla="*/ 31750 w 34"/>
              <a:gd name="T3" fmla="*/ 49213 h 31"/>
              <a:gd name="T4" fmla="*/ 34925 w 34"/>
              <a:gd name="T5" fmla="*/ 49213 h 31"/>
              <a:gd name="T6" fmla="*/ 41275 w 34"/>
              <a:gd name="T7" fmla="*/ 46038 h 31"/>
              <a:gd name="T8" fmla="*/ 44450 w 34"/>
              <a:gd name="T9" fmla="*/ 46038 h 31"/>
              <a:gd name="T10" fmla="*/ 47625 w 34"/>
              <a:gd name="T11" fmla="*/ 42863 h 31"/>
              <a:gd name="T12" fmla="*/ 47625 w 34"/>
              <a:gd name="T13" fmla="*/ 39688 h 31"/>
              <a:gd name="T14" fmla="*/ 50800 w 34"/>
              <a:gd name="T15" fmla="*/ 36513 h 31"/>
              <a:gd name="T16" fmla="*/ 53975 w 34"/>
              <a:gd name="T17" fmla="*/ 30163 h 31"/>
              <a:gd name="T18" fmla="*/ 53975 w 34"/>
              <a:gd name="T19" fmla="*/ 26988 h 31"/>
              <a:gd name="T20" fmla="*/ 53975 w 34"/>
              <a:gd name="T21" fmla="*/ 25400 h 31"/>
              <a:gd name="T22" fmla="*/ 53975 w 34"/>
              <a:gd name="T23" fmla="*/ 19050 h 31"/>
              <a:gd name="T24" fmla="*/ 53975 w 34"/>
              <a:gd name="T25" fmla="*/ 15875 h 31"/>
              <a:gd name="T26" fmla="*/ 50800 w 34"/>
              <a:gd name="T27" fmla="*/ 12700 h 31"/>
              <a:gd name="T28" fmla="*/ 47625 w 34"/>
              <a:gd name="T29" fmla="*/ 9525 h 31"/>
              <a:gd name="T30" fmla="*/ 47625 w 34"/>
              <a:gd name="T31" fmla="*/ 6350 h 31"/>
              <a:gd name="T32" fmla="*/ 44450 w 34"/>
              <a:gd name="T33" fmla="*/ 3175 h 31"/>
              <a:gd name="T34" fmla="*/ 41275 w 34"/>
              <a:gd name="T35" fmla="*/ 0 h 31"/>
              <a:gd name="T36" fmla="*/ 34925 w 34"/>
              <a:gd name="T37" fmla="*/ 0 h 31"/>
              <a:gd name="T38" fmla="*/ 31750 w 34"/>
              <a:gd name="T39" fmla="*/ 0 h 31"/>
              <a:gd name="T40" fmla="*/ 28575 w 34"/>
              <a:gd name="T41" fmla="*/ 0 h 31"/>
              <a:gd name="T42" fmla="*/ 22225 w 34"/>
              <a:gd name="T43" fmla="*/ 0 h 31"/>
              <a:gd name="T44" fmla="*/ 19050 w 34"/>
              <a:gd name="T45" fmla="*/ 0 h 31"/>
              <a:gd name="T46" fmla="*/ 15875 w 34"/>
              <a:gd name="T47" fmla="*/ 0 h 31"/>
              <a:gd name="T48" fmla="*/ 12700 w 34"/>
              <a:gd name="T49" fmla="*/ 3175 h 31"/>
              <a:gd name="T50" fmla="*/ 9525 w 34"/>
              <a:gd name="T51" fmla="*/ 6350 h 31"/>
              <a:gd name="T52" fmla="*/ 6350 w 34"/>
              <a:gd name="T53" fmla="*/ 9525 h 31"/>
              <a:gd name="T54" fmla="*/ 3175 w 34"/>
              <a:gd name="T55" fmla="*/ 12700 h 31"/>
              <a:gd name="T56" fmla="*/ 3175 w 34"/>
              <a:gd name="T57" fmla="*/ 15875 h 31"/>
              <a:gd name="T58" fmla="*/ 0 w 34"/>
              <a:gd name="T59" fmla="*/ 19050 h 31"/>
              <a:gd name="T60" fmla="*/ 0 w 34"/>
              <a:gd name="T61" fmla="*/ 25400 h 31"/>
              <a:gd name="T62" fmla="*/ 0 w 34"/>
              <a:gd name="T63" fmla="*/ 26988 h 31"/>
              <a:gd name="T64" fmla="*/ 3175 w 34"/>
              <a:gd name="T65" fmla="*/ 30163 h 31"/>
              <a:gd name="T66" fmla="*/ 3175 w 34"/>
              <a:gd name="T67" fmla="*/ 36513 h 31"/>
              <a:gd name="T68" fmla="*/ 6350 w 34"/>
              <a:gd name="T69" fmla="*/ 39688 h 31"/>
              <a:gd name="T70" fmla="*/ 9525 w 34"/>
              <a:gd name="T71" fmla="*/ 42863 h 31"/>
              <a:gd name="T72" fmla="*/ 12700 w 34"/>
              <a:gd name="T73" fmla="*/ 46038 h 31"/>
              <a:gd name="T74" fmla="*/ 15875 w 34"/>
              <a:gd name="T75" fmla="*/ 46038 h 31"/>
              <a:gd name="T76" fmla="*/ 19050 w 34"/>
              <a:gd name="T77" fmla="*/ 49213 h 31"/>
              <a:gd name="T78" fmla="*/ 22225 w 34"/>
              <a:gd name="T79" fmla="*/ 49213 h 31"/>
              <a:gd name="T80" fmla="*/ 28575 w 34"/>
              <a:gd name="T81" fmla="*/ 49213 h 31"/>
              <a:gd name="T82" fmla="*/ 28575 w 34"/>
              <a:gd name="T83" fmla="*/ 49213 h 31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0" t="0" r="r" b="b"/>
            <a:pathLst>
              <a:path w="34" h="31">
                <a:moveTo>
                  <a:pt x="16" y="31"/>
                </a:moveTo>
                <a:lnTo>
                  <a:pt x="20" y="31"/>
                </a:lnTo>
                <a:lnTo>
                  <a:pt x="22" y="31"/>
                </a:lnTo>
                <a:lnTo>
                  <a:pt x="26" y="29"/>
                </a:lnTo>
                <a:lnTo>
                  <a:pt x="28" y="29"/>
                </a:lnTo>
                <a:lnTo>
                  <a:pt x="30" y="27"/>
                </a:lnTo>
                <a:lnTo>
                  <a:pt x="30" y="25"/>
                </a:lnTo>
                <a:lnTo>
                  <a:pt x="32" y="23"/>
                </a:lnTo>
                <a:lnTo>
                  <a:pt x="34" y="19"/>
                </a:lnTo>
                <a:lnTo>
                  <a:pt x="34" y="17"/>
                </a:lnTo>
                <a:lnTo>
                  <a:pt x="34" y="16"/>
                </a:lnTo>
                <a:lnTo>
                  <a:pt x="34" y="12"/>
                </a:lnTo>
                <a:lnTo>
                  <a:pt x="34" y="10"/>
                </a:lnTo>
                <a:lnTo>
                  <a:pt x="32" y="8"/>
                </a:lnTo>
                <a:lnTo>
                  <a:pt x="30" y="6"/>
                </a:lnTo>
                <a:lnTo>
                  <a:pt x="30" y="4"/>
                </a:lnTo>
                <a:lnTo>
                  <a:pt x="28" y="2"/>
                </a:lnTo>
                <a:lnTo>
                  <a:pt x="26" y="0"/>
                </a:lnTo>
                <a:lnTo>
                  <a:pt x="22" y="0"/>
                </a:lnTo>
                <a:lnTo>
                  <a:pt x="20" y="0"/>
                </a:lnTo>
                <a:lnTo>
                  <a:pt x="18" y="0"/>
                </a:lnTo>
                <a:lnTo>
                  <a:pt x="14" y="0"/>
                </a:lnTo>
                <a:lnTo>
                  <a:pt x="12" y="0"/>
                </a:lnTo>
                <a:lnTo>
                  <a:pt x="10" y="0"/>
                </a:lnTo>
                <a:lnTo>
                  <a:pt x="8" y="2"/>
                </a:lnTo>
                <a:lnTo>
                  <a:pt x="6" y="4"/>
                </a:lnTo>
                <a:lnTo>
                  <a:pt x="4" y="6"/>
                </a:lnTo>
                <a:lnTo>
                  <a:pt x="2" y="8"/>
                </a:lnTo>
                <a:lnTo>
                  <a:pt x="2" y="10"/>
                </a:lnTo>
                <a:lnTo>
                  <a:pt x="0" y="12"/>
                </a:lnTo>
                <a:lnTo>
                  <a:pt x="0" y="16"/>
                </a:lnTo>
                <a:lnTo>
                  <a:pt x="0" y="17"/>
                </a:lnTo>
                <a:lnTo>
                  <a:pt x="2" y="19"/>
                </a:lnTo>
                <a:lnTo>
                  <a:pt x="2" y="23"/>
                </a:lnTo>
                <a:lnTo>
                  <a:pt x="4" y="25"/>
                </a:lnTo>
                <a:lnTo>
                  <a:pt x="6" y="27"/>
                </a:lnTo>
                <a:lnTo>
                  <a:pt x="8" y="29"/>
                </a:lnTo>
                <a:lnTo>
                  <a:pt x="10" y="29"/>
                </a:lnTo>
                <a:lnTo>
                  <a:pt x="12" y="31"/>
                </a:lnTo>
                <a:lnTo>
                  <a:pt x="14" y="31"/>
                </a:lnTo>
                <a:lnTo>
                  <a:pt x="18" y="31"/>
                </a:lnTo>
              </a:path>
            </a:pathLst>
          </a:custGeom>
          <a:noFill/>
          <a:ln w="3175">
            <a:solidFill>
              <a:srgbClr val="EB75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7133" name="Freeform 230"/>
          <p:cNvSpPr>
            <a:spLocks/>
          </p:cNvSpPr>
          <p:nvPr/>
        </p:nvSpPr>
        <p:spPr bwMode="auto">
          <a:xfrm>
            <a:off x="4237038" y="2703513"/>
            <a:ext cx="53975" cy="49212"/>
          </a:xfrm>
          <a:custGeom>
            <a:avLst/>
            <a:gdLst>
              <a:gd name="T0" fmla="*/ 25400 w 34"/>
              <a:gd name="T1" fmla="*/ 49212 h 31"/>
              <a:gd name="T2" fmla="*/ 31750 w 34"/>
              <a:gd name="T3" fmla="*/ 49212 h 31"/>
              <a:gd name="T4" fmla="*/ 34925 w 34"/>
              <a:gd name="T5" fmla="*/ 49212 h 31"/>
              <a:gd name="T6" fmla="*/ 41275 w 34"/>
              <a:gd name="T7" fmla="*/ 47625 h 31"/>
              <a:gd name="T8" fmla="*/ 44450 w 34"/>
              <a:gd name="T9" fmla="*/ 47625 h 31"/>
              <a:gd name="T10" fmla="*/ 47625 w 34"/>
              <a:gd name="T11" fmla="*/ 44450 h 31"/>
              <a:gd name="T12" fmla="*/ 47625 w 34"/>
              <a:gd name="T13" fmla="*/ 41275 h 31"/>
              <a:gd name="T14" fmla="*/ 50800 w 34"/>
              <a:gd name="T15" fmla="*/ 38100 h 31"/>
              <a:gd name="T16" fmla="*/ 53975 w 34"/>
              <a:gd name="T17" fmla="*/ 31750 h 31"/>
              <a:gd name="T18" fmla="*/ 53975 w 34"/>
              <a:gd name="T19" fmla="*/ 28575 h 31"/>
              <a:gd name="T20" fmla="*/ 53975 w 34"/>
              <a:gd name="T21" fmla="*/ 25400 h 31"/>
              <a:gd name="T22" fmla="*/ 53975 w 34"/>
              <a:gd name="T23" fmla="*/ 19050 h 31"/>
              <a:gd name="T24" fmla="*/ 53975 w 34"/>
              <a:gd name="T25" fmla="*/ 15875 h 31"/>
              <a:gd name="T26" fmla="*/ 50800 w 34"/>
              <a:gd name="T27" fmla="*/ 12700 h 31"/>
              <a:gd name="T28" fmla="*/ 47625 w 34"/>
              <a:gd name="T29" fmla="*/ 9525 h 31"/>
              <a:gd name="T30" fmla="*/ 47625 w 34"/>
              <a:gd name="T31" fmla="*/ 6350 h 31"/>
              <a:gd name="T32" fmla="*/ 44450 w 34"/>
              <a:gd name="T33" fmla="*/ 3175 h 31"/>
              <a:gd name="T34" fmla="*/ 41275 w 34"/>
              <a:gd name="T35" fmla="*/ 0 h 31"/>
              <a:gd name="T36" fmla="*/ 34925 w 34"/>
              <a:gd name="T37" fmla="*/ 0 h 31"/>
              <a:gd name="T38" fmla="*/ 31750 w 34"/>
              <a:gd name="T39" fmla="*/ 0 h 31"/>
              <a:gd name="T40" fmla="*/ 28575 w 34"/>
              <a:gd name="T41" fmla="*/ 0 h 31"/>
              <a:gd name="T42" fmla="*/ 22225 w 34"/>
              <a:gd name="T43" fmla="*/ 0 h 31"/>
              <a:gd name="T44" fmla="*/ 19050 w 34"/>
              <a:gd name="T45" fmla="*/ 0 h 31"/>
              <a:gd name="T46" fmla="*/ 15875 w 34"/>
              <a:gd name="T47" fmla="*/ 0 h 31"/>
              <a:gd name="T48" fmla="*/ 12700 w 34"/>
              <a:gd name="T49" fmla="*/ 3175 h 31"/>
              <a:gd name="T50" fmla="*/ 9525 w 34"/>
              <a:gd name="T51" fmla="*/ 6350 h 31"/>
              <a:gd name="T52" fmla="*/ 6350 w 34"/>
              <a:gd name="T53" fmla="*/ 9525 h 31"/>
              <a:gd name="T54" fmla="*/ 3175 w 34"/>
              <a:gd name="T55" fmla="*/ 12700 h 31"/>
              <a:gd name="T56" fmla="*/ 3175 w 34"/>
              <a:gd name="T57" fmla="*/ 15875 h 31"/>
              <a:gd name="T58" fmla="*/ 0 w 34"/>
              <a:gd name="T59" fmla="*/ 19050 h 31"/>
              <a:gd name="T60" fmla="*/ 0 w 34"/>
              <a:gd name="T61" fmla="*/ 25400 h 31"/>
              <a:gd name="T62" fmla="*/ 0 w 34"/>
              <a:gd name="T63" fmla="*/ 28575 h 31"/>
              <a:gd name="T64" fmla="*/ 3175 w 34"/>
              <a:gd name="T65" fmla="*/ 31750 h 31"/>
              <a:gd name="T66" fmla="*/ 3175 w 34"/>
              <a:gd name="T67" fmla="*/ 38100 h 31"/>
              <a:gd name="T68" fmla="*/ 6350 w 34"/>
              <a:gd name="T69" fmla="*/ 41275 h 31"/>
              <a:gd name="T70" fmla="*/ 9525 w 34"/>
              <a:gd name="T71" fmla="*/ 44450 h 31"/>
              <a:gd name="T72" fmla="*/ 12700 w 34"/>
              <a:gd name="T73" fmla="*/ 47625 h 31"/>
              <a:gd name="T74" fmla="*/ 15875 w 34"/>
              <a:gd name="T75" fmla="*/ 47625 h 31"/>
              <a:gd name="T76" fmla="*/ 19050 w 34"/>
              <a:gd name="T77" fmla="*/ 49212 h 31"/>
              <a:gd name="T78" fmla="*/ 22225 w 34"/>
              <a:gd name="T79" fmla="*/ 49212 h 31"/>
              <a:gd name="T80" fmla="*/ 28575 w 34"/>
              <a:gd name="T81" fmla="*/ 49212 h 31"/>
              <a:gd name="T82" fmla="*/ 28575 w 34"/>
              <a:gd name="T83" fmla="*/ 49212 h 31"/>
              <a:gd name="T84" fmla="*/ 25400 w 34"/>
              <a:gd name="T85" fmla="*/ 49212 h 31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0" t="0" r="r" b="b"/>
            <a:pathLst>
              <a:path w="34" h="31">
                <a:moveTo>
                  <a:pt x="16" y="31"/>
                </a:moveTo>
                <a:lnTo>
                  <a:pt x="20" y="31"/>
                </a:lnTo>
                <a:lnTo>
                  <a:pt x="22" y="31"/>
                </a:lnTo>
                <a:lnTo>
                  <a:pt x="26" y="30"/>
                </a:lnTo>
                <a:lnTo>
                  <a:pt x="28" y="30"/>
                </a:lnTo>
                <a:lnTo>
                  <a:pt x="30" y="28"/>
                </a:lnTo>
                <a:lnTo>
                  <a:pt x="30" y="26"/>
                </a:lnTo>
                <a:lnTo>
                  <a:pt x="32" y="24"/>
                </a:lnTo>
                <a:lnTo>
                  <a:pt x="34" y="20"/>
                </a:lnTo>
                <a:lnTo>
                  <a:pt x="34" y="18"/>
                </a:lnTo>
                <a:lnTo>
                  <a:pt x="34" y="16"/>
                </a:lnTo>
                <a:lnTo>
                  <a:pt x="34" y="12"/>
                </a:lnTo>
                <a:lnTo>
                  <a:pt x="34" y="10"/>
                </a:lnTo>
                <a:lnTo>
                  <a:pt x="32" y="8"/>
                </a:lnTo>
                <a:lnTo>
                  <a:pt x="30" y="6"/>
                </a:lnTo>
                <a:lnTo>
                  <a:pt x="30" y="4"/>
                </a:lnTo>
                <a:lnTo>
                  <a:pt x="28" y="2"/>
                </a:lnTo>
                <a:lnTo>
                  <a:pt x="26" y="0"/>
                </a:lnTo>
                <a:lnTo>
                  <a:pt x="22" y="0"/>
                </a:lnTo>
                <a:lnTo>
                  <a:pt x="20" y="0"/>
                </a:lnTo>
                <a:lnTo>
                  <a:pt x="18" y="0"/>
                </a:lnTo>
                <a:lnTo>
                  <a:pt x="14" y="0"/>
                </a:lnTo>
                <a:lnTo>
                  <a:pt x="12" y="0"/>
                </a:lnTo>
                <a:lnTo>
                  <a:pt x="10" y="0"/>
                </a:lnTo>
                <a:lnTo>
                  <a:pt x="8" y="2"/>
                </a:lnTo>
                <a:lnTo>
                  <a:pt x="6" y="4"/>
                </a:lnTo>
                <a:lnTo>
                  <a:pt x="4" y="6"/>
                </a:lnTo>
                <a:lnTo>
                  <a:pt x="2" y="8"/>
                </a:lnTo>
                <a:lnTo>
                  <a:pt x="2" y="10"/>
                </a:lnTo>
                <a:lnTo>
                  <a:pt x="0" y="12"/>
                </a:lnTo>
                <a:lnTo>
                  <a:pt x="0" y="16"/>
                </a:lnTo>
                <a:lnTo>
                  <a:pt x="0" y="18"/>
                </a:lnTo>
                <a:lnTo>
                  <a:pt x="2" y="20"/>
                </a:lnTo>
                <a:lnTo>
                  <a:pt x="2" y="24"/>
                </a:lnTo>
                <a:lnTo>
                  <a:pt x="4" y="26"/>
                </a:lnTo>
                <a:lnTo>
                  <a:pt x="6" y="28"/>
                </a:lnTo>
                <a:lnTo>
                  <a:pt x="8" y="30"/>
                </a:lnTo>
                <a:lnTo>
                  <a:pt x="10" y="30"/>
                </a:lnTo>
                <a:lnTo>
                  <a:pt x="12" y="31"/>
                </a:lnTo>
                <a:lnTo>
                  <a:pt x="14" y="31"/>
                </a:lnTo>
                <a:lnTo>
                  <a:pt x="18" y="31"/>
                </a:lnTo>
                <a:lnTo>
                  <a:pt x="16" y="31"/>
                </a:lnTo>
                <a:close/>
              </a:path>
            </a:pathLst>
          </a:custGeom>
          <a:solidFill>
            <a:srgbClr val="EB75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7134" name="Freeform 231"/>
          <p:cNvSpPr>
            <a:spLocks/>
          </p:cNvSpPr>
          <p:nvPr/>
        </p:nvSpPr>
        <p:spPr bwMode="auto">
          <a:xfrm>
            <a:off x="4237038" y="2703513"/>
            <a:ext cx="53975" cy="49212"/>
          </a:xfrm>
          <a:custGeom>
            <a:avLst/>
            <a:gdLst>
              <a:gd name="T0" fmla="*/ 25400 w 34"/>
              <a:gd name="T1" fmla="*/ 49212 h 31"/>
              <a:gd name="T2" fmla="*/ 31750 w 34"/>
              <a:gd name="T3" fmla="*/ 49212 h 31"/>
              <a:gd name="T4" fmla="*/ 34925 w 34"/>
              <a:gd name="T5" fmla="*/ 49212 h 31"/>
              <a:gd name="T6" fmla="*/ 41275 w 34"/>
              <a:gd name="T7" fmla="*/ 47625 h 31"/>
              <a:gd name="T8" fmla="*/ 44450 w 34"/>
              <a:gd name="T9" fmla="*/ 47625 h 31"/>
              <a:gd name="T10" fmla="*/ 47625 w 34"/>
              <a:gd name="T11" fmla="*/ 44450 h 31"/>
              <a:gd name="T12" fmla="*/ 47625 w 34"/>
              <a:gd name="T13" fmla="*/ 41275 h 31"/>
              <a:gd name="T14" fmla="*/ 50800 w 34"/>
              <a:gd name="T15" fmla="*/ 38100 h 31"/>
              <a:gd name="T16" fmla="*/ 53975 w 34"/>
              <a:gd name="T17" fmla="*/ 31750 h 31"/>
              <a:gd name="T18" fmla="*/ 53975 w 34"/>
              <a:gd name="T19" fmla="*/ 28575 h 31"/>
              <a:gd name="T20" fmla="*/ 53975 w 34"/>
              <a:gd name="T21" fmla="*/ 25400 h 31"/>
              <a:gd name="T22" fmla="*/ 53975 w 34"/>
              <a:gd name="T23" fmla="*/ 19050 h 31"/>
              <a:gd name="T24" fmla="*/ 53975 w 34"/>
              <a:gd name="T25" fmla="*/ 15875 h 31"/>
              <a:gd name="T26" fmla="*/ 50800 w 34"/>
              <a:gd name="T27" fmla="*/ 12700 h 31"/>
              <a:gd name="T28" fmla="*/ 47625 w 34"/>
              <a:gd name="T29" fmla="*/ 9525 h 31"/>
              <a:gd name="T30" fmla="*/ 47625 w 34"/>
              <a:gd name="T31" fmla="*/ 6350 h 31"/>
              <a:gd name="T32" fmla="*/ 44450 w 34"/>
              <a:gd name="T33" fmla="*/ 3175 h 31"/>
              <a:gd name="T34" fmla="*/ 41275 w 34"/>
              <a:gd name="T35" fmla="*/ 0 h 31"/>
              <a:gd name="T36" fmla="*/ 34925 w 34"/>
              <a:gd name="T37" fmla="*/ 0 h 31"/>
              <a:gd name="T38" fmla="*/ 31750 w 34"/>
              <a:gd name="T39" fmla="*/ 0 h 31"/>
              <a:gd name="T40" fmla="*/ 28575 w 34"/>
              <a:gd name="T41" fmla="*/ 0 h 31"/>
              <a:gd name="T42" fmla="*/ 22225 w 34"/>
              <a:gd name="T43" fmla="*/ 0 h 31"/>
              <a:gd name="T44" fmla="*/ 19050 w 34"/>
              <a:gd name="T45" fmla="*/ 0 h 31"/>
              <a:gd name="T46" fmla="*/ 15875 w 34"/>
              <a:gd name="T47" fmla="*/ 0 h 31"/>
              <a:gd name="T48" fmla="*/ 12700 w 34"/>
              <a:gd name="T49" fmla="*/ 3175 h 31"/>
              <a:gd name="T50" fmla="*/ 9525 w 34"/>
              <a:gd name="T51" fmla="*/ 6350 h 31"/>
              <a:gd name="T52" fmla="*/ 6350 w 34"/>
              <a:gd name="T53" fmla="*/ 9525 h 31"/>
              <a:gd name="T54" fmla="*/ 3175 w 34"/>
              <a:gd name="T55" fmla="*/ 12700 h 31"/>
              <a:gd name="T56" fmla="*/ 3175 w 34"/>
              <a:gd name="T57" fmla="*/ 15875 h 31"/>
              <a:gd name="T58" fmla="*/ 0 w 34"/>
              <a:gd name="T59" fmla="*/ 19050 h 31"/>
              <a:gd name="T60" fmla="*/ 0 w 34"/>
              <a:gd name="T61" fmla="*/ 25400 h 31"/>
              <a:gd name="T62" fmla="*/ 0 w 34"/>
              <a:gd name="T63" fmla="*/ 28575 h 31"/>
              <a:gd name="T64" fmla="*/ 3175 w 34"/>
              <a:gd name="T65" fmla="*/ 31750 h 31"/>
              <a:gd name="T66" fmla="*/ 3175 w 34"/>
              <a:gd name="T67" fmla="*/ 38100 h 31"/>
              <a:gd name="T68" fmla="*/ 6350 w 34"/>
              <a:gd name="T69" fmla="*/ 41275 h 31"/>
              <a:gd name="T70" fmla="*/ 9525 w 34"/>
              <a:gd name="T71" fmla="*/ 44450 h 31"/>
              <a:gd name="T72" fmla="*/ 12700 w 34"/>
              <a:gd name="T73" fmla="*/ 47625 h 31"/>
              <a:gd name="T74" fmla="*/ 15875 w 34"/>
              <a:gd name="T75" fmla="*/ 47625 h 31"/>
              <a:gd name="T76" fmla="*/ 19050 w 34"/>
              <a:gd name="T77" fmla="*/ 49212 h 31"/>
              <a:gd name="T78" fmla="*/ 22225 w 34"/>
              <a:gd name="T79" fmla="*/ 49212 h 31"/>
              <a:gd name="T80" fmla="*/ 28575 w 34"/>
              <a:gd name="T81" fmla="*/ 49212 h 31"/>
              <a:gd name="T82" fmla="*/ 28575 w 34"/>
              <a:gd name="T83" fmla="*/ 49212 h 31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0" t="0" r="r" b="b"/>
            <a:pathLst>
              <a:path w="34" h="31">
                <a:moveTo>
                  <a:pt x="16" y="31"/>
                </a:moveTo>
                <a:lnTo>
                  <a:pt x="20" y="31"/>
                </a:lnTo>
                <a:lnTo>
                  <a:pt x="22" y="31"/>
                </a:lnTo>
                <a:lnTo>
                  <a:pt x="26" y="30"/>
                </a:lnTo>
                <a:lnTo>
                  <a:pt x="28" y="30"/>
                </a:lnTo>
                <a:lnTo>
                  <a:pt x="30" y="28"/>
                </a:lnTo>
                <a:lnTo>
                  <a:pt x="30" y="26"/>
                </a:lnTo>
                <a:lnTo>
                  <a:pt x="32" y="24"/>
                </a:lnTo>
                <a:lnTo>
                  <a:pt x="34" y="20"/>
                </a:lnTo>
                <a:lnTo>
                  <a:pt x="34" y="18"/>
                </a:lnTo>
                <a:lnTo>
                  <a:pt x="34" y="16"/>
                </a:lnTo>
                <a:lnTo>
                  <a:pt x="34" y="12"/>
                </a:lnTo>
                <a:lnTo>
                  <a:pt x="34" y="10"/>
                </a:lnTo>
                <a:lnTo>
                  <a:pt x="32" y="8"/>
                </a:lnTo>
                <a:lnTo>
                  <a:pt x="30" y="6"/>
                </a:lnTo>
                <a:lnTo>
                  <a:pt x="30" y="4"/>
                </a:lnTo>
                <a:lnTo>
                  <a:pt x="28" y="2"/>
                </a:lnTo>
                <a:lnTo>
                  <a:pt x="26" y="0"/>
                </a:lnTo>
                <a:lnTo>
                  <a:pt x="22" y="0"/>
                </a:lnTo>
                <a:lnTo>
                  <a:pt x="20" y="0"/>
                </a:lnTo>
                <a:lnTo>
                  <a:pt x="18" y="0"/>
                </a:lnTo>
                <a:lnTo>
                  <a:pt x="14" y="0"/>
                </a:lnTo>
                <a:lnTo>
                  <a:pt x="12" y="0"/>
                </a:lnTo>
                <a:lnTo>
                  <a:pt x="10" y="0"/>
                </a:lnTo>
                <a:lnTo>
                  <a:pt x="8" y="2"/>
                </a:lnTo>
                <a:lnTo>
                  <a:pt x="6" y="4"/>
                </a:lnTo>
                <a:lnTo>
                  <a:pt x="4" y="6"/>
                </a:lnTo>
                <a:lnTo>
                  <a:pt x="2" y="8"/>
                </a:lnTo>
                <a:lnTo>
                  <a:pt x="2" y="10"/>
                </a:lnTo>
                <a:lnTo>
                  <a:pt x="0" y="12"/>
                </a:lnTo>
                <a:lnTo>
                  <a:pt x="0" y="16"/>
                </a:lnTo>
                <a:lnTo>
                  <a:pt x="0" y="18"/>
                </a:lnTo>
                <a:lnTo>
                  <a:pt x="2" y="20"/>
                </a:lnTo>
                <a:lnTo>
                  <a:pt x="2" y="24"/>
                </a:lnTo>
                <a:lnTo>
                  <a:pt x="4" y="26"/>
                </a:lnTo>
                <a:lnTo>
                  <a:pt x="6" y="28"/>
                </a:lnTo>
                <a:lnTo>
                  <a:pt x="8" y="30"/>
                </a:lnTo>
                <a:lnTo>
                  <a:pt x="10" y="30"/>
                </a:lnTo>
                <a:lnTo>
                  <a:pt x="12" y="31"/>
                </a:lnTo>
                <a:lnTo>
                  <a:pt x="14" y="31"/>
                </a:lnTo>
                <a:lnTo>
                  <a:pt x="18" y="31"/>
                </a:lnTo>
              </a:path>
            </a:pathLst>
          </a:custGeom>
          <a:noFill/>
          <a:ln w="3175">
            <a:solidFill>
              <a:srgbClr val="EB75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7135" name="Freeform 232"/>
          <p:cNvSpPr>
            <a:spLocks/>
          </p:cNvSpPr>
          <p:nvPr/>
        </p:nvSpPr>
        <p:spPr bwMode="auto">
          <a:xfrm>
            <a:off x="4237038" y="2859088"/>
            <a:ext cx="53975" cy="49212"/>
          </a:xfrm>
          <a:custGeom>
            <a:avLst/>
            <a:gdLst>
              <a:gd name="T0" fmla="*/ 25400 w 34"/>
              <a:gd name="T1" fmla="*/ 49212 h 31"/>
              <a:gd name="T2" fmla="*/ 31750 w 34"/>
              <a:gd name="T3" fmla="*/ 49212 h 31"/>
              <a:gd name="T4" fmla="*/ 34925 w 34"/>
              <a:gd name="T5" fmla="*/ 49212 h 31"/>
              <a:gd name="T6" fmla="*/ 41275 w 34"/>
              <a:gd name="T7" fmla="*/ 46037 h 31"/>
              <a:gd name="T8" fmla="*/ 44450 w 34"/>
              <a:gd name="T9" fmla="*/ 46037 h 31"/>
              <a:gd name="T10" fmla="*/ 47625 w 34"/>
              <a:gd name="T11" fmla="*/ 42862 h 31"/>
              <a:gd name="T12" fmla="*/ 47625 w 34"/>
              <a:gd name="T13" fmla="*/ 39687 h 31"/>
              <a:gd name="T14" fmla="*/ 50800 w 34"/>
              <a:gd name="T15" fmla="*/ 36512 h 31"/>
              <a:gd name="T16" fmla="*/ 53975 w 34"/>
              <a:gd name="T17" fmla="*/ 30162 h 31"/>
              <a:gd name="T18" fmla="*/ 53975 w 34"/>
              <a:gd name="T19" fmla="*/ 26987 h 31"/>
              <a:gd name="T20" fmla="*/ 53975 w 34"/>
              <a:gd name="T21" fmla="*/ 25400 h 31"/>
              <a:gd name="T22" fmla="*/ 53975 w 34"/>
              <a:gd name="T23" fmla="*/ 19050 h 31"/>
              <a:gd name="T24" fmla="*/ 53975 w 34"/>
              <a:gd name="T25" fmla="*/ 15875 h 31"/>
              <a:gd name="T26" fmla="*/ 50800 w 34"/>
              <a:gd name="T27" fmla="*/ 12700 h 31"/>
              <a:gd name="T28" fmla="*/ 47625 w 34"/>
              <a:gd name="T29" fmla="*/ 9525 h 31"/>
              <a:gd name="T30" fmla="*/ 47625 w 34"/>
              <a:gd name="T31" fmla="*/ 6350 h 31"/>
              <a:gd name="T32" fmla="*/ 44450 w 34"/>
              <a:gd name="T33" fmla="*/ 3175 h 31"/>
              <a:gd name="T34" fmla="*/ 41275 w 34"/>
              <a:gd name="T35" fmla="*/ 0 h 31"/>
              <a:gd name="T36" fmla="*/ 34925 w 34"/>
              <a:gd name="T37" fmla="*/ 0 h 31"/>
              <a:gd name="T38" fmla="*/ 31750 w 34"/>
              <a:gd name="T39" fmla="*/ 0 h 31"/>
              <a:gd name="T40" fmla="*/ 28575 w 34"/>
              <a:gd name="T41" fmla="*/ 0 h 31"/>
              <a:gd name="T42" fmla="*/ 22225 w 34"/>
              <a:gd name="T43" fmla="*/ 0 h 31"/>
              <a:gd name="T44" fmla="*/ 19050 w 34"/>
              <a:gd name="T45" fmla="*/ 0 h 31"/>
              <a:gd name="T46" fmla="*/ 15875 w 34"/>
              <a:gd name="T47" fmla="*/ 0 h 31"/>
              <a:gd name="T48" fmla="*/ 12700 w 34"/>
              <a:gd name="T49" fmla="*/ 3175 h 31"/>
              <a:gd name="T50" fmla="*/ 9525 w 34"/>
              <a:gd name="T51" fmla="*/ 6350 h 31"/>
              <a:gd name="T52" fmla="*/ 6350 w 34"/>
              <a:gd name="T53" fmla="*/ 9525 h 31"/>
              <a:gd name="T54" fmla="*/ 3175 w 34"/>
              <a:gd name="T55" fmla="*/ 12700 h 31"/>
              <a:gd name="T56" fmla="*/ 3175 w 34"/>
              <a:gd name="T57" fmla="*/ 15875 h 31"/>
              <a:gd name="T58" fmla="*/ 0 w 34"/>
              <a:gd name="T59" fmla="*/ 19050 h 31"/>
              <a:gd name="T60" fmla="*/ 0 w 34"/>
              <a:gd name="T61" fmla="*/ 25400 h 31"/>
              <a:gd name="T62" fmla="*/ 0 w 34"/>
              <a:gd name="T63" fmla="*/ 26987 h 31"/>
              <a:gd name="T64" fmla="*/ 3175 w 34"/>
              <a:gd name="T65" fmla="*/ 30162 h 31"/>
              <a:gd name="T66" fmla="*/ 3175 w 34"/>
              <a:gd name="T67" fmla="*/ 36512 h 31"/>
              <a:gd name="T68" fmla="*/ 6350 w 34"/>
              <a:gd name="T69" fmla="*/ 39687 h 31"/>
              <a:gd name="T70" fmla="*/ 9525 w 34"/>
              <a:gd name="T71" fmla="*/ 42862 h 31"/>
              <a:gd name="T72" fmla="*/ 12700 w 34"/>
              <a:gd name="T73" fmla="*/ 46037 h 31"/>
              <a:gd name="T74" fmla="*/ 15875 w 34"/>
              <a:gd name="T75" fmla="*/ 46037 h 31"/>
              <a:gd name="T76" fmla="*/ 19050 w 34"/>
              <a:gd name="T77" fmla="*/ 49212 h 31"/>
              <a:gd name="T78" fmla="*/ 22225 w 34"/>
              <a:gd name="T79" fmla="*/ 49212 h 31"/>
              <a:gd name="T80" fmla="*/ 28575 w 34"/>
              <a:gd name="T81" fmla="*/ 49212 h 31"/>
              <a:gd name="T82" fmla="*/ 28575 w 34"/>
              <a:gd name="T83" fmla="*/ 49212 h 31"/>
              <a:gd name="T84" fmla="*/ 25400 w 34"/>
              <a:gd name="T85" fmla="*/ 49212 h 31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0" t="0" r="r" b="b"/>
            <a:pathLst>
              <a:path w="34" h="31">
                <a:moveTo>
                  <a:pt x="16" y="31"/>
                </a:moveTo>
                <a:lnTo>
                  <a:pt x="20" y="31"/>
                </a:lnTo>
                <a:lnTo>
                  <a:pt x="22" y="31"/>
                </a:lnTo>
                <a:lnTo>
                  <a:pt x="26" y="29"/>
                </a:lnTo>
                <a:lnTo>
                  <a:pt x="28" y="29"/>
                </a:lnTo>
                <a:lnTo>
                  <a:pt x="30" y="27"/>
                </a:lnTo>
                <a:lnTo>
                  <a:pt x="30" y="25"/>
                </a:lnTo>
                <a:lnTo>
                  <a:pt x="32" y="23"/>
                </a:lnTo>
                <a:lnTo>
                  <a:pt x="34" y="19"/>
                </a:lnTo>
                <a:lnTo>
                  <a:pt x="34" y="17"/>
                </a:lnTo>
                <a:lnTo>
                  <a:pt x="34" y="16"/>
                </a:lnTo>
                <a:lnTo>
                  <a:pt x="34" y="12"/>
                </a:lnTo>
                <a:lnTo>
                  <a:pt x="34" y="10"/>
                </a:lnTo>
                <a:lnTo>
                  <a:pt x="32" y="8"/>
                </a:lnTo>
                <a:lnTo>
                  <a:pt x="30" y="6"/>
                </a:lnTo>
                <a:lnTo>
                  <a:pt x="30" y="4"/>
                </a:lnTo>
                <a:lnTo>
                  <a:pt x="28" y="2"/>
                </a:lnTo>
                <a:lnTo>
                  <a:pt x="26" y="0"/>
                </a:lnTo>
                <a:lnTo>
                  <a:pt x="22" y="0"/>
                </a:lnTo>
                <a:lnTo>
                  <a:pt x="20" y="0"/>
                </a:lnTo>
                <a:lnTo>
                  <a:pt x="18" y="0"/>
                </a:lnTo>
                <a:lnTo>
                  <a:pt x="14" y="0"/>
                </a:lnTo>
                <a:lnTo>
                  <a:pt x="12" y="0"/>
                </a:lnTo>
                <a:lnTo>
                  <a:pt x="10" y="0"/>
                </a:lnTo>
                <a:lnTo>
                  <a:pt x="8" y="2"/>
                </a:lnTo>
                <a:lnTo>
                  <a:pt x="6" y="4"/>
                </a:lnTo>
                <a:lnTo>
                  <a:pt x="4" y="6"/>
                </a:lnTo>
                <a:lnTo>
                  <a:pt x="2" y="8"/>
                </a:lnTo>
                <a:lnTo>
                  <a:pt x="2" y="10"/>
                </a:lnTo>
                <a:lnTo>
                  <a:pt x="0" y="12"/>
                </a:lnTo>
                <a:lnTo>
                  <a:pt x="0" y="16"/>
                </a:lnTo>
                <a:lnTo>
                  <a:pt x="0" y="17"/>
                </a:lnTo>
                <a:lnTo>
                  <a:pt x="2" y="19"/>
                </a:lnTo>
                <a:lnTo>
                  <a:pt x="2" y="23"/>
                </a:lnTo>
                <a:lnTo>
                  <a:pt x="4" y="25"/>
                </a:lnTo>
                <a:lnTo>
                  <a:pt x="6" y="27"/>
                </a:lnTo>
                <a:lnTo>
                  <a:pt x="8" y="29"/>
                </a:lnTo>
                <a:lnTo>
                  <a:pt x="10" y="29"/>
                </a:lnTo>
                <a:lnTo>
                  <a:pt x="12" y="31"/>
                </a:lnTo>
                <a:lnTo>
                  <a:pt x="14" y="31"/>
                </a:lnTo>
                <a:lnTo>
                  <a:pt x="18" y="31"/>
                </a:lnTo>
                <a:lnTo>
                  <a:pt x="16" y="31"/>
                </a:lnTo>
                <a:close/>
              </a:path>
            </a:pathLst>
          </a:custGeom>
          <a:solidFill>
            <a:srgbClr val="EB75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7136" name="Freeform 233"/>
          <p:cNvSpPr>
            <a:spLocks/>
          </p:cNvSpPr>
          <p:nvPr/>
        </p:nvSpPr>
        <p:spPr bwMode="auto">
          <a:xfrm>
            <a:off x="4237038" y="2859088"/>
            <a:ext cx="53975" cy="49212"/>
          </a:xfrm>
          <a:custGeom>
            <a:avLst/>
            <a:gdLst>
              <a:gd name="T0" fmla="*/ 25400 w 34"/>
              <a:gd name="T1" fmla="*/ 49212 h 31"/>
              <a:gd name="T2" fmla="*/ 31750 w 34"/>
              <a:gd name="T3" fmla="*/ 49212 h 31"/>
              <a:gd name="T4" fmla="*/ 34925 w 34"/>
              <a:gd name="T5" fmla="*/ 49212 h 31"/>
              <a:gd name="T6" fmla="*/ 41275 w 34"/>
              <a:gd name="T7" fmla="*/ 46037 h 31"/>
              <a:gd name="T8" fmla="*/ 44450 w 34"/>
              <a:gd name="T9" fmla="*/ 46037 h 31"/>
              <a:gd name="T10" fmla="*/ 47625 w 34"/>
              <a:gd name="T11" fmla="*/ 42862 h 31"/>
              <a:gd name="T12" fmla="*/ 47625 w 34"/>
              <a:gd name="T13" fmla="*/ 39687 h 31"/>
              <a:gd name="T14" fmla="*/ 50800 w 34"/>
              <a:gd name="T15" fmla="*/ 36512 h 31"/>
              <a:gd name="T16" fmla="*/ 53975 w 34"/>
              <a:gd name="T17" fmla="*/ 30162 h 31"/>
              <a:gd name="T18" fmla="*/ 53975 w 34"/>
              <a:gd name="T19" fmla="*/ 26987 h 31"/>
              <a:gd name="T20" fmla="*/ 53975 w 34"/>
              <a:gd name="T21" fmla="*/ 25400 h 31"/>
              <a:gd name="T22" fmla="*/ 53975 w 34"/>
              <a:gd name="T23" fmla="*/ 19050 h 31"/>
              <a:gd name="T24" fmla="*/ 53975 w 34"/>
              <a:gd name="T25" fmla="*/ 15875 h 31"/>
              <a:gd name="T26" fmla="*/ 50800 w 34"/>
              <a:gd name="T27" fmla="*/ 12700 h 31"/>
              <a:gd name="T28" fmla="*/ 47625 w 34"/>
              <a:gd name="T29" fmla="*/ 9525 h 31"/>
              <a:gd name="T30" fmla="*/ 47625 w 34"/>
              <a:gd name="T31" fmla="*/ 6350 h 31"/>
              <a:gd name="T32" fmla="*/ 44450 w 34"/>
              <a:gd name="T33" fmla="*/ 3175 h 31"/>
              <a:gd name="T34" fmla="*/ 41275 w 34"/>
              <a:gd name="T35" fmla="*/ 0 h 31"/>
              <a:gd name="T36" fmla="*/ 34925 w 34"/>
              <a:gd name="T37" fmla="*/ 0 h 31"/>
              <a:gd name="T38" fmla="*/ 31750 w 34"/>
              <a:gd name="T39" fmla="*/ 0 h 31"/>
              <a:gd name="T40" fmla="*/ 28575 w 34"/>
              <a:gd name="T41" fmla="*/ 0 h 31"/>
              <a:gd name="T42" fmla="*/ 22225 w 34"/>
              <a:gd name="T43" fmla="*/ 0 h 31"/>
              <a:gd name="T44" fmla="*/ 19050 w 34"/>
              <a:gd name="T45" fmla="*/ 0 h 31"/>
              <a:gd name="T46" fmla="*/ 15875 w 34"/>
              <a:gd name="T47" fmla="*/ 0 h 31"/>
              <a:gd name="T48" fmla="*/ 12700 w 34"/>
              <a:gd name="T49" fmla="*/ 3175 h 31"/>
              <a:gd name="T50" fmla="*/ 9525 w 34"/>
              <a:gd name="T51" fmla="*/ 6350 h 31"/>
              <a:gd name="T52" fmla="*/ 6350 w 34"/>
              <a:gd name="T53" fmla="*/ 9525 h 31"/>
              <a:gd name="T54" fmla="*/ 3175 w 34"/>
              <a:gd name="T55" fmla="*/ 12700 h 31"/>
              <a:gd name="T56" fmla="*/ 3175 w 34"/>
              <a:gd name="T57" fmla="*/ 15875 h 31"/>
              <a:gd name="T58" fmla="*/ 0 w 34"/>
              <a:gd name="T59" fmla="*/ 19050 h 31"/>
              <a:gd name="T60" fmla="*/ 0 w 34"/>
              <a:gd name="T61" fmla="*/ 25400 h 31"/>
              <a:gd name="T62" fmla="*/ 0 w 34"/>
              <a:gd name="T63" fmla="*/ 26987 h 31"/>
              <a:gd name="T64" fmla="*/ 3175 w 34"/>
              <a:gd name="T65" fmla="*/ 30162 h 31"/>
              <a:gd name="T66" fmla="*/ 3175 w 34"/>
              <a:gd name="T67" fmla="*/ 36512 h 31"/>
              <a:gd name="T68" fmla="*/ 6350 w 34"/>
              <a:gd name="T69" fmla="*/ 39687 h 31"/>
              <a:gd name="T70" fmla="*/ 9525 w 34"/>
              <a:gd name="T71" fmla="*/ 42862 h 31"/>
              <a:gd name="T72" fmla="*/ 12700 w 34"/>
              <a:gd name="T73" fmla="*/ 46037 h 31"/>
              <a:gd name="T74" fmla="*/ 15875 w 34"/>
              <a:gd name="T75" fmla="*/ 46037 h 31"/>
              <a:gd name="T76" fmla="*/ 19050 w 34"/>
              <a:gd name="T77" fmla="*/ 49212 h 31"/>
              <a:gd name="T78" fmla="*/ 22225 w 34"/>
              <a:gd name="T79" fmla="*/ 49212 h 31"/>
              <a:gd name="T80" fmla="*/ 28575 w 34"/>
              <a:gd name="T81" fmla="*/ 49212 h 31"/>
              <a:gd name="T82" fmla="*/ 28575 w 34"/>
              <a:gd name="T83" fmla="*/ 49212 h 31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0" t="0" r="r" b="b"/>
            <a:pathLst>
              <a:path w="34" h="31">
                <a:moveTo>
                  <a:pt x="16" y="31"/>
                </a:moveTo>
                <a:lnTo>
                  <a:pt x="20" y="31"/>
                </a:lnTo>
                <a:lnTo>
                  <a:pt x="22" y="31"/>
                </a:lnTo>
                <a:lnTo>
                  <a:pt x="26" y="29"/>
                </a:lnTo>
                <a:lnTo>
                  <a:pt x="28" y="29"/>
                </a:lnTo>
                <a:lnTo>
                  <a:pt x="30" y="27"/>
                </a:lnTo>
                <a:lnTo>
                  <a:pt x="30" y="25"/>
                </a:lnTo>
                <a:lnTo>
                  <a:pt x="32" y="23"/>
                </a:lnTo>
                <a:lnTo>
                  <a:pt x="34" y="19"/>
                </a:lnTo>
                <a:lnTo>
                  <a:pt x="34" y="17"/>
                </a:lnTo>
                <a:lnTo>
                  <a:pt x="34" y="16"/>
                </a:lnTo>
                <a:lnTo>
                  <a:pt x="34" y="12"/>
                </a:lnTo>
                <a:lnTo>
                  <a:pt x="34" y="10"/>
                </a:lnTo>
                <a:lnTo>
                  <a:pt x="32" y="8"/>
                </a:lnTo>
                <a:lnTo>
                  <a:pt x="30" y="6"/>
                </a:lnTo>
                <a:lnTo>
                  <a:pt x="30" y="4"/>
                </a:lnTo>
                <a:lnTo>
                  <a:pt x="28" y="2"/>
                </a:lnTo>
                <a:lnTo>
                  <a:pt x="26" y="0"/>
                </a:lnTo>
                <a:lnTo>
                  <a:pt x="22" y="0"/>
                </a:lnTo>
                <a:lnTo>
                  <a:pt x="20" y="0"/>
                </a:lnTo>
                <a:lnTo>
                  <a:pt x="18" y="0"/>
                </a:lnTo>
                <a:lnTo>
                  <a:pt x="14" y="0"/>
                </a:lnTo>
                <a:lnTo>
                  <a:pt x="12" y="0"/>
                </a:lnTo>
                <a:lnTo>
                  <a:pt x="10" y="0"/>
                </a:lnTo>
                <a:lnTo>
                  <a:pt x="8" y="2"/>
                </a:lnTo>
                <a:lnTo>
                  <a:pt x="6" y="4"/>
                </a:lnTo>
                <a:lnTo>
                  <a:pt x="4" y="6"/>
                </a:lnTo>
                <a:lnTo>
                  <a:pt x="2" y="8"/>
                </a:lnTo>
                <a:lnTo>
                  <a:pt x="2" y="10"/>
                </a:lnTo>
                <a:lnTo>
                  <a:pt x="0" y="12"/>
                </a:lnTo>
                <a:lnTo>
                  <a:pt x="0" y="16"/>
                </a:lnTo>
                <a:lnTo>
                  <a:pt x="0" y="17"/>
                </a:lnTo>
                <a:lnTo>
                  <a:pt x="2" y="19"/>
                </a:lnTo>
                <a:lnTo>
                  <a:pt x="2" y="23"/>
                </a:lnTo>
                <a:lnTo>
                  <a:pt x="4" y="25"/>
                </a:lnTo>
                <a:lnTo>
                  <a:pt x="6" y="27"/>
                </a:lnTo>
                <a:lnTo>
                  <a:pt x="8" y="29"/>
                </a:lnTo>
                <a:lnTo>
                  <a:pt x="10" y="29"/>
                </a:lnTo>
                <a:lnTo>
                  <a:pt x="12" y="31"/>
                </a:lnTo>
                <a:lnTo>
                  <a:pt x="14" y="31"/>
                </a:lnTo>
                <a:lnTo>
                  <a:pt x="18" y="31"/>
                </a:lnTo>
              </a:path>
            </a:pathLst>
          </a:custGeom>
          <a:noFill/>
          <a:ln w="3175">
            <a:solidFill>
              <a:srgbClr val="EB75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7137" name="Freeform 234"/>
          <p:cNvSpPr>
            <a:spLocks/>
          </p:cNvSpPr>
          <p:nvPr/>
        </p:nvSpPr>
        <p:spPr bwMode="auto">
          <a:xfrm>
            <a:off x="4237038" y="3168650"/>
            <a:ext cx="53975" cy="49213"/>
          </a:xfrm>
          <a:custGeom>
            <a:avLst/>
            <a:gdLst>
              <a:gd name="T0" fmla="*/ 25400 w 34"/>
              <a:gd name="T1" fmla="*/ 49213 h 31"/>
              <a:gd name="T2" fmla="*/ 31750 w 34"/>
              <a:gd name="T3" fmla="*/ 49213 h 31"/>
              <a:gd name="T4" fmla="*/ 34925 w 34"/>
              <a:gd name="T5" fmla="*/ 49213 h 31"/>
              <a:gd name="T6" fmla="*/ 41275 w 34"/>
              <a:gd name="T7" fmla="*/ 47625 h 31"/>
              <a:gd name="T8" fmla="*/ 44450 w 34"/>
              <a:gd name="T9" fmla="*/ 47625 h 31"/>
              <a:gd name="T10" fmla="*/ 47625 w 34"/>
              <a:gd name="T11" fmla="*/ 44450 h 31"/>
              <a:gd name="T12" fmla="*/ 47625 w 34"/>
              <a:gd name="T13" fmla="*/ 41275 h 31"/>
              <a:gd name="T14" fmla="*/ 50800 w 34"/>
              <a:gd name="T15" fmla="*/ 38100 h 31"/>
              <a:gd name="T16" fmla="*/ 53975 w 34"/>
              <a:gd name="T17" fmla="*/ 31750 h 31"/>
              <a:gd name="T18" fmla="*/ 53975 w 34"/>
              <a:gd name="T19" fmla="*/ 28575 h 31"/>
              <a:gd name="T20" fmla="*/ 53975 w 34"/>
              <a:gd name="T21" fmla="*/ 25400 h 31"/>
              <a:gd name="T22" fmla="*/ 53975 w 34"/>
              <a:gd name="T23" fmla="*/ 19050 h 31"/>
              <a:gd name="T24" fmla="*/ 53975 w 34"/>
              <a:gd name="T25" fmla="*/ 15875 h 31"/>
              <a:gd name="T26" fmla="*/ 50800 w 34"/>
              <a:gd name="T27" fmla="*/ 12700 h 31"/>
              <a:gd name="T28" fmla="*/ 47625 w 34"/>
              <a:gd name="T29" fmla="*/ 9525 h 31"/>
              <a:gd name="T30" fmla="*/ 47625 w 34"/>
              <a:gd name="T31" fmla="*/ 6350 h 31"/>
              <a:gd name="T32" fmla="*/ 44450 w 34"/>
              <a:gd name="T33" fmla="*/ 3175 h 31"/>
              <a:gd name="T34" fmla="*/ 41275 w 34"/>
              <a:gd name="T35" fmla="*/ 0 h 31"/>
              <a:gd name="T36" fmla="*/ 34925 w 34"/>
              <a:gd name="T37" fmla="*/ 0 h 31"/>
              <a:gd name="T38" fmla="*/ 31750 w 34"/>
              <a:gd name="T39" fmla="*/ 0 h 31"/>
              <a:gd name="T40" fmla="*/ 28575 w 34"/>
              <a:gd name="T41" fmla="*/ 0 h 31"/>
              <a:gd name="T42" fmla="*/ 22225 w 34"/>
              <a:gd name="T43" fmla="*/ 0 h 31"/>
              <a:gd name="T44" fmla="*/ 19050 w 34"/>
              <a:gd name="T45" fmla="*/ 0 h 31"/>
              <a:gd name="T46" fmla="*/ 15875 w 34"/>
              <a:gd name="T47" fmla="*/ 0 h 31"/>
              <a:gd name="T48" fmla="*/ 12700 w 34"/>
              <a:gd name="T49" fmla="*/ 3175 h 31"/>
              <a:gd name="T50" fmla="*/ 9525 w 34"/>
              <a:gd name="T51" fmla="*/ 6350 h 31"/>
              <a:gd name="T52" fmla="*/ 6350 w 34"/>
              <a:gd name="T53" fmla="*/ 9525 h 31"/>
              <a:gd name="T54" fmla="*/ 3175 w 34"/>
              <a:gd name="T55" fmla="*/ 12700 h 31"/>
              <a:gd name="T56" fmla="*/ 3175 w 34"/>
              <a:gd name="T57" fmla="*/ 15875 h 31"/>
              <a:gd name="T58" fmla="*/ 0 w 34"/>
              <a:gd name="T59" fmla="*/ 19050 h 31"/>
              <a:gd name="T60" fmla="*/ 0 w 34"/>
              <a:gd name="T61" fmla="*/ 25400 h 31"/>
              <a:gd name="T62" fmla="*/ 0 w 34"/>
              <a:gd name="T63" fmla="*/ 28575 h 31"/>
              <a:gd name="T64" fmla="*/ 3175 w 34"/>
              <a:gd name="T65" fmla="*/ 31750 h 31"/>
              <a:gd name="T66" fmla="*/ 3175 w 34"/>
              <a:gd name="T67" fmla="*/ 38100 h 31"/>
              <a:gd name="T68" fmla="*/ 6350 w 34"/>
              <a:gd name="T69" fmla="*/ 41275 h 31"/>
              <a:gd name="T70" fmla="*/ 9525 w 34"/>
              <a:gd name="T71" fmla="*/ 44450 h 31"/>
              <a:gd name="T72" fmla="*/ 12700 w 34"/>
              <a:gd name="T73" fmla="*/ 47625 h 31"/>
              <a:gd name="T74" fmla="*/ 15875 w 34"/>
              <a:gd name="T75" fmla="*/ 47625 h 31"/>
              <a:gd name="T76" fmla="*/ 19050 w 34"/>
              <a:gd name="T77" fmla="*/ 49213 h 31"/>
              <a:gd name="T78" fmla="*/ 22225 w 34"/>
              <a:gd name="T79" fmla="*/ 49213 h 31"/>
              <a:gd name="T80" fmla="*/ 28575 w 34"/>
              <a:gd name="T81" fmla="*/ 49213 h 31"/>
              <a:gd name="T82" fmla="*/ 28575 w 34"/>
              <a:gd name="T83" fmla="*/ 49213 h 31"/>
              <a:gd name="T84" fmla="*/ 25400 w 34"/>
              <a:gd name="T85" fmla="*/ 49213 h 31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0" t="0" r="r" b="b"/>
            <a:pathLst>
              <a:path w="34" h="31">
                <a:moveTo>
                  <a:pt x="16" y="31"/>
                </a:moveTo>
                <a:lnTo>
                  <a:pt x="20" y="31"/>
                </a:lnTo>
                <a:lnTo>
                  <a:pt x="22" y="31"/>
                </a:lnTo>
                <a:lnTo>
                  <a:pt x="26" y="30"/>
                </a:lnTo>
                <a:lnTo>
                  <a:pt x="28" y="30"/>
                </a:lnTo>
                <a:lnTo>
                  <a:pt x="30" y="28"/>
                </a:lnTo>
                <a:lnTo>
                  <a:pt x="30" y="26"/>
                </a:lnTo>
                <a:lnTo>
                  <a:pt x="32" y="24"/>
                </a:lnTo>
                <a:lnTo>
                  <a:pt x="34" y="20"/>
                </a:lnTo>
                <a:lnTo>
                  <a:pt x="34" y="18"/>
                </a:lnTo>
                <a:lnTo>
                  <a:pt x="34" y="16"/>
                </a:lnTo>
                <a:lnTo>
                  <a:pt x="34" y="12"/>
                </a:lnTo>
                <a:lnTo>
                  <a:pt x="34" y="10"/>
                </a:lnTo>
                <a:lnTo>
                  <a:pt x="32" y="8"/>
                </a:lnTo>
                <a:lnTo>
                  <a:pt x="30" y="6"/>
                </a:lnTo>
                <a:lnTo>
                  <a:pt x="30" y="4"/>
                </a:lnTo>
                <a:lnTo>
                  <a:pt x="28" y="2"/>
                </a:lnTo>
                <a:lnTo>
                  <a:pt x="26" y="0"/>
                </a:lnTo>
                <a:lnTo>
                  <a:pt x="22" y="0"/>
                </a:lnTo>
                <a:lnTo>
                  <a:pt x="20" y="0"/>
                </a:lnTo>
                <a:lnTo>
                  <a:pt x="18" y="0"/>
                </a:lnTo>
                <a:lnTo>
                  <a:pt x="14" y="0"/>
                </a:lnTo>
                <a:lnTo>
                  <a:pt x="12" y="0"/>
                </a:lnTo>
                <a:lnTo>
                  <a:pt x="10" y="0"/>
                </a:lnTo>
                <a:lnTo>
                  <a:pt x="8" y="2"/>
                </a:lnTo>
                <a:lnTo>
                  <a:pt x="6" y="4"/>
                </a:lnTo>
                <a:lnTo>
                  <a:pt x="4" y="6"/>
                </a:lnTo>
                <a:lnTo>
                  <a:pt x="2" y="8"/>
                </a:lnTo>
                <a:lnTo>
                  <a:pt x="2" y="10"/>
                </a:lnTo>
                <a:lnTo>
                  <a:pt x="0" y="12"/>
                </a:lnTo>
                <a:lnTo>
                  <a:pt x="0" y="16"/>
                </a:lnTo>
                <a:lnTo>
                  <a:pt x="0" y="18"/>
                </a:lnTo>
                <a:lnTo>
                  <a:pt x="2" y="20"/>
                </a:lnTo>
                <a:lnTo>
                  <a:pt x="2" y="24"/>
                </a:lnTo>
                <a:lnTo>
                  <a:pt x="4" y="26"/>
                </a:lnTo>
                <a:lnTo>
                  <a:pt x="6" y="28"/>
                </a:lnTo>
                <a:lnTo>
                  <a:pt x="8" y="30"/>
                </a:lnTo>
                <a:lnTo>
                  <a:pt x="10" y="30"/>
                </a:lnTo>
                <a:lnTo>
                  <a:pt x="12" y="31"/>
                </a:lnTo>
                <a:lnTo>
                  <a:pt x="14" y="31"/>
                </a:lnTo>
                <a:lnTo>
                  <a:pt x="18" y="31"/>
                </a:lnTo>
                <a:lnTo>
                  <a:pt x="16" y="31"/>
                </a:lnTo>
                <a:close/>
              </a:path>
            </a:pathLst>
          </a:custGeom>
          <a:solidFill>
            <a:srgbClr val="EB75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7138" name="Freeform 235"/>
          <p:cNvSpPr>
            <a:spLocks/>
          </p:cNvSpPr>
          <p:nvPr/>
        </p:nvSpPr>
        <p:spPr bwMode="auto">
          <a:xfrm>
            <a:off x="4237038" y="3168650"/>
            <a:ext cx="53975" cy="49213"/>
          </a:xfrm>
          <a:custGeom>
            <a:avLst/>
            <a:gdLst>
              <a:gd name="T0" fmla="*/ 25400 w 34"/>
              <a:gd name="T1" fmla="*/ 49213 h 31"/>
              <a:gd name="T2" fmla="*/ 31750 w 34"/>
              <a:gd name="T3" fmla="*/ 49213 h 31"/>
              <a:gd name="T4" fmla="*/ 34925 w 34"/>
              <a:gd name="T5" fmla="*/ 49213 h 31"/>
              <a:gd name="T6" fmla="*/ 41275 w 34"/>
              <a:gd name="T7" fmla="*/ 47625 h 31"/>
              <a:gd name="T8" fmla="*/ 44450 w 34"/>
              <a:gd name="T9" fmla="*/ 47625 h 31"/>
              <a:gd name="T10" fmla="*/ 47625 w 34"/>
              <a:gd name="T11" fmla="*/ 44450 h 31"/>
              <a:gd name="T12" fmla="*/ 47625 w 34"/>
              <a:gd name="T13" fmla="*/ 41275 h 31"/>
              <a:gd name="T14" fmla="*/ 50800 w 34"/>
              <a:gd name="T15" fmla="*/ 38100 h 31"/>
              <a:gd name="T16" fmla="*/ 53975 w 34"/>
              <a:gd name="T17" fmla="*/ 31750 h 31"/>
              <a:gd name="T18" fmla="*/ 53975 w 34"/>
              <a:gd name="T19" fmla="*/ 28575 h 31"/>
              <a:gd name="T20" fmla="*/ 53975 w 34"/>
              <a:gd name="T21" fmla="*/ 25400 h 31"/>
              <a:gd name="T22" fmla="*/ 53975 w 34"/>
              <a:gd name="T23" fmla="*/ 19050 h 31"/>
              <a:gd name="T24" fmla="*/ 53975 w 34"/>
              <a:gd name="T25" fmla="*/ 15875 h 31"/>
              <a:gd name="T26" fmla="*/ 50800 w 34"/>
              <a:gd name="T27" fmla="*/ 12700 h 31"/>
              <a:gd name="T28" fmla="*/ 47625 w 34"/>
              <a:gd name="T29" fmla="*/ 9525 h 31"/>
              <a:gd name="T30" fmla="*/ 47625 w 34"/>
              <a:gd name="T31" fmla="*/ 6350 h 31"/>
              <a:gd name="T32" fmla="*/ 44450 w 34"/>
              <a:gd name="T33" fmla="*/ 3175 h 31"/>
              <a:gd name="T34" fmla="*/ 41275 w 34"/>
              <a:gd name="T35" fmla="*/ 0 h 31"/>
              <a:gd name="T36" fmla="*/ 34925 w 34"/>
              <a:gd name="T37" fmla="*/ 0 h 31"/>
              <a:gd name="T38" fmla="*/ 31750 w 34"/>
              <a:gd name="T39" fmla="*/ 0 h 31"/>
              <a:gd name="T40" fmla="*/ 28575 w 34"/>
              <a:gd name="T41" fmla="*/ 0 h 31"/>
              <a:gd name="T42" fmla="*/ 22225 w 34"/>
              <a:gd name="T43" fmla="*/ 0 h 31"/>
              <a:gd name="T44" fmla="*/ 19050 w 34"/>
              <a:gd name="T45" fmla="*/ 0 h 31"/>
              <a:gd name="T46" fmla="*/ 15875 w 34"/>
              <a:gd name="T47" fmla="*/ 0 h 31"/>
              <a:gd name="T48" fmla="*/ 12700 w 34"/>
              <a:gd name="T49" fmla="*/ 3175 h 31"/>
              <a:gd name="T50" fmla="*/ 9525 w 34"/>
              <a:gd name="T51" fmla="*/ 6350 h 31"/>
              <a:gd name="T52" fmla="*/ 6350 w 34"/>
              <a:gd name="T53" fmla="*/ 9525 h 31"/>
              <a:gd name="T54" fmla="*/ 3175 w 34"/>
              <a:gd name="T55" fmla="*/ 12700 h 31"/>
              <a:gd name="T56" fmla="*/ 3175 w 34"/>
              <a:gd name="T57" fmla="*/ 15875 h 31"/>
              <a:gd name="T58" fmla="*/ 0 w 34"/>
              <a:gd name="T59" fmla="*/ 19050 h 31"/>
              <a:gd name="T60" fmla="*/ 0 w 34"/>
              <a:gd name="T61" fmla="*/ 25400 h 31"/>
              <a:gd name="T62" fmla="*/ 0 w 34"/>
              <a:gd name="T63" fmla="*/ 28575 h 31"/>
              <a:gd name="T64" fmla="*/ 3175 w 34"/>
              <a:gd name="T65" fmla="*/ 31750 h 31"/>
              <a:gd name="T66" fmla="*/ 3175 w 34"/>
              <a:gd name="T67" fmla="*/ 38100 h 31"/>
              <a:gd name="T68" fmla="*/ 6350 w 34"/>
              <a:gd name="T69" fmla="*/ 41275 h 31"/>
              <a:gd name="T70" fmla="*/ 9525 w 34"/>
              <a:gd name="T71" fmla="*/ 44450 h 31"/>
              <a:gd name="T72" fmla="*/ 12700 w 34"/>
              <a:gd name="T73" fmla="*/ 47625 h 31"/>
              <a:gd name="T74" fmla="*/ 15875 w 34"/>
              <a:gd name="T75" fmla="*/ 47625 h 31"/>
              <a:gd name="T76" fmla="*/ 19050 w 34"/>
              <a:gd name="T77" fmla="*/ 49213 h 31"/>
              <a:gd name="T78" fmla="*/ 22225 w 34"/>
              <a:gd name="T79" fmla="*/ 49213 h 31"/>
              <a:gd name="T80" fmla="*/ 28575 w 34"/>
              <a:gd name="T81" fmla="*/ 49213 h 31"/>
              <a:gd name="T82" fmla="*/ 28575 w 34"/>
              <a:gd name="T83" fmla="*/ 49213 h 31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0" t="0" r="r" b="b"/>
            <a:pathLst>
              <a:path w="34" h="31">
                <a:moveTo>
                  <a:pt x="16" y="31"/>
                </a:moveTo>
                <a:lnTo>
                  <a:pt x="20" y="31"/>
                </a:lnTo>
                <a:lnTo>
                  <a:pt x="22" y="31"/>
                </a:lnTo>
                <a:lnTo>
                  <a:pt x="26" y="30"/>
                </a:lnTo>
                <a:lnTo>
                  <a:pt x="28" y="30"/>
                </a:lnTo>
                <a:lnTo>
                  <a:pt x="30" y="28"/>
                </a:lnTo>
                <a:lnTo>
                  <a:pt x="30" y="26"/>
                </a:lnTo>
                <a:lnTo>
                  <a:pt x="32" y="24"/>
                </a:lnTo>
                <a:lnTo>
                  <a:pt x="34" y="20"/>
                </a:lnTo>
                <a:lnTo>
                  <a:pt x="34" y="18"/>
                </a:lnTo>
                <a:lnTo>
                  <a:pt x="34" y="16"/>
                </a:lnTo>
                <a:lnTo>
                  <a:pt x="34" y="12"/>
                </a:lnTo>
                <a:lnTo>
                  <a:pt x="34" y="10"/>
                </a:lnTo>
                <a:lnTo>
                  <a:pt x="32" y="8"/>
                </a:lnTo>
                <a:lnTo>
                  <a:pt x="30" y="6"/>
                </a:lnTo>
                <a:lnTo>
                  <a:pt x="30" y="4"/>
                </a:lnTo>
                <a:lnTo>
                  <a:pt x="28" y="2"/>
                </a:lnTo>
                <a:lnTo>
                  <a:pt x="26" y="0"/>
                </a:lnTo>
                <a:lnTo>
                  <a:pt x="22" y="0"/>
                </a:lnTo>
                <a:lnTo>
                  <a:pt x="20" y="0"/>
                </a:lnTo>
                <a:lnTo>
                  <a:pt x="18" y="0"/>
                </a:lnTo>
                <a:lnTo>
                  <a:pt x="14" y="0"/>
                </a:lnTo>
                <a:lnTo>
                  <a:pt x="12" y="0"/>
                </a:lnTo>
                <a:lnTo>
                  <a:pt x="10" y="0"/>
                </a:lnTo>
                <a:lnTo>
                  <a:pt x="8" y="2"/>
                </a:lnTo>
                <a:lnTo>
                  <a:pt x="6" y="4"/>
                </a:lnTo>
                <a:lnTo>
                  <a:pt x="4" y="6"/>
                </a:lnTo>
                <a:lnTo>
                  <a:pt x="2" y="8"/>
                </a:lnTo>
                <a:lnTo>
                  <a:pt x="2" y="10"/>
                </a:lnTo>
                <a:lnTo>
                  <a:pt x="0" y="12"/>
                </a:lnTo>
                <a:lnTo>
                  <a:pt x="0" y="16"/>
                </a:lnTo>
                <a:lnTo>
                  <a:pt x="0" y="18"/>
                </a:lnTo>
                <a:lnTo>
                  <a:pt x="2" y="20"/>
                </a:lnTo>
                <a:lnTo>
                  <a:pt x="2" y="24"/>
                </a:lnTo>
                <a:lnTo>
                  <a:pt x="4" y="26"/>
                </a:lnTo>
                <a:lnTo>
                  <a:pt x="6" y="28"/>
                </a:lnTo>
                <a:lnTo>
                  <a:pt x="8" y="30"/>
                </a:lnTo>
                <a:lnTo>
                  <a:pt x="10" y="30"/>
                </a:lnTo>
                <a:lnTo>
                  <a:pt x="12" y="31"/>
                </a:lnTo>
                <a:lnTo>
                  <a:pt x="14" y="31"/>
                </a:lnTo>
                <a:lnTo>
                  <a:pt x="18" y="31"/>
                </a:lnTo>
              </a:path>
            </a:pathLst>
          </a:custGeom>
          <a:noFill/>
          <a:ln w="3175">
            <a:solidFill>
              <a:srgbClr val="EB75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7139" name="Freeform 236"/>
          <p:cNvSpPr>
            <a:spLocks/>
          </p:cNvSpPr>
          <p:nvPr/>
        </p:nvSpPr>
        <p:spPr bwMode="auto">
          <a:xfrm>
            <a:off x="5529263" y="3292475"/>
            <a:ext cx="60325" cy="50800"/>
          </a:xfrm>
          <a:custGeom>
            <a:avLst/>
            <a:gdLst>
              <a:gd name="T0" fmla="*/ 25400 w 38"/>
              <a:gd name="T1" fmla="*/ 0 h 32"/>
              <a:gd name="T2" fmla="*/ 0 w 38"/>
              <a:gd name="T3" fmla="*/ 47625 h 32"/>
              <a:gd name="T4" fmla="*/ 60325 w 38"/>
              <a:gd name="T5" fmla="*/ 50800 h 32"/>
              <a:gd name="T6" fmla="*/ 28575 w 38"/>
              <a:gd name="T7" fmla="*/ 0 h 32"/>
              <a:gd name="T8" fmla="*/ 28575 w 38"/>
              <a:gd name="T9" fmla="*/ 0 h 32"/>
              <a:gd name="T10" fmla="*/ 25400 w 38"/>
              <a:gd name="T11" fmla="*/ 0 h 3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38" h="32">
                <a:moveTo>
                  <a:pt x="16" y="0"/>
                </a:moveTo>
                <a:lnTo>
                  <a:pt x="0" y="30"/>
                </a:lnTo>
                <a:lnTo>
                  <a:pt x="38" y="32"/>
                </a:lnTo>
                <a:lnTo>
                  <a:pt x="18" y="0"/>
                </a:lnTo>
                <a:lnTo>
                  <a:pt x="16" y="0"/>
                </a:lnTo>
                <a:close/>
              </a:path>
            </a:pathLst>
          </a:custGeom>
          <a:solidFill>
            <a:srgbClr val="EB75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7140" name="Freeform 237"/>
          <p:cNvSpPr>
            <a:spLocks/>
          </p:cNvSpPr>
          <p:nvPr/>
        </p:nvSpPr>
        <p:spPr bwMode="auto">
          <a:xfrm>
            <a:off x="5529263" y="3292475"/>
            <a:ext cx="60325" cy="50800"/>
          </a:xfrm>
          <a:custGeom>
            <a:avLst/>
            <a:gdLst>
              <a:gd name="T0" fmla="*/ 25400 w 38"/>
              <a:gd name="T1" fmla="*/ 0 h 32"/>
              <a:gd name="T2" fmla="*/ 0 w 38"/>
              <a:gd name="T3" fmla="*/ 47625 h 32"/>
              <a:gd name="T4" fmla="*/ 60325 w 38"/>
              <a:gd name="T5" fmla="*/ 50800 h 32"/>
              <a:gd name="T6" fmla="*/ 28575 w 38"/>
              <a:gd name="T7" fmla="*/ 0 h 32"/>
              <a:gd name="T8" fmla="*/ 28575 w 38"/>
              <a:gd name="T9" fmla="*/ 0 h 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8" h="32">
                <a:moveTo>
                  <a:pt x="16" y="0"/>
                </a:moveTo>
                <a:lnTo>
                  <a:pt x="0" y="30"/>
                </a:lnTo>
                <a:lnTo>
                  <a:pt x="38" y="32"/>
                </a:lnTo>
                <a:lnTo>
                  <a:pt x="18" y="0"/>
                </a:lnTo>
              </a:path>
            </a:pathLst>
          </a:custGeom>
          <a:noFill/>
          <a:ln w="3175">
            <a:solidFill>
              <a:srgbClr val="EB75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7141" name="Freeform 238"/>
          <p:cNvSpPr>
            <a:spLocks/>
          </p:cNvSpPr>
          <p:nvPr/>
        </p:nvSpPr>
        <p:spPr bwMode="auto">
          <a:xfrm>
            <a:off x="4249738" y="2566988"/>
            <a:ext cx="1308100" cy="763587"/>
          </a:xfrm>
          <a:custGeom>
            <a:avLst/>
            <a:gdLst>
              <a:gd name="T0" fmla="*/ 0 w 824"/>
              <a:gd name="T1" fmla="*/ 9525 h 481"/>
              <a:gd name="T2" fmla="*/ 1301750 w 824"/>
              <a:gd name="T3" fmla="*/ 763587 h 481"/>
              <a:gd name="T4" fmla="*/ 1308100 w 824"/>
              <a:gd name="T5" fmla="*/ 750887 h 481"/>
              <a:gd name="T6" fmla="*/ 9525 w 824"/>
              <a:gd name="T7" fmla="*/ 0 h 481"/>
              <a:gd name="T8" fmla="*/ 3175 w 824"/>
              <a:gd name="T9" fmla="*/ 9525 h 481"/>
              <a:gd name="T10" fmla="*/ 3175 w 824"/>
              <a:gd name="T11" fmla="*/ 9525 h 481"/>
              <a:gd name="T12" fmla="*/ 0 w 824"/>
              <a:gd name="T13" fmla="*/ 9525 h 48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824" h="481">
                <a:moveTo>
                  <a:pt x="0" y="6"/>
                </a:moveTo>
                <a:lnTo>
                  <a:pt x="820" y="481"/>
                </a:lnTo>
                <a:lnTo>
                  <a:pt x="824" y="473"/>
                </a:lnTo>
                <a:lnTo>
                  <a:pt x="6" y="0"/>
                </a:lnTo>
                <a:lnTo>
                  <a:pt x="2" y="6"/>
                </a:lnTo>
                <a:lnTo>
                  <a:pt x="0" y="6"/>
                </a:lnTo>
                <a:close/>
              </a:path>
            </a:pathLst>
          </a:custGeom>
          <a:solidFill>
            <a:srgbClr val="EB75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7142" name="Freeform 239"/>
          <p:cNvSpPr>
            <a:spLocks/>
          </p:cNvSpPr>
          <p:nvPr/>
        </p:nvSpPr>
        <p:spPr bwMode="auto">
          <a:xfrm>
            <a:off x="4249738" y="2566988"/>
            <a:ext cx="1308100" cy="763587"/>
          </a:xfrm>
          <a:custGeom>
            <a:avLst/>
            <a:gdLst>
              <a:gd name="T0" fmla="*/ 0 w 824"/>
              <a:gd name="T1" fmla="*/ 9525 h 481"/>
              <a:gd name="T2" fmla="*/ 1301750 w 824"/>
              <a:gd name="T3" fmla="*/ 763587 h 481"/>
              <a:gd name="T4" fmla="*/ 1308100 w 824"/>
              <a:gd name="T5" fmla="*/ 750887 h 481"/>
              <a:gd name="T6" fmla="*/ 9525 w 824"/>
              <a:gd name="T7" fmla="*/ 0 h 481"/>
              <a:gd name="T8" fmla="*/ 3175 w 824"/>
              <a:gd name="T9" fmla="*/ 9525 h 481"/>
              <a:gd name="T10" fmla="*/ 3175 w 824"/>
              <a:gd name="T11" fmla="*/ 9525 h 48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824" h="481">
                <a:moveTo>
                  <a:pt x="0" y="6"/>
                </a:moveTo>
                <a:lnTo>
                  <a:pt x="820" y="481"/>
                </a:lnTo>
                <a:lnTo>
                  <a:pt x="824" y="473"/>
                </a:lnTo>
                <a:lnTo>
                  <a:pt x="6" y="0"/>
                </a:lnTo>
                <a:lnTo>
                  <a:pt x="2" y="6"/>
                </a:lnTo>
              </a:path>
            </a:pathLst>
          </a:custGeom>
          <a:noFill/>
          <a:ln w="3175">
            <a:solidFill>
              <a:srgbClr val="EB75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7143" name="Freeform 240"/>
          <p:cNvSpPr>
            <a:spLocks/>
          </p:cNvSpPr>
          <p:nvPr/>
        </p:nvSpPr>
        <p:spPr bwMode="auto">
          <a:xfrm>
            <a:off x="4237038" y="2549525"/>
            <a:ext cx="53975" cy="49213"/>
          </a:xfrm>
          <a:custGeom>
            <a:avLst/>
            <a:gdLst>
              <a:gd name="T0" fmla="*/ 25400 w 34"/>
              <a:gd name="T1" fmla="*/ 49213 h 31"/>
              <a:gd name="T2" fmla="*/ 31750 w 34"/>
              <a:gd name="T3" fmla="*/ 49213 h 31"/>
              <a:gd name="T4" fmla="*/ 34925 w 34"/>
              <a:gd name="T5" fmla="*/ 49213 h 31"/>
              <a:gd name="T6" fmla="*/ 41275 w 34"/>
              <a:gd name="T7" fmla="*/ 46038 h 31"/>
              <a:gd name="T8" fmla="*/ 44450 w 34"/>
              <a:gd name="T9" fmla="*/ 46038 h 31"/>
              <a:gd name="T10" fmla="*/ 47625 w 34"/>
              <a:gd name="T11" fmla="*/ 42863 h 31"/>
              <a:gd name="T12" fmla="*/ 47625 w 34"/>
              <a:gd name="T13" fmla="*/ 39688 h 31"/>
              <a:gd name="T14" fmla="*/ 50800 w 34"/>
              <a:gd name="T15" fmla="*/ 36513 h 31"/>
              <a:gd name="T16" fmla="*/ 53975 w 34"/>
              <a:gd name="T17" fmla="*/ 30163 h 31"/>
              <a:gd name="T18" fmla="*/ 53975 w 34"/>
              <a:gd name="T19" fmla="*/ 26988 h 31"/>
              <a:gd name="T20" fmla="*/ 53975 w 34"/>
              <a:gd name="T21" fmla="*/ 23813 h 31"/>
              <a:gd name="T22" fmla="*/ 53975 w 34"/>
              <a:gd name="T23" fmla="*/ 17463 h 31"/>
              <a:gd name="T24" fmla="*/ 53975 w 34"/>
              <a:gd name="T25" fmla="*/ 14288 h 31"/>
              <a:gd name="T26" fmla="*/ 50800 w 34"/>
              <a:gd name="T27" fmla="*/ 11113 h 31"/>
              <a:gd name="T28" fmla="*/ 47625 w 34"/>
              <a:gd name="T29" fmla="*/ 7938 h 31"/>
              <a:gd name="T30" fmla="*/ 47625 w 34"/>
              <a:gd name="T31" fmla="*/ 4763 h 31"/>
              <a:gd name="T32" fmla="*/ 44450 w 34"/>
              <a:gd name="T33" fmla="*/ 3175 h 31"/>
              <a:gd name="T34" fmla="*/ 41275 w 34"/>
              <a:gd name="T35" fmla="*/ 0 h 31"/>
              <a:gd name="T36" fmla="*/ 34925 w 34"/>
              <a:gd name="T37" fmla="*/ 0 h 31"/>
              <a:gd name="T38" fmla="*/ 31750 w 34"/>
              <a:gd name="T39" fmla="*/ 0 h 31"/>
              <a:gd name="T40" fmla="*/ 28575 w 34"/>
              <a:gd name="T41" fmla="*/ 0 h 31"/>
              <a:gd name="T42" fmla="*/ 22225 w 34"/>
              <a:gd name="T43" fmla="*/ 0 h 31"/>
              <a:gd name="T44" fmla="*/ 19050 w 34"/>
              <a:gd name="T45" fmla="*/ 0 h 31"/>
              <a:gd name="T46" fmla="*/ 15875 w 34"/>
              <a:gd name="T47" fmla="*/ 0 h 31"/>
              <a:gd name="T48" fmla="*/ 12700 w 34"/>
              <a:gd name="T49" fmla="*/ 3175 h 31"/>
              <a:gd name="T50" fmla="*/ 9525 w 34"/>
              <a:gd name="T51" fmla="*/ 4763 h 31"/>
              <a:gd name="T52" fmla="*/ 6350 w 34"/>
              <a:gd name="T53" fmla="*/ 7938 h 31"/>
              <a:gd name="T54" fmla="*/ 3175 w 34"/>
              <a:gd name="T55" fmla="*/ 11113 h 31"/>
              <a:gd name="T56" fmla="*/ 3175 w 34"/>
              <a:gd name="T57" fmla="*/ 14288 h 31"/>
              <a:gd name="T58" fmla="*/ 0 w 34"/>
              <a:gd name="T59" fmla="*/ 17463 h 31"/>
              <a:gd name="T60" fmla="*/ 0 w 34"/>
              <a:gd name="T61" fmla="*/ 23813 h 31"/>
              <a:gd name="T62" fmla="*/ 0 w 34"/>
              <a:gd name="T63" fmla="*/ 26988 h 31"/>
              <a:gd name="T64" fmla="*/ 3175 w 34"/>
              <a:gd name="T65" fmla="*/ 30163 h 31"/>
              <a:gd name="T66" fmla="*/ 3175 w 34"/>
              <a:gd name="T67" fmla="*/ 36513 h 31"/>
              <a:gd name="T68" fmla="*/ 6350 w 34"/>
              <a:gd name="T69" fmla="*/ 39688 h 31"/>
              <a:gd name="T70" fmla="*/ 9525 w 34"/>
              <a:gd name="T71" fmla="*/ 42863 h 31"/>
              <a:gd name="T72" fmla="*/ 12700 w 34"/>
              <a:gd name="T73" fmla="*/ 46038 h 31"/>
              <a:gd name="T74" fmla="*/ 15875 w 34"/>
              <a:gd name="T75" fmla="*/ 46038 h 31"/>
              <a:gd name="T76" fmla="*/ 19050 w 34"/>
              <a:gd name="T77" fmla="*/ 49213 h 31"/>
              <a:gd name="T78" fmla="*/ 22225 w 34"/>
              <a:gd name="T79" fmla="*/ 49213 h 31"/>
              <a:gd name="T80" fmla="*/ 28575 w 34"/>
              <a:gd name="T81" fmla="*/ 49213 h 31"/>
              <a:gd name="T82" fmla="*/ 28575 w 34"/>
              <a:gd name="T83" fmla="*/ 49213 h 31"/>
              <a:gd name="T84" fmla="*/ 25400 w 34"/>
              <a:gd name="T85" fmla="*/ 49213 h 31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0" t="0" r="r" b="b"/>
            <a:pathLst>
              <a:path w="34" h="31">
                <a:moveTo>
                  <a:pt x="16" y="31"/>
                </a:moveTo>
                <a:lnTo>
                  <a:pt x="20" y="31"/>
                </a:lnTo>
                <a:lnTo>
                  <a:pt x="22" y="31"/>
                </a:lnTo>
                <a:lnTo>
                  <a:pt x="26" y="29"/>
                </a:lnTo>
                <a:lnTo>
                  <a:pt x="28" y="29"/>
                </a:lnTo>
                <a:lnTo>
                  <a:pt x="30" y="27"/>
                </a:lnTo>
                <a:lnTo>
                  <a:pt x="30" y="25"/>
                </a:lnTo>
                <a:lnTo>
                  <a:pt x="32" y="23"/>
                </a:lnTo>
                <a:lnTo>
                  <a:pt x="34" y="19"/>
                </a:lnTo>
                <a:lnTo>
                  <a:pt x="34" y="17"/>
                </a:lnTo>
                <a:lnTo>
                  <a:pt x="34" y="15"/>
                </a:lnTo>
                <a:lnTo>
                  <a:pt x="34" y="11"/>
                </a:lnTo>
                <a:lnTo>
                  <a:pt x="34" y="9"/>
                </a:lnTo>
                <a:lnTo>
                  <a:pt x="32" y="7"/>
                </a:lnTo>
                <a:lnTo>
                  <a:pt x="30" y="5"/>
                </a:lnTo>
                <a:lnTo>
                  <a:pt x="30" y="3"/>
                </a:lnTo>
                <a:lnTo>
                  <a:pt x="28" y="2"/>
                </a:lnTo>
                <a:lnTo>
                  <a:pt x="26" y="0"/>
                </a:lnTo>
                <a:lnTo>
                  <a:pt x="22" y="0"/>
                </a:lnTo>
                <a:lnTo>
                  <a:pt x="20" y="0"/>
                </a:lnTo>
                <a:lnTo>
                  <a:pt x="18" y="0"/>
                </a:lnTo>
                <a:lnTo>
                  <a:pt x="14" y="0"/>
                </a:lnTo>
                <a:lnTo>
                  <a:pt x="12" y="0"/>
                </a:lnTo>
                <a:lnTo>
                  <a:pt x="10" y="0"/>
                </a:lnTo>
                <a:lnTo>
                  <a:pt x="8" y="2"/>
                </a:lnTo>
                <a:lnTo>
                  <a:pt x="6" y="3"/>
                </a:lnTo>
                <a:lnTo>
                  <a:pt x="4" y="5"/>
                </a:lnTo>
                <a:lnTo>
                  <a:pt x="2" y="7"/>
                </a:lnTo>
                <a:lnTo>
                  <a:pt x="2" y="9"/>
                </a:lnTo>
                <a:lnTo>
                  <a:pt x="0" y="11"/>
                </a:lnTo>
                <a:lnTo>
                  <a:pt x="0" y="15"/>
                </a:lnTo>
                <a:lnTo>
                  <a:pt x="0" y="17"/>
                </a:lnTo>
                <a:lnTo>
                  <a:pt x="2" y="19"/>
                </a:lnTo>
                <a:lnTo>
                  <a:pt x="2" y="23"/>
                </a:lnTo>
                <a:lnTo>
                  <a:pt x="4" y="25"/>
                </a:lnTo>
                <a:lnTo>
                  <a:pt x="6" y="27"/>
                </a:lnTo>
                <a:lnTo>
                  <a:pt x="8" y="29"/>
                </a:lnTo>
                <a:lnTo>
                  <a:pt x="10" y="29"/>
                </a:lnTo>
                <a:lnTo>
                  <a:pt x="12" y="31"/>
                </a:lnTo>
                <a:lnTo>
                  <a:pt x="14" y="31"/>
                </a:lnTo>
                <a:lnTo>
                  <a:pt x="18" y="31"/>
                </a:lnTo>
                <a:lnTo>
                  <a:pt x="16" y="31"/>
                </a:lnTo>
                <a:close/>
              </a:path>
            </a:pathLst>
          </a:custGeom>
          <a:solidFill>
            <a:srgbClr val="EB75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7144" name="Freeform 241"/>
          <p:cNvSpPr>
            <a:spLocks/>
          </p:cNvSpPr>
          <p:nvPr/>
        </p:nvSpPr>
        <p:spPr bwMode="auto">
          <a:xfrm>
            <a:off x="4237038" y="2549525"/>
            <a:ext cx="53975" cy="49213"/>
          </a:xfrm>
          <a:custGeom>
            <a:avLst/>
            <a:gdLst>
              <a:gd name="T0" fmla="*/ 25400 w 34"/>
              <a:gd name="T1" fmla="*/ 49213 h 31"/>
              <a:gd name="T2" fmla="*/ 31750 w 34"/>
              <a:gd name="T3" fmla="*/ 49213 h 31"/>
              <a:gd name="T4" fmla="*/ 34925 w 34"/>
              <a:gd name="T5" fmla="*/ 49213 h 31"/>
              <a:gd name="T6" fmla="*/ 41275 w 34"/>
              <a:gd name="T7" fmla="*/ 46038 h 31"/>
              <a:gd name="T8" fmla="*/ 44450 w 34"/>
              <a:gd name="T9" fmla="*/ 46038 h 31"/>
              <a:gd name="T10" fmla="*/ 47625 w 34"/>
              <a:gd name="T11" fmla="*/ 42863 h 31"/>
              <a:gd name="T12" fmla="*/ 47625 w 34"/>
              <a:gd name="T13" fmla="*/ 39688 h 31"/>
              <a:gd name="T14" fmla="*/ 50800 w 34"/>
              <a:gd name="T15" fmla="*/ 36513 h 31"/>
              <a:gd name="T16" fmla="*/ 53975 w 34"/>
              <a:gd name="T17" fmla="*/ 30163 h 31"/>
              <a:gd name="T18" fmla="*/ 53975 w 34"/>
              <a:gd name="T19" fmla="*/ 26988 h 31"/>
              <a:gd name="T20" fmla="*/ 53975 w 34"/>
              <a:gd name="T21" fmla="*/ 23813 h 31"/>
              <a:gd name="T22" fmla="*/ 53975 w 34"/>
              <a:gd name="T23" fmla="*/ 17463 h 31"/>
              <a:gd name="T24" fmla="*/ 53975 w 34"/>
              <a:gd name="T25" fmla="*/ 14288 h 31"/>
              <a:gd name="T26" fmla="*/ 50800 w 34"/>
              <a:gd name="T27" fmla="*/ 11113 h 31"/>
              <a:gd name="T28" fmla="*/ 47625 w 34"/>
              <a:gd name="T29" fmla="*/ 7938 h 31"/>
              <a:gd name="T30" fmla="*/ 47625 w 34"/>
              <a:gd name="T31" fmla="*/ 4763 h 31"/>
              <a:gd name="T32" fmla="*/ 44450 w 34"/>
              <a:gd name="T33" fmla="*/ 3175 h 31"/>
              <a:gd name="T34" fmla="*/ 41275 w 34"/>
              <a:gd name="T35" fmla="*/ 0 h 31"/>
              <a:gd name="T36" fmla="*/ 34925 w 34"/>
              <a:gd name="T37" fmla="*/ 0 h 31"/>
              <a:gd name="T38" fmla="*/ 31750 w 34"/>
              <a:gd name="T39" fmla="*/ 0 h 31"/>
              <a:gd name="T40" fmla="*/ 28575 w 34"/>
              <a:gd name="T41" fmla="*/ 0 h 31"/>
              <a:gd name="T42" fmla="*/ 22225 w 34"/>
              <a:gd name="T43" fmla="*/ 0 h 31"/>
              <a:gd name="T44" fmla="*/ 19050 w 34"/>
              <a:gd name="T45" fmla="*/ 0 h 31"/>
              <a:gd name="T46" fmla="*/ 15875 w 34"/>
              <a:gd name="T47" fmla="*/ 0 h 31"/>
              <a:gd name="T48" fmla="*/ 12700 w 34"/>
              <a:gd name="T49" fmla="*/ 3175 h 31"/>
              <a:gd name="T50" fmla="*/ 9525 w 34"/>
              <a:gd name="T51" fmla="*/ 4763 h 31"/>
              <a:gd name="T52" fmla="*/ 6350 w 34"/>
              <a:gd name="T53" fmla="*/ 7938 h 31"/>
              <a:gd name="T54" fmla="*/ 3175 w 34"/>
              <a:gd name="T55" fmla="*/ 11113 h 31"/>
              <a:gd name="T56" fmla="*/ 3175 w 34"/>
              <a:gd name="T57" fmla="*/ 14288 h 31"/>
              <a:gd name="T58" fmla="*/ 0 w 34"/>
              <a:gd name="T59" fmla="*/ 17463 h 31"/>
              <a:gd name="T60" fmla="*/ 0 w 34"/>
              <a:gd name="T61" fmla="*/ 23813 h 31"/>
              <a:gd name="T62" fmla="*/ 0 w 34"/>
              <a:gd name="T63" fmla="*/ 26988 h 31"/>
              <a:gd name="T64" fmla="*/ 3175 w 34"/>
              <a:gd name="T65" fmla="*/ 30163 h 31"/>
              <a:gd name="T66" fmla="*/ 3175 w 34"/>
              <a:gd name="T67" fmla="*/ 36513 h 31"/>
              <a:gd name="T68" fmla="*/ 6350 w 34"/>
              <a:gd name="T69" fmla="*/ 39688 h 31"/>
              <a:gd name="T70" fmla="*/ 9525 w 34"/>
              <a:gd name="T71" fmla="*/ 42863 h 31"/>
              <a:gd name="T72" fmla="*/ 12700 w 34"/>
              <a:gd name="T73" fmla="*/ 46038 h 31"/>
              <a:gd name="T74" fmla="*/ 15875 w 34"/>
              <a:gd name="T75" fmla="*/ 46038 h 31"/>
              <a:gd name="T76" fmla="*/ 19050 w 34"/>
              <a:gd name="T77" fmla="*/ 49213 h 31"/>
              <a:gd name="T78" fmla="*/ 22225 w 34"/>
              <a:gd name="T79" fmla="*/ 49213 h 31"/>
              <a:gd name="T80" fmla="*/ 28575 w 34"/>
              <a:gd name="T81" fmla="*/ 49213 h 31"/>
              <a:gd name="T82" fmla="*/ 28575 w 34"/>
              <a:gd name="T83" fmla="*/ 49213 h 31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0" t="0" r="r" b="b"/>
            <a:pathLst>
              <a:path w="34" h="31">
                <a:moveTo>
                  <a:pt x="16" y="31"/>
                </a:moveTo>
                <a:lnTo>
                  <a:pt x="20" y="31"/>
                </a:lnTo>
                <a:lnTo>
                  <a:pt x="22" y="31"/>
                </a:lnTo>
                <a:lnTo>
                  <a:pt x="26" y="29"/>
                </a:lnTo>
                <a:lnTo>
                  <a:pt x="28" y="29"/>
                </a:lnTo>
                <a:lnTo>
                  <a:pt x="30" y="27"/>
                </a:lnTo>
                <a:lnTo>
                  <a:pt x="30" y="25"/>
                </a:lnTo>
                <a:lnTo>
                  <a:pt x="32" y="23"/>
                </a:lnTo>
                <a:lnTo>
                  <a:pt x="34" y="19"/>
                </a:lnTo>
                <a:lnTo>
                  <a:pt x="34" y="17"/>
                </a:lnTo>
                <a:lnTo>
                  <a:pt x="34" y="15"/>
                </a:lnTo>
                <a:lnTo>
                  <a:pt x="34" y="11"/>
                </a:lnTo>
                <a:lnTo>
                  <a:pt x="34" y="9"/>
                </a:lnTo>
                <a:lnTo>
                  <a:pt x="32" y="7"/>
                </a:lnTo>
                <a:lnTo>
                  <a:pt x="30" y="5"/>
                </a:lnTo>
                <a:lnTo>
                  <a:pt x="30" y="3"/>
                </a:lnTo>
                <a:lnTo>
                  <a:pt x="28" y="2"/>
                </a:lnTo>
                <a:lnTo>
                  <a:pt x="26" y="0"/>
                </a:lnTo>
                <a:lnTo>
                  <a:pt x="22" y="0"/>
                </a:lnTo>
                <a:lnTo>
                  <a:pt x="20" y="0"/>
                </a:lnTo>
                <a:lnTo>
                  <a:pt x="18" y="0"/>
                </a:lnTo>
                <a:lnTo>
                  <a:pt x="14" y="0"/>
                </a:lnTo>
                <a:lnTo>
                  <a:pt x="12" y="0"/>
                </a:lnTo>
                <a:lnTo>
                  <a:pt x="10" y="0"/>
                </a:lnTo>
                <a:lnTo>
                  <a:pt x="8" y="2"/>
                </a:lnTo>
                <a:lnTo>
                  <a:pt x="6" y="3"/>
                </a:lnTo>
                <a:lnTo>
                  <a:pt x="4" y="5"/>
                </a:lnTo>
                <a:lnTo>
                  <a:pt x="2" y="7"/>
                </a:lnTo>
                <a:lnTo>
                  <a:pt x="2" y="9"/>
                </a:lnTo>
                <a:lnTo>
                  <a:pt x="0" y="11"/>
                </a:lnTo>
                <a:lnTo>
                  <a:pt x="0" y="15"/>
                </a:lnTo>
                <a:lnTo>
                  <a:pt x="0" y="17"/>
                </a:lnTo>
                <a:lnTo>
                  <a:pt x="2" y="19"/>
                </a:lnTo>
                <a:lnTo>
                  <a:pt x="2" y="23"/>
                </a:lnTo>
                <a:lnTo>
                  <a:pt x="4" y="25"/>
                </a:lnTo>
                <a:lnTo>
                  <a:pt x="6" y="27"/>
                </a:lnTo>
                <a:lnTo>
                  <a:pt x="8" y="29"/>
                </a:lnTo>
                <a:lnTo>
                  <a:pt x="10" y="29"/>
                </a:lnTo>
                <a:lnTo>
                  <a:pt x="12" y="31"/>
                </a:lnTo>
                <a:lnTo>
                  <a:pt x="14" y="31"/>
                </a:lnTo>
                <a:lnTo>
                  <a:pt x="18" y="31"/>
                </a:lnTo>
              </a:path>
            </a:pathLst>
          </a:custGeom>
          <a:noFill/>
          <a:ln w="3175">
            <a:solidFill>
              <a:srgbClr val="EB75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7145" name="Line 242"/>
          <p:cNvSpPr>
            <a:spLocks noChangeShapeType="1"/>
          </p:cNvSpPr>
          <p:nvPr/>
        </p:nvSpPr>
        <p:spPr bwMode="auto">
          <a:xfrm flipV="1">
            <a:off x="3405188" y="2771775"/>
            <a:ext cx="2162175" cy="25209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7146" name="Line 243"/>
          <p:cNvSpPr>
            <a:spLocks noChangeShapeType="1"/>
          </p:cNvSpPr>
          <p:nvPr/>
        </p:nvSpPr>
        <p:spPr bwMode="auto">
          <a:xfrm flipV="1">
            <a:off x="3411538" y="2924175"/>
            <a:ext cx="2162175" cy="2830513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7147" name="Line 244"/>
          <p:cNvSpPr>
            <a:spLocks noChangeShapeType="1"/>
          </p:cNvSpPr>
          <p:nvPr/>
        </p:nvSpPr>
        <p:spPr bwMode="auto">
          <a:xfrm flipV="1">
            <a:off x="3405188" y="3060700"/>
            <a:ext cx="2149475" cy="9921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7148" name="Line 245"/>
          <p:cNvSpPr>
            <a:spLocks noChangeShapeType="1"/>
          </p:cNvSpPr>
          <p:nvPr/>
        </p:nvSpPr>
        <p:spPr bwMode="auto">
          <a:xfrm flipV="1">
            <a:off x="3405188" y="3221038"/>
            <a:ext cx="2152650" cy="130016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7149" name="Line 246"/>
          <p:cNvSpPr>
            <a:spLocks noChangeShapeType="1"/>
          </p:cNvSpPr>
          <p:nvPr/>
        </p:nvSpPr>
        <p:spPr bwMode="auto">
          <a:xfrm flipV="1">
            <a:off x="3411538" y="3389313"/>
            <a:ext cx="2152650" cy="20589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7150" name="Line 247"/>
          <p:cNvSpPr>
            <a:spLocks noChangeShapeType="1"/>
          </p:cNvSpPr>
          <p:nvPr/>
        </p:nvSpPr>
        <p:spPr bwMode="auto">
          <a:xfrm flipV="1">
            <a:off x="3405188" y="3532188"/>
            <a:ext cx="2152650" cy="12954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7151" name="Line 248"/>
          <p:cNvSpPr>
            <a:spLocks noChangeShapeType="1"/>
          </p:cNvSpPr>
          <p:nvPr/>
        </p:nvSpPr>
        <p:spPr bwMode="auto">
          <a:xfrm flipV="1">
            <a:off x="3405188" y="3668713"/>
            <a:ext cx="2146300" cy="5397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7152" name="Line 249"/>
          <p:cNvSpPr>
            <a:spLocks noChangeShapeType="1"/>
          </p:cNvSpPr>
          <p:nvPr/>
        </p:nvSpPr>
        <p:spPr bwMode="auto">
          <a:xfrm flipV="1">
            <a:off x="3395663" y="3822700"/>
            <a:ext cx="2159000" cy="5365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7153" name="Line 250"/>
          <p:cNvSpPr>
            <a:spLocks noChangeShapeType="1"/>
          </p:cNvSpPr>
          <p:nvPr/>
        </p:nvSpPr>
        <p:spPr bwMode="auto">
          <a:xfrm flipV="1">
            <a:off x="3405188" y="3990975"/>
            <a:ext cx="2146300" cy="99853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7154" name="Freeform 251"/>
          <p:cNvSpPr>
            <a:spLocks/>
          </p:cNvSpPr>
          <p:nvPr/>
        </p:nvSpPr>
        <p:spPr bwMode="auto">
          <a:xfrm>
            <a:off x="3829050" y="2341563"/>
            <a:ext cx="879475" cy="153987"/>
          </a:xfrm>
          <a:custGeom>
            <a:avLst/>
            <a:gdLst>
              <a:gd name="T0" fmla="*/ 879475 w 554"/>
              <a:gd name="T1" fmla="*/ 150812 h 97"/>
              <a:gd name="T2" fmla="*/ 879475 w 554"/>
              <a:gd name="T3" fmla="*/ 0 h 97"/>
              <a:gd name="T4" fmla="*/ 0 w 554"/>
              <a:gd name="T5" fmla="*/ 0 h 97"/>
              <a:gd name="T6" fmla="*/ 0 w 554"/>
              <a:gd name="T7" fmla="*/ 153987 h 97"/>
              <a:gd name="T8" fmla="*/ 879475 w 554"/>
              <a:gd name="T9" fmla="*/ 153987 h 97"/>
              <a:gd name="T10" fmla="*/ 879475 w 554"/>
              <a:gd name="T11" fmla="*/ 153987 h 9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554" h="97">
                <a:moveTo>
                  <a:pt x="554" y="95"/>
                </a:moveTo>
                <a:lnTo>
                  <a:pt x="554" y="0"/>
                </a:lnTo>
                <a:lnTo>
                  <a:pt x="0" y="0"/>
                </a:lnTo>
                <a:lnTo>
                  <a:pt x="0" y="97"/>
                </a:lnTo>
                <a:lnTo>
                  <a:pt x="554" y="97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7155" name="Freeform 252"/>
          <p:cNvSpPr>
            <a:spLocks/>
          </p:cNvSpPr>
          <p:nvPr/>
        </p:nvSpPr>
        <p:spPr bwMode="auto">
          <a:xfrm>
            <a:off x="3829050" y="2495550"/>
            <a:ext cx="879475" cy="155575"/>
          </a:xfrm>
          <a:custGeom>
            <a:avLst/>
            <a:gdLst>
              <a:gd name="T0" fmla="*/ 879475 w 554"/>
              <a:gd name="T1" fmla="*/ 152400 h 98"/>
              <a:gd name="T2" fmla="*/ 879475 w 554"/>
              <a:gd name="T3" fmla="*/ 0 h 98"/>
              <a:gd name="T4" fmla="*/ 0 w 554"/>
              <a:gd name="T5" fmla="*/ 0 h 98"/>
              <a:gd name="T6" fmla="*/ 0 w 554"/>
              <a:gd name="T7" fmla="*/ 155575 h 98"/>
              <a:gd name="T8" fmla="*/ 879475 w 554"/>
              <a:gd name="T9" fmla="*/ 155575 h 98"/>
              <a:gd name="T10" fmla="*/ 879475 w 554"/>
              <a:gd name="T11" fmla="*/ 155575 h 9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554" h="98">
                <a:moveTo>
                  <a:pt x="554" y="96"/>
                </a:moveTo>
                <a:lnTo>
                  <a:pt x="554" y="0"/>
                </a:lnTo>
                <a:lnTo>
                  <a:pt x="0" y="0"/>
                </a:lnTo>
                <a:lnTo>
                  <a:pt x="0" y="98"/>
                </a:lnTo>
                <a:lnTo>
                  <a:pt x="554" y="98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7156" name="Freeform 253"/>
          <p:cNvSpPr>
            <a:spLocks/>
          </p:cNvSpPr>
          <p:nvPr/>
        </p:nvSpPr>
        <p:spPr bwMode="auto">
          <a:xfrm>
            <a:off x="3829050" y="2806700"/>
            <a:ext cx="879475" cy="153988"/>
          </a:xfrm>
          <a:custGeom>
            <a:avLst/>
            <a:gdLst>
              <a:gd name="T0" fmla="*/ 879475 w 554"/>
              <a:gd name="T1" fmla="*/ 150813 h 97"/>
              <a:gd name="T2" fmla="*/ 879475 w 554"/>
              <a:gd name="T3" fmla="*/ 0 h 97"/>
              <a:gd name="T4" fmla="*/ 0 w 554"/>
              <a:gd name="T5" fmla="*/ 0 h 97"/>
              <a:gd name="T6" fmla="*/ 0 w 554"/>
              <a:gd name="T7" fmla="*/ 153988 h 97"/>
              <a:gd name="T8" fmla="*/ 879475 w 554"/>
              <a:gd name="T9" fmla="*/ 153988 h 97"/>
              <a:gd name="T10" fmla="*/ 879475 w 554"/>
              <a:gd name="T11" fmla="*/ 153988 h 9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554" h="97">
                <a:moveTo>
                  <a:pt x="554" y="95"/>
                </a:moveTo>
                <a:lnTo>
                  <a:pt x="554" y="0"/>
                </a:lnTo>
                <a:lnTo>
                  <a:pt x="0" y="0"/>
                </a:lnTo>
                <a:lnTo>
                  <a:pt x="0" y="97"/>
                </a:lnTo>
                <a:lnTo>
                  <a:pt x="554" y="97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7157" name="Freeform 254"/>
          <p:cNvSpPr>
            <a:spLocks/>
          </p:cNvSpPr>
          <p:nvPr/>
        </p:nvSpPr>
        <p:spPr bwMode="auto">
          <a:xfrm>
            <a:off x="3829050" y="3116263"/>
            <a:ext cx="879475" cy="155575"/>
          </a:xfrm>
          <a:custGeom>
            <a:avLst/>
            <a:gdLst>
              <a:gd name="T0" fmla="*/ 879475 w 554"/>
              <a:gd name="T1" fmla="*/ 152400 h 98"/>
              <a:gd name="T2" fmla="*/ 879475 w 554"/>
              <a:gd name="T3" fmla="*/ 0 h 98"/>
              <a:gd name="T4" fmla="*/ 0 w 554"/>
              <a:gd name="T5" fmla="*/ 0 h 98"/>
              <a:gd name="T6" fmla="*/ 0 w 554"/>
              <a:gd name="T7" fmla="*/ 155575 h 98"/>
              <a:gd name="T8" fmla="*/ 879475 w 554"/>
              <a:gd name="T9" fmla="*/ 155575 h 98"/>
              <a:gd name="T10" fmla="*/ 879475 w 554"/>
              <a:gd name="T11" fmla="*/ 155575 h 9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554" h="98">
                <a:moveTo>
                  <a:pt x="554" y="96"/>
                </a:moveTo>
                <a:lnTo>
                  <a:pt x="554" y="0"/>
                </a:lnTo>
                <a:lnTo>
                  <a:pt x="0" y="0"/>
                </a:lnTo>
                <a:lnTo>
                  <a:pt x="0" y="98"/>
                </a:lnTo>
                <a:lnTo>
                  <a:pt x="554" y="98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7158" name="Freeform 255"/>
          <p:cNvSpPr>
            <a:spLocks/>
          </p:cNvSpPr>
          <p:nvPr/>
        </p:nvSpPr>
        <p:spPr bwMode="auto">
          <a:xfrm>
            <a:off x="3829050" y="2651125"/>
            <a:ext cx="879475" cy="155575"/>
          </a:xfrm>
          <a:custGeom>
            <a:avLst/>
            <a:gdLst>
              <a:gd name="T0" fmla="*/ 879475 w 554"/>
              <a:gd name="T1" fmla="*/ 152400 h 98"/>
              <a:gd name="T2" fmla="*/ 879475 w 554"/>
              <a:gd name="T3" fmla="*/ 0 h 98"/>
              <a:gd name="T4" fmla="*/ 0 w 554"/>
              <a:gd name="T5" fmla="*/ 0 h 98"/>
              <a:gd name="T6" fmla="*/ 0 w 554"/>
              <a:gd name="T7" fmla="*/ 155575 h 98"/>
              <a:gd name="T8" fmla="*/ 879475 w 554"/>
              <a:gd name="T9" fmla="*/ 155575 h 98"/>
              <a:gd name="T10" fmla="*/ 879475 w 554"/>
              <a:gd name="T11" fmla="*/ 155575 h 9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554" h="98">
                <a:moveTo>
                  <a:pt x="554" y="96"/>
                </a:moveTo>
                <a:lnTo>
                  <a:pt x="554" y="0"/>
                </a:lnTo>
                <a:lnTo>
                  <a:pt x="0" y="0"/>
                </a:lnTo>
                <a:lnTo>
                  <a:pt x="0" y="98"/>
                </a:lnTo>
                <a:lnTo>
                  <a:pt x="554" y="98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7159" name="Freeform 256"/>
          <p:cNvSpPr>
            <a:spLocks/>
          </p:cNvSpPr>
          <p:nvPr/>
        </p:nvSpPr>
        <p:spPr bwMode="auto">
          <a:xfrm>
            <a:off x="5322888" y="4495800"/>
            <a:ext cx="1566862" cy="1039813"/>
          </a:xfrm>
          <a:custGeom>
            <a:avLst/>
            <a:gdLst>
              <a:gd name="T0" fmla="*/ 1566862 w 987"/>
              <a:gd name="T1" fmla="*/ 130175 h 655"/>
              <a:gd name="T2" fmla="*/ 1557337 w 987"/>
              <a:gd name="T3" fmla="*/ 109538 h 655"/>
              <a:gd name="T4" fmla="*/ 1528762 w 987"/>
              <a:gd name="T5" fmla="*/ 90488 h 655"/>
              <a:gd name="T6" fmla="*/ 1481137 w 987"/>
              <a:gd name="T7" fmla="*/ 71438 h 655"/>
              <a:gd name="T8" fmla="*/ 1417637 w 987"/>
              <a:gd name="T9" fmla="*/ 53975 h 655"/>
              <a:gd name="T10" fmla="*/ 1338262 w 987"/>
              <a:gd name="T11" fmla="*/ 38100 h 655"/>
              <a:gd name="T12" fmla="*/ 1247775 w 987"/>
              <a:gd name="T13" fmla="*/ 25400 h 655"/>
              <a:gd name="T14" fmla="*/ 1146175 w 987"/>
              <a:gd name="T15" fmla="*/ 12700 h 655"/>
              <a:gd name="T16" fmla="*/ 1031875 w 987"/>
              <a:gd name="T17" fmla="*/ 6350 h 655"/>
              <a:gd name="T18" fmla="*/ 911225 w 987"/>
              <a:gd name="T19" fmla="*/ 0 h 655"/>
              <a:gd name="T20" fmla="*/ 785812 w 987"/>
              <a:gd name="T21" fmla="*/ 0 h 655"/>
              <a:gd name="T22" fmla="*/ 658812 w 987"/>
              <a:gd name="T23" fmla="*/ 0 h 655"/>
              <a:gd name="T24" fmla="*/ 538162 w 987"/>
              <a:gd name="T25" fmla="*/ 6350 h 655"/>
              <a:gd name="T26" fmla="*/ 423862 w 987"/>
              <a:gd name="T27" fmla="*/ 12700 h 655"/>
              <a:gd name="T28" fmla="*/ 322262 w 987"/>
              <a:gd name="T29" fmla="*/ 25400 h 655"/>
              <a:gd name="T30" fmla="*/ 231775 w 987"/>
              <a:gd name="T31" fmla="*/ 38100 h 655"/>
              <a:gd name="T32" fmla="*/ 152400 w 987"/>
              <a:gd name="T33" fmla="*/ 53975 h 655"/>
              <a:gd name="T34" fmla="*/ 88900 w 987"/>
              <a:gd name="T35" fmla="*/ 71438 h 655"/>
              <a:gd name="T36" fmla="*/ 41275 w 987"/>
              <a:gd name="T37" fmla="*/ 90488 h 655"/>
              <a:gd name="T38" fmla="*/ 12700 w 987"/>
              <a:gd name="T39" fmla="*/ 109538 h 655"/>
              <a:gd name="T40" fmla="*/ 0 w 987"/>
              <a:gd name="T41" fmla="*/ 130175 h 655"/>
              <a:gd name="T42" fmla="*/ 0 w 987"/>
              <a:gd name="T43" fmla="*/ 906463 h 655"/>
              <a:gd name="T44" fmla="*/ 12700 w 987"/>
              <a:gd name="T45" fmla="*/ 927100 h 655"/>
              <a:gd name="T46" fmla="*/ 41275 w 987"/>
              <a:gd name="T47" fmla="*/ 949325 h 655"/>
              <a:gd name="T48" fmla="*/ 88900 w 987"/>
              <a:gd name="T49" fmla="*/ 968375 h 655"/>
              <a:gd name="T50" fmla="*/ 152400 w 987"/>
              <a:gd name="T51" fmla="*/ 985838 h 655"/>
              <a:gd name="T52" fmla="*/ 231775 w 987"/>
              <a:gd name="T53" fmla="*/ 1001713 h 655"/>
              <a:gd name="T54" fmla="*/ 322262 w 987"/>
              <a:gd name="T55" fmla="*/ 1014413 h 655"/>
              <a:gd name="T56" fmla="*/ 423862 w 987"/>
              <a:gd name="T57" fmla="*/ 1023938 h 655"/>
              <a:gd name="T58" fmla="*/ 538162 w 987"/>
              <a:gd name="T59" fmla="*/ 1033463 h 655"/>
              <a:gd name="T60" fmla="*/ 658812 w 987"/>
              <a:gd name="T61" fmla="*/ 1036638 h 655"/>
              <a:gd name="T62" fmla="*/ 785812 w 987"/>
              <a:gd name="T63" fmla="*/ 1039813 h 655"/>
              <a:gd name="T64" fmla="*/ 911225 w 987"/>
              <a:gd name="T65" fmla="*/ 1036638 h 655"/>
              <a:gd name="T66" fmla="*/ 1031875 w 987"/>
              <a:gd name="T67" fmla="*/ 1033463 h 655"/>
              <a:gd name="T68" fmla="*/ 1146175 w 987"/>
              <a:gd name="T69" fmla="*/ 1023938 h 655"/>
              <a:gd name="T70" fmla="*/ 1247775 w 987"/>
              <a:gd name="T71" fmla="*/ 1014413 h 655"/>
              <a:gd name="T72" fmla="*/ 1338262 w 987"/>
              <a:gd name="T73" fmla="*/ 1001713 h 655"/>
              <a:gd name="T74" fmla="*/ 1417637 w 987"/>
              <a:gd name="T75" fmla="*/ 985838 h 655"/>
              <a:gd name="T76" fmla="*/ 1481137 w 987"/>
              <a:gd name="T77" fmla="*/ 968375 h 655"/>
              <a:gd name="T78" fmla="*/ 1528762 w 987"/>
              <a:gd name="T79" fmla="*/ 949325 h 655"/>
              <a:gd name="T80" fmla="*/ 1557337 w 987"/>
              <a:gd name="T81" fmla="*/ 927100 h 655"/>
              <a:gd name="T82" fmla="*/ 1566862 w 987"/>
              <a:gd name="T83" fmla="*/ 906463 h 655"/>
              <a:gd name="T84" fmla="*/ 1566862 w 987"/>
              <a:gd name="T85" fmla="*/ 130175 h 655"/>
              <a:gd name="T86" fmla="*/ 1566862 w 987"/>
              <a:gd name="T87" fmla="*/ 130175 h 655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987" h="655">
                <a:moveTo>
                  <a:pt x="987" y="82"/>
                </a:moveTo>
                <a:lnTo>
                  <a:pt x="981" y="69"/>
                </a:lnTo>
                <a:lnTo>
                  <a:pt x="963" y="57"/>
                </a:lnTo>
                <a:lnTo>
                  <a:pt x="933" y="45"/>
                </a:lnTo>
                <a:lnTo>
                  <a:pt x="893" y="34"/>
                </a:lnTo>
                <a:lnTo>
                  <a:pt x="843" y="24"/>
                </a:lnTo>
                <a:lnTo>
                  <a:pt x="786" y="16"/>
                </a:lnTo>
                <a:lnTo>
                  <a:pt x="722" y="8"/>
                </a:lnTo>
                <a:lnTo>
                  <a:pt x="650" y="4"/>
                </a:lnTo>
                <a:lnTo>
                  <a:pt x="574" y="0"/>
                </a:lnTo>
                <a:lnTo>
                  <a:pt x="495" y="0"/>
                </a:lnTo>
                <a:lnTo>
                  <a:pt x="415" y="0"/>
                </a:lnTo>
                <a:lnTo>
                  <a:pt x="339" y="4"/>
                </a:lnTo>
                <a:lnTo>
                  <a:pt x="267" y="8"/>
                </a:lnTo>
                <a:lnTo>
                  <a:pt x="203" y="16"/>
                </a:lnTo>
                <a:lnTo>
                  <a:pt x="146" y="24"/>
                </a:lnTo>
                <a:lnTo>
                  <a:pt x="96" y="34"/>
                </a:lnTo>
                <a:lnTo>
                  <a:pt x="56" y="45"/>
                </a:lnTo>
                <a:lnTo>
                  <a:pt x="26" y="57"/>
                </a:lnTo>
                <a:lnTo>
                  <a:pt x="8" y="69"/>
                </a:lnTo>
                <a:lnTo>
                  <a:pt x="0" y="82"/>
                </a:lnTo>
                <a:lnTo>
                  <a:pt x="0" y="571"/>
                </a:lnTo>
                <a:lnTo>
                  <a:pt x="8" y="584"/>
                </a:lnTo>
                <a:lnTo>
                  <a:pt x="26" y="598"/>
                </a:lnTo>
                <a:lnTo>
                  <a:pt x="56" y="610"/>
                </a:lnTo>
                <a:lnTo>
                  <a:pt x="96" y="621"/>
                </a:lnTo>
                <a:lnTo>
                  <a:pt x="146" y="631"/>
                </a:lnTo>
                <a:lnTo>
                  <a:pt x="203" y="639"/>
                </a:lnTo>
                <a:lnTo>
                  <a:pt x="267" y="645"/>
                </a:lnTo>
                <a:lnTo>
                  <a:pt x="339" y="651"/>
                </a:lnTo>
                <a:lnTo>
                  <a:pt x="415" y="653"/>
                </a:lnTo>
                <a:lnTo>
                  <a:pt x="495" y="655"/>
                </a:lnTo>
                <a:lnTo>
                  <a:pt x="574" y="653"/>
                </a:lnTo>
                <a:lnTo>
                  <a:pt x="650" y="651"/>
                </a:lnTo>
                <a:lnTo>
                  <a:pt x="722" y="645"/>
                </a:lnTo>
                <a:lnTo>
                  <a:pt x="786" y="639"/>
                </a:lnTo>
                <a:lnTo>
                  <a:pt x="843" y="631"/>
                </a:lnTo>
                <a:lnTo>
                  <a:pt x="893" y="621"/>
                </a:lnTo>
                <a:lnTo>
                  <a:pt x="933" y="610"/>
                </a:lnTo>
                <a:lnTo>
                  <a:pt x="963" y="598"/>
                </a:lnTo>
                <a:lnTo>
                  <a:pt x="981" y="584"/>
                </a:lnTo>
                <a:lnTo>
                  <a:pt x="987" y="571"/>
                </a:lnTo>
                <a:lnTo>
                  <a:pt x="987" y="82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7160" name="Rectangle 257"/>
          <p:cNvSpPr>
            <a:spLocks noChangeArrowheads="1"/>
          </p:cNvSpPr>
          <p:nvPr/>
        </p:nvSpPr>
        <p:spPr bwMode="auto">
          <a:xfrm>
            <a:off x="5905500" y="2551113"/>
            <a:ext cx="68263" cy="122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charset="0"/>
              </a:rPr>
              <a:t>P</a:t>
            </a:r>
            <a:endParaRPr lang="en-US" sz="1600"/>
          </a:p>
        </p:txBody>
      </p:sp>
      <p:sp>
        <p:nvSpPr>
          <p:cNvPr id="47161" name="Rectangle 258"/>
          <p:cNvSpPr>
            <a:spLocks noChangeArrowheads="1"/>
          </p:cNvSpPr>
          <p:nvPr/>
        </p:nvSpPr>
        <p:spPr bwMode="auto">
          <a:xfrm>
            <a:off x="5975350" y="2551113"/>
            <a:ext cx="57150" cy="122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charset="0"/>
              </a:rPr>
              <a:t>h</a:t>
            </a:r>
            <a:endParaRPr lang="en-US" sz="1600"/>
          </a:p>
        </p:txBody>
      </p:sp>
      <p:sp>
        <p:nvSpPr>
          <p:cNvPr id="47162" name="Rectangle 259"/>
          <p:cNvSpPr>
            <a:spLocks noChangeArrowheads="1"/>
          </p:cNvSpPr>
          <p:nvPr/>
        </p:nvSpPr>
        <p:spPr bwMode="auto">
          <a:xfrm>
            <a:off x="6032500" y="2551113"/>
            <a:ext cx="50800" cy="122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charset="0"/>
              </a:rPr>
              <a:t>y</a:t>
            </a:r>
            <a:endParaRPr lang="en-US" sz="1600"/>
          </a:p>
        </p:txBody>
      </p:sp>
      <p:sp>
        <p:nvSpPr>
          <p:cNvPr id="47163" name="Rectangle 260"/>
          <p:cNvSpPr>
            <a:spLocks noChangeArrowheads="1"/>
          </p:cNvSpPr>
          <p:nvPr/>
        </p:nvSpPr>
        <p:spPr bwMode="auto">
          <a:xfrm>
            <a:off x="6086475" y="2551113"/>
            <a:ext cx="50800" cy="122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charset="0"/>
              </a:rPr>
              <a:t>s</a:t>
            </a:r>
            <a:endParaRPr lang="en-US" sz="1600"/>
          </a:p>
        </p:txBody>
      </p:sp>
      <p:sp>
        <p:nvSpPr>
          <p:cNvPr id="47164" name="Rectangle 261"/>
          <p:cNvSpPr>
            <a:spLocks noChangeArrowheads="1"/>
          </p:cNvSpPr>
          <p:nvPr/>
        </p:nvSpPr>
        <p:spPr bwMode="auto">
          <a:xfrm>
            <a:off x="6140450" y="2551113"/>
            <a:ext cx="22225" cy="122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charset="0"/>
              </a:rPr>
              <a:t>i</a:t>
            </a:r>
            <a:endParaRPr lang="en-US" sz="1600"/>
          </a:p>
        </p:txBody>
      </p:sp>
      <p:sp>
        <p:nvSpPr>
          <p:cNvPr id="47165" name="Rectangle 262"/>
          <p:cNvSpPr>
            <a:spLocks noChangeArrowheads="1"/>
          </p:cNvSpPr>
          <p:nvPr/>
        </p:nvSpPr>
        <p:spPr bwMode="auto">
          <a:xfrm>
            <a:off x="6161088" y="2551113"/>
            <a:ext cx="50800" cy="122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charset="0"/>
              </a:rPr>
              <a:t>c</a:t>
            </a:r>
            <a:endParaRPr lang="en-US" sz="1600"/>
          </a:p>
        </p:txBody>
      </p:sp>
      <p:sp>
        <p:nvSpPr>
          <p:cNvPr id="47166" name="Rectangle 263"/>
          <p:cNvSpPr>
            <a:spLocks noChangeArrowheads="1"/>
          </p:cNvSpPr>
          <p:nvPr/>
        </p:nvSpPr>
        <p:spPr bwMode="auto">
          <a:xfrm>
            <a:off x="6215063" y="2551113"/>
            <a:ext cx="57150" cy="122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charset="0"/>
              </a:rPr>
              <a:t>a</a:t>
            </a:r>
            <a:endParaRPr lang="en-US" sz="1600"/>
          </a:p>
        </p:txBody>
      </p:sp>
      <p:sp>
        <p:nvSpPr>
          <p:cNvPr id="47167" name="Rectangle 264"/>
          <p:cNvSpPr>
            <a:spLocks noChangeArrowheads="1"/>
          </p:cNvSpPr>
          <p:nvPr/>
        </p:nvSpPr>
        <p:spPr bwMode="auto">
          <a:xfrm>
            <a:off x="6272213" y="2551113"/>
            <a:ext cx="22225" cy="122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charset="0"/>
              </a:rPr>
              <a:t>l</a:t>
            </a:r>
            <a:endParaRPr lang="en-US" sz="1600"/>
          </a:p>
        </p:txBody>
      </p:sp>
      <p:sp>
        <p:nvSpPr>
          <p:cNvPr id="47168" name="Rectangle 265"/>
          <p:cNvSpPr>
            <a:spLocks noChangeArrowheads="1"/>
          </p:cNvSpPr>
          <p:nvPr/>
        </p:nvSpPr>
        <p:spPr bwMode="auto">
          <a:xfrm>
            <a:off x="6297613" y="2551113"/>
            <a:ext cx="28575" cy="122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charset="0"/>
              </a:rPr>
              <a:t> </a:t>
            </a:r>
            <a:endParaRPr lang="en-US" sz="1600"/>
          </a:p>
        </p:txBody>
      </p:sp>
      <p:sp>
        <p:nvSpPr>
          <p:cNvPr id="47169" name="Rectangle 266"/>
          <p:cNvSpPr>
            <a:spLocks noChangeArrowheads="1"/>
          </p:cNvSpPr>
          <p:nvPr/>
        </p:nvSpPr>
        <p:spPr bwMode="auto">
          <a:xfrm>
            <a:off x="6326188" y="2551113"/>
            <a:ext cx="84137" cy="122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charset="0"/>
              </a:rPr>
              <a:t>m</a:t>
            </a:r>
            <a:endParaRPr lang="en-US" sz="1600"/>
          </a:p>
        </p:txBody>
      </p:sp>
      <p:sp>
        <p:nvSpPr>
          <p:cNvPr id="47170" name="Rectangle 267"/>
          <p:cNvSpPr>
            <a:spLocks noChangeArrowheads="1"/>
          </p:cNvSpPr>
          <p:nvPr/>
        </p:nvSpPr>
        <p:spPr bwMode="auto">
          <a:xfrm>
            <a:off x="6415088" y="2551113"/>
            <a:ext cx="57150" cy="122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charset="0"/>
              </a:rPr>
              <a:t>e</a:t>
            </a:r>
            <a:endParaRPr lang="en-US" sz="1600"/>
          </a:p>
        </p:txBody>
      </p:sp>
      <p:sp>
        <p:nvSpPr>
          <p:cNvPr id="47171" name="Rectangle 268"/>
          <p:cNvSpPr>
            <a:spLocks noChangeArrowheads="1"/>
          </p:cNvSpPr>
          <p:nvPr/>
        </p:nvSpPr>
        <p:spPr bwMode="auto">
          <a:xfrm>
            <a:off x="6472238" y="2551113"/>
            <a:ext cx="84137" cy="122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charset="0"/>
              </a:rPr>
              <a:t>m</a:t>
            </a:r>
            <a:endParaRPr lang="en-US" sz="1600"/>
          </a:p>
        </p:txBody>
      </p:sp>
      <p:sp>
        <p:nvSpPr>
          <p:cNvPr id="47172" name="Rectangle 269"/>
          <p:cNvSpPr>
            <a:spLocks noChangeArrowheads="1"/>
          </p:cNvSpPr>
          <p:nvPr/>
        </p:nvSpPr>
        <p:spPr bwMode="auto">
          <a:xfrm>
            <a:off x="6561138" y="2551113"/>
            <a:ext cx="57150" cy="122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charset="0"/>
              </a:rPr>
              <a:t>o</a:t>
            </a:r>
            <a:endParaRPr lang="en-US" sz="1600"/>
          </a:p>
        </p:txBody>
      </p:sp>
      <p:sp>
        <p:nvSpPr>
          <p:cNvPr id="47173" name="Rectangle 270"/>
          <p:cNvSpPr>
            <a:spLocks noChangeArrowheads="1"/>
          </p:cNvSpPr>
          <p:nvPr/>
        </p:nvSpPr>
        <p:spPr bwMode="auto">
          <a:xfrm>
            <a:off x="6621463" y="2551113"/>
            <a:ext cx="33337" cy="122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charset="0"/>
              </a:rPr>
              <a:t>r</a:t>
            </a:r>
            <a:endParaRPr lang="en-US" sz="1600"/>
          </a:p>
        </p:txBody>
      </p:sp>
      <p:sp>
        <p:nvSpPr>
          <p:cNvPr id="47174" name="Rectangle 271"/>
          <p:cNvSpPr>
            <a:spLocks noChangeArrowheads="1"/>
          </p:cNvSpPr>
          <p:nvPr/>
        </p:nvSpPr>
        <p:spPr bwMode="auto">
          <a:xfrm>
            <a:off x="6654800" y="2551113"/>
            <a:ext cx="50800" cy="122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charset="0"/>
              </a:rPr>
              <a:t>y</a:t>
            </a:r>
            <a:endParaRPr lang="en-US" sz="1600"/>
          </a:p>
        </p:txBody>
      </p:sp>
      <p:sp>
        <p:nvSpPr>
          <p:cNvPr id="47175" name="Freeform 272"/>
          <p:cNvSpPr>
            <a:spLocks/>
          </p:cNvSpPr>
          <p:nvPr/>
        </p:nvSpPr>
        <p:spPr bwMode="auto">
          <a:xfrm>
            <a:off x="5595938" y="2725738"/>
            <a:ext cx="1296987" cy="155575"/>
          </a:xfrm>
          <a:custGeom>
            <a:avLst/>
            <a:gdLst>
              <a:gd name="T0" fmla="*/ 1296987 w 817"/>
              <a:gd name="T1" fmla="*/ 155575 h 98"/>
              <a:gd name="T2" fmla="*/ 1296987 w 817"/>
              <a:gd name="T3" fmla="*/ 0 h 98"/>
              <a:gd name="T4" fmla="*/ 0 w 817"/>
              <a:gd name="T5" fmla="*/ 0 h 98"/>
              <a:gd name="T6" fmla="*/ 0 w 817"/>
              <a:gd name="T7" fmla="*/ 155575 h 98"/>
              <a:gd name="T8" fmla="*/ 1296987 w 817"/>
              <a:gd name="T9" fmla="*/ 155575 h 98"/>
              <a:gd name="T10" fmla="*/ 1296987 w 817"/>
              <a:gd name="T11" fmla="*/ 155575 h 9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817" h="98">
                <a:moveTo>
                  <a:pt x="817" y="98"/>
                </a:moveTo>
                <a:lnTo>
                  <a:pt x="817" y="0"/>
                </a:lnTo>
                <a:lnTo>
                  <a:pt x="0" y="0"/>
                </a:lnTo>
                <a:lnTo>
                  <a:pt x="0" y="98"/>
                </a:lnTo>
                <a:lnTo>
                  <a:pt x="817" y="98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7176" name="Freeform 273"/>
          <p:cNvSpPr>
            <a:spLocks/>
          </p:cNvSpPr>
          <p:nvPr/>
        </p:nvSpPr>
        <p:spPr bwMode="auto">
          <a:xfrm>
            <a:off x="5595938" y="2881313"/>
            <a:ext cx="1296987" cy="153987"/>
          </a:xfrm>
          <a:custGeom>
            <a:avLst/>
            <a:gdLst>
              <a:gd name="T0" fmla="*/ 1296987 w 817"/>
              <a:gd name="T1" fmla="*/ 150812 h 97"/>
              <a:gd name="T2" fmla="*/ 1296987 w 817"/>
              <a:gd name="T3" fmla="*/ 0 h 97"/>
              <a:gd name="T4" fmla="*/ 0 w 817"/>
              <a:gd name="T5" fmla="*/ 0 h 97"/>
              <a:gd name="T6" fmla="*/ 0 w 817"/>
              <a:gd name="T7" fmla="*/ 153987 h 97"/>
              <a:gd name="T8" fmla="*/ 1296987 w 817"/>
              <a:gd name="T9" fmla="*/ 153987 h 97"/>
              <a:gd name="T10" fmla="*/ 1296987 w 817"/>
              <a:gd name="T11" fmla="*/ 153987 h 9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817" h="97">
                <a:moveTo>
                  <a:pt x="817" y="95"/>
                </a:moveTo>
                <a:lnTo>
                  <a:pt x="817" y="0"/>
                </a:lnTo>
                <a:lnTo>
                  <a:pt x="0" y="0"/>
                </a:lnTo>
                <a:lnTo>
                  <a:pt x="0" y="97"/>
                </a:lnTo>
                <a:lnTo>
                  <a:pt x="817" y="97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7177" name="Freeform 274"/>
          <p:cNvSpPr>
            <a:spLocks/>
          </p:cNvSpPr>
          <p:nvPr/>
        </p:nvSpPr>
        <p:spPr bwMode="auto">
          <a:xfrm>
            <a:off x="5595938" y="3035300"/>
            <a:ext cx="1296987" cy="152400"/>
          </a:xfrm>
          <a:custGeom>
            <a:avLst/>
            <a:gdLst>
              <a:gd name="T0" fmla="*/ 1296987 w 817"/>
              <a:gd name="T1" fmla="*/ 152400 h 96"/>
              <a:gd name="T2" fmla="*/ 1296987 w 817"/>
              <a:gd name="T3" fmla="*/ 0 h 96"/>
              <a:gd name="T4" fmla="*/ 0 w 817"/>
              <a:gd name="T5" fmla="*/ 0 h 96"/>
              <a:gd name="T6" fmla="*/ 0 w 817"/>
              <a:gd name="T7" fmla="*/ 152400 h 96"/>
              <a:gd name="T8" fmla="*/ 1296987 w 817"/>
              <a:gd name="T9" fmla="*/ 152400 h 96"/>
              <a:gd name="T10" fmla="*/ 1296987 w 817"/>
              <a:gd name="T11" fmla="*/ 152400 h 9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817" h="96">
                <a:moveTo>
                  <a:pt x="817" y="96"/>
                </a:moveTo>
                <a:lnTo>
                  <a:pt x="817" y="0"/>
                </a:lnTo>
                <a:lnTo>
                  <a:pt x="0" y="0"/>
                </a:lnTo>
                <a:lnTo>
                  <a:pt x="0" y="96"/>
                </a:lnTo>
                <a:lnTo>
                  <a:pt x="817" y="96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7178" name="Freeform 275"/>
          <p:cNvSpPr>
            <a:spLocks/>
          </p:cNvSpPr>
          <p:nvPr/>
        </p:nvSpPr>
        <p:spPr bwMode="auto">
          <a:xfrm>
            <a:off x="5595938" y="3187700"/>
            <a:ext cx="1296987" cy="155575"/>
          </a:xfrm>
          <a:custGeom>
            <a:avLst/>
            <a:gdLst>
              <a:gd name="T0" fmla="*/ 1296987 w 817"/>
              <a:gd name="T1" fmla="*/ 152400 h 98"/>
              <a:gd name="T2" fmla="*/ 1296987 w 817"/>
              <a:gd name="T3" fmla="*/ 0 h 98"/>
              <a:gd name="T4" fmla="*/ 0 w 817"/>
              <a:gd name="T5" fmla="*/ 0 h 98"/>
              <a:gd name="T6" fmla="*/ 0 w 817"/>
              <a:gd name="T7" fmla="*/ 155575 h 98"/>
              <a:gd name="T8" fmla="*/ 1296987 w 817"/>
              <a:gd name="T9" fmla="*/ 155575 h 98"/>
              <a:gd name="T10" fmla="*/ 1296987 w 817"/>
              <a:gd name="T11" fmla="*/ 155575 h 9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817" h="98">
                <a:moveTo>
                  <a:pt x="817" y="96"/>
                </a:moveTo>
                <a:lnTo>
                  <a:pt x="817" y="0"/>
                </a:lnTo>
                <a:lnTo>
                  <a:pt x="0" y="0"/>
                </a:lnTo>
                <a:lnTo>
                  <a:pt x="0" y="98"/>
                </a:lnTo>
                <a:lnTo>
                  <a:pt x="817" y="98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7179" name="Freeform 276"/>
          <p:cNvSpPr>
            <a:spLocks/>
          </p:cNvSpPr>
          <p:nvPr/>
        </p:nvSpPr>
        <p:spPr bwMode="auto">
          <a:xfrm>
            <a:off x="5595938" y="3343275"/>
            <a:ext cx="1296987" cy="150813"/>
          </a:xfrm>
          <a:custGeom>
            <a:avLst/>
            <a:gdLst>
              <a:gd name="T0" fmla="*/ 1296987 w 817"/>
              <a:gd name="T1" fmla="*/ 150813 h 95"/>
              <a:gd name="T2" fmla="*/ 1296987 w 817"/>
              <a:gd name="T3" fmla="*/ 0 h 95"/>
              <a:gd name="T4" fmla="*/ 0 w 817"/>
              <a:gd name="T5" fmla="*/ 0 h 95"/>
              <a:gd name="T6" fmla="*/ 0 w 817"/>
              <a:gd name="T7" fmla="*/ 150813 h 95"/>
              <a:gd name="T8" fmla="*/ 1296987 w 817"/>
              <a:gd name="T9" fmla="*/ 150813 h 95"/>
              <a:gd name="T10" fmla="*/ 1296987 w 817"/>
              <a:gd name="T11" fmla="*/ 150813 h 9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817" h="95">
                <a:moveTo>
                  <a:pt x="817" y="95"/>
                </a:moveTo>
                <a:lnTo>
                  <a:pt x="817" y="0"/>
                </a:lnTo>
                <a:lnTo>
                  <a:pt x="0" y="0"/>
                </a:lnTo>
                <a:lnTo>
                  <a:pt x="0" y="95"/>
                </a:lnTo>
                <a:lnTo>
                  <a:pt x="817" y="95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7180" name="Freeform 277"/>
          <p:cNvSpPr>
            <a:spLocks/>
          </p:cNvSpPr>
          <p:nvPr/>
        </p:nvSpPr>
        <p:spPr bwMode="auto">
          <a:xfrm>
            <a:off x="5595938" y="3494088"/>
            <a:ext cx="1296987" cy="155575"/>
          </a:xfrm>
          <a:custGeom>
            <a:avLst/>
            <a:gdLst>
              <a:gd name="T0" fmla="*/ 1296987 w 817"/>
              <a:gd name="T1" fmla="*/ 152400 h 98"/>
              <a:gd name="T2" fmla="*/ 1296987 w 817"/>
              <a:gd name="T3" fmla="*/ 0 h 98"/>
              <a:gd name="T4" fmla="*/ 0 w 817"/>
              <a:gd name="T5" fmla="*/ 0 h 98"/>
              <a:gd name="T6" fmla="*/ 0 w 817"/>
              <a:gd name="T7" fmla="*/ 155575 h 98"/>
              <a:gd name="T8" fmla="*/ 1296987 w 817"/>
              <a:gd name="T9" fmla="*/ 155575 h 98"/>
              <a:gd name="T10" fmla="*/ 1296987 w 817"/>
              <a:gd name="T11" fmla="*/ 155575 h 9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817" h="98">
                <a:moveTo>
                  <a:pt x="817" y="96"/>
                </a:moveTo>
                <a:lnTo>
                  <a:pt x="817" y="0"/>
                </a:lnTo>
                <a:lnTo>
                  <a:pt x="0" y="0"/>
                </a:lnTo>
                <a:lnTo>
                  <a:pt x="0" y="98"/>
                </a:lnTo>
                <a:lnTo>
                  <a:pt x="817" y="98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7181" name="Freeform 278"/>
          <p:cNvSpPr>
            <a:spLocks/>
          </p:cNvSpPr>
          <p:nvPr/>
        </p:nvSpPr>
        <p:spPr bwMode="auto">
          <a:xfrm>
            <a:off x="5595938" y="3649663"/>
            <a:ext cx="1296987" cy="152400"/>
          </a:xfrm>
          <a:custGeom>
            <a:avLst/>
            <a:gdLst>
              <a:gd name="T0" fmla="*/ 1296987 w 817"/>
              <a:gd name="T1" fmla="*/ 152400 h 96"/>
              <a:gd name="T2" fmla="*/ 1296987 w 817"/>
              <a:gd name="T3" fmla="*/ 0 h 96"/>
              <a:gd name="T4" fmla="*/ 0 w 817"/>
              <a:gd name="T5" fmla="*/ 0 h 96"/>
              <a:gd name="T6" fmla="*/ 0 w 817"/>
              <a:gd name="T7" fmla="*/ 152400 h 96"/>
              <a:gd name="T8" fmla="*/ 1296987 w 817"/>
              <a:gd name="T9" fmla="*/ 152400 h 96"/>
              <a:gd name="T10" fmla="*/ 1296987 w 817"/>
              <a:gd name="T11" fmla="*/ 152400 h 9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817" h="96">
                <a:moveTo>
                  <a:pt x="817" y="96"/>
                </a:moveTo>
                <a:lnTo>
                  <a:pt x="817" y="0"/>
                </a:lnTo>
                <a:lnTo>
                  <a:pt x="0" y="0"/>
                </a:lnTo>
                <a:lnTo>
                  <a:pt x="0" y="96"/>
                </a:lnTo>
                <a:lnTo>
                  <a:pt x="817" y="96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7182" name="Freeform 279"/>
          <p:cNvSpPr>
            <a:spLocks/>
          </p:cNvSpPr>
          <p:nvPr/>
        </p:nvSpPr>
        <p:spPr bwMode="auto">
          <a:xfrm>
            <a:off x="5595938" y="3802063"/>
            <a:ext cx="1296987" cy="153987"/>
          </a:xfrm>
          <a:custGeom>
            <a:avLst/>
            <a:gdLst>
              <a:gd name="T0" fmla="*/ 1296987 w 817"/>
              <a:gd name="T1" fmla="*/ 153987 h 97"/>
              <a:gd name="T2" fmla="*/ 1296987 w 817"/>
              <a:gd name="T3" fmla="*/ 0 h 97"/>
              <a:gd name="T4" fmla="*/ 0 w 817"/>
              <a:gd name="T5" fmla="*/ 0 h 97"/>
              <a:gd name="T6" fmla="*/ 0 w 817"/>
              <a:gd name="T7" fmla="*/ 153987 h 97"/>
              <a:gd name="T8" fmla="*/ 1296987 w 817"/>
              <a:gd name="T9" fmla="*/ 153987 h 97"/>
              <a:gd name="T10" fmla="*/ 1296987 w 817"/>
              <a:gd name="T11" fmla="*/ 153987 h 9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817" h="97">
                <a:moveTo>
                  <a:pt x="817" y="97"/>
                </a:moveTo>
                <a:lnTo>
                  <a:pt x="817" y="0"/>
                </a:lnTo>
                <a:lnTo>
                  <a:pt x="0" y="0"/>
                </a:lnTo>
                <a:lnTo>
                  <a:pt x="0" y="97"/>
                </a:lnTo>
                <a:lnTo>
                  <a:pt x="817" y="97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7183" name="Freeform 280"/>
          <p:cNvSpPr>
            <a:spLocks/>
          </p:cNvSpPr>
          <p:nvPr/>
        </p:nvSpPr>
        <p:spPr bwMode="auto">
          <a:xfrm>
            <a:off x="5595938" y="3956050"/>
            <a:ext cx="1296987" cy="155575"/>
          </a:xfrm>
          <a:custGeom>
            <a:avLst/>
            <a:gdLst>
              <a:gd name="T0" fmla="*/ 1296987 w 817"/>
              <a:gd name="T1" fmla="*/ 152400 h 98"/>
              <a:gd name="T2" fmla="*/ 1296987 w 817"/>
              <a:gd name="T3" fmla="*/ 0 h 98"/>
              <a:gd name="T4" fmla="*/ 0 w 817"/>
              <a:gd name="T5" fmla="*/ 0 h 98"/>
              <a:gd name="T6" fmla="*/ 0 w 817"/>
              <a:gd name="T7" fmla="*/ 155575 h 98"/>
              <a:gd name="T8" fmla="*/ 1296987 w 817"/>
              <a:gd name="T9" fmla="*/ 155575 h 98"/>
              <a:gd name="T10" fmla="*/ 1296987 w 817"/>
              <a:gd name="T11" fmla="*/ 155575 h 9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817" h="98">
                <a:moveTo>
                  <a:pt x="817" y="96"/>
                </a:moveTo>
                <a:lnTo>
                  <a:pt x="817" y="0"/>
                </a:lnTo>
                <a:lnTo>
                  <a:pt x="0" y="0"/>
                </a:lnTo>
                <a:lnTo>
                  <a:pt x="0" y="98"/>
                </a:lnTo>
                <a:lnTo>
                  <a:pt x="817" y="98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7184" name="Freeform 281"/>
          <p:cNvSpPr>
            <a:spLocks/>
          </p:cNvSpPr>
          <p:nvPr/>
        </p:nvSpPr>
        <p:spPr bwMode="auto">
          <a:xfrm>
            <a:off x="5430838" y="4824413"/>
            <a:ext cx="1401762" cy="155575"/>
          </a:xfrm>
          <a:custGeom>
            <a:avLst/>
            <a:gdLst>
              <a:gd name="T0" fmla="*/ 1398587 w 883"/>
              <a:gd name="T1" fmla="*/ 155575 h 98"/>
              <a:gd name="T2" fmla="*/ 1401762 w 883"/>
              <a:gd name="T3" fmla="*/ 0 h 98"/>
              <a:gd name="T4" fmla="*/ 0 w 883"/>
              <a:gd name="T5" fmla="*/ 0 h 98"/>
              <a:gd name="T6" fmla="*/ 0 w 883"/>
              <a:gd name="T7" fmla="*/ 155575 h 98"/>
              <a:gd name="T8" fmla="*/ 1401762 w 883"/>
              <a:gd name="T9" fmla="*/ 155575 h 98"/>
              <a:gd name="T10" fmla="*/ 1401762 w 883"/>
              <a:gd name="T11" fmla="*/ 155575 h 98"/>
              <a:gd name="T12" fmla="*/ 1398587 w 883"/>
              <a:gd name="T13" fmla="*/ 155575 h 9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883" h="98">
                <a:moveTo>
                  <a:pt x="881" y="98"/>
                </a:moveTo>
                <a:lnTo>
                  <a:pt x="883" y="0"/>
                </a:lnTo>
                <a:lnTo>
                  <a:pt x="0" y="0"/>
                </a:lnTo>
                <a:lnTo>
                  <a:pt x="0" y="98"/>
                </a:lnTo>
                <a:lnTo>
                  <a:pt x="883" y="98"/>
                </a:lnTo>
                <a:lnTo>
                  <a:pt x="881" y="98"/>
                </a:lnTo>
                <a:close/>
              </a:path>
            </a:pathLst>
          </a:custGeom>
          <a:solidFill>
            <a:srgbClr val="CCCCCC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7185" name="Freeform 282"/>
          <p:cNvSpPr>
            <a:spLocks/>
          </p:cNvSpPr>
          <p:nvPr/>
        </p:nvSpPr>
        <p:spPr bwMode="auto">
          <a:xfrm>
            <a:off x="5430838" y="4824413"/>
            <a:ext cx="1401762" cy="155575"/>
          </a:xfrm>
          <a:custGeom>
            <a:avLst/>
            <a:gdLst>
              <a:gd name="T0" fmla="*/ 1398587 w 883"/>
              <a:gd name="T1" fmla="*/ 155575 h 98"/>
              <a:gd name="T2" fmla="*/ 1401762 w 883"/>
              <a:gd name="T3" fmla="*/ 0 h 98"/>
              <a:gd name="T4" fmla="*/ 0 w 883"/>
              <a:gd name="T5" fmla="*/ 0 h 98"/>
              <a:gd name="T6" fmla="*/ 0 w 883"/>
              <a:gd name="T7" fmla="*/ 155575 h 98"/>
              <a:gd name="T8" fmla="*/ 1401762 w 883"/>
              <a:gd name="T9" fmla="*/ 155575 h 98"/>
              <a:gd name="T10" fmla="*/ 1401762 w 883"/>
              <a:gd name="T11" fmla="*/ 155575 h 9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883" h="98">
                <a:moveTo>
                  <a:pt x="881" y="98"/>
                </a:moveTo>
                <a:lnTo>
                  <a:pt x="883" y="0"/>
                </a:lnTo>
                <a:lnTo>
                  <a:pt x="0" y="0"/>
                </a:lnTo>
                <a:lnTo>
                  <a:pt x="0" y="98"/>
                </a:lnTo>
                <a:lnTo>
                  <a:pt x="883" y="98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7186" name="Freeform 283"/>
          <p:cNvSpPr>
            <a:spLocks/>
          </p:cNvSpPr>
          <p:nvPr/>
        </p:nvSpPr>
        <p:spPr bwMode="auto">
          <a:xfrm>
            <a:off x="5430838" y="5032375"/>
            <a:ext cx="1401762" cy="155575"/>
          </a:xfrm>
          <a:custGeom>
            <a:avLst/>
            <a:gdLst>
              <a:gd name="T0" fmla="*/ 1398587 w 883"/>
              <a:gd name="T1" fmla="*/ 152400 h 98"/>
              <a:gd name="T2" fmla="*/ 1401762 w 883"/>
              <a:gd name="T3" fmla="*/ 0 h 98"/>
              <a:gd name="T4" fmla="*/ 0 w 883"/>
              <a:gd name="T5" fmla="*/ 0 h 98"/>
              <a:gd name="T6" fmla="*/ 0 w 883"/>
              <a:gd name="T7" fmla="*/ 155575 h 98"/>
              <a:gd name="T8" fmla="*/ 1401762 w 883"/>
              <a:gd name="T9" fmla="*/ 155575 h 98"/>
              <a:gd name="T10" fmla="*/ 1401762 w 883"/>
              <a:gd name="T11" fmla="*/ 155575 h 98"/>
              <a:gd name="T12" fmla="*/ 1398587 w 883"/>
              <a:gd name="T13" fmla="*/ 152400 h 9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883" h="98">
                <a:moveTo>
                  <a:pt x="881" y="96"/>
                </a:moveTo>
                <a:lnTo>
                  <a:pt x="883" y="0"/>
                </a:lnTo>
                <a:lnTo>
                  <a:pt x="0" y="0"/>
                </a:lnTo>
                <a:lnTo>
                  <a:pt x="0" y="98"/>
                </a:lnTo>
                <a:lnTo>
                  <a:pt x="883" y="98"/>
                </a:lnTo>
                <a:lnTo>
                  <a:pt x="881" y="96"/>
                </a:lnTo>
                <a:close/>
              </a:path>
            </a:pathLst>
          </a:custGeom>
          <a:solidFill>
            <a:srgbClr val="CCCCCC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7187" name="Freeform 284"/>
          <p:cNvSpPr>
            <a:spLocks/>
          </p:cNvSpPr>
          <p:nvPr/>
        </p:nvSpPr>
        <p:spPr bwMode="auto">
          <a:xfrm>
            <a:off x="5430838" y="5032375"/>
            <a:ext cx="1401762" cy="155575"/>
          </a:xfrm>
          <a:custGeom>
            <a:avLst/>
            <a:gdLst>
              <a:gd name="T0" fmla="*/ 1398587 w 883"/>
              <a:gd name="T1" fmla="*/ 152400 h 98"/>
              <a:gd name="T2" fmla="*/ 1401762 w 883"/>
              <a:gd name="T3" fmla="*/ 0 h 98"/>
              <a:gd name="T4" fmla="*/ 0 w 883"/>
              <a:gd name="T5" fmla="*/ 0 h 98"/>
              <a:gd name="T6" fmla="*/ 0 w 883"/>
              <a:gd name="T7" fmla="*/ 155575 h 98"/>
              <a:gd name="T8" fmla="*/ 1401762 w 883"/>
              <a:gd name="T9" fmla="*/ 155575 h 98"/>
              <a:gd name="T10" fmla="*/ 1401762 w 883"/>
              <a:gd name="T11" fmla="*/ 155575 h 9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883" h="98">
                <a:moveTo>
                  <a:pt x="881" y="96"/>
                </a:moveTo>
                <a:lnTo>
                  <a:pt x="883" y="0"/>
                </a:lnTo>
                <a:lnTo>
                  <a:pt x="0" y="0"/>
                </a:lnTo>
                <a:lnTo>
                  <a:pt x="0" y="98"/>
                </a:lnTo>
                <a:lnTo>
                  <a:pt x="883" y="98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7188" name="Freeform 285"/>
          <p:cNvSpPr>
            <a:spLocks/>
          </p:cNvSpPr>
          <p:nvPr/>
        </p:nvSpPr>
        <p:spPr bwMode="auto">
          <a:xfrm>
            <a:off x="5430838" y="5237163"/>
            <a:ext cx="1401762" cy="155575"/>
          </a:xfrm>
          <a:custGeom>
            <a:avLst/>
            <a:gdLst>
              <a:gd name="T0" fmla="*/ 1398587 w 883"/>
              <a:gd name="T1" fmla="*/ 155575 h 98"/>
              <a:gd name="T2" fmla="*/ 1401762 w 883"/>
              <a:gd name="T3" fmla="*/ 0 h 98"/>
              <a:gd name="T4" fmla="*/ 0 w 883"/>
              <a:gd name="T5" fmla="*/ 0 h 98"/>
              <a:gd name="T6" fmla="*/ 0 w 883"/>
              <a:gd name="T7" fmla="*/ 155575 h 98"/>
              <a:gd name="T8" fmla="*/ 1401762 w 883"/>
              <a:gd name="T9" fmla="*/ 155575 h 98"/>
              <a:gd name="T10" fmla="*/ 1401762 w 883"/>
              <a:gd name="T11" fmla="*/ 155575 h 98"/>
              <a:gd name="T12" fmla="*/ 1398587 w 883"/>
              <a:gd name="T13" fmla="*/ 155575 h 9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883" h="98">
                <a:moveTo>
                  <a:pt x="881" y="98"/>
                </a:moveTo>
                <a:lnTo>
                  <a:pt x="883" y="0"/>
                </a:lnTo>
                <a:lnTo>
                  <a:pt x="0" y="0"/>
                </a:lnTo>
                <a:lnTo>
                  <a:pt x="0" y="98"/>
                </a:lnTo>
                <a:lnTo>
                  <a:pt x="883" y="98"/>
                </a:lnTo>
                <a:lnTo>
                  <a:pt x="881" y="98"/>
                </a:lnTo>
                <a:close/>
              </a:path>
            </a:pathLst>
          </a:custGeom>
          <a:solidFill>
            <a:srgbClr val="CCCCCC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7189" name="Freeform 286"/>
          <p:cNvSpPr>
            <a:spLocks/>
          </p:cNvSpPr>
          <p:nvPr/>
        </p:nvSpPr>
        <p:spPr bwMode="auto">
          <a:xfrm>
            <a:off x="5430838" y="5237163"/>
            <a:ext cx="1401762" cy="155575"/>
          </a:xfrm>
          <a:custGeom>
            <a:avLst/>
            <a:gdLst>
              <a:gd name="T0" fmla="*/ 1398587 w 883"/>
              <a:gd name="T1" fmla="*/ 155575 h 98"/>
              <a:gd name="T2" fmla="*/ 1401762 w 883"/>
              <a:gd name="T3" fmla="*/ 0 h 98"/>
              <a:gd name="T4" fmla="*/ 0 w 883"/>
              <a:gd name="T5" fmla="*/ 0 h 98"/>
              <a:gd name="T6" fmla="*/ 0 w 883"/>
              <a:gd name="T7" fmla="*/ 155575 h 98"/>
              <a:gd name="T8" fmla="*/ 1401762 w 883"/>
              <a:gd name="T9" fmla="*/ 155575 h 98"/>
              <a:gd name="T10" fmla="*/ 1401762 w 883"/>
              <a:gd name="T11" fmla="*/ 155575 h 9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883" h="98">
                <a:moveTo>
                  <a:pt x="881" y="98"/>
                </a:moveTo>
                <a:lnTo>
                  <a:pt x="883" y="0"/>
                </a:lnTo>
                <a:lnTo>
                  <a:pt x="0" y="0"/>
                </a:lnTo>
                <a:lnTo>
                  <a:pt x="0" y="98"/>
                </a:lnTo>
                <a:lnTo>
                  <a:pt x="883" y="98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7190" name="Freeform 287"/>
          <p:cNvSpPr>
            <a:spLocks/>
          </p:cNvSpPr>
          <p:nvPr/>
        </p:nvSpPr>
        <p:spPr bwMode="auto">
          <a:xfrm>
            <a:off x="5322888" y="4625975"/>
            <a:ext cx="1566862" cy="133350"/>
          </a:xfrm>
          <a:custGeom>
            <a:avLst/>
            <a:gdLst>
              <a:gd name="T0" fmla="*/ 0 w 987"/>
              <a:gd name="T1" fmla="*/ 0 h 84"/>
              <a:gd name="T2" fmla="*/ 12700 w 987"/>
              <a:gd name="T3" fmla="*/ 22225 h 84"/>
              <a:gd name="T4" fmla="*/ 41275 w 987"/>
              <a:gd name="T5" fmla="*/ 44450 h 84"/>
              <a:gd name="T6" fmla="*/ 88900 w 987"/>
              <a:gd name="T7" fmla="*/ 61913 h 84"/>
              <a:gd name="T8" fmla="*/ 152400 w 987"/>
              <a:gd name="T9" fmla="*/ 80963 h 84"/>
              <a:gd name="T10" fmla="*/ 231775 w 987"/>
              <a:gd name="T11" fmla="*/ 96838 h 84"/>
              <a:gd name="T12" fmla="*/ 322262 w 987"/>
              <a:gd name="T13" fmla="*/ 109538 h 84"/>
              <a:gd name="T14" fmla="*/ 423862 w 987"/>
              <a:gd name="T15" fmla="*/ 122238 h 84"/>
              <a:gd name="T16" fmla="*/ 538162 w 987"/>
              <a:gd name="T17" fmla="*/ 127000 h 84"/>
              <a:gd name="T18" fmla="*/ 658812 w 987"/>
              <a:gd name="T19" fmla="*/ 133350 h 84"/>
              <a:gd name="T20" fmla="*/ 785812 w 987"/>
              <a:gd name="T21" fmla="*/ 133350 h 84"/>
              <a:gd name="T22" fmla="*/ 911225 w 987"/>
              <a:gd name="T23" fmla="*/ 133350 h 84"/>
              <a:gd name="T24" fmla="*/ 1031875 w 987"/>
              <a:gd name="T25" fmla="*/ 127000 h 84"/>
              <a:gd name="T26" fmla="*/ 1146175 w 987"/>
              <a:gd name="T27" fmla="*/ 122238 h 84"/>
              <a:gd name="T28" fmla="*/ 1247775 w 987"/>
              <a:gd name="T29" fmla="*/ 109538 h 84"/>
              <a:gd name="T30" fmla="*/ 1338262 w 987"/>
              <a:gd name="T31" fmla="*/ 96838 h 84"/>
              <a:gd name="T32" fmla="*/ 1417637 w 987"/>
              <a:gd name="T33" fmla="*/ 80963 h 84"/>
              <a:gd name="T34" fmla="*/ 1481137 w 987"/>
              <a:gd name="T35" fmla="*/ 61913 h 84"/>
              <a:gd name="T36" fmla="*/ 1528762 w 987"/>
              <a:gd name="T37" fmla="*/ 44450 h 84"/>
              <a:gd name="T38" fmla="*/ 1557337 w 987"/>
              <a:gd name="T39" fmla="*/ 22225 h 84"/>
              <a:gd name="T40" fmla="*/ 1566862 w 987"/>
              <a:gd name="T41" fmla="*/ 0 h 84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0" t="0" r="r" b="b"/>
            <a:pathLst>
              <a:path w="987" h="84">
                <a:moveTo>
                  <a:pt x="0" y="0"/>
                </a:moveTo>
                <a:lnTo>
                  <a:pt x="8" y="14"/>
                </a:lnTo>
                <a:lnTo>
                  <a:pt x="26" y="28"/>
                </a:lnTo>
                <a:lnTo>
                  <a:pt x="56" y="39"/>
                </a:lnTo>
                <a:lnTo>
                  <a:pt x="96" y="51"/>
                </a:lnTo>
                <a:lnTo>
                  <a:pt x="146" y="61"/>
                </a:lnTo>
                <a:lnTo>
                  <a:pt x="203" y="69"/>
                </a:lnTo>
                <a:lnTo>
                  <a:pt x="267" y="77"/>
                </a:lnTo>
                <a:lnTo>
                  <a:pt x="339" y="80"/>
                </a:lnTo>
                <a:lnTo>
                  <a:pt x="415" y="84"/>
                </a:lnTo>
                <a:lnTo>
                  <a:pt x="495" y="84"/>
                </a:lnTo>
                <a:lnTo>
                  <a:pt x="574" y="84"/>
                </a:lnTo>
                <a:lnTo>
                  <a:pt x="650" y="80"/>
                </a:lnTo>
                <a:lnTo>
                  <a:pt x="722" y="77"/>
                </a:lnTo>
                <a:lnTo>
                  <a:pt x="786" y="69"/>
                </a:lnTo>
                <a:lnTo>
                  <a:pt x="843" y="61"/>
                </a:lnTo>
                <a:lnTo>
                  <a:pt x="893" y="51"/>
                </a:lnTo>
                <a:lnTo>
                  <a:pt x="933" y="39"/>
                </a:lnTo>
                <a:lnTo>
                  <a:pt x="963" y="28"/>
                </a:lnTo>
                <a:lnTo>
                  <a:pt x="981" y="14"/>
                </a:lnTo>
                <a:lnTo>
                  <a:pt x="987" y="0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7191" name="Rectangle 288"/>
          <p:cNvSpPr>
            <a:spLocks noChangeArrowheads="1"/>
          </p:cNvSpPr>
          <p:nvPr/>
        </p:nvSpPr>
        <p:spPr bwMode="auto">
          <a:xfrm>
            <a:off x="5791200" y="4324350"/>
            <a:ext cx="73025" cy="122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charset="0"/>
              </a:rPr>
              <a:t>D</a:t>
            </a:r>
            <a:endParaRPr lang="en-US" sz="1600"/>
          </a:p>
        </p:txBody>
      </p:sp>
      <p:sp>
        <p:nvSpPr>
          <p:cNvPr id="47192" name="Rectangle 289"/>
          <p:cNvSpPr>
            <a:spLocks noChangeArrowheads="1"/>
          </p:cNvSpPr>
          <p:nvPr/>
        </p:nvSpPr>
        <p:spPr bwMode="auto">
          <a:xfrm>
            <a:off x="5867400" y="4324350"/>
            <a:ext cx="22225" cy="122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charset="0"/>
              </a:rPr>
              <a:t>i</a:t>
            </a:r>
            <a:endParaRPr lang="en-US" sz="1600"/>
          </a:p>
        </p:txBody>
      </p:sp>
      <p:sp>
        <p:nvSpPr>
          <p:cNvPr id="47193" name="Rectangle 290"/>
          <p:cNvSpPr>
            <a:spLocks noChangeArrowheads="1"/>
          </p:cNvSpPr>
          <p:nvPr/>
        </p:nvSpPr>
        <p:spPr bwMode="auto">
          <a:xfrm>
            <a:off x="5889625" y="4324350"/>
            <a:ext cx="50800" cy="122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charset="0"/>
              </a:rPr>
              <a:t>s</a:t>
            </a:r>
            <a:endParaRPr lang="en-US" sz="1600"/>
          </a:p>
        </p:txBody>
      </p:sp>
      <p:sp>
        <p:nvSpPr>
          <p:cNvPr id="47194" name="Rectangle 291"/>
          <p:cNvSpPr>
            <a:spLocks noChangeArrowheads="1"/>
          </p:cNvSpPr>
          <p:nvPr/>
        </p:nvSpPr>
        <p:spPr bwMode="auto">
          <a:xfrm>
            <a:off x="5943600" y="4324350"/>
            <a:ext cx="50800" cy="122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charset="0"/>
              </a:rPr>
              <a:t>k</a:t>
            </a:r>
            <a:endParaRPr lang="en-US" sz="1600"/>
          </a:p>
        </p:txBody>
      </p:sp>
      <p:sp>
        <p:nvSpPr>
          <p:cNvPr id="47195" name="Rectangle 292"/>
          <p:cNvSpPr>
            <a:spLocks noChangeArrowheads="1"/>
          </p:cNvSpPr>
          <p:nvPr/>
        </p:nvSpPr>
        <p:spPr bwMode="auto">
          <a:xfrm>
            <a:off x="5997575" y="4324350"/>
            <a:ext cx="28575" cy="122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charset="0"/>
              </a:rPr>
              <a:t> </a:t>
            </a:r>
            <a:endParaRPr lang="en-US" sz="1600"/>
          </a:p>
        </p:txBody>
      </p:sp>
      <p:sp>
        <p:nvSpPr>
          <p:cNvPr id="47196" name="Rectangle 293"/>
          <p:cNvSpPr>
            <a:spLocks noChangeArrowheads="1"/>
          </p:cNvSpPr>
          <p:nvPr/>
        </p:nvSpPr>
        <p:spPr bwMode="auto">
          <a:xfrm>
            <a:off x="6026150" y="4324350"/>
            <a:ext cx="50800" cy="122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charset="0"/>
              </a:rPr>
              <a:t>s</a:t>
            </a:r>
            <a:endParaRPr lang="en-US" sz="1600"/>
          </a:p>
        </p:txBody>
      </p:sp>
      <p:sp>
        <p:nvSpPr>
          <p:cNvPr id="47197" name="Rectangle 294"/>
          <p:cNvSpPr>
            <a:spLocks noChangeArrowheads="1"/>
          </p:cNvSpPr>
          <p:nvPr/>
        </p:nvSpPr>
        <p:spPr bwMode="auto">
          <a:xfrm>
            <a:off x="6080125" y="4324350"/>
            <a:ext cx="28575" cy="122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charset="0"/>
              </a:rPr>
              <a:t>t</a:t>
            </a:r>
            <a:endParaRPr lang="en-US" sz="1600"/>
          </a:p>
        </p:txBody>
      </p:sp>
      <p:sp>
        <p:nvSpPr>
          <p:cNvPr id="47198" name="Rectangle 295"/>
          <p:cNvSpPr>
            <a:spLocks noChangeArrowheads="1"/>
          </p:cNvSpPr>
          <p:nvPr/>
        </p:nvSpPr>
        <p:spPr bwMode="auto">
          <a:xfrm>
            <a:off x="6108700" y="4324350"/>
            <a:ext cx="57150" cy="122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charset="0"/>
              </a:rPr>
              <a:t>o</a:t>
            </a:r>
            <a:endParaRPr lang="en-US" sz="1600"/>
          </a:p>
        </p:txBody>
      </p:sp>
      <p:sp>
        <p:nvSpPr>
          <p:cNvPr id="47199" name="Rectangle 296"/>
          <p:cNvSpPr>
            <a:spLocks noChangeArrowheads="1"/>
          </p:cNvSpPr>
          <p:nvPr/>
        </p:nvSpPr>
        <p:spPr bwMode="auto">
          <a:xfrm>
            <a:off x="6164263" y="4324350"/>
            <a:ext cx="33337" cy="122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charset="0"/>
              </a:rPr>
              <a:t>r</a:t>
            </a:r>
            <a:endParaRPr lang="en-US" sz="1600"/>
          </a:p>
        </p:txBody>
      </p:sp>
      <p:sp>
        <p:nvSpPr>
          <p:cNvPr id="47200" name="Rectangle 297"/>
          <p:cNvSpPr>
            <a:spLocks noChangeArrowheads="1"/>
          </p:cNvSpPr>
          <p:nvPr/>
        </p:nvSpPr>
        <p:spPr bwMode="auto">
          <a:xfrm>
            <a:off x="6202363" y="4324350"/>
            <a:ext cx="57150" cy="122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charset="0"/>
              </a:rPr>
              <a:t>a</a:t>
            </a:r>
            <a:endParaRPr lang="en-US" sz="1600"/>
          </a:p>
        </p:txBody>
      </p:sp>
      <p:sp>
        <p:nvSpPr>
          <p:cNvPr id="47201" name="Rectangle 298"/>
          <p:cNvSpPr>
            <a:spLocks noChangeArrowheads="1"/>
          </p:cNvSpPr>
          <p:nvPr/>
        </p:nvSpPr>
        <p:spPr bwMode="auto">
          <a:xfrm>
            <a:off x="6259513" y="4324350"/>
            <a:ext cx="57150" cy="122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charset="0"/>
              </a:rPr>
              <a:t>g</a:t>
            </a:r>
            <a:endParaRPr lang="en-US" sz="1600"/>
          </a:p>
        </p:txBody>
      </p:sp>
      <p:sp>
        <p:nvSpPr>
          <p:cNvPr id="47202" name="Rectangle 299"/>
          <p:cNvSpPr>
            <a:spLocks noChangeArrowheads="1"/>
          </p:cNvSpPr>
          <p:nvPr/>
        </p:nvSpPr>
        <p:spPr bwMode="auto">
          <a:xfrm>
            <a:off x="6319838" y="4324350"/>
            <a:ext cx="57150" cy="122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charset="0"/>
              </a:rPr>
              <a:t>e</a:t>
            </a:r>
            <a:endParaRPr lang="en-US" sz="1600"/>
          </a:p>
        </p:txBody>
      </p:sp>
      <p:sp>
        <p:nvSpPr>
          <p:cNvPr id="47203" name="Freeform 300"/>
          <p:cNvSpPr>
            <a:spLocks/>
          </p:cNvSpPr>
          <p:nvPr/>
        </p:nvSpPr>
        <p:spPr bwMode="auto">
          <a:xfrm>
            <a:off x="5373688" y="4787900"/>
            <a:ext cx="53975" cy="52388"/>
          </a:xfrm>
          <a:custGeom>
            <a:avLst/>
            <a:gdLst>
              <a:gd name="T0" fmla="*/ 6350 w 34"/>
              <a:gd name="T1" fmla="*/ 0 h 33"/>
              <a:gd name="T2" fmla="*/ 0 w 34"/>
              <a:gd name="T3" fmla="*/ 52388 h 33"/>
              <a:gd name="T4" fmla="*/ 53975 w 34"/>
              <a:gd name="T5" fmla="*/ 33338 h 33"/>
              <a:gd name="T6" fmla="*/ 6350 w 34"/>
              <a:gd name="T7" fmla="*/ 0 h 33"/>
              <a:gd name="T8" fmla="*/ 6350 w 34"/>
              <a:gd name="T9" fmla="*/ 0 h 3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4" h="33">
                <a:moveTo>
                  <a:pt x="4" y="0"/>
                </a:moveTo>
                <a:lnTo>
                  <a:pt x="0" y="33"/>
                </a:lnTo>
                <a:lnTo>
                  <a:pt x="34" y="21"/>
                </a:lnTo>
                <a:lnTo>
                  <a:pt x="4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7204" name="Freeform 301"/>
          <p:cNvSpPr>
            <a:spLocks/>
          </p:cNvSpPr>
          <p:nvPr/>
        </p:nvSpPr>
        <p:spPr bwMode="auto">
          <a:xfrm>
            <a:off x="5370513" y="5224463"/>
            <a:ext cx="57150" cy="50800"/>
          </a:xfrm>
          <a:custGeom>
            <a:avLst/>
            <a:gdLst>
              <a:gd name="T0" fmla="*/ 0 w 36"/>
              <a:gd name="T1" fmla="*/ 0 h 32"/>
              <a:gd name="T2" fmla="*/ 12700 w 36"/>
              <a:gd name="T3" fmla="*/ 50800 h 32"/>
              <a:gd name="T4" fmla="*/ 57150 w 36"/>
              <a:gd name="T5" fmla="*/ 12700 h 32"/>
              <a:gd name="T6" fmla="*/ 0 w 36"/>
              <a:gd name="T7" fmla="*/ 0 h 32"/>
              <a:gd name="T8" fmla="*/ 0 w 36"/>
              <a:gd name="T9" fmla="*/ 0 h 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" h="32">
                <a:moveTo>
                  <a:pt x="0" y="0"/>
                </a:moveTo>
                <a:lnTo>
                  <a:pt x="8" y="32"/>
                </a:lnTo>
                <a:lnTo>
                  <a:pt x="36" y="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7205" name="Freeform 302"/>
          <p:cNvSpPr>
            <a:spLocks/>
          </p:cNvSpPr>
          <p:nvPr/>
        </p:nvSpPr>
        <p:spPr bwMode="auto">
          <a:xfrm>
            <a:off x="5370513" y="5005388"/>
            <a:ext cx="57150" cy="52387"/>
          </a:xfrm>
          <a:custGeom>
            <a:avLst/>
            <a:gdLst>
              <a:gd name="T0" fmla="*/ 0 w 36"/>
              <a:gd name="T1" fmla="*/ 0 h 33"/>
              <a:gd name="T2" fmla="*/ 6350 w 36"/>
              <a:gd name="T3" fmla="*/ 52387 h 33"/>
              <a:gd name="T4" fmla="*/ 57150 w 36"/>
              <a:gd name="T5" fmla="*/ 23812 h 33"/>
              <a:gd name="T6" fmla="*/ 3175 w 36"/>
              <a:gd name="T7" fmla="*/ 0 h 33"/>
              <a:gd name="T8" fmla="*/ 3175 w 36"/>
              <a:gd name="T9" fmla="*/ 0 h 33"/>
              <a:gd name="T10" fmla="*/ 0 w 36"/>
              <a:gd name="T11" fmla="*/ 0 h 3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36" h="33">
                <a:moveTo>
                  <a:pt x="0" y="0"/>
                </a:moveTo>
                <a:lnTo>
                  <a:pt x="4" y="33"/>
                </a:lnTo>
                <a:lnTo>
                  <a:pt x="36" y="15"/>
                </a:lnTo>
                <a:lnTo>
                  <a:pt x="2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7206" name="Line 303"/>
          <p:cNvSpPr>
            <a:spLocks noChangeShapeType="1"/>
          </p:cNvSpPr>
          <p:nvPr/>
        </p:nvSpPr>
        <p:spPr bwMode="auto">
          <a:xfrm>
            <a:off x="3395663" y="4670425"/>
            <a:ext cx="2032000" cy="150813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7207" name="Line 304"/>
          <p:cNvSpPr>
            <a:spLocks noChangeShapeType="1"/>
          </p:cNvSpPr>
          <p:nvPr/>
        </p:nvSpPr>
        <p:spPr bwMode="auto">
          <a:xfrm flipV="1">
            <a:off x="3405188" y="5246688"/>
            <a:ext cx="1990725" cy="3540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7208" name="Line 305"/>
          <p:cNvSpPr>
            <a:spLocks noChangeShapeType="1"/>
          </p:cNvSpPr>
          <p:nvPr/>
        </p:nvSpPr>
        <p:spPr bwMode="auto">
          <a:xfrm flipV="1">
            <a:off x="3395663" y="5029200"/>
            <a:ext cx="2032000" cy="106363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7209" name="Text Box 306"/>
          <p:cNvSpPr txBox="1">
            <a:spLocks noChangeArrowheads="1"/>
          </p:cNvSpPr>
          <p:nvPr/>
        </p:nvSpPr>
        <p:spPr bwMode="auto">
          <a:xfrm>
            <a:off x="669925" y="5694363"/>
            <a:ext cx="7983538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b="1"/>
              <a:t>On a page reference, first look up the virtual page number in the TLB; if </a:t>
            </a:r>
          </a:p>
          <a:p>
            <a:r>
              <a:rPr lang="en-US" sz="1600" b="1"/>
              <a:t>there is a TLB miss look up the page table; if miss again then true page fault</a:t>
            </a:r>
          </a:p>
        </p:txBody>
      </p:sp>
      <p:sp>
        <p:nvSpPr>
          <p:cNvPr id="306" name="Footer Placeholder 30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Mayank Pandey, MNNIT, Allahabad, India</a:t>
            </a:r>
            <a:endParaRPr lang="en-US"/>
          </a:p>
        </p:txBody>
      </p:sp>
    </p:spTree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Modern Systems</a:t>
            </a:r>
            <a:br>
              <a:rPr lang="en-US" smtClean="0"/>
            </a:br>
            <a:endParaRPr lang="en-US" smtClean="0"/>
          </a:p>
        </p:txBody>
      </p:sp>
      <p:graphicFrame>
        <p:nvGraphicFramePr>
          <p:cNvPr id="48131" name="Object 4">
            <a:hlinkClick r:id="" action="ppaction://ole?verb=0"/>
          </p:cNvPr>
          <p:cNvGraphicFramePr>
            <a:graphicFrameLocks/>
          </p:cNvGraphicFramePr>
          <p:nvPr>
            <p:ph type="body" idx="1"/>
          </p:nvPr>
        </p:nvGraphicFramePr>
        <p:xfrm>
          <a:off x="1143000" y="1260475"/>
          <a:ext cx="7772400" cy="2168525"/>
        </p:xfrm>
        <a:graphic>
          <a:graphicData uri="http://schemas.openxmlformats.org/presentationml/2006/ole">
            <p:oleObj spid="_x0000_s2050" name="Worksheet" r:id="rId3" imgW="7118350" imgH="1987550" progId="Excel.Sheet.8">
              <p:embed/>
            </p:oleObj>
          </a:graphicData>
        </a:graphic>
      </p:graphicFrame>
      <p:pic>
        <p:nvPicPr>
          <p:cNvPr id="48132" name="Picture 5"/>
          <p:cNvPicPr>
            <a:picLocks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00400" y="3581400"/>
            <a:ext cx="2743200" cy="1612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pic>
      <p:graphicFrame>
        <p:nvGraphicFramePr>
          <p:cNvPr id="48133" name="Object 6">
            <a:hlinkClick r:id="" action="ppaction://ole?verb=0"/>
          </p:cNvPr>
          <p:cNvGraphicFramePr>
            <a:graphicFrameLocks/>
          </p:cNvGraphicFramePr>
          <p:nvPr/>
        </p:nvGraphicFramePr>
        <p:xfrm>
          <a:off x="1249363" y="5257800"/>
          <a:ext cx="6645275" cy="1401763"/>
        </p:xfrm>
        <a:graphic>
          <a:graphicData uri="http://schemas.openxmlformats.org/presentationml/2006/ole">
            <p:oleObj spid="_x0000_s2051" name="Worksheet" r:id="rId5" imgW="6645275" imgH="1401763" progId="Excel.Sheet.8">
              <p:embed/>
            </p:oleObj>
          </a:graphicData>
        </a:graphic>
      </p:graphicFrame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Mayank Pandey, MNNIT, Allahabad, India</a:t>
            </a:r>
            <a:endParaRPr lang="en-US"/>
          </a:p>
        </p:txBody>
      </p:sp>
    </p:spTree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ChangeArrowheads="1"/>
          </p:cNvSpPr>
          <p:nvPr/>
        </p:nvSpPr>
        <p:spPr bwMode="auto">
          <a:xfrm>
            <a:off x="225425" y="312738"/>
            <a:ext cx="1954213" cy="4778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0488" tIns="44450" rIns="90488" bIns="44450"/>
          <a:lstStyle/>
          <a:p>
            <a:pPr eaLnBrk="1" hangingPunct="1"/>
            <a:r>
              <a:rPr lang="en-US" sz="2000" smtClean="0"/>
              <a:t>Processor speeds continue to increase very fast</a:t>
            </a:r>
          </a:p>
          <a:p>
            <a:pPr lvl="1" eaLnBrk="1" hangingPunct="1"/>
            <a:r>
              <a:rPr lang="en-US" sz="1800" smtClean="0"/>
              <a:t>much faster than either DRAM or disk access times</a:t>
            </a:r>
          </a:p>
          <a:p>
            <a:pPr eaLnBrk="1" hangingPunct="1"/>
            <a:r>
              <a:rPr lang="en-US" sz="2000" smtClean="0"/>
              <a:t>Design challenge: dealing with this growing disparity</a:t>
            </a:r>
            <a:endParaRPr lang="en-US" smtClean="0"/>
          </a:p>
          <a:p>
            <a:pPr eaLnBrk="1" hangingPunct="1"/>
            <a:r>
              <a:rPr lang="en-US" sz="2000" smtClean="0"/>
              <a:t>Trends:</a:t>
            </a:r>
          </a:p>
          <a:p>
            <a:pPr lvl="1" eaLnBrk="1" hangingPunct="1"/>
            <a:r>
              <a:rPr lang="en-US" sz="1800" smtClean="0"/>
              <a:t>synchronous SRAMs (provide a burst of data)</a:t>
            </a:r>
          </a:p>
          <a:p>
            <a:pPr lvl="1" eaLnBrk="1" hangingPunct="1"/>
            <a:r>
              <a:rPr lang="en-US" sz="1800" smtClean="0"/>
              <a:t>redesign DRAM chips to provide higher bandwidth or processing </a:t>
            </a:r>
          </a:p>
          <a:p>
            <a:pPr lvl="1" eaLnBrk="1" hangingPunct="1"/>
            <a:r>
              <a:rPr lang="en-US" sz="1800" smtClean="0"/>
              <a:t>restructure code to increase locality</a:t>
            </a:r>
          </a:p>
          <a:p>
            <a:pPr lvl="1" eaLnBrk="1" hangingPunct="1"/>
            <a:r>
              <a:rPr lang="en-US" sz="1800" smtClean="0"/>
              <a:t>use pre-fetching (make cache visible to ISA)</a:t>
            </a:r>
            <a:br>
              <a:rPr lang="en-US" sz="1800" smtClean="0"/>
            </a:br>
            <a:endParaRPr lang="en-US" sz="1800" smtClean="0"/>
          </a:p>
        </p:txBody>
      </p:sp>
      <p:sp>
        <p:nvSpPr>
          <p:cNvPr id="49156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smtClean="0"/>
              <a:t>Some Issues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Mayank Pandey, MNNIT, Allahabad, India</a:t>
            </a:r>
            <a:endParaRPr lang="en-US"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17672</TotalTime>
  <Words>4744</Words>
  <Application>Microsoft Office PowerPoint</Application>
  <PresentationFormat>On-screen Show (4:3)</PresentationFormat>
  <Paragraphs>916</Paragraphs>
  <Slides>53</Slides>
  <Notes>21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5" baseType="lpstr">
      <vt:lpstr>Office Theme</vt:lpstr>
      <vt:lpstr>Worksheet</vt:lpstr>
      <vt:lpstr>Slide 1</vt:lpstr>
      <vt:lpstr>Memory Hierarchy</vt:lpstr>
      <vt:lpstr>Locality</vt:lpstr>
      <vt:lpstr>Hit and Miss</vt:lpstr>
      <vt:lpstr>Caches</vt:lpstr>
      <vt:lpstr>Direct Mapped Cache</vt:lpstr>
      <vt:lpstr>Accessing Cache</vt:lpstr>
      <vt:lpstr> </vt:lpstr>
      <vt:lpstr>Direct Mapped Cache</vt:lpstr>
      <vt:lpstr>Cache Read Hit/Miss</vt:lpstr>
      <vt:lpstr>Caches</vt:lpstr>
      <vt:lpstr>Direct Mapped Cache</vt:lpstr>
      <vt:lpstr>Accessing Cache</vt:lpstr>
      <vt:lpstr> </vt:lpstr>
      <vt:lpstr>Direct Mapped Cache</vt:lpstr>
      <vt:lpstr>Cache Read Hit/Miss</vt:lpstr>
      <vt:lpstr>DECStation 3100 Cache (MIPS R2000 processor) </vt:lpstr>
      <vt:lpstr>Cache Write Hit/Miss</vt:lpstr>
      <vt:lpstr>Direct Mapped Cache:</vt:lpstr>
      <vt:lpstr>Direct Mapped Cache:</vt:lpstr>
      <vt:lpstr>Direct Mapped Cache:</vt:lpstr>
      <vt:lpstr>Example Problem</vt:lpstr>
      <vt:lpstr>Example Problem</vt:lpstr>
      <vt:lpstr>Example Problem</vt:lpstr>
      <vt:lpstr>Improving Cache Performance</vt:lpstr>
      <vt:lpstr>Improving Cache Performance by Increasing Bandwidth</vt:lpstr>
      <vt:lpstr>Performance</vt:lpstr>
      <vt:lpstr>Example Problems</vt:lpstr>
      <vt:lpstr>Solution</vt:lpstr>
      <vt:lpstr>Solution (cont.)</vt:lpstr>
      <vt:lpstr>Solution (cont.)</vt:lpstr>
      <vt:lpstr>Decreasing Miss Rates with Associative Block Placement</vt:lpstr>
      <vt:lpstr>Decreasing Miss Rates with Associative Block Placement</vt:lpstr>
      <vt:lpstr>Decreasing Miss Rates with Associative Block Placement</vt:lpstr>
      <vt:lpstr>Example Problems</vt:lpstr>
      <vt:lpstr>Solution</vt:lpstr>
      <vt:lpstr>Solution (cont.)</vt:lpstr>
      <vt:lpstr>Solution (cont.)</vt:lpstr>
      <vt:lpstr>Implementation of a Set-Associative Cache</vt:lpstr>
      <vt:lpstr>Performance with Set-Associative Caches</vt:lpstr>
      <vt:lpstr>Decreasing Miss Penalty with Multilevel Caches</vt:lpstr>
      <vt:lpstr>Example Problem</vt:lpstr>
      <vt:lpstr>Solution</vt:lpstr>
      <vt:lpstr>Virtual Memory</vt:lpstr>
      <vt:lpstr>Virtual Memory</vt:lpstr>
      <vt:lpstr>Page Table Implements Virtual to Physical Address Translation</vt:lpstr>
      <vt:lpstr>Example Problem</vt:lpstr>
      <vt:lpstr>Solution</vt:lpstr>
      <vt:lpstr> Page Faults </vt:lpstr>
      <vt:lpstr>Resolving Page Faults using the Page Table to Access Disk</vt:lpstr>
      <vt:lpstr>Making Address Translation Fast with the Translation-look-aside Buffer</vt:lpstr>
      <vt:lpstr>Modern Systems </vt:lpstr>
      <vt:lpstr>Some Issues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Content Based Publish Subscribe over 2-Tier DHT Utilizing Domain Ontology</dc:title>
  <dc:creator>MNNIT</dc:creator>
  <cp:lastModifiedBy>Dr. Mayank Pandey</cp:lastModifiedBy>
  <cp:revision>1143</cp:revision>
  <dcterms:created xsi:type="dcterms:W3CDTF">2011-03-15T06:08:11Z</dcterms:created>
  <dcterms:modified xsi:type="dcterms:W3CDTF">2016-03-29T04:46:51Z</dcterms:modified>
</cp:coreProperties>
</file>