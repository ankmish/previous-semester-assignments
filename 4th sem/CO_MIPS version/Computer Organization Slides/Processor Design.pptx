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76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s/slide83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slides/slide72.xml" ContentType="application/vnd.openxmlformats-officedocument.presentationml.slide+xml"/>
  <Override PartName="/ppt/slides/slide90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2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68.xml" ContentType="application/vnd.openxmlformats-officedocument.presentationml.slide+xml"/>
  <Override PartName="/ppt/slides/slide77.xml" ContentType="application/vnd.openxmlformats-officedocument.presentationml.slide+xml"/>
  <Override PartName="/ppt/slides/slide8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Override PartName="/ppt/slides/slide75.xml" ContentType="application/vnd.openxmlformats-officedocument.presentationml.slide+xml"/>
  <Override PartName="/ppt/slides/slide86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slides/slide73.xml" ContentType="application/vnd.openxmlformats-officedocument.presentationml.slide+xml"/>
  <Override PartName="/ppt/slides/slide84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s/slide71.xml" ContentType="application/vnd.openxmlformats-officedocument.presentationml.slide+xml"/>
  <Override PartName="/ppt/slides/slide80.xml" ContentType="application/vnd.openxmlformats-officedocument.presentationml.slide+xml"/>
  <Override PartName="/ppt/slides/slide82.xml" ContentType="application/vnd.openxmlformats-officedocument.presentationml.slide+xml"/>
  <Override PartName="/ppt/slides/slide91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notesSlides/notesSlide13.xml" ContentType="application/vnd.openxmlformats-officedocument.presentationml.notesSlide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slides/slide89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ppt/slides/slide78.xml" ContentType="application/vnd.openxmlformats-officedocument.presentationml.slide+xml"/>
  <Override PartName="/ppt/slides/slide87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s/slide85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slides/slide92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81.xml" ContentType="application/vnd.openxmlformats-officedocument.presentationml.slide+xml"/>
  <Default Extension="wmf" ContentType="image/x-wmf"/>
  <Override PartName="/ppt/notesSlides/notesSlide18.xml" ContentType="application/vnd.openxmlformats-officedocument.presentationml.notes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s/slide70.xml" ContentType="application/vnd.openxmlformats-officedocument.presentationml.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3">
  <p:sldMasterIdLst>
    <p:sldMasterId id="2147483648" r:id="rId1"/>
  </p:sldMasterIdLst>
  <p:notesMasterIdLst>
    <p:notesMasterId r:id="rId94"/>
  </p:notesMasterIdLst>
  <p:sldIdLst>
    <p:sldId id="256" r:id="rId2"/>
    <p:sldId id="586" r:id="rId3"/>
    <p:sldId id="587" r:id="rId4"/>
    <p:sldId id="580" r:id="rId5"/>
    <p:sldId id="581" r:id="rId6"/>
    <p:sldId id="582" r:id="rId7"/>
    <p:sldId id="583" r:id="rId8"/>
    <p:sldId id="584" r:id="rId9"/>
    <p:sldId id="585" r:id="rId10"/>
    <p:sldId id="588" r:id="rId11"/>
    <p:sldId id="589" r:id="rId12"/>
    <p:sldId id="590" r:id="rId13"/>
    <p:sldId id="591" r:id="rId14"/>
    <p:sldId id="592" r:id="rId15"/>
    <p:sldId id="593" r:id="rId16"/>
    <p:sldId id="594" r:id="rId17"/>
    <p:sldId id="595" r:id="rId18"/>
    <p:sldId id="596" r:id="rId19"/>
    <p:sldId id="597" r:id="rId20"/>
    <p:sldId id="598" r:id="rId21"/>
    <p:sldId id="599" r:id="rId22"/>
    <p:sldId id="600" r:id="rId23"/>
    <p:sldId id="601" r:id="rId24"/>
    <p:sldId id="602" r:id="rId25"/>
    <p:sldId id="603" r:id="rId26"/>
    <p:sldId id="604" r:id="rId27"/>
    <p:sldId id="605" r:id="rId28"/>
    <p:sldId id="606" r:id="rId29"/>
    <p:sldId id="607" r:id="rId30"/>
    <p:sldId id="608" r:id="rId31"/>
    <p:sldId id="636" r:id="rId32"/>
    <p:sldId id="609" r:id="rId33"/>
    <p:sldId id="610" r:id="rId34"/>
    <p:sldId id="611" r:id="rId35"/>
    <p:sldId id="612" r:id="rId36"/>
    <p:sldId id="613" r:id="rId37"/>
    <p:sldId id="614" r:id="rId38"/>
    <p:sldId id="615" r:id="rId39"/>
    <p:sldId id="616" r:id="rId40"/>
    <p:sldId id="617" r:id="rId41"/>
    <p:sldId id="618" r:id="rId42"/>
    <p:sldId id="619" r:id="rId43"/>
    <p:sldId id="624" r:id="rId44"/>
    <p:sldId id="629" r:id="rId45"/>
    <p:sldId id="630" r:id="rId46"/>
    <p:sldId id="631" r:id="rId47"/>
    <p:sldId id="634" r:id="rId48"/>
    <p:sldId id="635" r:id="rId49"/>
    <p:sldId id="637" r:id="rId50"/>
    <p:sldId id="638" r:id="rId51"/>
    <p:sldId id="639" r:id="rId52"/>
    <p:sldId id="640" r:id="rId53"/>
    <p:sldId id="641" r:id="rId54"/>
    <p:sldId id="642" r:id="rId55"/>
    <p:sldId id="643" r:id="rId56"/>
    <p:sldId id="644" r:id="rId57"/>
    <p:sldId id="645" r:id="rId58"/>
    <p:sldId id="646" r:id="rId59"/>
    <p:sldId id="647" r:id="rId60"/>
    <p:sldId id="648" r:id="rId61"/>
    <p:sldId id="649" r:id="rId62"/>
    <p:sldId id="650" r:id="rId63"/>
    <p:sldId id="651" r:id="rId64"/>
    <p:sldId id="652" r:id="rId65"/>
    <p:sldId id="653" r:id="rId66"/>
    <p:sldId id="654" r:id="rId67"/>
    <p:sldId id="655" r:id="rId68"/>
    <p:sldId id="656" r:id="rId69"/>
    <p:sldId id="657" r:id="rId70"/>
    <p:sldId id="658" r:id="rId71"/>
    <p:sldId id="679" r:id="rId72"/>
    <p:sldId id="680" r:id="rId73"/>
    <p:sldId id="659" r:id="rId74"/>
    <p:sldId id="660" r:id="rId75"/>
    <p:sldId id="661" r:id="rId76"/>
    <p:sldId id="662" r:id="rId77"/>
    <p:sldId id="663" r:id="rId78"/>
    <p:sldId id="664" r:id="rId79"/>
    <p:sldId id="665" r:id="rId80"/>
    <p:sldId id="666" r:id="rId81"/>
    <p:sldId id="667" r:id="rId82"/>
    <p:sldId id="668" r:id="rId83"/>
    <p:sldId id="669" r:id="rId84"/>
    <p:sldId id="670" r:id="rId85"/>
    <p:sldId id="671" r:id="rId86"/>
    <p:sldId id="672" r:id="rId87"/>
    <p:sldId id="673" r:id="rId88"/>
    <p:sldId id="674" r:id="rId89"/>
    <p:sldId id="675" r:id="rId90"/>
    <p:sldId id="676" r:id="rId91"/>
    <p:sldId id="677" r:id="rId92"/>
    <p:sldId id="678" r:id="rId9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15619" autoAdjust="0"/>
    <p:restoredTop sz="94709" autoAdjust="0"/>
  </p:normalViewPr>
  <p:slideViewPr>
    <p:cSldViewPr>
      <p:cViewPr>
        <p:scale>
          <a:sx n="66" d="100"/>
          <a:sy n="66" d="100"/>
        </p:scale>
        <p:origin x="-1236" y="-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2672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97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4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9DEB3F7B-D41C-4C9D-A514-6E5B97F10D00}" type="datetimeFigureOut">
              <a:rPr lang="en-US"/>
              <a:pPr>
                <a:defRPr/>
              </a:pPr>
              <a:t>3/31/2015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EFBAE4B7-8DA3-4DEE-9383-251B6AEC0DF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57698465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6D429F6-F281-49FD-BE33-5BA7F3C5CBC9}" type="slidenum">
              <a:rPr lang="en-US"/>
              <a:pPr/>
              <a:t>2</a:t>
            </a:fld>
            <a:endParaRPr lang="en-US"/>
          </a:p>
        </p:txBody>
      </p:sp>
      <p:sp>
        <p:nvSpPr>
          <p:cNvPr id="419842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183" y="4343144"/>
            <a:ext cx="5029635" cy="4115019"/>
          </a:xfrm>
          <a:prstGeom prst="rect">
            <a:avLst/>
          </a:prstGeom>
          <a:noFill/>
          <a:ln w="12700">
            <a:miter lim="800000"/>
            <a:headEnd/>
            <a:tailEnd/>
          </a:ln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419843" name="Rectangle 3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2525" y="692150"/>
            <a:ext cx="4554538" cy="3416300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70B20E1-1CD7-4128-AAFC-52EEBA85DA41}" type="slidenum">
              <a:rPr lang="en-US"/>
              <a:pPr/>
              <a:t>3</a:t>
            </a:fld>
            <a:endParaRPr lang="en-US"/>
          </a:p>
        </p:txBody>
      </p:sp>
      <p:sp>
        <p:nvSpPr>
          <p:cNvPr id="421890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183" y="4343144"/>
            <a:ext cx="5029635" cy="4115019"/>
          </a:xfrm>
          <a:prstGeom prst="rect">
            <a:avLst/>
          </a:prstGeom>
          <a:noFill/>
          <a:ln w="12700">
            <a:miter lim="800000"/>
            <a:headEnd/>
            <a:tailEnd/>
          </a:ln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421891" name="Rectangle 3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2525" y="692150"/>
            <a:ext cx="4554538" cy="3416300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C4D040D-A859-4D6C-84FB-403366591F29}" type="slidenum">
              <a:rPr lang="en-US"/>
              <a:pPr/>
              <a:t>5</a:t>
            </a:fld>
            <a:endParaRPr lang="en-US"/>
          </a:p>
        </p:txBody>
      </p:sp>
      <p:sp>
        <p:nvSpPr>
          <p:cNvPr id="423938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183" y="4343144"/>
            <a:ext cx="5029635" cy="4115019"/>
          </a:xfrm>
          <a:prstGeom prst="rect">
            <a:avLst/>
          </a:prstGeom>
          <a:noFill/>
          <a:ln w="12700">
            <a:miter lim="800000"/>
            <a:headEnd/>
            <a:tailEnd/>
          </a:ln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423939" name="Rectangle 3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2525" y="692150"/>
            <a:ext cx="4554538" cy="3416300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3687979-7C63-465B-8CFD-6253E0F82C3B}" type="slidenum">
              <a:rPr lang="en-US"/>
              <a:pPr/>
              <a:t>7</a:t>
            </a:fld>
            <a:endParaRPr lang="en-US"/>
          </a:p>
        </p:txBody>
      </p:sp>
      <p:sp>
        <p:nvSpPr>
          <p:cNvPr id="428034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183" y="4343144"/>
            <a:ext cx="5029635" cy="4115019"/>
          </a:xfrm>
          <a:prstGeom prst="rect">
            <a:avLst/>
          </a:prstGeom>
          <a:noFill/>
          <a:ln w="12700">
            <a:miter lim="800000"/>
            <a:headEnd/>
            <a:tailEnd/>
          </a:ln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428035" name="Rectangle 3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2525" y="692150"/>
            <a:ext cx="4554538" cy="3416300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24FE8F5-8E34-4FCB-BD4B-475AA4F11547}" type="slidenum">
              <a:rPr lang="en-US"/>
              <a:pPr/>
              <a:t>9</a:t>
            </a:fld>
            <a:endParaRPr lang="en-US"/>
          </a:p>
        </p:txBody>
      </p:sp>
      <p:sp>
        <p:nvSpPr>
          <p:cNvPr id="440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2525" y="692150"/>
            <a:ext cx="4554538" cy="3416300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44032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183" y="4343144"/>
            <a:ext cx="5029635" cy="4115019"/>
          </a:xfrm>
          <a:prstGeom prst="rect">
            <a:avLst/>
          </a:prstGeom>
          <a:noFill/>
          <a:ln w="12700">
            <a:miter lim="800000"/>
            <a:headEnd/>
            <a:tailEnd/>
          </a:ln>
        </p:spPr>
        <p:txBody>
          <a:bodyPr lIns="90488" tIns="44450" rIns="90488" bIns="44450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9C8C103-885A-4076-95F3-4968BDC1A967}" type="slidenum">
              <a:rPr lang="en-US"/>
              <a:pPr/>
              <a:t>35</a:t>
            </a:fld>
            <a:endParaRPr lang="en-US"/>
          </a:p>
        </p:txBody>
      </p:sp>
      <p:sp>
        <p:nvSpPr>
          <p:cNvPr id="450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2525" y="692150"/>
            <a:ext cx="4554538" cy="3416300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5056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183" y="4343144"/>
            <a:ext cx="5029635" cy="41150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0AF6EDC-6136-4BA9-9102-F95816EFE74B}" type="slidenum">
              <a:rPr lang="en-US"/>
              <a:pPr/>
              <a:t>44</a:t>
            </a:fld>
            <a:endParaRPr lang="en-US"/>
          </a:p>
        </p:txBody>
      </p:sp>
      <p:sp>
        <p:nvSpPr>
          <p:cNvPr id="452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2525" y="692150"/>
            <a:ext cx="4554538" cy="3416300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5261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183" y="4343144"/>
            <a:ext cx="5029635" cy="41150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76589B5-6E82-4EF0-A978-560BAF96C1B6}" type="slidenum">
              <a:rPr lang="en-US"/>
              <a:pPr/>
              <a:t>46</a:t>
            </a:fld>
            <a:endParaRPr lang="en-US"/>
          </a:p>
        </p:txBody>
      </p:sp>
      <p:sp>
        <p:nvSpPr>
          <p:cNvPr id="454658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183" y="4343144"/>
            <a:ext cx="5029635" cy="41150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454659" name="Rectangle 3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2525" y="692150"/>
            <a:ext cx="4554538" cy="3416300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3FB9C41-29D2-44A3-B8F1-CEC0C7F73B7C}" type="slidenum">
              <a:rPr lang="en-US"/>
              <a:pPr/>
              <a:t>47</a:t>
            </a:fld>
            <a:endParaRPr lang="en-US"/>
          </a:p>
        </p:txBody>
      </p:sp>
      <p:sp>
        <p:nvSpPr>
          <p:cNvPr id="458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2525" y="692150"/>
            <a:ext cx="4554538" cy="3416300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5875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183" y="4343144"/>
            <a:ext cx="5029635" cy="41150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F8F23D9-077D-4FDF-AFC3-964010E9D161}" type="slidenum">
              <a:rPr lang="en-US"/>
              <a:pPr/>
              <a:t>48</a:t>
            </a:fld>
            <a:endParaRPr lang="en-US"/>
          </a:p>
        </p:txBody>
      </p:sp>
      <p:sp>
        <p:nvSpPr>
          <p:cNvPr id="46694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183" y="4343144"/>
            <a:ext cx="5029635" cy="4115019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466947" name="Rectangle 3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2525" y="692150"/>
            <a:ext cx="4554538" cy="3416300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DB8C646-EED6-46EB-B162-17676B34ED81}" type="slidenum">
              <a:rPr lang="en-US"/>
              <a:pPr/>
              <a:t>51</a:t>
            </a:fld>
            <a:endParaRPr lang="en-US"/>
          </a:p>
        </p:txBody>
      </p:sp>
      <p:sp>
        <p:nvSpPr>
          <p:cNvPr id="468994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183" y="4343144"/>
            <a:ext cx="5029635" cy="4115019"/>
          </a:xfrm>
          <a:prstGeom prst="rect">
            <a:avLst/>
          </a:prstGeom>
          <a:noFill/>
          <a:ln w="12700">
            <a:miter lim="800000"/>
            <a:headEnd/>
            <a:tailEnd/>
          </a:ln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468995" name="Rectangle 3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2525" y="692150"/>
            <a:ext cx="4554538" cy="3416300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0D364A4-6796-4AB9-A972-D58B08C150EC}" type="slidenum">
              <a:rPr lang="en-US"/>
              <a:pPr/>
              <a:t>53</a:t>
            </a:fld>
            <a:endParaRPr lang="en-US"/>
          </a:p>
        </p:txBody>
      </p:sp>
      <p:sp>
        <p:nvSpPr>
          <p:cNvPr id="471042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183" y="4343144"/>
            <a:ext cx="5029635" cy="4115019"/>
          </a:xfrm>
          <a:prstGeom prst="rect">
            <a:avLst/>
          </a:prstGeom>
          <a:noFill/>
          <a:ln w="12700">
            <a:miter lim="800000"/>
            <a:headEnd/>
            <a:tailEnd/>
          </a:ln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471043" name="Rectangle 3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2525" y="692150"/>
            <a:ext cx="4554538" cy="3416300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AA62B41-D250-4FBF-8240-A50EF6B1B6EE}" type="slidenum">
              <a:rPr lang="en-US"/>
              <a:pPr/>
              <a:t>54</a:t>
            </a:fld>
            <a:endParaRPr lang="en-US"/>
          </a:p>
        </p:txBody>
      </p:sp>
      <p:sp>
        <p:nvSpPr>
          <p:cNvPr id="473090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183" y="4343144"/>
            <a:ext cx="5029635" cy="4115019"/>
          </a:xfrm>
          <a:prstGeom prst="rect">
            <a:avLst/>
          </a:prstGeom>
          <a:noFill/>
          <a:ln w="12700">
            <a:miter lim="800000"/>
            <a:headEnd/>
            <a:tailEnd/>
          </a:ln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473091" name="Rectangle 3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2525" y="692150"/>
            <a:ext cx="4554538" cy="3416300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DEA1CF7-DF66-4E84-9ED3-107E6C52FD59}" type="slidenum">
              <a:rPr lang="en-US"/>
              <a:pPr/>
              <a:t>55</a:t>
            </a:fld>
            <a:endParaRPr lang="en-US"/>
          </a:p>
        </p:txBody>
      </p:sp>
      <p:sp>
        <p:nvSpPr>
          <p:cNvPr id="475138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183" y="4343144"/>
            <a:ext cx="5029635" cy="4115019"/>
          </a:xfrm>
          <a:prstGeom prst="rect">
            <a:avLst/>
          </a:prstGeom>
          <a:noFill/>
          <a:ln w="12700">
            <a:miter lim="800000"/>
            <a:headEnd/>
            <a:tailEnd/>
          </a:ln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475139" name="Rectangle 3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2525" y="692150"/>
            <a:ext cx="4554538" cy="3416300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7D71C23-AC71-4304-BC4C-09AE976817A6}" type="slidenum">
              <a:rPr lang="en-US"/>
              <a:pPr/>
              <a:t>56</a:t>
            </a:fld>
            <a:endParaRPr lang="en-US"/>
          </a:p>
        </p:txBody>
      </p:sp>
      <p:sp>
        <p:nvSpPr>
          <p:cNvPr id="47718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183" y="4343144"/>
            <a:ext cx="5029635" cy="4115019"/>
          </a:xfrm>
          <a:prstGeom prst="rect">
            <a:avLst/>
          </a:prstGeom>
          <a:noFill/>
          <a:ln w="12700">
            <a:miter lim="800000"/>
            <a:headEnd/>
            <a:tailEnd/>
          </a:ln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477187" name="Rectangle 3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2525" y="692150"/>
            <a:ext cx="4554538" cy="3416300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4DC5D2A-9402-41B4-9B44-4BCD44E2F61C}" type="slidenum">
              <a:rPr lang="en-US"/>
              <a:pPr/>
              <a:t>57</a:t>
            </a:fld>
            <a:endParaRPr lang="en-US"/>
          </a:p>
        </p:txBody>
      </p:sp>
      <p:sp>
        <p:nvSpPr>
          <p:cNvPr id="479234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183" y="4343144"/>
            <a:ext cx="5029635" cy="4115019"/>
          </a:xfrm>
          <a:prstGeom prst="rect">
            <a:avLst/>
          </a:prstGeom>
          <a:noFill/>
          <a:ln w="12700">
            <a:miter lim="800000"/>
            <a:headEnd/>
            <a:tailEnd/>
          </a:ln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479235" name="Rectangle 3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2525" y="692150"/>
            <a:ext cx="4554538" cy="3416300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7A2B15D-9C7F-45BC-9D1B-A66E0CF00A43}" type="slidenum">
              <a:rPr lang="en-US"/>
              <a:pPr/>
              <a:t>83</a:t>
            </a:fld>
            <a:endParaRPr lang="en-US"/>
          </a:p>
        </p:txBody>
      </p:sp>
      <p:sp>
        <p:nvSpPr>
          <p:cNvPr id="483330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183" y="4343144"/>
            <a:ext cx="5029635" cy="4115019"/>
          </a:xfrm>
          <a:prstGeom prst="rect">
            <a:avLst/>
          </a:prstGeom>
          <a:noFill/>
          <a:ln w="12700">
            <a:miter lim="800000"/>
            <a:headEnd/>
            <a:tailEnd/>
          </a:ln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483331" name="Rectangle 3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2525" y="692150"/>
            <a:ext cx="4554538" cy="3416300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BC288EC-7E1C-4F81-BD89-30D7302E55FB}" type="slidenum">
              <a:rPr lang="en-US"/>
              <a:pPr/>
              <a:t>84</a:t>
            </a:fld>
            <a:endParaRPr lang="en-US"/>
          </a:p>
        </p:txBody>
      </p:sp>
      <p:sp>
        <p:nvSpPr>
          <p:cNvPr id="485378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183" y="4343144"/>
            <a:ext cx="5029635" cy="4115019"/>
          </a:xfrm>
          <a:prstGeom prst="rect">
            <a:avLst/>
          </a:prstGeom>
          <a:noFill/>
          <a:ln w="12700">
            <a:miter lim="800000"/>
            <a:headEnd/>
            <a:tailEnd/>
          </a:ln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485379" name="Rectangle 3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2525" y="692150"/>
            <a:ext cx="4554538" cy="3416300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F12488B-BA9A-42FC-8403-DD226E46E3D2}" type="slidenum">
              <a:rPr lang="en-US"/>
              <a:pPr/>
              <a:t>85</a:t>
            </a:fld>
            <a:endParaRPr lang="en-US"/>
          </a:p>
        </p:txBody>
      </p:sp>
      <p:sp>
        <p:nvSpPr>
          <p:cNvPr id="5386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183" y="4343144"/>
            <a:ext cx="5029635" cy="4115019"/>
          </a:xfrm>
          <a:prstGeom prst="rect">
            <a:avLst/>
          </a:prstGeom>
          <a:noFill/>
          <a:ln w="12700">
            <a:miter lim="800000"/>
            <a:headEnd/>
            <a:tailEnd/>
          </a:ln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538627" name="Rectangle 3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2525" y="692150"/>
            <a:ext cx="4554538" cy="3416300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F4B85623-8973-4BD6-80BD-F0A9A39B8382}" type="datetime1">
              <a:rPr lang="en-US" smtClean="0"/>
              <a:pPr>
                <a:defRPr/>
              </a:pPr>
              <a:t>3/31/2015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Mayank Pandey, MNNIT, Allahabad, India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7E661267-0F7F-418F-AE2C-FEBF4F6AF326}" type="datetime1">
              <a:rPr lang="en-US" smtClean="0"/>
              <a:pPr>
                <a:defRPr/>
              </a:pPr>
              <a:t>3/31/2015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Mayank Pandey, MNNIT, Allahabad, India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01000" y="6356350"/>
            <a:ext cx="685800" cy="365125"/>
          </a:xfrm>
          <a:prstGeom prst="rect">
            <a:avLst/>
          </a:prstGeom>
        </p:spPr>
        <p:txBody>
          <a:bodyPr/>
          <a:lstStyle>
            <a:lvl1pPr algn="r"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C54A3ABE-7EE8-428A-9823-130E8679AB4E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EABC2D59-F1F9-4B37-8159-4CCB95B50765}" type="datetime1">
              <a:rPr lang="en-US" smtClean="0"/>
              <a:pPr>
                <a:defRPr/>
              </a:pPr>
              <a:t>3/31/2015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Mayank Pandey, MNNIT, Allahabad, India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BFA83D4B-0D85-4DEE-B0D9-20DFC9F1856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30BE300E-A795-4CC3-9786-4DF2E6BC8AA9}" type="datetime1">
              <a:rPr lang="en-US" smtClean="0"/>
              <a:pPr>
                <a:defRPr/>
              </a:pPr>
              <a:t>3/31/2015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Mayank Pandey, MNNIT, Allahabad, India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34278836-F49B-470B-BFB1-898E12B0021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949CC723-3FF2-4FCB-9AFB-154A7B848652}" type="datetime1">
              <a:rPr lang="en-US" smtClean="0"/>
              <a:pPr>
                <a:defRPr/>
              </a:pPr>
              <a:t>3/31/2015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Mayank Pandey, MNNIT, Allahabad, India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469E6981-811E-47B2-9046-C217D6C410A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30C72227-FECD-4039-A327-B8D82E75A27D}" type="datetime1">
              <a:rPr lang="en-US" smtClean="0"/>
              <a:pPr>
                <a:defRPr/>
              </a:pPr>
              <a:t>3/31/2015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Mayank Pandey, MNNIT, Allahabad, India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CB326667-E6E6-4DE2-8E19-42096EDF669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6C3D818C-F92A-4CE9-A5CF-1472D7A7E26B}" type="datetime1">
              <a:rPr lang="en-US" smtClean="0"/>
              <a:pPr>
                <a:defRPr/>
              </a:pPr>
              <a:t>3/31/2015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Mayank Pandey, MNNIT, Allahabad, India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423520D8-1D15-44DA-9B9B-C6653470A34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821ED13B-0823-4AC0-8D24-D08F12E84967}" type="datetime1">
              <a:rPr lang="en-US" smtClean="0"/>
              <a:pPr>
                <a:defRPr/>
              </a:pPr>
              <a:t>3/31/2015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Mayank Pandey, MNNIT, Allahabad, India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BE8923A6-2C91-411D-9098-2017475A8ED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A571D159-18AF-45A3-B053-E73C07794E6E}" type="datetime1">
              <a:rPr lang="en-US" smtClean="0"/>
              <a:pPr>
                <a:defRPr/>
              </a:pPr>
              <a:t>3/31/2015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Mayank Pandey, MNNIT, Allahabad, India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7DACD366-71D5-4389-B748-80782993399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164843BF-95B6-4D1A-ADA9-AA5E64124D33}" type="datetime1">
              <a:rPr lang="en-US" smtClean="0"/>
              <a:pPr>
                <a:defRPr/>
              </a:pPr>
              <a:t>3/31/2015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Mayank Pandey, MNNIT, Allahabad, India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0723250C-09C2-414F-90C5-9BE50CF0EDD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DD405241-87EB-4A68-AE8E-9B3A91AC6844}" type="datetime1">
              <a:rPr lang="en-US" smtClean="0"/>
              <a:pPr>
                <a:defRPr/>
              </a:pPr>
              <a:t>3/31/2015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Mayank Pandey, MNNIT, Allahabad, India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CA6685EB-3D78-4579-94C3-EDBAD86D824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3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152400"/>
            <a:ext cx="82296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371600"/>
            <a:ext cx="8229600" cy="4754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Mayank Pandey, MNNIT, Allahabad, India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533400" y="1295400"/>
            <a:ext cx="81534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7" r:id="rId1"/>
    <p:sldLayoutId id="2147483848" r:id="rId2"/>
    <p:sldLayoutId id="2147483849" r:id="rId3"/>
    <p:sldLayoutId id="2147483850" r:id="rId4"/>
    <p:sldLayoutId id="2147483851" r:id="rId5"/>
    <p:sldLayoutId id="2147483852" r:id="rId6"/>
    <p:sldLayoutId id="2147483853" r:id="rId7"/>
    <p:sldLayoutId id="2147483854" r:id="rId8"/>
    <p:sldLayoutId id="2147483855" r:id="rId9"/>
    <p:sldLayoutId id="2147483856" r:id="rId10"/>
    <p:sldLayoutId id="2147483857" r:id="rId1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w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wmf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wmf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wmf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w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wmf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wmf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wmf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wmf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wm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3.wmf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wm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wm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wmf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wmf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wmf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wmf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wmf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image" Target="../media/image20.wmf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wmf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wmf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wmf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wmf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wmf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wmf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wmf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wmf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wmf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wmf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wmf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wmf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wmf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wmf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wmf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wmf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wmf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wmf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wmf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wmf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wmf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wmf"/><Relationship Id="rId2" Type="http://schemas.openxmlformats.org/officeDocument/2006/relationships/image" Target="../media/image40.wmf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wmf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wmf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wmf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wmf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w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7" name="Rectangle 5"/>
          <p:cNvSpPr>
            <a:spLocks noChangeArrowheads="1"/>
          </p:cNvSpPr>
          <p:nvPr/>
        </p:nvSpPr>
        <p:spPr bwMode="auto">
          <a:xfrm>
            <a:off x="381000" y="2618602"/>
            <a:ext cx="8382000" cy="1754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600" b="1" u="none" strike="noStrike" cap="none" normalizeH="0" baseline="0" dirty="0" smtClean="0" bmk="OLE_LINK2">
                <a:ln>
                  <a:noFill/>
                </a:ln>
                <a:solidFill>
                  <a:schemeClr val="tx2"/>
                </a:solidFill>
                <a:effectLst/>
                <a:latin typeface="Garamond" pitchFamily="18" charset="0"/>
                <a:ea typeface="Calibri" pitchFamily="34" charset="0"/>
                <a:cs typeface="Times New Roman" pitchFamily="18" charset="0"/>
              </a:rPr>
              <a:t>Computer Organization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3600" b="1" dirty="0" smtClean="0" bmk="OLE_LINK2">
                <a:solidFill>
                  <a:schemeClr val="tx2"/>
                </a:solidFill>
                <a:latin typeface="Garamond" pitchFamily="18" charset="0"/>
                <a:cs typeface="Times New Roman" pitchFamily="18" charset="0"/>
              </a:rPr>
              <a:t>CS1403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600" b="1" u="none" strike="noStrike" cap="none" normalizeH="0" baseline="0" dirty="0" smtClean="0" bmk="OLE_LINK2">
                <a:ln>
                  <a:noFill/>
                </a:ln>
                <a:solidFill>
                  <a:schemeClr val="tx2"/>
                </a:solidFill>
                <a:effectLst/>
                <a:latin typeface="Garamond" pitchFamily="18" charset="0"/>
                <a:cs typeface="Times New Roman" pitchFamily="18" charset="0"/>
              </a:rPr>
              <a:t>Processor Design</a:t>
            </a:r>
            <a:endParaRPr kumimoji="0" lang="en-US" sz="3600" b="1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Garamond" pitchFamily="18" charset="0"/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 dirty="0" err="1" smtClean="0"/>
              <a:t>Mayank</a:t>
            </a:r>
            <a:r>
              <a:rPr lang="en-US" dirty="0" smtClean="0"/>
              <a:t> </a:t>
            </a:r>
            <a:r>
              <a:rPr lang="en-US" dirty="0" err="1" smtClean="0"/>
              <a:t>Pandey</a:t>
            </a:r>
            <a:r>
              <a:rPr lang="en-US" dirty="0" smtClean="0"/>
              <a:t>, MNNIT, Allahabad, India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818" name="Rectangle 2"/>
          <p:cNvSpPr>
            <a:spLocks noChangeArrowheads="1"/>
          </p:cNvSpPr>
          <p:nvPr/>
        </p:nvSpPr>
        <p:spPr bwMode="auto">
          <a:xfrm>
            <a:off x="225425" y="312738"/>
            <a:ext cx="5210175" cy="4778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418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458200" cy="5105400"/>
          </a:xfrm>
          <a:noFill/>
          <a:ln/>
        </p:spPr>
        <p:txBody>
          <a:bodyPr lIns="90488" tIns="44450" rIns="90488" bIns="44450"/>
          <a:lstStyle/>
          <a:p>
            <a:endParaRPr lang="en-US" sz="2000" dirty="0"/>
          </a:p>
          <a:p>
            <a:r>
              <a:rPr lang="en-US" sz="2000" dirty="0"/>
              <a:t>We're ready to look at an implementation of the MIPS instruction set</a:t>
            </a:r>
          </a:p>
          <a:p>
            <a:r>
              <a:rPr lang="en-US" sz="2000" dirty="0"/>
              <a:t>Simplified to contain only</a:t>
            </a:r>
          </a:p>
          <a:p>
            <a:pPr lvl="1"/>
            <a:r>
              <a:rPr lang="en-US" sz="1800" dirty="0"/>
              <a:t>arithmetic-logic instructions:  </a:t>
            </a:r>
            <a:r>
              <a:rPr lang="en-US" sz="1800" dirty="0">
                <a:latin typeface="Courier New" pitchFamily="49" charset="0"/>
              </a:rPr>
              <a:t>add, sub, and, or, </a:t>
            </a:r>
            <a:r>
              <a:rPr lang="en-US" sz="1800" dirty="0" err="1">
                <a:latin typeface="Courier New" pitchFamily="49" charset="0"/>
              </a:rPr>
              <a:t>slt</a:t>
            </a:r>
            <a:endParaRPr lang="en-US" sz="1800" dirty="0">
              <a:latin typeface="Courier New" pitchFamily="49" charset="0"/>
            </a:endParaRPr>
          </a:p>
          <a:p>
            <a:pPr lvl="1"/>
            <a:r>
              <a:rPr lang="en-US" sz="1800" dirty="0"/>
              <a:t>memory-reference instructions:  </a:t>
            </a:r>
            <a:r>
              <a:rPr lang="en-US" sz="1800" dirty="0" err="1">
                <a:latin typeface="Courier New" pitchFamily="49" charset="0"/>
              </a:rPr>
              <a:t>lw</a:t>
            </a:r>
            <a:r>
              <a:rPr lang="en-US" sz="1800" dirty="0">
                <a:latin typeface="Courier New" pitchFamily="49" charset="0"/>
              </a:rPr>
              <a:t>, </a:t>
            </a:r>
            <a:r>
              <a:rPr lang="en-US" sz="1800" dirty="0" err="1">
                <a:latin typeface="Courier New" pitchFamily="49" charset="0"/>
              </a:rPr>
              <a:t>sw</a:t>
            </a:r>
            <a:r>
              <a:rPr lang="en-US" sz="1800" dirty="0">
                <a:latin typeface="Courier New" pitchFamily="49" charset="0"/>
              </a:rPr>
              <a:t> </a:t>
            </a:r>
            <a:endParaRPr lang="en-US" sz="1800" dirty="0"/>
          </a:p>
          <a:p>
            <a:pPr lvl="1"/>
            <a:r>
              <a:rPr lang="en-US" sz="1800" dirty="0"/>
              <a:t>control-flow instructions:  </a:t>
            </a:r>
            <a:r>
              <a:rPr lang="en-US" sz="1800" dirty="0" err="1">
                <a:latin typeface="Courier New" pitchFamily="49" charset="0"/>
              </a:rPr>
              <a:t>beq</a:t>
            </a:r>
            <a:r>
              <a:rPr lang="en-US" sz="1800" dirty="0">
                <a:latin typeface="Courier New" pitchFamily="49" charset="0"/>
              </a:rPr>
              <a:t>, j</a:t>
            </a:r>
          </a:p>
        </p:txBody>
      </p:sp>
      <p:sp>
        <p:nvSpPr>
          <p:cNvPr id="418820" name="Rectangle 4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7793038" cy="1143000"/>
          </a:xfrm>
          <a:noFill/>
          <a:ln/>
        </p:spPr>
        <p:txBody>
          <a:bodyPr lIns="90488" tIns="44450" rIns="90488" bIns="44450" anchor="ctr"/>
          <a:lstStyle/>
          <a:p>
            <a:r>
              <a:rPr lang="en-US" dirty="0"/>
              <a:t>Implementing MIPS</a:t>
            </a: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914400" y="3200400"/>
            <a:ext cx="6365875" cy="2438400"/>
            <a:chOff x="816" y="1968"/>
            <a:chExt cx="4010" cy="1536"/>
          </a:xfrm>
        </p:grpSpPr>
        <p:sp>
          <p:nvSpPr>
            <p:cNvPr id="418823" name="Rectangle 7"/>
            <p:cNvSpPr>
              <a:spLocks noChangeArrowheads="1"/>
            </p:cNvSpPr>
            <p:nvPr/>
          </p:nvSpPr>
          <p:spPr bwMode="auto">
            <a:xfrm>
              <a:off x="816" y="2784"/>
              <a:ext cx="576" cy="192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sz="1800" b="1">
                  <a:solidFill>
                    <a:srgbClr val="990000"/>
                  </a:solidFill>
                  <a:latin typeface="Courier" pitchFamily="49" charset="0"/>
                </a:rPr>
                <a:t>op</a:t>
              </a:r>
              <a:endParaRPr lang="en-US" sz="2400" b="1">
                <a:solidFill>
                  <a:srgbClr val="990000"/>
                </a:solidFill>
              </a:endParaRPr>
            </a:p>
          </p:txBody>
        </p:sp>
        <p:sp>
          <p:nvSpPr>
            <p:cNvPr id="418824" name="Rectangle 8"/>
            <p:cNvSpPr>
              <a:spLocks noChangeArrowheads="1"/>
            </p:cNvSpPr>
            <p:nvPr/>
          </p:nvSpPr>
          <p:spPr bwMode="auto">
            <a:xfrm>
              <a:off x="1392" y="2784"/>
              <a:ext cx="480" cy="192"/>
            </a:xfrm>
            <a:prstGeom prst="rect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sz="1800" b="1">
                  <a:solidFill>
                    <a:srgbClr val="990000"/>
                  </a:solidFill>
                  <a:latin typeface="Courier" pitchFamily="49" charset="0"/>
                </a:rPr>
                <a:t>rs</a:t>
              </a:r>
              <a:endParaRPr lang="en-US" sz="1800" b="1">
                <a:solidFill>
                  <a:srgbClr val="990000"/>
                </a:solidFill>
              </a:endParaRPr>
            </a:p>
          </p:txBody>
        </p:sp>
        <p:sp>
          <p:nvSpPr>
            <p:cNvPr id="418825" name="Rectangle 9"/>
            <p:cNvSpPr>
              <a:spLocks noChangeArrowheads="1"/>
            </p:cNvSpPr>
            <p:nvPr/>
          </p:nvSpPr>
          <p:spPr bwMode="auto">
            <a:xfrm>
              <a:off x="1872" y="2784"/>
              <a:ext cx="480" cy="192"/>
            </a:xfrm>
            <a:prstGeom prst="rect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sz="1800" b="1">
                  <a:solidFill>
                    <a:srgbClr val="990000"/>
                  </a:solidFill>
                  <a:latin typeface="Courier" pitchFamily="49" charset="0"/>
                </a:rPr>
                <a:t>rt</a:t>
              </a:r>
              <a:endParaRPr lang="en-US" sz="1800" b="1">
                <a:solidFill>
                  <a:srgbClr val="990000"/>
                </a:solidFill>
              </a:endParaRPr>
            </a:p>
          </p:txBody>
        </p:sp>
        <p:sp>
          <p:nvSpPr>
            <p:cNvPr id="418826" name="Rectangle 10"/>
            <p:cNvSpPr>
              <a:spLocks noChangeArrowheads="1"/>
            </p:cNvSpPr>
            <p:nvPr/>
          </p:nvSpPr>
          <p:spPr bwMode="auto">
            <a:xfrm>
              <a:off x="2352" y="2784"/>
              <a:ext cx="1536" cy="192"/>
            </a:xfrm>
            <a:prstGeom prst="rect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sz="1800" b="1">
                  <a:solidFill>
                    <a:srgbClr val="990000"/>
                  </a:solidFill>
                  <a:latin typeface="Courier" pitchFamily="49" charset="0"/>
                </a:rPr>
                <a:t>offset</a:t>
              </a:r>
              <a:endParaRPr lang="en-US" sz="1800" b="1">
                <a:solidFill>
                  <a:srgbClr val="990000"/>
                </a:solidFill>
              </a:endParaRPr>
            </a:p>
          </p:txBody>
        </p:sp>
        <p:sp>
          <p:nvSpPr>
            <p:cNvPr id="418827" name="Line 11"/>
            <p:cNvSpPr>
              <a:spLocks noChangeShapeType="1"/>
            </p:cNvSpPr>
            <p:nvPr/>
          </p:nvSpPr>
          <p:spPr bwMode="auto">
            <a:xfrm flipV="1">
              <a:off x="816" y="26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18828" name="Line 12"/>
            <p:cNvSpPr>
              <a:spLocks noChangeShapeType="1"/>
            </p:cNvSpPr>
            <p:nvPr/>
          </p:nvSpPr>
          <p:spPr bwMode="auto">
            <a:xfrm>
              <a:off x="864" y="2688"/>
              <a:ext cx="4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18829" name="Line 13"/>
            <p:cNvSpPr>
              <a:spLocks noChangeShapeType="1"/>
            </p:cNvSpPr>
            <p:nvPr/>
          </p:nvSpPr>
          <p:spPr bwMode="auto">
            <a:xfrm flipV="1">
              <a:off x="1392" y="26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18830" name="Line 14"/>
            <p:cNvSpPr>
              <a:spLocks noChangeShapeType="1"/>
            </p:cNvSpPr>
            <p:nvPr/>
          </p:nvSpPr>
          <p:spPr bwMode="auto">
            <a:xfrm flipV="1">
              <a:off x="1872" y="26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18831" name="Line 15"/>
            <p:cNvSpPr>
              <a:spLocks noChangeShapeType="1"/>
            </p:cNvSpPr>
            <p:nvPr/>
          </p:nvSpPr>
          <p:spPr bwMode="auto">
            <a:xfrm>
              <a:off x="1440" y="2688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18832" name="Line 16"/>
            <p:cNvSpPr>
              <a:spLocks noChangeShapeType="1"/>
            </p:cNvSpPr>
            <p:nvPr/>
          </p:nvSpPr>
          <p:spPr bwMode="auto">
            <a:xfrm flipV="1">
              <a:off x="2352" y="26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18833" name="Line 17"/>
            <p:cNvSpPr>
              <a:spLocks noChangeShapeType="1"/>
            </p:cNvSpPr>
            <p:nvPr/>
          </p:nvSpPr>
          <p:spPr bwMode="auto">
            <a:xfrm>
              <a:off x="1920" y="2688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18834" name="Line 18"/>
            <p:cNvSpPr>
              <a:spLocks noChangeShapeType="1"/>
            </p:cNvSpPr>
            <p:nvPr/>
          </p:nvSpPr>
          <p:spPr bwMode="auto">
            <a:xfrm>
              <a:off x="2448" y="2688"/>
              <a:ext cx="13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18835" name="Line 19"/>
            <p:cNvSpPr>
              <a:spLocks noChangeShapeType="1"/>
            </p:cNvSpPr>
            <p:nvPr/>
          </p:nvSpPr>
          <p:spPr bwMode="auto">
            <a:xfrm flipV="1">
              <a:off x="3888" y="26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18836" name="Text Box 20"/>
            <p:cNvSpPr txBox="1">
              <a:spLocks noChangeArrowheads="1"/>
            </p:cNvSpPr>
            <p:nvPr/>
          </p:nvSpPr>
          <p:spPr bwMode="auto">
            <a:xfrm>
              <a:off x="912" y="2496"/>
              <a:ext cx="374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sz="1400" b="1"/>
                <a:t>6 bits</a:t>
              </a:r>
            </a:p>
          </p:txBody>
        </p:sp>
        <p:sp>
          <p:nvSpPr>
            <p:cNvPr id="418837" name="Text Box 21"/>
            <p:cNvSpPr txBox="1">
              <a:spLocks noChangeArrowheads="1"/>
            </p:cNvSpPr>
            <p:nvPr/>
          </p:nvSpPr>
          <p:spPr bwMode="auto">
            <a:xfrm>
              <a:off x="1450" y="2496"/>
              <a:ext cx="374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sz="1400" b="1"/>
                <a:t>5 bits</a:t>
              </a:r>
            </a:p>
          </p:txBody>
        </p:sp>
        <p:sp>
          <p:nvSpPr>
            <p:cNvPr id="418838" name="Text Box 22"/>
            <p:cNvSpPr txBox="1">
              <a:spLocks noChangeArrowheads="1"/>
            </p:cNvSpPr>
            <p:nvPr/>
          </p:nvSpPr>
          <p:spPr bwMode="auto">
            <a:xfrm>
              <a:off x="1930" y="2496"/>
              <a:ext cx="374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sz="1400" b="1"/>
                <a:t>5 bits</a:t>
              </a:r>
            </a:p>
          </p:txBody>
        </p:sp>
        <p:sp>
          <p:nvSpPr>
            <p:cNvPr id="418839" name="Text Box 23"/>
            <p:cNvSpPr txBox="1">
              <a:spLocks noChangeArrowheads="1"/>
            </p:cNvSpPr>
            <p:nvPr/>
          </p:nvSpPr>
          <p:spPr bwMode="auto">
            <a:xfrm>
              <a:off x="2910" y="2496"/>
              <a:ext cx="430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sz="1400" b="1"/>
                <a:t>16 bits</a:t>
              </a:r>
            </a:p>
          </p:txBody>
        </p:sp>
        <p:sp>
          <p:nvSpPr>
            <p:cNvPr id="418840" name="Rectangle 24"/>
            <p:cNvSpPr>
              <a:spLocks noChangeArrowheads="1"/>
            </p:cNvSpPr>
            <p:nvPr/>
          </p:nvSpPr>
          <p:spPr bwMode="auto">
            <a:xfrm>
              <a:off x="816" y="2256"/>
              <a:ext cx="576" cy="192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sz="1800" b="1">
                  <a:solidFill>
                    <a:srgbClr val="990000"/>
                  </a:solidFill>
                  <a:latin typeface="Courier" pitchFamily="49" charset="0"/>
                </a:rPr>
                <a:t>op</a:t>
              </a:r>
              <a:endParaRPr lang="en-US" sz="2400" b="1">
                <a:solidFill>
                  <a:srgbClr val="990000"/>
                </a:solidFill>
              </a:endParaRPr>
            </a:p>
          </p:txBody>
        </p:sp>
        <p:sp>
          <p:nvSpPr>
            <p:cNvPr id="418841" name="Rectangle 25"/>
            <p:cNvSpPr>
              <a:spLocks noChangeArrowheads="1"/>
            </p:cNvSpPr>
            <p:nvPr/>
          </p:nvSpPr>
          <p:spPr bwMode="auto">
            <a:xfrm>
              <a:off x="1392" y="2256"/>
              <a:ext cx="480" cy="192"/>
            </a:xfrm>
            <a:prstGeom prst="rect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sz="1800" b="1">
                  <a:solidFill>
                    <a:srgbClr val="990000"/>
                  </a:solidFill>
                  <a:latin typeface="Courier" pitchFamily="49" charset="0"/>
                </a:rPr>
                <a:t>rs</a:t>
              </a:r>
              <a:endParaRPr lang="en-US" sz="1800" b="1">
                <a:solidFill>
                  <a:srgbClr val="990000"/>
                </a:solidFill>
              </a:endParaRPr>
            </a:p>
          </p:txBody>
        </p:sp>
        <p:sp>
          <p:nvSpPr>
            <p:cNvPr id="418842" name="Rectangle 26"/>
            <p:cNvSpPr>
              <a:spLocks noChangeArrowheads="1"/>
            </p:cNvSpPr>
            <p:nvPr/>
          </p:nvSpPr>
          <p:spPr bwMode="auto">
            <a:xfrm>
              <a:off x="1872" y="2256"/>
              <a:ext cx="480" cy="192"/>
            </a:xfrm>
            <a:prstGeom prst="rect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sz="1800" b="1">
                  <a:solidFill>
                    <a:srgbClr val="990000"/>
                  </a:solidFill>
                  <a:latin typeface="Courier" pitchFamily="49" charset="0"/>
                </a:rPr>
                <a:t>rt</a:t>
              </a:r>
              <a:endParaRPr lang="en-US" sz="1800" b="1">
                <a:solidFill>
                  <a:srgbClr val="990000"/>
                </a:solidFill>
              </a:endParaRPr>
            </a:p>
          </p:txBody>
        </p:sp>
        <p:sp>
          <p:nvSpPr>
            <p:cNvPr id="418843" name="Rectangle 27"/>
            <p:cNvSpPr>
              <a:spLocks noChangeArrowheads="1"/>
            </p:cNvSpPr>
            <p:nvPr/>
          </p:nvSpPr>
          <p:spPr bwMode="auto">
            <a:xfrm>
              <a:off x="2352" y="2256"/>
              <a:ext cx="480" cy="192"/>
            </a:xfrm>
            <a:prstGeom prst="rect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sz="1800" b="1">
                  <a:solidFill>
                    <a:srgbClr val="990000"/>
                  </a:solidFill>
                  <a:latin typeface="Courier" pitchFamily="49" charset="0"/>
                </a:rPr>
                <a:t>rd</a:t>
              </a:r>
              <a:endParaRPr lang="en-US" sz="1800" b="1">
                <a:solidFill>
                  <a:srgbClr val="990000"/>
                </a:solidFill>
              </a:endParaRPr>
            </a:p>
          </p:txBody>
        </p:sp>
        <p:sp>
          <p:nvSpPr>
            <p:cNvPr id="418844" name="Rectangle 28"/>
            <p:cNvSpPr>
              <a:spLocks noChangeArrowheads="1"/>
            </p:cNvSpPr>
            <p:nvPr/>
          </p:nvSpPr>
          <p:spPr bwMode="auto">
            <a:xfrm>
              <a:off x="3312" y="2256"/>
              <a:ext cx="576" cy="192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sz="1800" b="1">
                  <a:solidFill>
                    <a:srgbClr val="990000"/>
                  </a:solidFill>
                  <a:latin typeface="Courier" pitchFamily="49" charset="0"/>
                </a:rPr>
                <a:t>funct</a:t>
              </a:r>
              <a:endParaRPr lang="en-US" sz="2400" b="1">
                <a:solidFill>
                  <a:srgbClr val="990000"/>
                </a:solidFill>
              </a:endParaRPr>
            </a:p>
          </p:txBody>
        </p:sp>
        <p:sp>
          <p:nvSpPr>
            <p:cNvPr id="418845" name="Rectangle 29"/>
            <p:cNvSpPr>
              <a:spLocks noChangeArrowheads="1"/>
            </p:cNvSpPr>
            <p:nvPr/>
          </p:nvSpPr>
          <p:spPr bwMode="auto">
            <a:xfrm>
              <a:off x="2832" y="2256"/>
              <a:ext cx="480" cy="192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sz="1800" b="1">
                  <a:solidFill>
                    <a:srgbClr val="990000"/>
                  </a:solidFill>
                  <a:latin typeface="Courier" pitchFamily="49" charset="0"/>
                </a:rPr>
                <a:t>shamt</a:t>
              </a:r>
              <a:endParaRPr lang="en-US" sz="1800" b="1">
                <a:solidFill>
                  <a:srgbClr val="990000"/>
                </a:solidFill>
              </a:endParaRPr>
            </a:p>
          </p:txBody>
        </p:sp>
        <p:sp>
          <p:nvSpPr>
            <p:cNvPr id="418846" name="Line 30"/>
            <p:cNvSpPr>
              <a:spLocks noChangeShapeType="1"/>
            </p:cNvSpPr>
            <p:nvPr/>
          </p:nvSpPr>
          <p:spPr bwMode="auto">
            <a:xfrm flipV="1">
              <a:off x="816" y="2112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18847" name="Line 31"/>
            <p:cNvSpPr>
              <a:spLocks noChangeShapeType="1"/>
            </p:cNvSpPr>
            <p:nvPr/>
          </p:nvSpPr>
          <p:spPr bwMode="auto">
            <a:xfrm>
              <a:off x="864" y="2160"/>
              <a:ext cx="4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18848" name="Line 32"/>
            <p:cNvSpPr>
              <a:spLocks noChangeShapeType="1"/>
            </p:cNvSpPr>
            <p:nvPr/>
          </p:nvSpPr>
          <p:spPr bwMode="auto">
            <a:xfrm flipV="1">
              <a:off x="1392" y="2112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18849" name="Line 33"/>
            <p:cNvSpPr>
              <a:spLocks noChangeShapeType="1"/>
            </p:cNvSpPr>
            <p:nvPr/>
          </p:nvSpPr>
          <p:spPr bwMode="auto">
            <a:xfrm flipV="1">
              <a:off x="1872" y="2112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18850" name="Line 34"/>
            <p:cNvSpPr>
              <a:spLocks noChangeShapeType="1"/>
            </p:cNvSpPr>
            <p:nvPr/>
          </p:nvSpPr>
          <p:spPr bwMode="auto">
            <a:xfrm>
              <a:off x="1440" y="216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18851" name="Line 35"/>
            <p:cNvSpPr>
              <a:spLocks noChangeShapeType="1"/>
            </p:cNvSpPr>
            <p:nvPr/>
          </p:nvSpPr>
          <p:spPr bwMode="auto">
            <a:xfrm flipV="1">
              <a:off x="2352" y="2112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18852" name="Line 36"/>
            <p:cNvSpPr>
              <a:spLocks noChangeShapeType="1"/>
            </p:cNvSpPr>
            <p:nvPr/>
          </p:nvSpPr>
          <p:spPr bwMode="auto">
            <a:xfrm>
              <a:off x="1920" y="216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18853" name="Line 37"/>
            <p:cNvSpPr>
              <a:spLocks noChangeShapeType="1"/>
            </p:cNvSpPr>
            <p:nvPr/>
          </p:nvSpPr>
          <p:spPr bwMode="auto">
            <a:xfrm flipV="1">
              <a:off x="2832" y="2112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18854" name="Line 38"/>
            <p:cNvSpPr>
              <a:spLocks noChangeShapeType="1"/>
            </p:cNvSpPr>
            <p:nvPr/>
          </p:nvSpPr>
          <p:spPr bwMode="auto">
            <a:xfrm>
              <a:off x="2400" y="216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18855" name="Line 39"/>
            <p:cNvSpPr>
              <a:spLocks noChangeShapeType="1"/>
            </p:cNvSpPr>
            <p:nvPr/>
          </p:nvSpPr>
          <p:spPr bwMode="auto">
            <a:xfrm flipV="1">
              <a:off x="3312" y="2112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18856" name="Line 40"/>
            <p:cNvSpPr>
              <a:spLocks noChangeShapeType="1"/>
            </p:cNvSpPr>
            <p:nvPr/>
          </p:nvSpPr>
          <p:spPr bwMode="auto">
            <a:xfrm>
              <a:off x="2880" y="216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18857" name="Line 41"/>
            <p:cNvSpPr>
              <a:spLocks noChangeShapeType="1"/>
            </p:cNvSpPr>
            <p:nvPr/>
          </p:nvSpPr>
          <p:spPr bwMode="auto">
            <a:xfrm flipV="1">
              <a:off x="3888" y="2112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18858" name="Line 42"/>
            <p:cNvSpPr>
              <a:spLocks noChangeShapeType="1"/>
            </p:cNvSpPr>
            <p:nvPr/>
          </p:nvSpPr>
          <p:spPr bwMode="auto">
            <a:xfrm>
              <a:off x="3360" y="2160"/>
              <a:ext cx="4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18859" name="Text Box 43"/>
            <p:cNvSpPr txBox="1">
              <a:spLocks noChangeArrowheads="1"/>
            </p:cNvSpPr>
            <p:nvPr/>
          </p:nvSpPr>
          <p:spPr bwMode="auto">
            <a:xfrm>
              <a:off x="912" y="1968"/>
              <a:ext cx="374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sz="1400" b="1"/>
                <a:t>6 bits</a:t>
              </a:r>
            </a:p>
          </p:txBody>
        </p:sp>
        <p:sp>
          <p:nvSpPr>
            <p:cNvPr id="418860" name="Text Box 44"/>
            <p:cNvSpPr txBox="1">
              <a:spLocks noChangeArrowheads="1"/>
            </p:cNvSpPr>
            <p:nvPr/>
          </p:nvSpPr>
          <p:spPr bwMode="auto">
            <a:xfrm>
              <a:off x="1450" y="1968"/>
              <a:ext cx="374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sz="1400" b="1"/>
                <a:t>5 bits</a:t>
              </a:r>
            </a:p>
          </p:txBody>
        </p:sp>
        <p:sp>
          <p:nvSpPr>
            <p:cNvPr id="418861" name="Text Box 45"/>
            <p:cNvSpPr txBox="1">
              <a:spLocks noChangeArrowheads="1"/>
            </p:cNvSpPr>
            <p:nvPr/>
          </p:nvSpPr>
          <p:spPr bwMode="auto">
            <a:xfrm>
              <a:off x="1930" y="1968"/>
              <a:ext cx="374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sz="1400" b="1"/>
                <a:t>5 bits</a:t>
              </a:r>
            </a:p>
          </p:txBody>
        </p:sp>
        <p:sp>
          <p:nvSpPr>
            <p:cNvPr id="418862" name="Text Box 46"/>
            <p:cNvSpPr txBox="1">
              <a:spLocks noChangeArrowheads="1"/>
            </p:cNvSpPr>
            <p:nvPr/>
          </p:nvSpPr>
          <p:spPr bwMode="auto">
            <a:xfrm>
              <a:off x="2410" y="1968"/>
              <a:ext cx="374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sz="1400" b="1"/>
                <a:t>5 bits</a:t>
              </a:r>
            </a:p>
          </p:txBody>
        </p:sp>
        <p:sp>
          <p:nvSpPr>
            <p:cNvPr id="418863" name="Text Box 47"/>
            <p:cNvSpPr txBox="1">
              <a:spLocks noChangeArrowheads="1"/>
            </p:cNvSpPr>
            <p:nvPr/>
          </p:nvSpPr>
          <p:spPr bwMode="auto">
            <a:xfrm>
              <a:off x="2890" y="1968"/>
              <a:ext cx="374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sz="1400" b="1"/>
                <a:t>5 bits</a:t>
              </a:r>
            </a:p>
          </p:txBody>
        </p:sp>
        <p:sp>
          <p:nvSpPr>
            <p:cNvPr id="418864" name="Text Box 48"/>
            <p:cNvSpPr txBox="1">
              <a:spLocks noChangeArrowheads="1"/>
            </p:cNvSpPr>
            <p:nvPr/>
          </p:nvSpPr>
          <p:spPr bwMode="auto">
            <a:xfrm>
              <a:off x="3312" y="1968"/>
              <a:ext cx="576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sz="1400" b="1"/>
                <a:t>6 bits</a:t>
              </a:r>
            </a:p>
          </p:txBody>
        </p:sp>
        <p:sp>
          <p:nvSpPr>
            <p:cNvPr id="418865" name="Text Box 49"/>
            <p:cNvSpPr txBox="1">
              <a:spLocks noChangeArrowheads="1"/>
            </p:cNvSpPr>
            <p:nvPr/>
          </p:nvSpPr>
          <p:spPr bwMode="auto">
            <a:xfrm>
              <a:off x="4070" y="2190"/>
              <a:ext cx="756" cy="23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1800" b="1">
                  <a:latin typeface="Helvetica" pitchFamily="34" charset="0"/>
                </a:rPr>
                <a:t>R-Format</a:t>
              </a:r>
            </a:p>
          </p:txBody>
        </p:sp>
        <p:sp>
          <p:nvSpPr>
            <p:cNvPr id="418866" name="Text Box 50"/>
            <p:cNvSpPr txBox="1">
              <a:spLocks noChangeArrowheads="1"/>
            </p:cNvSpPr>
            <p:nvPr/>
          </p:nvSpPr>
          <p:spPr bwMode="auto">
            <a:xfrm>
              <a:off x="4080" y="2745"/>
              <a:ext cx="692" cy="23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1800" b="1">
                  <a:latin typeface="Helvetica" pitchFamily="34" charset="0"/>
                </a:rPr>
                <a:t>I-Format</a:t>
              </a:r>
            </a:p>
          </p:txBody>
        </p:sp>
        <p:sp>
          <p:nvSpPr>
            <p:cNvPr id="418867" name="Rectangle 51"/>
            <p:cNvSpPr>
              <a:spLocks noChangeArrowheads="1"/>
            </p:cNvSpPr>
            <p:nvPr/>
          </p:nvSpPr>
          <p:spPr bwMode="auto">
            <a:xfrm>
              <a:off x="816" y="3312"/>
              <a:ext cx="576" cy="192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sz="1800" b="1">
                  <a:solidFill>
                    <a:srgbClr val="990000"/>
                  </a:solidFill>
                  <a:latin typeface="Courier" pitchFamily="49" charset="0"/>
                </a:rPr>
                <a:t>op</a:t>
              </a:r>
              <a:endParaRPr lang="en-US" sz="2400" b="1">
                <a:solidFill>
                  <a:srgbClr val="990000"/>
                </a:solidFill>
              </a:endParaRPr>
            </a:p>
          </p:txBody>
        </p:sp>
        <p:sp>
          <p:nvSpPr>
            <p:cNvPr id="418868" name="Rectangle 52"/>
            <p:cNvSpPr>
              <a:spLocks noChangeArrowheads="1"/>
            </p:cNvSpPr>
            <p:nvPr/>
          </p:nvSpPr>
          <p:spPr bwMode="auto">
            <a:xfrm>
              <a:off x="1392" y="3312"/>
              <a:ext cx="2496" cy="192"/>
            </a:xfrm>
            <a:prstGeom prst="rect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sz="1800" b="1">
                  <a:solidFill>
                    <a:srgbClr val="990000"/>
                  </a:solidFill>
                  <a:latin typeface="Courier" pitchFamily="49" charset="0"/>
                </a:rPr>
                <a:t>address</a:t>
              </a:r>
              <a:endParaRPr lang="en-US" sz="1800" b="1">
                <a:solidFill>
                  <a:srgbClr val="990000"/>
                </a:solidFill>
              </a:endParaRPr>
            </a:p>
          </p:txBody>
        </p:sp>
        <p:sp>
          <p:nvSpPr>
            <p:cNvPr id="418869" name="Line 53"/>
            <p:cNvSpPr>
              <a:spLocks noChangeShapeType="1"/>
            </p:cNvSpPr>
            <p:nvPr/>
          </p:nvSpPr>
          <p:spPr bwMode="auto">
            <a:xfrm flipV="1">
              <a:off x="816" y="316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18870" name="Line 54"/>
            <p:cNvSpPr>
              <a:spLocks noChangeShapeType="1"/>
            </p:cNvSpPr>
            <p:nvPr/>
          </p:nvSpPr>
          <p:spPr bwMode="auto">
            <a:xfrm>
              <a:off x="864" y="3216"/>
              <a:ext cx="4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18871" name="Line 55"/>
            <p:cNvSpPr>
              <a:spLocks noChangeShapeType="1"/>
            </p:cNvSpPr>
            <p:nvPr/>
          </p:nvSpPr>
          <p:spPr bwMode="auto">
            <a:xfrm flipV="1">
              <a:off x="1392" y="316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18872" name="Line 56"/>
            <p:cNvSpPr>
              <a:spLocks noChangeShapeType="1"/>
            </p:cNvSpPr>
            <p:nvPr/>
          </p:nvSpPr>
          <p:spPr bwMode="auto">
            <a:xfrm>
              <a:off x="1440" y="3216"/>
              <a:ext cx="235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18873" name="Line 57"/>
            <p:cNvSpPr>
              <a:spLocks noChangeShapeType="1"/>
            </p:cNvSpPr>
            <p:nvPr/>
          </p:nvSpPr>
          <p:spPr bwMode="auto">
            <a:xfrm flipV="1">
              <a:off x="3888" y="316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18874" name="Text Box 58"/>
            <p:cNvSpPr txBox="1">
              <a:spLocks noChangeArrowheads="1"/>
            </p:cNvSpPr>
            <p:nvPr/>
          </p:nvSpPr>
          <p:spPr bwMode="auto">
            <a:xfrm>
              <a:off x="912" y="3024"/>
              <a:ext cx="374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sz="1400" b="1"/>
                <a:t>6 bits</a:t>
              </a:r>
            </a:p>
          </p:txBody>
        </p:sp>
        <p:sp>
          <p:nvSpPr>
            <p:cNvPr id="418875" name="Text Box 59"/>
            <p:cNvSpPr txBox="1">
              <a:spLocks noChangeArrowheads="1"/>
            </p:cNvSpPr>
            <p:nvPr/>
          </p:nvSpPr>
          <p:spPr bwMode="auto">
            <a:xfrm>
              <a:off x="2402" y="3024"/>
              <a:ext cx="430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sz="1400" b="1"/>
                <a:t>26 bits</a:t>
              </a:r>
            </a:p>
          </p:txBody>
        </p:sp>
        <p:sp>
          <p:nvSpPr>
            <p:cNvPr id="418876" name="Text Box 60"/>
            <p:cNvSpPr txBox="1">
              <a:spLocks noChangeArrowheads="1"/>
            </p:cNvSpPr>
            <p:nvPr/>
          </p:nvSpPr>
          <p:spPr bwMode="auto">
            <a:xfrm>
              <a:off x="4080" y="3225"/>
              <a:ext cx="732" cy="23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1800" b="1">
                  <a:latin typeface="Helvetica" pitchFamily="34" charset="0"/>
                </a:rPr>
                <a:t>J-Format</a:t>
              </a:r>
            </a:p>
          </p:txBody>
        </p:sp>
      </p:grpSp>
      <p:sp>
        <p:nvSpPr>
          <p:cNvPr id="6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 dirty="0" err="1" smtClean="0"/>
              <a:t>Mayank</a:t>
            </a:r>
            <a:r>
              <a:rPr lang="en-US" dirty="0" smtClean="0"/>
              <a:t> </a:t>
            </a:r>
            <a:r>
              <a:rPr lang="en-US" dirty="0" err="1" smtClean="0"/>
              <a:t>Pandey</a:t>
            </a:r>
            <a:r>
              <a:rPr lang="en-US" dirty="0" smtClean="0"/>
              <a:t>, MNNIT, Allahabad, India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866" name="Rectangle 2"/>
          <p:cNvSpPr>
            <a:spLocks noChangeArrowheads="1"/>
          </p:cNvSpPr>
          <p:nvPr/>
        </p:nvSpPr>
        <p:spPr bwMode="auto">
          <a:xfrm>
            <a:off x="225425" y="312738"/>
            <a:ext cx="4208463" cy="4778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4208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0488" tIns="44450" rIns="90488" bIns="44450"/>
          <a:lstStyle/>
          <a:p>
            <a:pPr>
              <a:lnSpc>
                <a:spcPct val="90000"/>
              </a:lnSpc>
            </a:pPr>
            <a:r>
              <a:rPr lang="en-US" sz="2800" b="1" dirty="0" smtClean="0"/>
              <a:t>The Fetch/Execute Cycle</a:t>
            </a:r>
            <a:endParaRPr lang="en-US" sz="2800" b="1" dirty="0" smtClean="0">
              <a:solidFill>
                <a:srgbClr val="000000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2000" dirty="0" smtClean="0">
                <a:solidFill>
                  <a:srgbClr val="000000"/>
                </a:solidFill>
              </a:rPr>
              <a:t>High-level </a:t>
            </a:r>
            <a:r>
              <a:rPr lang="en-US" sz="2000" dirty="0">
                <a:solidFill>
                  <a:srgbClr val="000000"/>
                </a:solidFill>
              </a:rPr>
              <a:t>abstract view of </a:t>
            </a:r>
            <a:r>
              <a:rPr lang="en-US" sz="2000" i="1" dirty="0">
                <a:solidFill>
                  <a:srgbClr val="000000"/>
                </a:solidFill>
              </a:rPr>
              <a:t>fetch/execute</a:t>
            </a:r>
            <a:r>
              <a:rPr lang="en-US" sz="2000" dirty="0">
                <a:solidFill>
                  <a:srgbClr val="000000"/>
                </a:solidFill>
              </a:rPr>
              <a:t> implementation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use the program counter (PC) to read instruction address</a:t>
            </a:r>
          </a:p>
          <a:p>
            <a:pPr lvl="1">
              <a:lnSpc>
                <a:spcPct val="90000"/>
              </a:lnSpc>
            </a:pPr>
            <a:r>
              <a:rPr lang="en-US" sz="1800" i="1" dirty="0"/>
              <a:t>fetch</a:t>
            </a:r>
            <a:r>
              <a:rPr lang="en-US" sz="1800" dirty="0"/>
              <a:t> the instruction from memory and increment PC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use fields of the instruction to select registers to read</a:t>
            </a:r>
          </a:p>
          <a:p>
            <a:pPr lvl="1">
              <a:lnSpc>
                <a:spcPct val="90000"/>
              </a:lnSpc>
            </a:pPr>
            <a:r>
              <a:rPr lang="en-US" sz="1800" i="1" dirty="0"/>
              <a:t>execute</a:t>
            </a:r>
            <a:r>
              <a:rPr lang="en-US" sz="1800" dirty="0"/>
              <a:t> depending on the instruction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repeat…</a:t>
            </a:r>
            <a:endParaRPr lang="en-US" sz="1800" dirty="0">
              <a:solidFill>
                <a:srgbClr val="000000"/>
              </a:solidFill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/>
              <a:t/>
            </a:r>
            <a:br>
              <a:rPr lang="en-US" sz="2000" dirty="0"/>
            </a:br>
            <a:endParaRPr lang="en-US" sz="2000" dirty="0"/>
          </a:p>
        </p:txBody>
      </p:sp>
      <p:sp>
        <p:nvSpPr>
          <p:cNvPr id="420868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1143000"/>
          </a:xfrm>
          <a:noFill/>
          <a:ln/>
        </p:spPr>
        <p:txBody>
          <a:bodyPr lIns="90488" tIns="44450" rIns="90488" bIns="44450" anchor="ctr"/>
          <a:lstStyle/>
          <a:p>
            <a:r>
              <a:rPr lang="en-US" dirty="0"/>
              <a:t>Implementing </a:t>
            </a:r>
            <a:r>
              <a:rPr lang="en-US" dirty="0" smtClean="0"/>
              <a:t>MIPS</a:t>
            </a:r>
            <a:endParaRPr lang="en-US" dirty="0"/>
          </a:p>
        </p:txBody>
      </p:sp>
      <p:pic>
        <p:nvPicPr>
          <p:cNvPr id="420869" name="Picture 5"/>
          <p:cNvPicPr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84325" y="3505200"/>
            <a:ext cx="5654675" cy="2286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</p:pic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 dirty="0" err="1" smtClean="0"/>
              <a:t>Mayank</a:t>
            </a:r>
            <a:r>
              <a:rPr lang="en-US" dirty="0" smtClean="0"/>
              <a:t> </a:t>
            </a:r>
            <a:r>
              <a:rPr lang="en-US" dirty="0" err="1" smtClean="0"/>
              <a:t>Pandey</a:t>
            </a:r>
            <a:r>
              <a:rPr lang="en-US" dirty="0" smtClean="0"/>
              <a:t>, MNNIT, Allahabad, India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898" name="Rectangle 2050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/>
          <a:lstStyle/>
          <a:p>
            <a:r>
              <a:rPr lang="en-US" dirty="0" smtClean="0"/>
              <a:t>Processor </a:t>
            </a:r>
            <a:r>
              <a:rPr lang="en-US" dirty="0"/>
              <a:t>Implementation Styles</a:t>
            </a:r>
          </a:p>
        </p:txBody>
      </p:sp>
      <p:sp>
        <p:nvSpPr>
          <p:cNvPr id="592899" name="Rectangle 2051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000"/>
              <a:t>Single Cycle</a:t>
            </a:r>
          </a:p>
          <a:p>
            <a:pPr lvl="1"/>
            <a:r>
              <a:rPr lang="en-US" sz="1800"/>
              <a:t>perform each instruction in 1 clock cycle</a:t>
            </a:r>
          </a:p>
          <a:p>
            <a:pPr lvl="1"/>
            <a:r>
              <a:rPr lang="en-US" sz="1800"/>
              <a:t>clock cycle must be long enough for slowest instruction; therefore,</a:t>
            </a:r>
          </a:p>
          <a:p>
            <a:pPr lvl="1"/>
            <a:r>
              <a:rPr lang="en-US" sz="1800"/>
              <a:t>disadvantage: only as fast as slowest instruction</a:t>
            </a:r>
          </a:p>
          <a:p>
            <a:r>
              <a:rPr lang="en-US" sz="2000"/>
              <a:t>Multi-Cycle</a:t>
            </a:r>
          </a:p>
          <a:p>
            <a:pPr lvl="1"/>
            <a:r>
              <a:rPr lang="en-US" sz="1800"/>
              <a:t>break fetch/execute cycle into multiple steps</a:t>
            </a:r>
          </a:p>
          <a:p>
            <a:pPr lvl="1"/>
            <a:r>
              <a:rPr lang="en-US" sz="1800"/>
              <a:t>perform 1 step in each clock cycle</a:t>
            </a:r>
          </a:p>
          <a:p>
            <a:pPr lvl="1"/>
            <a:r>
              <a:rPr lang="en-US" sz="1800"/>
              <a:t>advantage: each instruction uses only as many cycles as it needs</a:t>
            </a:r>
          </a:p>
          <a:p>
            <a:r>
              <a:rPr lang="en-US" sz="2000"/>
              <a:t>Pipelined</a:t>
            </a:r>
          </a:p>
          <a:p>
            <a:pPr lvl="1"/>
            <a:r>
              <a:rPr lang="en-US" sz="1800"/>
              <a:t>execute each instruction in multiple steps</a:t>
            </a:r>
          </a:p>
          <a:p>
            <a:pPr lvl="1"/>
            <a:r>
              <a:rPr lang="en-US" sz="1800"/>
              <a:t>perform 1 step / instruction in each clock cycle</a:t>
            </a:r>
          </a:p>
          <a:p>
            <a:pPr lvl="1"/>
            <a:r>
              <a:rPr lang="en-US" sz="1800"/>
              <a:t>process multiple instructions in parallel – assembly line</a:t>
            </a:r>
          </a:p>
          <a:p>
            <a:endParaRPr lang="en-US" sz="1800" i="1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 dirty="0" err="1" smtClean="0"/>
              <a:t>Mayank</a:t>
            </a:r>
            <a:r>
              <a:rPr lang="en-US" dirty="0" smtClean="0"/>
              <a:t> </a:t>
            </a:r>
            <a:r>
              <a:rPr lang="en-US" dirty="0" err="1" smtClean="0"/>
              <a:t>Pandey</a:t>
            </a:r>
            <a:r>
              <a:rPr lang="en-US" dirty="0" smtClean="0"/>
              <a:t>, MNNIT, Allahabad, India</a:t>
            </a:r>
            <a:endParaRPr lang="en-US" dirty="0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914" name="Rectangle 2"/>
          <p:cNvSpPr>
            <a:spLocks noChangeArrowheads="1"/>
          </p:cNvSpPr>
          <p:nvPr/>
        </p:nvSpPr>
        <p:spPr bwMode="auto">
          <a:xfrm>
            <a:off x="225425" y="312738"/>
            <a:ext cx="2279650" cy="4778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422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66800"/>
            <a:ext cx="7772400" cy="4724400"/>
          </a:xfrm>
          <a:noFill/>
          <a:ln/>
        </p:spPr>
        <p:txBody>
          <a:bodyPr lIns="90488" tIns="44450" rIns="90488" bIns="44450"/>
          <a:lstStyle/>
          <a:p>
            <a:pPr>
              <a:buFont typeface="Wingdings" pitchFamily="2" charset="2"/>
              <a:buNone/>
            </a:pPr>
            <a:endParaRPr lang="en-US" sz="2000" dirty="0"/>
          </a:p>
          <a:p>
            <a:r>
              <a:rPr lang="en-US" sz="2800" dirty="0"/>
              <a:t>Two types of functional elements in the hardware:</a:t>
            </a:r>
          </a:p>
          <a:p>
            <a:pPr lvl="1"/>
            <a:r>
              <a:rPr lang="en-US" sz="2400" dirty="0"/>
              <a:t>elements that </a:t>
            </a:r>
            <a:r>
              <a:rPr lang="en-US" sz="2400" i="1" dirty="0"/>
              <a:t>operate on</a:t>
            </a:r>
            <a:r>
              <a:rPr lang="en-US" sz="2400" dirty="0"/>
              <a:t> data </a:t>
            </a:r>
            <a:endParaRPr lang="en-US" sz="2400" dirty="0" smtClean="0"/>
          </a:p>
          <a:p>
            <a:pPr lvl="2"/>
            <a:r>
              <a:rPr lang="en-US" sz="2000" dirty="0" smtClean="0"/>
              <a:t>(</a:t>
            </a:r>
            <a:r>
              <a:rPr lang="en-US" sz="2000" dirty="0"/>
              <a:t>called </a:t>
            </a:r>
            <a:r>
              <a:rPr lang="en-US" sz="2000" i="1" dirty="0"/>
              <a:t>combinational elements</a:t>
            </a:r>
            <a:r>
              <a:rPr lang="en-US" sz="2000" dirty="0"/>
              <a:t>)</a:t>
            </a:r>
          </a:p>
          <a:p>
            <a:pPr lvl="1"/>
            <a:r>
              <a:rPr lang="en-US" sz="2400" dirty="0"/>
              <a:t>elements that </a:t>
            </a:r>
            <a:r>
              <a:rPr lang="en-US" sz="2400" i="1" dirty="0"/>
              <a:t>contain </a:t>
            </a:r>
            <a:r>
              <a:rPr lang="en-US" sz="2400" dirty="0"/>
              <a:t>data </a:t>
            </a:r>
            <a:endParaRPr lang="en-US" sz="2400" dirty="0" smtClean="0"/>
          </a:p>
          <a:p>
            <a:pPr lvl="2"/>
            <a:r>
              <a:rPr lang="en-US" sz="2000" dirty="0" smtClean="0"/>
              <a:t>(</a:t>
            </a:r>
            <a:r>
              <a:rPr lang="en-US" sz="2000" dirty="0"/>
              <a:t>called </a:t>
            </a:r>
            <a:r>
              <a:rPr lang="en-US" sz="2000" i="1" dirty="0"/>
              <a:t>state</a:t>
            </a:r>
            <a:r>
              <a:rPr lang="en-US" sz="2000" dirty="0"/>
              <a:t> or </a:t>
            </a:r>
            <a:r>
              <a:rPr lang="en-US" sz="2000" i="1" dirty="0"/>
              <a:t>sequential elements</a:t>
            </a:r>
            <a:r>
              <a:rPr lang="en-US" sz="2000" dirty="0"/>
              <a:t>)</a:t>
            </a:r>
          </a:p>
        </p:txBody>
      </p:sp>
      <p:sp>
        <p:nvSpPr>
          <p:cNvPr id="422944" name="Rectangle 32"/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8229600" cy="1143000"/>
          </a:xfrm>
          <a:noFill/>
          <a:ln/>
        </p:spPr>
        <p:txBody>
          <a:bodyPr lIns="90488" tIns="44450" rIns="90488" bIns="44450" anchor="ctr"/>
          <a:lstStyle/>
          <a:p>
            <a:r>
              <a:rPr lang="en-US" dirty="0"/>
              <a:t>Functional Elements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 dirty="0" err="1" smtClean="0"/>
              <a:t>Mayank</a:t>
            </a:r>
            <a:r>
              <a:rPr lang="en-US" dirty="0" smtClean="0"/>
              <a:t> </a:t>
            </a:r>
            <a:r>
              <a:rPr lang="en-US" dirty="0" err="1" smtClean="0"/>
              <a:t>Pandey</a:t>
            </a:r>
            <a:r>
              <a:rPr lang="en-US" dirty="0" smtClean="0"/>
              <a:t>, MNNIT, Allahabad, India</a:t>
            </a:r>
            <a:endParaRPr lang="en-US" dirty="0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/>
          <a:lstStyle/>
          <a:p>
            <a:r>
              <a:rPr lang="en-US" dirty="0"/>
              <a:t>Combinational Elements</a:t>
            </a:r>
          </a:p>
        </p:txBody>
      </p:sp>
      <p:sp>
        <p:nvSpPr>
          <p:cNvPr id="518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000"/>
              <a:t>Works as an </a:t>
            </a:r>
            <a:r>
              <a:rPr lang="en-US" sz="2000" i="1"/>
              <a:t>input </a:t>
            </a:r>
            <a:r>
              <a:rPr lang="en-US" sz="2000">
                <a:sym typeface="Symbol" pitchFamily="18" charset="2"/>
              </a:rPr>
              <a:t></a:t>
            </a:r>
            <a:r>
              <a:rPr lang="en-US" sz="2000" i="1"/>
              <a:t> output function</a:t>
            </a:r>
            <a:r>
              <a:rPr lang="en-US" sz="2000"/>
              <a:t>, e.g., ALU</a:t>
            </a:r>
          </a:p>
          <a:p>
            <a:r>
              <a:rPr lang="en-US" sz="2000"/>
              <a:t>Combinational logic </a:t>
            </a:r>
            <a:r>
              <a:rPr lang="en-US" sz="2000" i="1"/>
              <a:t>reads input data from one register and writes output data to another</a:t>
            </a:r>
            <a:r>
              <a:rPr lang="en-US" sz="2000"/>
              <a:t>, or same, register</a:t>
            </a:r>
          </a:p>
          <a:p>
            <a:pPr lvl="1"/>
            <a:r>
              <a:rPr lang="en-US" sz="1800" i="1"/>
              <a:t>read/write happens in a single cycle</a:t>
            </a:r>
            <a:r>
              <a:rPr lang="en-US" sz="1800"/>
              <a:t> – combinational element </a:t>
            </a:r>
            <a:r>
              <a:rPr lang="en-US" sz="1800" i="1"/>
              <a:t>cannot store data</a:t>
            </a:r>
            <a:r>
              <a:rPr lang="en-US" sz="1800"/>
              <a:t> from one cycle to a future one</a:t>
            </a:r>
          </a:p>
          <a:p>
            <a:endParaRPr lang="en-US" sz="2000"/>
          </a:p>
        </p:txBody>
      </p:sp>
      <p:pic>
        <p:nvPicPr>
          <p:cNvPr id="518148" name="Picture 4" descr="f050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4267200"/>
            <a:ext cx="4343400" cy="1611313"/>
          </a:xfrm>
          <a:prstGeom prst="rect">
            <a:avLst/>
          </a:prstGeom>
          <a:noFill/>
        </p:spPr>
      </p:pic>
      <p:pic>
        <p:nvPicPr>
          <p:cNvPr id="518149" name="Picture 5" descr="f050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0" y="4191000"/>
            <a:ext cx="3505200" cy="1030288"/>
          </a:xfrm>
          <a:prstGeom prst="rect">
            <a:avLst/>
          </a:prstGeom>
          <a:noFill/>
        </p:spPr>
      </p:pic>
      <p:pic>
        <p:nvPicPr>
          <p:cNvPr id="518150" name="Picture 6" descr="B0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362200" y="3200400"/>
            <a:ext cx="4419600" cy="441325"/>
          </a:xfrm>
          <a:prstGeom prst="rect">
            <a:avLst/>
          </a:prstGeom>
          <a:noFill/>
        </p:spPr>
      </p:pic>
      <p:sp>
        <p:nvSpPr>
          <p:cNvPr id="518151" name="Text Box 7"/>
          <p:cNvSpPr txBox="1">
            <a:spLocks noChangeArrowheads="1"/>
          </p:cNvSpPr>
          <p:nvPr/>
        </p:nvSpPr>
        <p:spPr bwMode="auto">
          <a:xfrm>
            <a:off x="2914650" y="3810000"/>
            <a:ext cx="33147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200" dirty="0">
                <a:latin typeface="Courier New" pitchFamily="49" charset="0"/>
              </a:rPr>
              <a:t>Combinational logic hardware units</a:t>
            </a: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 dirty="0" err="1" smtClean="0"/>
              <a:t>Mayank</a:t>
            </a:r>
            <a:r>
              <a:rPr lang="en-US" dirty="0" smtClean="0"/>
              <a:t> </a:t>
            </a:r>
            <a:r>
              <a:rPr lang="en-US" dirty="0" err="1" smtClean="0"/>
              <a:t>Pandey</a:t>
            </a:r>
            <a:r>
              <a:rPr lang="en-US" dirty="0" smtClean="0"/>
              <a:t>, MNNIT, Allahabad, India</a:t>
            </a:r>
            <a:endParaRPr lang="en-US" dirty="0"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010" name="Rectangle 2"/>
          <p:cNvSpPr>
            <a:spLocks noChangeArrowheads="1"/>
          </p:cNvSpPr>
          <p:nvPr/>
        </p:nvSpPr>
        <p:spPr bwMode="auto">
          <a:xfrm>
            <a:off x="225425" y="312738"/>
            <a:ext cx="6902450" cy="4778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427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762000"/>
            <a:ext cx="7772400" cy="4114800"/>
          </a:xfrm>
          <a:noFill/>
          <a:ln/>
        </p:spPr>
        <p:txBody>
          <a:bodyPr lIns="90488" tIns="44450" rIns="90488" bIns="44450"/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sz="1800" dirty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sz="1800" dirty="0"/>
          </a:p>
          <a:p>
            <a:pPr>
              <a:lnSpc>
                <a:spcPct val="90000"/>
              </a:lnSpc>
            </a:pPr>
            <a:r>
              <a:rPr lang="en-US" sz="2400" dirty="0"/>
              <a:t>Clocks are used in </a:t>
            </a:r>
            <a:r>
              <a:rPr lang="en-US" sz="2400" i="1" dirty="0"/>
              <a:t>synchronous</a:t>
            </a:r>
            <a:r>
              <a:rPr lang="en-US" sz="2400" dirty="0"/>
              <a:t> logic to determine </a:t>
            </a:r>
            <a:r>
              <a:rPr lang="en-US" sz="2400" i="1" dirty="0"/>
              <a:t>when</a:t>
            </a:r>
            <a:r>
              <a:rPr lang="en-US" sz="2400" dirty="0"/>
              <a:t> a state element is to be updated 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in </a:t>
            </a:r>
            <a:r>
              <a:rPr lang="en-US" sz="2000" i="1" dirty="0"/>
              <a:t>level-triggered</a:t>
            </a:r>
            <a:r>
              <a:rPr lang="en-US" sz="2000" dirty="0"/>
              <a:t> clocking methodology either the state changes only when the clock is high or only when it is low (technology-dependent)</a:t>
            </a:r>
          </a:p>
          <a:p>
            <a:pPr lvl="1">
              <a:lnSpc>
                <a:spcPct val="90000"/>
              </a:lnSpc>
            </a:pPr>
            <a:endParaRPr lang="en-US" sz="2000" dirty="0"/>
          </a:p>
          <a:p>
            <a:pPr lvl="1">
              <a:lnSpc>
                <a:spcPct val="90000"/>
              </a:lnSpc>
            </a:pPr>
            <a:endParaRPr lang="en-US" sz="2000" dirty="0"/>
          </a:p>
          <a:p>
            <a:pPr lvl="1">
              <a:lnSpc>
                <a:spcPct val="90000"/>
              </a:lnSpc>
            </a:pPr>
            <a:endParaRPr lang="en-US" sz="2000" dirty="0"/>
          </a:p>
          <a:p>
            <a:pPr lvl="1">
              <a:lnSpc>
                <a:spcPct val="90000"/>
              </a:lnSpc>
            </a:pPr>
            <a:endParaRPr lang="en-US" sz="2000" dirty="0"/>
          </a:p>
          <a:p>
            <a:pPr lvl="1">
              <a:lnSpc>
                <a:spcPct val="90000"/>
              </a:lnSpc>
            </a:pPr>
            <a:endParaRPr lang="en-US" sz="2000" dirty="0"/>
          </a:p>
          <a:p>
            <a:pPr lvl="1">
              <a:lnSpc>
                <a:spcPct val="90000"/>
              </a:lnSpc>
            </a:pPr>
            <a:r>
              <a:rPr lang="en-US" sz="2000" dirty="0"/>
              <a:t>in</a:t>
            </a:r>
            <a:r>
              <a:rPr lang="en-US" sz="2000" i="1" dirty="0"/>
              <a:t> edge-triggered</a:t>
            </a:r>
            <a:r>
              <a:rPr lang="en-US" sz="2000" dirty="0"/>
              <a:t> clocking methodology either the </a:t>
            </a:r>
            <a:r>
              <a:rPr lang="en-US" sz="2000" i="1" dirty="0"/>
              <a:t>rising edge</a:t>
            </a:r>
            <a:r>
              <a:rPr lang="en-US" sz="2000" dirty="0"/>
              <a:t> or </a:t>
            </a:r>
            <a:r>
              <a:rPr lang="en-US" sz="2000" i="1" dirty="0"/>
              <a:t>falling edge</a:t>
            </a:r>
            <a:r>
              <a:rPr lang="en-US" sz="2000" dirty="0"/>
              <a:t> is active (depending on technology) – i.e., states change only on rising edges or only on falling edge</a:t>
            </a:r>
          </a:p>
          <a:p>
            <a:pPr lvl="1">
              <a:lnSpc>
                <a:spcPct val="90000"/>
              </a:lnSpc>
              <a:buNone/>
            </a:pPr>
            <a:endParaRPr lang="en-US" sz="1800" dirty="0"/>
          </a:p>
        </p:txBody>
      </p:sp>
      <p:sp>
        <p:nvSpPr>
          <p:cNvPr id="427016" name="Rectangle 8"/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8229600" cy="1143000"/>
          </a:xfrm>
          <a:noFill/>
          <a:ln/>
        </p:spPr>
        <p:txBody>
          <a:bodyPr lIns="90488" tIns="44450" rIns="90488" bIns="44450" anchor="ctr"/>
          <a:lstStyle/>
          <a:p>
            <a:r>
              <a:rPr lang="en-US" dirty="0"/>
              <a:t>Synchronous </a:t>
            </a:r>
            <a:r>
              <a:rPr lang="en-US" dirty="0" smtClean="0"/>
              <a:t>Logic</a:t>
            </a:r>
            <a:endParaRPr lang="en-US" dirty="0"/>
          </a:p>
        </p:txBody>
      </p:sp>
      <p:pic>
        <p:nvPicPr>
          <p:cNvPr id="427017" name="Picture 9" descr="B09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95400" y="3124200"/>
            <a:ext cx="5830888" cy="1381125"/>
          </a:xfrm>
          <a:prstGeom prst="rect">
            <a:avLst/>
          </a:prstGeom>
          <a:noFill/>
        </p:spPr>
      </p:pic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 dirty="0" err="1" smtClean="0"/>
              <a:t>Mayank</a:t>
            </a:r>
            <a:r>
              <a:rPr lang="en-US" dirty="0" smtClean="0"/>
              <a:t> </a:t>
            </a:r>
            <a:r>
              <a:rPr lang="en-US" dirty="0" err="1" smtClean="0"/>
              <a:t>Pandey</a:t>
            </a:r>
            <a:r>
              <a:rPr lang="en-US" dirty="0" smtClean="0"/>
              <a:t>, MNNIT, Allahabad, India</a:t>
            </a:r>
            <a:endParaRPr lang="en-US" dirty="0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7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/>
          <a:lstStyle/>
          <a:p>
            <a:r>
              <a:rPr lang="en-US" dirty="0"/>
              <a:t>Single-cycle </a:t>
            </a:r>
            <a:r>
              <a:rPr lang="en-US" dirty="0" smtClean="0"/>
              <a:t>Data-Path</a:t>
            </a:r>
            <a:endParaRPr lang="en-US" dirty="0"/>
          </a:p>
        </p:txBody>
      </p:sp>
      <p:sp>
        <p:nvSpPr>
          <p:cNvPr id="584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447800"/>
            <a:ext cx="8077200" cy="453548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000" dirty="0"/>
              <a:t>Our first implementation of MIPS will use a </a:t>
            </a:r>
            <a:r>
              <a:rPr lang="en-US" sz="2000" i="1" dirty="0"/>
              <a:t>single </a:t>
            </a:r>
            <a:r>
              <a:rPr lang="en-US" sz="2000" dirty="0"/>
              <a:t>long clock cycle for every instruction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Every instruction begins on one up (or, down) clock edge and ends on the next up (or, down) clock edge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This approach is </a:t>
            </a:r>
            <a:r>
              <a:rPr lang="en-US" sz="2000" i="1" dirty="0"/>
              <a:t>not practical</a:t>
            </a:r>
            <a:r>
              <a:rPr lang="en-US" sz="2000" dirty="0"/>
              <a:t> as it is much slower than a </a:t>
            </a:r>
            <a:r>
              <a:rPr lang="en-US" sz="2000" i="1" dirty="0" err="1"/>
              <a:t>multicycle</a:t>
            </a:r>
            <a:r>
              <a:rPr lang="en-US" sz="2000" dirty="0"/>
              <a:t> implementation where different instruction classes can take different numbers of cycles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in a single-cycle implementation every instruction must take the same amount of time as the slowest instruction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in a </a:t>
            </a:r>
            <a:r>
              <a:rPr lang="en-US" sz="1800" dirty="0" err="1"/>
              <a:t>multicycle</a:t>
            </a:r>
            <a:r>
              <a:rPr lang="en-US" sz="1800" dirty="0"/>
              <a:t> implementation this problem is avoided by allowing quicker instructions to use fewer cycles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Even though the single-cycle approach is not practical it is simple and useful to understand first</a:t>
            </a:r>
          </a:p>
          <a:p>
            <a:pPr>
              <a:lnSpc>
                <a:spcPct val="90000"/>
              </a:lnSpc>
            </a:pPr>
            <a:endParaRPr lang="en-US" sz="2000" dirty="0"/>
          </a:p>
          <a:p>
            <a:pPr>
              <a:lnSpc>
                <a:spcPct val="90000"/>
              </a:lnSpc>
            </a:pPr>
            <a:r>
              <a:rPr lang="en-US" sz="2000" i="1" dirty="0"/>
              <a:t>Note </a:t>
            </a:r>
            <a:r>
              <a:rPr lang="en-US" sz="2000" dirty="0"/>
              <a:t>: we shall implement </a:t>
            </a:r>
            <a:r>
              <a:rPr lang="en-US" sz="2000" dirty="0">
                <a:latin typeface="Courier New" pitchFamily="49" charset="0"/>
              </a:rPr>
              <a:t>jump </a:t>
            </a:r>
            <a:r>
              <a:rPr lang="en-US" sz="2000" dirty="0"/>
              <a:t>at the very end</a:t>
            </a:r>
            <a:endParaRPr lang="en-US" sz="2000" dirty="0">
              <a:latin typeface="Courier New" pitchFamily="49" charset="0"/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 dirty="0" err="1" smtClean="0"/>
              <a:t>Mayank</a:t>
            </a:r>
            <a:r>
              <a:rPr lang="en-US" dirty="0" smtClean="0"/>
              <a:t> </a:t>
            </a:r>
            <a:r>
              <a:rPr lang="en-US" dirty="0" err="1" smtClean="0"/>
              <a:t>Pandey</a:t>
            </a:r>
            <a:r>
              <a:rPr lang="en-US" dirty="0" smtClean="0"/>
              <a:t>, MNNIT, Allahabad, India</a:t>
            </a:r>
            <a:endParaRPr lang="en-US" dirty="0"/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298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0488" tIns="44450" rIns="90488" bIns="44450" anchor="ctr"/>
          <a:lstStyle/>
          <a:p>
            <a:r>
              <a:rPr lang="en-US" dirty="0" smtClean="0"/>
              <a:t>Data-path:</a:t>
            </a:r>
            <a:endParaRPr lang="en-US" dirty="0"/>
          </a:p>
        </p:txBody>
      </p:sp>
      <p:sp>
        <p:nvSpPr>
          <p:cNvPr id="439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11250"/>
            <a:ext cx="8229600" cy="4754563"/>
          </a:xfrm>
          <a:noFill/>
          <a:ln/>
        </p:spPr>
        <p:txBody>
          <a:bodyPr lIns="90488" tIns="44450" rIns="90488" bIns="44450"/>
          <a:lstStyle/>
          <a:p>
            <a:pPr>
              <a:buFont typeface="Wingdings" pitchFamily="2" charset="2"/>
              <a:buNone/>
            </a:pPr>
            <a:endParaRPr lang="en-US" sz="2000" dirty="0" smtClean="0"/>
          </a:p>
          <a:p>
            <a:pPr>
              <a:buFont typeface="Wingdings" pitchFamily="2" charset="2"/>
              <a:buNone/>
            </a:pPr>
            <a:endParaRPr lang="en-US" sz="2000" dirty="0" smtClean="0"/>
          </a:p>
          <a:p>
            <a:pPr>
              <a:buFont typeface="Wingdings" pitchFamily="2" charset="2"/>
              <a:buNone/>
            </a:pPr>
            <a:r>
              <a:rPr lang="en-US" sz="2000" dirty="0" smtClean="0"/>
              <a:t> Instruction Store/Fetch &amp; PC Increment</a:t>
            </a:r>
            <a:endParaRPr lang="en-US" sz="2000" dirty="0"/>
          </a:p>
        </p:txBody>
      </p:sp>
      <p:pic>
        <p:nvPicPr>
          <p:cNvPr id="439301" name="Picture 5"/>
          <p:cNvPicPr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" y="2863850"/>
            <a:ext cx="4419600" cy="1600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</p:pic>
      <p:pic>
        <p:nvPicPr>
          <p:cNvPr id="439304" name="Picture 8" descr="F050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410200" y="2559050"/>
            <a:ext cx="3200400" cy="2743200"/>
          </a:xfrm>
          <a:prstGeom prst="rect">
            <a:avLst/>
          </a:prstGeom>
          <a:noFill/>
        </p:spPr>
      </p:pic>
      <p:sp>
        <p:nvSpPr>
          <p:cNvPr id="439305" name="Text Box 9"/>
          <p:cNvSpPr txBox="1">
            <a:spLocks noChangeArrowheads="1"/>
          </p:cNvSpPr>
          <p:nvPr/>
        </p:nvSpPr>
        <p:spPr bwMode="auto">
          <a:xfrm>
            <a:off x="1143000" y="4781550"/>
            <a:ext cx="3224213" cy="82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b="1">
                <a:latin typeface="Tahoma" pitchFamily="34" charset="0"/>
              </a:rPr>
              <a:t>Three elements used to store </a:t>
            </a:r>
          </a:p>
          <a:p>
            <a:r>
              <a:rPr lang="en-US" sz="1600" b="1">
                <a:latin typeface="Tahoma" pitchFamily="34" charset="0"/>
              </a:rPr>
              <a:t>and fetch instructions and</a:t>
            </a:r>
          </a:p>
          <a:p>
            <a:r>
              <a:rPr lang="en-US" sz="1600" b="1">
                <a:latin typeface="Tahoma" pitchFamily="34" charset="0"/>
              </a:rPr>
              <a:t>increment the PC</a:t>
            </a:r>
          </a:p>
        </p:txBody>
      </p:sp>
      <p:sp>
        <p:nvSpPr>
          <p:cNvPr id="439306" name="Text Box 10"/>
          <p:cNvSpPr txBox="1">
            <a:spLocks noChangeArrowheads="1"/>
          </p:cNvSpPr>
          <p:nvPr/>
        </p:nvSpPr>
        <p:spPr bwMode="auto">
          <a:xfrm>
            <a:off x="6096000" y="5530850"/>
            <a:ext cx="113188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b="1">
                <a:latin typeface="Tahoma" pitchFamily="34" charset="0"/>
              </a:rPr>
              <a:t>Datapath</a:t>
            </a:r>
          </a:p>
        </p:txBody>
      </p:sp>
      <p:sp>
        <p:nvSpPr>
          <p:cNvPr id="439307" name="AutoShape 11"/>
          <p:cNvSpPr>
            <a:spLocks noChangeArrowheads="1"/>
          </p:cNvSpPr>
          <p:nvPr/>
        </p:nvSpPr>
        <p:spPr bwMode="auto">
          <a:xfrm>
            <a:off x="4800600" y="3292475"/>
            <a:ext cx="304800" cy="485775"/>
          </a:xfrm>
          <a:prstGeom prst="rightArrow">
            <a:avLst>
              <a:gd name="adj1" fmla="val 50000"/>
              <a:gd name="adj2" fmla="val 25000"/>
            </a:avLst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40475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 dirty="0" err="1" smtClean="0"/>
              <a:t>Mayank</a:t>
            </a:r>
            <a:r>
              <a:rPr lang="en-US" dirty="0" smtClean="0"/>
              <a:t> </a:t>
            </a:r>
            <a:r>
              <a:rPr lang="en-US" dirty="0" err="1" smtClean="0"/>
              <a:t>Pandey</a:t>
            </a:r>
            <a:r>
              <a:rPr lang="en-US" dirty="0" smtClean="0"/>
              <a:t>, MNNIT, Allahabad, India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22" name="Rectangle 2050"/>
          <p:cNvSpPr>
            <a:spLocks noChangeArrowheads="1"/>
          </p:cNvSpPr>
          <p:nvPr/>
        </p:nvSpPr>
        <p:spPr bwMode="auto">
          <a:xfrm>
            <a:off x="1714500" y="4165600"/>
            <a:ext cx="457200" cy="152400"/>
          </a:xfrm>
          <a:prstGeom prst="rect">
            <a:avLst/>
          </a:prstGeom>
          <a:solidFill>
            <a:srgbClr val="00FF00"/>
          </a:solidFill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593923" name="Rectangle 2051"/>
          <p:cNvSpPr>
            <a:spLocks noChangeArrowheads="1"/>
          </p:cNvSpPr>
          <p:nvPr/>
        </p:nvSpPr>
        <p:spPr bwMode="auto">
          <a:xfrm>
            <a:off x="1714500" y="1682750"/>
            <a:ext cx="152400" cy="2590800"/>
          </a:xfrm>
          <a:prstGeom prst="rect">
            <a:avLst/>
          </a:prstGeom>
          <a:solidFill>
            <a:srgbClr val="00FF00"/>
          </a:solidFill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593924" name="Rectangle 2052"/>
          <p:cNvSpPr>
            <a:spLocks noChangeArrowheads="1"/>
          </p:cNvSpPr>
          <p:nvPr/>
        </p:nvSpPr>
        <p:spPr bwMode="auto">
          <a:xfrm>
            <a:off x="5219700" y="1682750"/>
            <a:ext cx="152400" cy="1185863"/>
          </a:xfrm>
          <a:prstGeom prst="rect">
            <a:avLst/>
          </a:prstGeom>
          <a:solidFill>
            <a:srgbClr val="00FF00"/>
          </a:solidFill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593925" name="Rectangle 2053"/>
          <p:cNvSpPr>
            <a:spLocks noChangeArrowheads="1"/>
          </p:cNvSpPr>
          <p:nvPr/>
        </p:nvSpPr>
        <p:spPr bwMode="auto">
          <a:xfrm>
            <a:off x="1790700" y="1682750"/>
            <a:ext cx="3581400" cy="152400"/>
          </a:xfrm>
          <a:prstGeom prst="rect">
            <a:avLst/>
          </a:prstGeom>
          <a:solidFill>
            <a:srgbClr val="00FF00"/>
          </a:solidFill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593926" name="Rectangle 2054"/>
          <p:cNvSpPr>
            <a:spLocks noChangeArrowheads="1"/>
          </p:cNvSpPr>
          <p:nvPr/>
        </p:nvSpPr>
        <p:spPr bwMode="auto">
          <a:xfrm>
            <a:off x="4838700" y="2727325"/>
            <a:ext cx="457200" cy="152400"/>
          </a:xfrm>
          <a:prstGeom prst="rect">
            <a:avLst/>
          </a:prstGeom>
          <a:solidFill>
            <a:srgbClr val="00FF00"/>
          </a:solidFill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593927" name="Rectangle 2055"/>
          <p:cNvSpPr>
            <a:spLocks noChangeArrowheads="1"/>
          </p:cNvSpPr>
          <p:nvPr/>
        </p:nvSpPr>
        <p:spPr bwMode="auto">
          <a:xfrm>
            <a:off x="2933700" y="2216150"/>
            <a:ext cx="1219200" cy="152400"/>
          </a:xfrm>
          <a:prstGeom prst="rect">
            <a:avLst/>
          </a:prstGeom>
          <a:solidFill>
            <a:srgbClr val="00FF00"/>
          </a:solidFill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593928" name="Rectangle 2056"/>
          <p:cNvSpPr>
            <a:spLocks noChangeArrowheads="1"/>
          </p:cNvSpPr>
          <p:nvPr/>
        </p:nvSpPr>
        <p:spPr bwMode="auto">
          <a:xfrm>
            <a:off x="2900363" y="2216150"/>
            <a:ext cx="152400" cy="2100263"/>
          </a:xfrm>
          <a:prstGeom prst="rect">
            <a:avLst/>
          </a:prstGeom>
          <a:solidFill>
            <a:srgbClr val="00FF00"/>
          </a:solidFill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grpSp>
        <p:nvGrpSpPr>
          <p:cNvPr id="2" name="Group 2057"/>
          <p:cNvGrpSpPr>
            <a:grpSpLocks/>
          </p:cNvGrpSpPr>
          <p:nvPr/>
        </p:nvGrpSpPr>
        <p:grpSpPr bwMode="auto">
          <a:xfrm>
            <a:off x="2552700" y="4164013"/>
            <a:ext cx="3657600" cy="600075"/>
            <a:chOff x="1728" y="2907"/>
            <a:chExt cx="2304" cy="378"/>
          </a:xfrm>
        </p:grpSpPr>
        <p:sp>
          <p:nvSpPr>
            <p:cNvPr id="593930" name="Rectangle 2058"/>
            <p:cNvSpPr>
              <a:spLocks noChangeArrowheads="1"/>
            </p:cNvSpPr>
            <p:nvPr/>
          </p:nvSpPr>
          <p:spPr bwMode="auto">
            <a:xfrm>
              <a:off x="3696" y="3189"/>
              <a:ext cx="336" cy="96"/>
            </a:xfrm>
            <a:prstGeom prst="rect">
              <a:avLst/>
            </a:prstGeom>
            <a:solidFill>
              <a:srgbClr val="00CC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93931" name="Rectangle 2059"/>
            <p:cNvSpPr>
              <a:spLocks noChangeArrowheads="1"/>
            </p:cNvSpPr>
            <p:nvPr/>
          </p:nvSpPr>
          <p:spPr bwMode="auto">
            <a:xfrm>
              <a:off x="1728" y="2907"/>
              <a:ext cx="672" cy="96"/>
            </a:xfrm>
            <a:prstGeom prst="rect">
              <a:avLst/>
            </a:pr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593932" name="Rectangle 2060"/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/>
          <a:lstStyle/>
          <a:p>
            <a:r>
              <a:rPr lang="en-US" dirty="0"/>
              <a:t>Animating the </a:t>
            </a:r>
            <a:r>
              <a:rPr lang="en-US" dirty="0" err="1"/>
              <a:t>Datapath</a:t>
            </a:r>
            <a:endParaRPr lang="en-US" dirty="0"/>
          </a:p>
        </p:txBody>
      </p:sp>
      <p:sp>
        <p:nvSpPr>
          <p:cNvPr id="593933" name="Rectangle 2061"/>
          <p:cNvSpPr>
            <a:spLocks noChangeArrowheads="1"/>
          </p:cNvSpPr>
          <p:nvPr/>
        </p:nvSpPr>
        <p:spPr bwMode="auto">
          <a:xfrm>
            <a:off x="5829300" y="1676400"/>
            <a:ext cx="2705100" cy="64135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1800" b="1">
                <a:latin typeface="Helvetica" pitchFamily="34" charset="0"/>
              </a:rPr>
              <a:t>Instruction &lt;- MEM[PC]</a:t>
            </a:r>
          </a:p>
          <a:p>
            <a:pPr eaLnBrk="0" hangingPunct="0"/>
            <a:r>
              <a:rPr lang="en-US" sz="1800" b="1">
                <a:latin typeface="Helvetica" pitchFamily="34" charset="0"/>
              </a:rPr>
              <a:t>PC &lt;- PC + 4</a:t>
            </a:r>
          </a:p>
        </p:txBody>
      </p:sp>
      <p:pic>
        <p:nvPicPr>
          <p:cNvPr id="593934" name="Picture 206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76400" y="1758950"/>
            <a:ext cx="5981700" cy="3759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</p:pic>
      <p:sp>
        <p:nvSpPr>
          <p:cNvPr id="1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Mayank Pandey, MNNIT, Allahabad, India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93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93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93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93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593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593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93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3922" grpId="0" animBg="1"/>
      <p:bldP spid="593923" grpId="0" animBg="1"/>
      <p:bldP spid="593924" grpId="0" animBg="1"/>
      <p:bldP spid="593925" grpId="0" animBg="1"/>
      <p:bldP spid="593926" grpId="0" animBg="1"/>
      <p:bldP spid="593927" grpId="0" animBg="1"/>
      <p:bldP spid="59392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/>
          <a:lstStyle/>
          <a:p>
            <a:r>
              <a:rPr lang="en-US" dirty="0" err="1"/>
              <a:t>Datapath</a:t>
            </a:r>
            <a:r>
              <a:rPr lang="en-US" dirty="0"/>
              <a:t>: R-Type Instruction</a:t>
            </a:r>
          </a:p>
        </p:txBody>
      </p:sp>
      <p:sp>
        <p:nvSpPr>
          <p:cNvPr id="519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endParaRPr lang="en-US"/>
          </a:p>
        </p:txBody>
      </p:sp>
      <p:pic>
        <p:nvPicPr>
          <p:cNvPr id="519172" name="Picture 4" descr="F050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2286000"/>
            <a:ext cx="4191000" cy="1755775"/>
          </a:xfrm>
          <a:prstGeom prst="rect">
            <a:avLst/>
          </a:prstGeom>
          <a:noFill/>
        </p:spPr>
      </p:pic>
      <p:pic>
        <p:nvPicPr>
          <p:cNvPr id="519173" name="Picture 5" descr="F050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29200" y="2286000"/>
            <a:ext cx="3962400" cy="1733550"/>
          </a:xfrm>
          <a:prstGeom prst="rect">
            <a:avLst/>
          </a:prstGeom>
          <a:noFill/>
        </p:spPr>
      </p:pic>
      <p:sp>
        <p:nvSpPr>
          <p:cNvPr id="519174" name="Text Box 6"/>
          <p:cNvSpPr txBox="1">
            <a:spLocks noChangeArrowheads="1"/>
          </p:cNvSpPr>
          <p:nvPr/>
        </p:nvSpPr>
        <p:spPr bwMode="auto">
          <a:xfrm>
            <a:off x="609600" y="4322763"/>
            <a:ext cx="3581400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b="1">
                <a:latin typeface="Tahoma" pitchFamily="34" charset="0"/>
              </a:rPr>
              <a:t>Two elements used to implement</a:t>
            </a:r>
          </a:p>
          <a:p>
            <a:r>
              <a:rPr lang="en-US" sz="1600" b="1">
                <a:latin typeface="Tahoma" pitchFamily="34" charset="0"/>
              </a:rPr>
              <a:t>R-type instructions</a:t>
            </a:r>
          </a:p>
        </p:txBody>
      </p:sp>
      <p:sp>
        <p:nvSpPr>
          <p:cNvPr id="519175" name="AutoShape 7"/>
          <p:cNvSpPr>
            <a:spLocks noChangeArrowheads="1"/>
          </p:cNvSpPr>
          <p:nvPr/>
        </p:nvSpPr>
        <p:spPr bwMode="auto">
          <a:xfrm>
            <a:off x="4495800" y="3933825"/>
            <a:ext cx="304800" cy="485775"/>
          </a:xfrm>
          <a:prstGeom prst="rightArrow">
            <a:avLst>
              <a:gd name="adj1" fmla="val 50000"/>
              <a:gd name="adj2" fmla="val 25000"/>
            </a:avLst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519176" name="Text Box 8"/>
          <p:cNvSpPr txBox="1">
            <a:spLocks noChangeArrowheads="1"/>
          </p:cNvSpPr>
          <p:nvPr/>
        </p:nvSpPr>
        <p:spPr bwMode="auto">
          <a:xfrm>
            <a:off x="6640513" y="4343400"/>
            <a:ext cx="113188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b="1">
                <a:latin typeface="Tahoma" pitchFamily="34" charset="0"/>
              </a:rPr>
              <a:t>Datapath</a:t>
            </a: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Mayank Pandey, MNNIT, Allahabad, India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946" name="Rectangle 1026"/>
          <p:cNvSpPr>
            <a:spLocks noChangeArrowheads="1"/>
          </p:cNvSpPr>
          <p:nvPr/>
        </p:nvSpPr>
        <p:spPr bwMode="auto">
          <a:xfrm>
            <a:off x="1763713" y="4583113"/>
            <a:ext cx="533400" cy="152400"/>
          </a:xfrm>
          <a:prstGeom prst="rect">
            <a:avLst/>
          </a:prstGeom>
          <a:solidFill>
            <a:srgbClr val="FF6600"/>
          </a:solidFill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594947" name="Rectangle 1027"/>
          <p:cNvSpPr>
            <a:spLocks noChangeArrowheads="1"/>
          </p:cNvSpPr>
          <p:nvPr/>
        </p:nvSpPr>
        <p:spPr bwMode="auto">
          <a:xfrm>
            <a:off x="1763713" y="4648200"/>
            <a:ext cx="152400" cy="1371600"/>
          </a:xfrm>
          <a:prstGeom prst="rect">
            <a:avLst/>
          </a:prstGeom>
          <a:solidFill>
            <a:srgbClr val="FF6600"/>
          </a:solidFill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594948" name="Rectangle 1028"/>
          <p:cNvSpPr>
            <a:spLocks noChangeArrowheads="1"/>
          </p:cNvSpPr>
          <p:nvPr/>
        </p:nvSpPr>
        <p:spPr bwMode="auto">
          <a:xfrm>
            <a:off x="1828800" y="5857875"/>
            <a:ext cx="4419600" cy="152400"/>
          </a:xfrm>
          <a:prstGeom prst="rect">
            <a:avLst/>
          </a:prstGeom>
          <a:solidFill>
            <a:srgbClr val="FF6600"/>
          </a:solidFill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594949" name="Rectangle 1029"/>
          <p:cNvSpPr>
            <a:spLocks noChangeArrowheads="1"/>
          </p:cNvSpPr>
          <p:nvPr/>
        </p:nvSpPr>
        <p:spPr bwMode="auto">
          <a:xfrm>
            <a:off x="6149975" y="4605338"/>
            <a:ext cx="152400" cy="1371600"/>
          </a:xfrm>
          <a:prstGeom prst="rect">
            <a:avLst/>
          </a:prstGeom>
          <a:solidFill>
            <a:srgbClr val="FF6600"/>
          </a:solidFill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594950" name="Rectangle 1030"/>
          <p:cNvSpPr>
            <a:spLocks noChangeArrowheads="1"/>
          </p:cNvSpPr>
          <p:nvPr/>
        </p:nvSpPr>
        <p:spPr bwMode="auto">
          <a:xfrm>
            <a:off x="5802313" y="4605338"/>
            <a:ext cx="457200" cy="152400"/>
          </a:xfrm>
          <a:prstGeom prst="rect">
            <a:avLst/>
          </a:prstGeom>
          <a:solidFill>
            <a:srgbClr val="FF6600"/>
          </a:solidFill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grpSp>
        <p:nvGrpSpPr>
          <p:cNvPr id="2" name="Group 1031"/>
          <p:cNvGrpSpPr>
            <a:grpSpLocks/>
          </p:cNvGrpSpPr>
          <p:nvPr/>
        </p:nvGrpSpPr>
        <p:grpSpPr bwMode="auto">
          <a:xfrm>
            <a:off x="4354513" y="4137025"/>
            <a:ext cx="762000" cy="1066800"/>
            <a:chOff x="2976" y="2489"/>
            <a:chExt cx="480" cy="672"/>
          </a:xfrm>
        </p:grpSpPr>
        <p:sp>
          <p:nvSpPr>
            <p:cNvPr id="594952" name="Rectangle 1032"/>
            <p:cNvSpPr>
              <a:spLocks noChangeArrowheads="1"/>
            </p:cNvSpPr>
            <p:nvPr/>
          </p:nvSpPr>
          <p:spPr bwMode="auto">
            <a:xfrm>
              <a:off x="2976" y="3065"/>
              <a:ext cx="480" cy="96"/>
            </a:xfrm>
            <a:prstGeom prst="rect">
              <a:avLst/>
            </a:prstGeom>
            <a:solidFill>
              <a:srgbClr val="FF66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94953" name="Rectangle 1033"/>
            <p:cNvSpPr>
              <a:spLocks noChangeArrowheads="1"/>
            </p:cNvSpPr>
            <p:nvPr/>
          </p:nvSpPr>
          <p:spPr bwMode="auto">
            <a:xfrm>
              <a:off x="2976" y="2489"/>
              <a:ext cx="480" cy="96"/>
            </a:xfrm>
            <a:prstGeom prst="rect">
              <a:avLst/>
            </a:prstGeom>
            <a:solidFill>
              <a:srgbClr val="FF66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3" name="Group 1034"/>
          <p:cNvGrpSpPr>
            <a:grpSpLocks/>
          </p:cNvGrpSpPr>
          <p:nvPr/>
        </p:nvGrpSpPr>
        <p:grpSpPr bwMode="auto">
          <a:xfrm>
            <a:off x="2297113" y="2928938"/>
            <a:ext cx="1698625" cy="990600"/>
            <a:chOff x="1680" y="1728"/>
            <a:chExt cx="1070" cy="624"/>
          </a:xfrm>
        </p:grpSpPr>
        <p:sp>
          <p:nvSpPr>
            <p:cNvPr id="594955" name="Rectangle 1035"/>
            <p:cNvSpPr>
              <a:spLocks noChangeArrowheads="1"/>
            </p:cNvSpPr>
            <p:nvPr/>
          </p:nvSpPr>
          <p:spPr bwMode="auto">
            <a:xfrm>
              <a:off x="2654" y="1728"/>
              <a:ext cx="96" cy="624"/>
            </a:xfrm>
            <a:prstGeom prst="rect">
              <a:avLst/>
            </a:prstGeom>
            <a:solidFill>
              <a:srgbClr val="00CC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94956" name="Rectangle 1036"/>
            <p:cNvSpPr>
              <a:spLocks noChangeArrowheads="1"/>
            </p:cNvSpPr>
            <p:nvPr/>
          </p:nvSpPr>
          <p:spPr bwMode="auto">
            <a:xfrm>
              <a:off x="2174" y="1728"/>
              <a:ext cx="110" cy="384"/>
            </a:xfrm>
            <a:prstGeom prst="rect">
              <a:avLst/>
            </a:prstGeom>
            <a:solidFill>
              <a:srgbClr val="00CC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94957" name="Rectangle 1037"/>
            <p:cNvSpPr>
              <a:spLocks noChangeArrowheads="1"/>
            </p:cNvSpPr>
            <p:nvPr/>
          </p:nvSpPr>
          <p:spPr bwMode="auto">
            <a:xfrm>
              <a:off x="2290" y="2016"/>
              <a:ext cx="96" cy="336"/>
            </a:xfrm>
            <a:prstGeom prst="rect">
              <a:avLst/>
            </a:prstGeom>
            <a:solidFill>
              <a:srgbClr val="00CC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94958" name="Rectangle 1038"/>
            <p:cNvSpPr>
              <a:spLocks noChangeArrowheads="1"/>
            </p:cNvSpPr>
            <p:nvPr/>
          </p:nvSpPr>
          <p:spPr bwMode="auto">
            <a:xfrm>
              <a:off x="2194" y="2002"/>
              <a:ext cx="192" cy="96"/>
            </a:xfrm>
            <a:prstGeom prst="rect">
              <a:avLst/>
            </a:prstGeom>
            <a:solidFill>
              <a:srgbClr val="00CC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94959" name="Rectangle 1039"/>
            <p:cNvSpPr>
              <a:spLocks noChangeArrowheads="1"/>
            </p:cNvSpPr>
            <p:nvPr/>
          </p:nvSpPr>
          <p:spPr bwMode="auto">
            <a:xfrm>
              <a:off x="1680" y="1728"/>
              <a:ext cx="96" cy="288"/>
            </a:xfrm>
            <a:prstGeom prst="rect">
              <a:avLst/>
            </a:prstGeom>
            <a:solidFill>
              <a:srgbClr val="00CC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94960" name="Rectangle 1040"/>
            <p:cNvSpPr>
              <a:spLocks noChangeArrowheads="1"/>
            </p:cNvSpPr>
            <p:nvPr/>
          </p:nvSpPr>
          <p:spPr bwMode="auto">
            <a:xfrm>
              <a:off x="1920" y="2016"/>
              <a:ext cx="96" cy="336"/>
            </a:xfrm>
            <a:prstGeom prst="rect">
              <a:avLst/>
            </a:prstGeom>
            <a:solidFill>
              <a:srgbClr val="00CC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94961" name="Rectangle 1041"/>
            <p:cNvSpPr>
              <a:spLocks noChangeArrowheads="1"/>
            </p:cNvSpPr>
            <p:nvPr/>
          </p:nvSpPr>
          <p:spPr bwMode="auto">
            <a:xfrm>
              <a:off x="1680" y="1989"/>
              <a:ext cx="336" cy="96"/>
            </a:xfrm>
            <a:prstGeom prst="rect">
              <a:avLst/>
            </a:prstGeom>
            <a:solidFill>
              <a:srgbClr val="00CC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594962" name="Rectangle 104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990600"/>
          </a:xfrm>
        </p:spPr>
        <p:txBody>
          <a:bodyPr/>
          <a:lstStyle/>
          <a:p>
            <a:r>
              <a:rPr lang="en-US" dirty="0"/>
              <a:t>Animating the </a:t>
            </a:r>
            <a:r>
              <a:rPr lang="en-US" dirty="0" err="1"/>
              <a:t>Datapath</a:t>
            </a:r>
            <a:endParaRPr lang="en-US" dirty="0"/>
          </a:p>
        </p:txBody>
      </p:sp>
      <p:sp>
        <p:nvSpPr>
          <p:cNvPr id="594963" name="Text Box 1043"/>
          <p:cNvSpPr txBox="1">
            <a:spLocks noChangeArrowheads="1"/>
          </p:cNvSpPr>
          <p:nvPr/>
        </p:nvSpPr>
        <p:spPr bwMode="auto">
          <a:xfrm>
            <a:off x="6172200" y="2057400"/>
            <a:ext cx="2057400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2400" b="1">
                <a:latin typeface="Courier" pitchFamily="49" charset="0"/>
              </a:rPr>
              <a:t>add rd, rs, rt</a:t>
            </a:r>
            <a:endParaRPr lang="en-US" sz="1800" b="1">
              <a:latin typeface="Courier" pitchFamily="49" charset="0"/>
            </a:endParaRPr>
          </a:p>
        </p:txBody>
      </p:sp>
      <p:sp>
        <p:nvSpPr>
          <p:cNvPr id="594964" name="Rectangle 1044"/>
          <p:cNvSpPr>
            <a:spLocks noChangeArrowheads="1"/>
          </p:cNvSpPr>
          <p:nvPr/>
        </p:nvSpPr>
        <p:spPr bwMode="auto">
          <a:xfrm>
            <a:off x="6178550" y="2574925"/>
            <a:ext cx="2660650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b="1">
                <a:latin typeface="Helvetica" pitchFamily="34" charset="0"/>
              </a:rPr>
              <a:t>R[rd] &lt;- R[rs] + R[rt];</a:t>
            </a:r>
          </a:p>
        </p:txBody>
      </p:sp>
      <p:pic>
        <p:nvPicPr>
          <p:cNvPr id="594965" name="Picture 104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600" y="2395538"/>
            <a:ext cx="6426200" cy="35433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</p:pic>
      <p:sp>
        <p:nvSpPr>
          <p:cNvPr id="2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Mayank Pandey, MNNIT, Allahabad, India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94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94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594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594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94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4946" grpId="0" animBg="1"/>
      <p:bldP spid="594947" grpId="0" animBg="1"/>
      <p:bldP spid="594948" grpId="0" animBg="1"/>
      <p:bldP spid="594949" grpId="0" animBg="1"/>
      <p:bldP spid="59495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1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8686800" cy="1143000"/>
          </a:xfrm>
        </p:spPr>
        <p:txBody>
          <a:bodyPr/>
          <a:lstStyle/>
          <a:p>
            <a:r>
              <a:rPr lang="en-US" dirty="0" smtClean="0"/>
              <a:t>Data-path</a:t>
            </a:r>
            <a:r>
              <a:rPr lang="en-US" dirty="0"/>
              <a:t>: </a:t>
            </a:r>
            <a:r>
              <a:rPr lang="en-US" dirty="0" smtClean="0"/>
              <a:t>Load/Store </a:t>
            </a:r>
            <a:r>
              <a:rPr lang="en-US" dirty="0"/>
              <a:t>Instruction</a:t>
            </a:r>
          </a:p>
        </p:txBody>
      </p:sp>
      <p:sp>
        <p:nvSpPr>
          <p:cNvPr id="520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endParaRPr lang="en-US" dirty="0"/>
          </a:p>
        </p:txBody>
      </p:sp>
      <p:pic>
        <p:nvPicPr>
          <p:cNvPr id="520196" name="Picture 4" descr="F0508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" y="2355850"/>
            <a:ext cx="3429000" cy="2124075"/>
          </a:xfrm>
          <a:prstGeom prst="rect">
            <a:avLst/>
          </a:prstGeom>
          <a:noFill/>
        </p:spPr>
      </p:pic>
      <p:pic>
        <p:nvPicPr>
          <p:cNvPr id="520197" name="Picture 5" descr="F0509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05200" y="2209800"/>
            <a:ext cx="5562600" cy="2432050"/>
          </a:xfrm>
          <a:prstGeom prst="rect">
            <a:avLst/>
          </a:prstGeom>
          <a:noFill/>
        </p:spPr>
      </p:pic>
      <p:sp>
        <p:nvSpPr>
          <p:cNvPr id="520198" name="Text Box 6"/>
          <p:cNvSpPr txBox="1">
            <a:spLocks noChangeArrowheads="1"/>
          </p:cNvSpPr>
          <p:nvPr/>
        </p:nvSpPr>
        <p:spPr bwMode="auto">
          <a:xfrm>
            <a:off x="414338" y="4870450"/>
            <a:ext cx="3243262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b="1">
                <a:latin typeface="Tahoma" pitchFamily="34" charset="0"/>
              </a:rPr>
              <a:t>Two additional elements used</a:t>
            </a:r>
          </a:p>
          <a:p>
            <a:r>
              <a:rPr lang="en-US" sz="1600" b="1">
                <a:latin typeface="Tahoma" pitchFamily="34" charset="0"/>
              </a:rPr>
              <a:t>To implement load/stores</a:t>
            </a:r>
          </a:p>
        </p:txBody>
      </p:sp>
      <p:sp>
        <p:nvSpPr>
          <p:cNvPr id="520201" name="AutoShape 9"/>
          <p:cNvSpPr>
            <a:spLocks noChangeArrowheads="1"/>
          </p:cNvSpPr>
          <p:nvPr/>
        </p:nvSpPr>
        <p:spPr bwMode="auto">
          <a:xfrm>
            <a:off x="3581400" y="3705225"/>
            <a:ext cx="304800" cy="485775"/>
          </a:xfrm>
          <a:prstGeom prst="rightArrow">
            <a:avLst>
              <a:gd name="adj1" fmla="val 50000"/>
              <a:gd name="adj2" fmla="val 25000"/>
            </a:avLst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520202" name="Text Box 10"/>
          <p:cNvSpPr txBox="1">
            <a:spLocks noChangeArrowheads="1"/>
          </p:cNvSpPr>
          <p:nvPr/>
        </p:nvSpPr>
        <p:spPr bwMode="auto">
          <a:xfrm>
            <a:off x="5878513" y="4914900"/>
            <a:ext cx="113188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b="1">
                <a:latin typeface="Tahoma" pitchFamily="34" charset="0"/>
              </a:rPr>
              <a:t>Datapath</a:t>
            </a: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Mayank Pandey, MNNIT, Allahabad, India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5029200" y="3657600"/>
            <a:ext cx="1066800" cy="652463"/>
            <a:chOff x="3264" y="2304"/>
            <a:chExt cx="672" cy="411"/>
          </a:xfrm>
        </p:grpSpPr>
        <p:sp>
          <p:nvSpPr>
            <p:cNvPr id="599043" name="Rectangle 3"/>
            <p:cNvSpPr>
              <a:spLocks noChangeArrowheads="1"/>
            </p:cNvSpPr>
            <p:nvPr/>
          </p:nvSpPr>
          <p:spPr bwMode="auto">
            <a:xfrm>
              <a:off x="3504" y="2619"/>
              <a:ext cx="432" cy="96"/>
            </a:xfrm>
            <a:prstGeom prst="rect">
              <a:avLst/>
            </a:prstGeom>
            <a:solidFill>
              <a:srgbClr val="FF66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99044" name="Rectangle 4"/>
            <p:cNvSpPr>
              <a:spLocks noChangeArrowheads="1"/>
            </p:cNvSpPr>
            <p:nvPr/>
          </p:nvSpPr>
          <p:spPr bwMode="auto">
            <a:xfrm>
              <a:off x="3264" y="2304"/>
              <a:ext cx="288" cy="96"/>
            </a:xfrm>
            <a:prstGeom prst="rect">
              <a:avLst/>
            </a:prstGeom>
            <a:solidFill>
              <a:srgbClr val="FF66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99045" name="Rectangle 5"/>
            <p:cNvSpPr>
              <a:spLocks noChangeArrowheads="1"/>
            </p:cNvSpPr>
            <p:nvPr/>
          </p:nvSpPr>
          <p:spPr bwMode="auto">
            <a:xfrm>
              <a:off x="3504" y="2304"/>
              <a:ext cx="96" cy="384"/>
            </a:xfrm>
            <a:prstGeom prst="rect">
              <a:avLst/>
            </a:prstGeom>
            <a:solidFill>
              <a:srgbClr val="FF66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599046" name="Rectangle 6"/>
          <p:cNvSpPr>
            <a:spLocks noChangeArrowheads="1"/>
          </p:cNvSpPr>
          <p:nvPr/>
        </p:nvSpPr>
        <p:spPr bwMode="auto">
          <a:xfrm flipV="1">
            <a:off x="990600" y="3668713"/>
            <a:ext cx="533400" cy="152400"/>
          </a:xfrm>
          <a:prstGeom prst="rect">
            <a:avLst/>
          </a:prstGeom>
          <a:solidFill>
            <a:srgbClr val="FF6600"/>
          </a:solidFill>
          <a:ln w="28575">
            <a:noFill/>
            <a:miter lim="800000"/>
            <a:headEnd/>
            <a:tailEnd/>
          </a:ln>
          <a:effectLst/>
        </p:spPr>
        <p:txBody>
          <a:bodyPr rot="10800000" wrap="none" anchor="ctr"/>
          <a:lstStyle/>
          <a:p>
            <a:pPr algn="ctr" eaLnBrk="0" hangingPunct="0"/>
            <a:endParaRPr lang="en-US" sz="2800" u="sng"/>
          </a:p>
        </p:txBody>
      </p:sp>
      <p:sp>
        <p:nvSpPr>
          <p:cNvPr id="599047" name="Rectangle 7"/>
          <p:cNvSpPr>
            <a:spLocks noChangeArrowheads="1"/>
          </p:cNvSpPr>
          <p:nvPr/>
        </p:nvSpPr>
        <p:spPr bwMode="auto">
          <a:xfrm flipV="1">
            <a:off x="990600" y="3733800"/>
            <a:ext cx="152400" cy="2209800"/>
          </a:xfrm>
          <a:prstGeom prst="rect">
            <a:avLst/>
          </a:prstGeom>
          <a:solidFill>
            <a:srgbClr val="FF6600"/>
          </a:solidFill>
          <a:ln w="28575">
            <a:noFill/>
            <a:miter lim="800000"/>
            <a:headEnd/>
            <a:tailEnd/>
          </a:ln>
          <a:effectLst/>
        </p:spPr>
        <p:txBody>
          <a:bodyPr rot="10800000" wrap="none" anchor="ctr"/>
          <a:lstStyle/>
          <a:p>
            <a:pPr algn="ctr" eaLnBrk="0" hangingPunct="0"/>
            <a:endParaRPr lang="en-US" sz="2800" u="sng"/>
          </a:p>
        </p:txBody>
      </p:sp>
      <p:sp>
        <p:nvSpPr>
          <p:cNvPr id="599048" name="Rectangle 8"/>
          <p:cNvSpPr>
            <a:spLocks noChangeArrowheads="1"/>
          </p:cNvSpPr>
          <p:nvPr/>
        </p:nvSpPr>
        <p:spPr bwMode="auto">
          <a:xfrm>
            <a:off x="8153400" y="4648200"/>
            <a:ext cx="304800" cy="152400"/>
          </a:xfrm>
          <a:prstGeom prst="rect">
            <a:avLst/>
          </a:prstGeom>
          <a:solidFill>
            <a:srgbClr val="FF6600"/>
          </a:solidFill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 sz="2800" u="sng"/>
          </a:p>
        </p:txBody>
      </p:sp>
      <p:sp>
        <p:nvSpPr>
          <p:cNvPr id="599049" name="Rectangle 9"/>
          <p:cNvSpPr>
            <a:spLocks noChangeArrowheads="1"/>
          </p:cNvSpPr>
          <p:nvPr/>
        </p:nvSpPr>
        <p:spPr bwMode="auto">
          <a:xfrm flipV="1">
            <a:off x="8424863" y="4648200"/>
            <a:ext cx="185737" cy="1295400"/>
          </a:xfrm>
          <a:prstGeom prst="rect">
            <a:avLst/>
          </a:prstGeom>
          <a:solidFill>
            <a:srgbClr val="FF6600"/>
          </a:solidFill>
          <a:ln w="28575">
            <a:noFill/>
            <a:miter lim="800000"/>
            <a:headEnd/>
            <a:tailEnd/>
          </a:ln>
          <a:effectLst/>
        </p:spPr>
        <p:txBody>
          <a:bodyPr rot="10800000" wrap="none" anchor="ctr"/>
          <a:lstStyle/>
          <a:p>
            <a:pPr algn="ctr" eaLnBrk="0" hangingPunct="0"/>
            <a:endParaRPr lang="en-US" sz="2800" u="sng"/>
          </a:p>
        </p:txBody>
      </p:sp>
      <p:sp>
        <p:nvSpPr>
          <p:cNvPr id="599050" name="Rectangle 10"/>
          <p:cNvSpPr>
            <a:spLocks noChangeArrowheads="1"/>
          </p:cNvSpPr>
          <p:nvPr/>
        </p:nvSpPr>
        <p:spPr bwMode="auto">
          <a:xfrm flipV="1">
            <a:off x="1066800" y="5835650"/>
            <a:ext cx="7467600" cy="152400"/>
          </a:xfrm>
          <a:prstGeom prst="rect">
            <a:avLst/>
          </a:prstGeom>
          <a:solidFill>
            <a:srgbClr val="FF6600"/>
          </a:solidFill>
          <a:ln w="28575">
            <a:noFill/>
            <a:miter lim="800000"/>
            <a:headEnd/>
            <a:tailEnd/>
          </a:ln>
          <a:effectLst/>
        </p:spPr>
        <p:txBody>
          <a:bodyPr rot="10800000" wrap="none" anchor="ctr"/>
          <a:lstStyle/>
          <a:p>
            <a:pPr algn="ctr" eaLnBrk="0" hangingPunct="0"/>
            <a:endParaRPr lang="en-US" sz="2800" u="sng"/>
          </a:p>
        </p:txBody>
      </p:sp>
      <p:grpSp>
        <p:nvGrpSpPr>
          <p:cNvPr id="3" name="Group 11"/>
          <p:cNvGrpSpPr>
            <a:grpSpLocks/>
          </p:cNvGrpSpPr>
          <p:nvPr/>
        </p:nvGrpSpPr>
        <p:grpSpPr bwMode="auto">
          <a:xfrm>
            <a:off x="1524000" y="1981200"/>
            <a:ext cx="2492375" cy="1001713"/>
            <a:chOff x="1056" y="1241"/>
            <a:chExt cx="1570" cy="631"/>
          </a:xfrm>
        </p:grpSpPr>
        <p:sp>
          <p:nvSpPr>
            <p:cNvPr id="599052" name="Rectangle 12"/>
            <p:cNvSpPr>
              <a:spLocks noChangeArrowheads="1"/>
            </p:cNvSpPr>
            <p:nvPr/>
          </p:nvSpPr>
          <p:spPr bwMode="auto">
            <a:xfrm>
              <a:off x="2029" y="1522"/>
              <a:ext cx="96" cy="336"/>
            </a:xfrm>
            <a:prstGeom prst="rect">
              <a:avLst/>
            </a:prstGeom>
            <a:solidFill>
              <a:srgbClr val="00CC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99053" name="Rectangle 13"/>
            <p:cNvSpPr>
              <a:spLocks noChangeArrowheads="1"/>
            </p:cNvSpPr>
            <p:nvPr/>
          </p:nvSpPr>
          <p:spPr bwMode="auto">
            <a:xfrm>
              <a:off x="1584" y="1522"/>
              <a:ext cx="541" cy="90"/>
            </a:xfrm>
            <a:prstGeom prst="rect">
              <a:avLst/>
            </a:prstGeom>
            <a:solidFill>
              <a:srgbClr val="00CC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99054" name="Rectangle 14"/>
            <p:cNvSpPr>
              <a:spLocks noChangeArrowheads="1"/>
            </p:cNvSpPr>
            <p:nvPr/>
          </p:nvSpPr>
          <p:spPr bwMode="auto">
            <a:xfrm>
              <a:off x="2530" y="1241"/>
              <a:ext cx="96" cy="240"/>
            </a:xfrm>
            <a:prstGeom prst="rect">
              <a:avLst/>
            </a:prstGeom>
            <a:solidFill>
              <a:srgbClr val="00CC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99055" name="Rectangle 15"/>
            <p:cNvSpPr>
              <a:spLocks noChangeArrowheads="1"/>
            </p:cNvSpPr>
            <p:nvPr/>
          </p:nvSpPr>
          <p:spPr bwMode="auto">
            <a:xfrm>
              <a:off x="1550" y="1248"/>
              <a:ext cx="110" cy="384"/>
            </a:xfrm>
            <a:prstGeom prst="rect">
              <a:avLst/>
            </a:prstGeom>
            <a:solidFill>
              <a:srgbClr val="00CC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99056" name="Rectangle 16"/>
            <p:cNvSpPr>
              <a:spLocks noChangeArrowheads="1"/>
            </p:cNvSpPr>
            <p:nvPr/>
          </p:nvSpPr>
          <p:spPr bwMode="auto">
            <a:xfrm>
              <a:off x="1310" y="1536"/>
              <a:ext cx="96" cy="336"/>
            </a:xfrm>
            <a:prstGeom prst="rect">
              <a:avLst/>
            </a:prstGeom>
            <a:solidFill>
              <a:srgbClr val="00CC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99057" name="Rectangle 17"/>
            <p:cNvSpPr>
              <a:spLocks noChangeArrowheads="1"/>
            </p:cNvSpPr>
            <p:nvPr/>
          </p:nvSpPr>
          <p:spPr bwMode="auto">
            <a:xfrm>
              <a:off x="1070" y="1509"/>
              <a:ext cx="336" cy="96"/>
            </a:xfrm>
            <a:prstGeom prst="rect">
              <a:avLst/>
            </a:prstGeom>
            <a:solidFill>
              <a:srgbClr val="00CC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99058" name="Rectangle 18"/>
            <p:cNvSpPr>
              <a:spLocks noChangeArrowheads="1"/>
            </p:cNvSpPr>
            <p:nvPr/>
          </p:nvSpPr>
          <p:spPr bwMode="auto">
            <a:xfrm>
              <a:off x="1056" y="1248"/>
              <a:ext cx="96" cy="288"/>
            </a:xfrm>
            <a:prstGeom prst="rect">
              <a:avLst/>
            </a:prstGeom>
            <a:solidFill>
              <a:srgbClr val="00CC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599059" name="Rectangle 19"/>
          <p:cNvSpPr>
            <a:spLocks noChangeArrowheads="1"/>
          </p:cNvSpPr>
          <p:nvPr/>
        </p:nvSpPr>
        <p:spPr bwMode="auto">
          <a:xfrm>
            <a:off x="3581400" y="3211513"/>
            <a:ext cx="762000" cy="152400"/>
          </a:xfrm>
          <a:prstGeom prst="rect">
            <a:avLst/>
          </a:prstGeom>
          <a:solidFill>
            <a:srgbClr val="FF6600"/>
          </a:solidFill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 sz="2800" u="sng"/>
          </a:p>
        </p:txBody>
      </p:sp>
      <p:grpSp>
        <p:nvGrpSpPr>
          <p:cNvPr id="4" name="Group 20"/>
          <p:cNvGrpSpPr>
            <a:grpSpLocks/>
          </p:cNvGrpSpPr>
          <p:nvPr/>
        </p:nvGrpSpPr>
        <p:grpSpPr bwMode="auto">
          <a:xfrm>
            <a:off x="3962400" y="4114800"/>
            <a:ext cx="381000" cy="1066800"/>
            <a:chOff x="2592" y="2592"/>
            <a:chExt cx="240" cy="672"/>
          </a:xfrm>
        </p:grpSpPr>
        <p:sp>
          <p:nvSpPr>
            <p:cNvPr id="599061" name="Rectangle 21"/>
            <p:cNvSpPr>
              <a:spLocks noChangeArrowheads="1"/>
            </p:cNvSpPr>
            <p:nvPr/>
          </p:nvSpPr>
          <p:spPr bwMode="auto">
            <a:xfrm>
              <a:off x="2592" y="2592"/>
              <a:ext cx="240" cy="96"/>
            </a:xfrm>
            <a:prstGeom prst="rect">
              <a:avLst/>
            </a:prstGeom>
            <a:solidFill>
              <a:srgbClr val="00CC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99062" name="Rectangle 22"/>
            <p:cNvSpPr>
              <a:spLocks noChangeArrowheads="1"/>
            </p:cNvSpPr>
            <p:nvPr/>
          </p:nvSpPr>
          <p:spPr bwMode="auto">
            <a:xfrm>
              <a:off x="2592" y="2592"/>
              <a:ext cx="96" cy="672"/>
            </a:xfrm>
            <a:prstGeom prst="rect">
              <a:avLst/>
            </a:prstGeom>
            <a:solidFill>
              <a:srgbClr val="00CC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599063" name="Rectangle 23"/>
          <p:cNvSpPr>
            <a:spLocks noChangeArrowheads="1"/>
          </p:cNvSpPr>
          <p:nvPr/>
        </p:nvSpPr>
        <p:spPr bwMode="auto">
          <a:xfrm>
            <a:off x="609600" y="5083175"/>
            <a:ext cx="3429000" cy="152400"/>
          </a:xfrm>
          <a:prstGeom prst="rect">
            <a:avLst/>
          </a:prstGeom>
          <a:solidFill>
            <a:srgbClr val="00CCFF"/>
          </a:solidFill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599064" name="Rectangle 24"/>
          <p:cNvSpPr>
            <a:spLocks noChangeArrowheads="1"/>
          </p:cNvSpPr>
          <p:nvPr/>
        </p:nvSpPr>
        <p:spPr bwMode="auto">
          <a:xfrm>
            <a:off x="685800" y="2209800"/>
            <a:ext cx="3276600" cy="152400"/>
          </a:xfrm>
          <a:prstGeom prst="rect">
            <a:avLst/>
          </a:prstGeom>
          <a:solidFill>
            <a:srgbClr val="00CCFF"/>
          </a:solidFill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599065" name="Rectangle 25"/>
          <p:cNvSpPr>
            <a:spLocks noChangeArrowheads="1"/>
          </p:cNvSpPr>
          <p:nvPr/>
        </p:nvSpPr>
        <p:spPr bwMode="auto">
          <a:xfrm>
            <a:off x="609600" y="2209800"/>
            <a:ext cx="152400" cy="2971800"/>
          </a:xfrm>
          <a:prstGeom prst="rect">
            <a:avLst/>
          </a:prstGeom>
          <a:solidFill>
            <a:srgbClr val="00CCFF"/>
          </a:solidFill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599066" name="Rectangle 26"/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7793037" cy="1143000"/>
          </a:xfrm>
        </p:spPr>
        <p:txBody>
          <a:bodyPr/>
          <a:lstStyle/>
          <a:p>
            <a:r>
              <a:rPr lang="en-US" dirty="0"/>
              <a:t>Animating the </a:t>
            </a:r>
            <a:r>
              <a:rPr lang="en-US" dirty="0" smtClean="0"/>
              <a:t>Data-path</a:t>
            </a:r>
            <a:endParaRPr lang="en-US" dirty="0"/>
          </a:p>
        </p:txBody>
      </p:sp>
      <p:pic>
        <p:nvPicPr>
          <p:cNvPr id="599067" name="Picture 2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9875" y="1676400"/>
            <a:ext cx="8293100" cy="42926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</p:pic>
      <p:sp>
        <p:nvSpPr>
          <p:cNvPr id="599068" name="Text Box 28"/>
          <p:cNvSpPr txBox="1">
            <a:spLocks noChangeArrowheads="1"/>
          </p:cNvSpPr>
          <p:nvPr/>
        </p:nvSpPr>
        <p:spPr bwMode="auto">
          <a:xfrm>
            <a:off x="5638800" y="1447800"/>
            <a:ext cx="2390775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2400" b="1">
                <a:latin typeface="Courier" pitchFamily="49" charset="0"/>
              </a:rPr>
              <a:t>lw rt, offset(rs)</a:t>
            </a:r>
            <a:endParaRPr lang="en-US" sz="1800" b="1">
              <a:latin typeface="Courier" pitchFamily="49" charset="0"/>
            </a:endParaRPr>
          </a:p>
        </p:txBody>
      </p:sp>
      <p:sp>
        <p:nvSpPr>
          <p:cNvPr id="599069" name="Rectangle 29"/>
          <p:cNvSpPr>
            <a:spLocks noChangeArrowheads="1"/>
          </p:cNvSpPr>
          <p:nvPr/>
        </p:nvSpPr>
        <p:spPr bwMode="auto">
          <a:xfrm>
            <a:off x="4378325" y="2041525"/>
            <a:ext cx="4775200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b="1">
                <a:latin typeface="Helvetica" pitchFamily="34" charset="0"/>
              </a:rPr>
              <a:t>R[rt] &lt;- </a:t>
            </a:r>
            <a:r>
              <a:rPr lang="en-US" b="1">
                <a:solidFill>
                  <a:srgbClr val="000066"/>
                </a:solidFill>
                <a:latin typeface="Helvetica" pitchFamily="34" charset="0"/>
              </a:rPr>
              <a:t>MEM[</a:t>
            </a:r>
            <a:r>
              <a:rPr lang="en-US" b="1">
                <a:latin typeface="Helvetica" pitchFamily="34" charset="0"/>
              </a:rPr>
              <a:t>R[rs] + s_extend(offset)</a:t>
            </a:r>
            <a:r>
              <a:rPr lang="en-US" b="1">
                <a:solidFill>
                  <a:srgbClr val="000066"/>
                </a:solidFill>
                <a:latin typeface="Helvetica" pitchFamily="34" charset="0"/>
              </a:rPr>
              <a:t>]</a:t>
            </a:r>
            <a:r>
              <a:rPr lang="en-US" b="1">
                <a:latin typeface="Helvetica" pitchFamily="34" charset="0"/>
              </a:rPr>
              <a:t>;</a:t>
            </a:r>
          </a:p>
        </p:txBody>
      </p:sp>
      <p:sp>
        <p:nvSpPr>
          <p:cNvPr id="3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Mayank Pandey, MNNIT, Allahabad, India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599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99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99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99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99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599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599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599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599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9046" grpId="0" animBg="1" autoUpdateAnimBg="0"/>
      <p:bldP spid="599047" grpId="0" animBg="1" autoUpdateAnimBg="0"/>
      <p:bldP spid="599048" grpId="0" animBg="1" autoUpdateAnimBg="0"/>
      <p:bldP spid="599049" grpId="0" animBg="1" autoUpdateAnimBg="0"/>
      <p:bldP spid="599050" grpId="0" animBg="1" autoUpdateAnimBg="0"/>
      <p:bldP spid="599059" grpId="0" animBg="1" autoUpdateAnimBg="0"/>
      <p:bldP spid="599063" grpId="0" animBg="1"/>
      <p:bldP spid="599064" grpId="0" animBg="1"/>
      <p:bldP spid="59906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3463925" y="4038600"/>
            <a:ext cx="2514600" cy="663575"/>
            <a:chOff x="2352" y="2592"/>
            <a:chExt cx="1584" cy="418"/>
          </a:xfrm>
        </p:grpSpPr>
        <p:sp>
          <p:nvSpPr>
            <p:cNvPr id="596995" name="Rectangle 3"/>
            <p:cNvSpPr>
              <a:spLocks noChangeArrowheads="1"/>
            </p:cNvSpPr>
            <p:nvPr/>
          </p:nvSpPr>
          <p:spPr bwMode="auto">
            <a:xfrm flipV="1">
              <a:off x="2448" y="2592"/>
              <a:ext cx="96" cy="384"/>
            </a:xfrm>
            <a:prstGeom prst="rect">
              <a:avLst/>
            </a:prstGeom>
            <a:solidFill>
              <a:srgbClr val="FF66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rot="10800000" wrap="none" anchor="ctr"/>
            <a:lstStyle/>
            <a:p>
              <a:pPr algn="ctr" eaLnBrk="0" hangingPunct="0"/>
              <a:endParaRPr lang="en-US" sz="2800" u="sng"/>
            </a:p>
          </p:txBody>
        </p:sp>
        <p:sp>
          <p:nvSpPr>
            <p:cNvPr id="596996" name="Rectangle 4"/>
            <p:cNvSpPr>
              <a:spLocks noChangeArrowheads="1"/>
            </p:cNvSpPr>
            <p:nvPr/>
          </p:nvSpPr>
          <p:spPr bwMode="auto">
            <a:xfrm>
              <a:off x="2352" y="2592"/>
              <a:ext cx="144" cy="96"/>
            </a:xfrm>
            <a:prstGeom prst="rect">
              <a:avLst/>
            </a:prstGeom>
            <a:solidFill>
              <a:srgbClr val="FF66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endParaRPr lang="en-US" sz="2800" u="sng"/>
            </a:p>
          </p:txBody>
        </p:sp>
        <p:sp>
          <p:nvSpPr>
            <p:cNvPr id="596997" name="Rectangle 5"/>
            <p:cNvSpPr>
              <a:spLocks noChangeArrowheads="1"/>
            </p:cNvSpPr>
            <p:nvPr/>
          </p:nvSpPr>
          <p:spPr bwMode="auto">
            <a:xfrm>
              <a:off x="2448" y="2914"/>
              <a:ext cx="1488" cy="96"/>
            </a:xfrm>
            <a:prstGeom prst="rect">
              <a:avLst/>
            </a:prstGeom>
            <a:solidFill>
              <a:srgbClr val="FF66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endParaRPr lang="en-US" sz="2800" u="sng"/>
            </a:p>
          </p:txBody>
        </p:sp>
      </p:grpSp>
      <p:grpSp>
        <p:nvGrpSpPr>
          <p:cNvPr id="3" name="Group 6"/>
          <p:cNvGrpSpPr>
            <a:grpSpLocks/>
          </p:cNvGrpSpPr>
          <p:nvPr/>
        </p:nvGrpSpPr>
        <p:grpSpPr bwMode="auto">
          <a:xfrm>
            <a:off x="1406525" y="1893888"/>
            <a:ext cx="2492375" cy="1001712"/>
            <a:chOff x="1056" y="1241"/>
            <a:chExt cx="1570" cy="631"/>
          </a:xfrm>
        </p:grpSpPr>
        <p:sp>
          <p:nvSpPr>
            <p:cNvPr id="596999" name="Rectangle 7"/>
            <p:cNvSpPr>
              <a:spLocks noChangeArrowheads="1"/>
            </p:cNvSpPr>
            <p:nvPr/>
          </p:nvSpPr>
          <p:spPr bwMode="auto">
            <a:xfrm>
              <a:off x="2530" y="1241"/>
              <a:ext cx="96" cy="240"/>
            </a:xfrm>
            <a:prstGeom prst="rect">
              <a:avLst/>
            </a:prstGeom>
            <a:solidFill>
              <a:srgbClr val="00CC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97000" name="Rectangle 8"/>
            <p:cNvSpPr>
              <a:spLocks noChangeArrowheads="1"/>
            </p:cNvSpPr>
            <p:nvPr/>
          </p:nvSpPr>
          <p:spPr bwMode="auto">
            <a:xfrm>
              <a:off x="1550" y="1248"/>
              <a:ext cx="110" cy="384"/>
            </a:xfrm>
            <a:prstGeom prst="rect">
              <a:avLst/>
            </a:prstGeom>
            <a:solidFill>
              <a:srgbClr val="00CC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97001" name="Rectangle 9"/>
            <p:cNvSpPr>
              <a:spLocks noChangeArrowheads="1"/>
            </p:cNvSpPr>
            <p:nvPr/>
          </p:nvSpPr>
          <p:spPr bwMode="auto">
            <a:xfrm>
              <a:off x="1666" y="1536"/>
              <a:ext cx="96" cy="336"/>
            </a:xfrm>
            <a:prstGeom prst="rect">
              <a:avLst/>
            </a:prstGeom>
            <a:solidFill>
              <a:srgbClr val="00CC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97002" name="Rectangle 10"/>
            <p:cNvSpPr>
              <a:spLocks noChangeArrowheads="1"/>
            </p:cNvSpPr>
            <p:nvPr/>
          </p:nvSpPr>
          <p:spPr bwMode="auto">
            <a:xfrm>
              <a:off x="1570" y="1508"/>
              <a:ext cx="192" cy="96"/>
            </a:xfrm>
            <a:prstGeom prst="rect">
              <a:avLst/>
            </a:prstGeom>
            <a:solidFill>
              <a:srgbClr val="00CC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97003" name="Rectangle 11"/>
            <p:cNvSpPr>
              <a:spLocks noChangeArrowheads="1"/>
            </p:cNvSpPr>
            <p:nvPr/>
          </p:nvSpPr>
          <p:spPr bwMode="auto">
            <a:xfrm>
              <a:off x="1310" y="1536"/>
              <a:ext cx="96" cy="336"/>
            </a:xfrm>
            <a:prstGeom prst="rect">
              <a:avLst/>
            </a:prstGeom>
            <a:solidFill>
              <a:srgbClr val="00CC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97004" name="Rectangle 12"/>
            <p:cNvSpPr>
              <a:spLocks noChangeArrowheads="1"/>
            </p:cNvSpPr>
            <p:nvPr/>
          </p:nvSpPr>
          <p:spPr bwMode="auto">
            <a:xfrm>
              <a:off x="1070" y="1509"/>
              <a:ext cx="336" cy="96"/>
            </a:xfrm>
            <a:prstGeom prst="rect">
              <a:avLst/>
            </a:prstGeom>
            <a:solidFill>
              <a:srgbClr val="00CC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97005" name="Rectangle 13"/>
            <p:cNvSpPr>
              <a:spLocks noChangeArrowheads="1"/>
            </p:cNvSpPr>
            <p:nvPr/>
          </p:nvSpPr>
          <p:spPr bwMode="auto">
            <a:xfrm>
              <a:off x="1056" y="1248"/>
              <a:ext cx="96" cy="288"/>
            </a:xfrm>
            <a:prstGeom prst="rect">
              <a:avLst/>
            </a:prstGeom>
            <a:solidFill>
              <a:srgbClr val="00CC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4" name="Group 14"/>
          <p:cNvGrpSpPr>
            <a:grpSpLocks/>
          </p:cNvGrpSpPr>
          <p:nvPr/>
        </p:nvGrpSpPr>
        <p:grpSpPr bwMode="auto">
          <a:xfrm>
            <a:off x="4911725" y="3579813"/>
            <a:ext cx="1055688" cy="665162"/>
            <a:chOff x="3264" y="2303"/>
            <a:chExt cx="665" cy="419"/>
          </a:xfrm>
        </p:grpSpPr>
        <p:sp>
          <p:nvSpPr>
            <p:cNvPr id="597007" name="Rectangle 15"/>
            <p:cNvSpPr>
              <a:spLocks noChangeArrowheads="1"/>
            </p:cNvSpPr>
            <p:nvPr/>
          </p:nvSpPr>
          <p:spPr bwMode="auto">
            <a:xfrm flipV="1">
              <a:off x="3483" y="2325"/>
              <a:ext cx="117" cy="391"/>
            </a:xfrm>
            <a:prstGeom prst="rect">
              <a:avLst/>
            </a:prstGeom>
            <a:solidFill>
              <a:srgbClr val="FF66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rot="10800000" wrap="none" anchor="ctr"/>
            <a:lstStyle/>
            <a:p>
              <a:pPr algn="ctr" eaLnBrk="0" hangingPunct="0"/>
              <a:endParaRPr lang="en-US" sz="2800" u="sng"/>
            </a:p>
          </p:txBody>
        </p:sp>
        <p:sp>
          <p:nvSpPr>
            <p:cNvPr id="597008" name="Rectangle 16"/>
            <p:cNvSpPr>
              <a:spLocks noChangeArrowheads="1"/>
            </p:cNvSpPr>
            <p:nvPr/>
          </p:nvSpPr>
          <p:spPr bwMode="auto">
            <a:xfrm>
              <a:off x="3545" y="2626"/>
              <a:ext cx="384" cy="96"/>
            </a:xfrm>
            <a:prstGeom prst="rect">
              <a:avLst/>
            </a:prstGeom>
            <a:solidFill>
              <a:srgbClr val="FF66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endParaRPr lang="en-US" sz="2800" u="sng"/>
            </a:p>
          </p:txBody>
        </p:sp>
        <p:sp>
          <p:nvSpPr>
            <p:cNvPr id="597009" name="Rectangle 17"/>
            <p:cNvSpPr>
              <a:spLocks noChangeArrowheads="1"/>
            </p:cNvSpPr>
            <p:nvPr/>
          </p:nvSpPr>
          <p:spPr bwMode="auto">
            <a:xfrm>
              <a:off x="3264" y="2303"/>
              <a:ext cx="288" cy="96"/>
            </a:xfrm>
            <a:prstGeom prst="rect">
              <a:avLst/>
            </a:prstGeom>
            <a:solidFill>
              <a:srgbClr val="FF66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endParaRPr lang="en-US" sz="2800" u="sng"/>
            </a:p>
          </p:txBody>
        </p:sp>
      </p:grpSp>
      <p:grpSp>
        <p:nvGrpSpPr>
          <p:cNvPr id="5" name="Group 18"/>
          <p:cNvGrpSpPr>
            <a:grpSpLocks/>
          </p:cNvGrpSpPr>
          <p:nvPr/>
        </p:nvGrpSpPr>
        <p:grpSpPr bwMode="auto">
          <a:xfrm>
            <a:off x="3844925" y="4038600"/>
            <a:ext cx="381000" cy="1066800"/>
            <a:chOff x="2592" y="2592"/>
            <a:chExt cx="240" cy="672"/>
          </a:xfrm>
        </p:grpSpPr>
        <p:sp>
          <p:nvSpPr>
            <p:cNvPr id="597011" name="Rectangle 19"/>
            <p:cNvSpPr>
              <a:spLocks noChangeArrowheads="1"/>
            </p:cNvSpPr>
            <p:nvPr/>
          </p:nvSpPr>
          <p:spPr bwMode="auto">
            <a:xfrm>
              <a:off x="2592" y="2592"/>
              <a:ext cx="240" cy="96"/>
            </a:xfrm>
            <a:prstGeom prst="rect">
              <a:avLst/>
            </a:prstGeom>
            <a:solidFill>
              <a:srgbClr val="00CC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97012" name="Rectangle 20"/>
            <p:cNvSpPr>
              <a:spLocks noChangeArrowheads="1"/>
            </p:cNvSpPr>
            <p:nvPr/>
          </p:nvSpPr>
          <p:spPr bwMode="auto">
            <a:xfrm>
              <a:off x="2592" y="2592"/>
              <a:ext cx="96" cy="672"/>
            </a:xfrm>
            <a:prstGeom prst="rect">
              <a:avLst/>
            </a:prstGeom>
            <a:solidFill>
              <a:srgbClr val="00CC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597013" name="Rectangle 21"/>
          <p:cNvSpPr>
            <a:spLocks noChangeArrowheads="1"/>
          </p:cNvSpPr>
          <p:nvPr/>
        </p:nvSpPr>
        <p:spPr bwMode="auto">
          <a:xfrm>
            <a:off x="492125" y="5006975"/>
            <a:ext cx="3429000" cy="152400"/>
          </a:xfrm>
          <a:prstGeom prst="rect">
            <a:avLst/>
          </a:prstGeom>
          <a:solidFill>
            <a:srgbClr val="00CCFF"/>
          </a:solidFill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597014" name="Rectangle 22"/>
          <p:cNvSpPr>
            <a:spLocks noChangeArrowheads="1"/>
          </p:cNvSpPr>
          <p:nvPr/>
        </p:nvSpPr>
        <p:spPr bwMode="auto">
          <a:xfrm>
            <a:off x="568325" y="2133600"/>
            <a:ext cx="3276600" cy="152400"/>
          </a:xfrm>
          <a:prstGeom prst="rect">
            <a:avLst/>
          </a:prstGeom>
          <a:solidFill>
            <a:srgbClr val="00CCFF"/>
          </a:solidFill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597015" name="Rectangle 23"/>
          <p:cNvSpPr>
            <a:spLocks noChangeArrowheads="1"/>
          </p:cNvSpPr>
          <p:nvPr/>
        </p:nvSpPr>
        <p:spPr bwMode="auto">
          <a:xfrm>
            <a:off x="492125" y="2133600"/>
            <a:ext cx="152400" cy="2971800"/>
          </a:xfrm>
          <a:prstGeom prst="rect">
            <a:avLst/>
          </a:prstGeom>
          <a:solidFill>
            <a:srgbClr val="00CCFF"/>
          </a:solidFill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597016" name="Rectangle 24"/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7793037" cy="1143000"/>
          </a:xfrm>
        </p:spPr>
        <p:txBody>
          <a:bodyPr/>
          <a:lstStyle/>
          <a:p>
            <a:r>
              <a:rPr lang="en-US" dirty="0"/>
              <a:t>Animating the </a:t>
            </a:r>
            <a:r>
              <a:rPr lang="en-US" dirty="0" smtClean="0"/>
              <a:t>Data-path</a:t>
            </a:r>
            <a:endParaRPr lang="en-US" dirty="0"/>
          </a:p>
        </p:txBody>
      </p:sp>
      <p:grpSp>
        <p:nvGrpSpPr>
          <p:cNvPr id="6" name="Group 25"/>
          <p:cNvGrpSpPr>
            <a:grpSpLocks/>
          </p:cNvGrpSpPr>
          <p:nvPr/>
        </p:nvGrpSpPr>
        <p:grpSpPr bwMode="auto">
          <a:xfrm>
            <a:off x="3463925" y="3124200"/>
            <a:ext cx="762000" cy="1066800"/>
            <a:chOff x="2352" y="2016"/>
            <a:chExt cx="480" cy="672"/>
          </a:xfrm>
        </p:grpSpPr>
        <p:sp>
          <p:nvSpPr>
            <p:cNvPr id="597018" name="Rectangle 26"/>
            <p:cNvSpPr>
              <a:spLocks noChangeArrowheads="1"/>
            </p:cNvSpPr>
            <p:nvPr/>
          </p:nvSpPr>
          <p:spPr bwMode="auto">
            <a:xfrm>
              <a:off x="2352" y="2016"/>
              <a:ext cx="480" cy="96"/>
            </a:xfrm>
            <a:prstGeom prst="rect">
              <a:avLst/>
            </a:prstGeom>
            <a:solidFill>
              <a:srgbClr val="FF66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97019" name="Rectangle 27"/>
            <p:cNvSpPr>
              <a:spLocks noChangeArrowheads="1"/>
            </p:cNvSpPr>
            <p:nvPr/>
          </p:nvSpPr>
          <p:spPr bwMode="auto">
            <a:xfrm>
              <a:off x="2352" y="2599"/>
              <a:ext cx="144" cy="89"/>
            </a:xfrm>
            <a:prstGeom prst="rect">
              <a:avLst/>
            </a:prstGeom>
            <a:solidFill>
              <a:srgbClr val="FF66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endParaRPr lang="en-US" sz="2800" u="sng"/>
            </a:p>
          </p:txBody>
        </p:sp>
      </p:grpSp>
      <p:pic>
        <p:nvPicPr>
          <p:cNvPr id="597020" name="Picture 28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1574800"/>
            <a:ext cx="8293100" cy="42926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</p:pic>
      <p:sp>
        <p:nvSpPr>
          <p:cNvPr id="597021" name="Text Box 29"/>
          <p:cNvSpPr txBox="1">
            <a:spLocks noChangeArrowheads="1"/>
          </p:cNvSpPr>
          <p:nvPr/>
        </p:nvSpPr>
        <p:spPr bwMode="auto">
          <a:xfrm>
            <a:off x="5638800" y="1371600"/>
            <a:ext cx="2451100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2400" b="1">
                <a:latin typeface="Courier" pitchFamily="49" charset="0"/>
              </a:rPr>
              <a:t>sw rt, offset(rs)</a:t>
            </a:r>
            <a:endParaRPr lang="en-US" sz="1800" b="1">
              <a:latin typeface="Courier" pitchFamily="49" charset="0"/>
            </a:endParaRPr>
          </a:p>
        </p:txBody>
      </p:sp>
      <p:sp>
        <p:nvSpPr>
          <p:cNvPr id="597022" name="Rectangle 30"/>
          <p:cNvSpPr>
            <a:spLocks noChangeArrowheads="1"/>
          </p:cNvSpPr>
          <p:nvPr/>
        </p:nvSpPr>
        <p:spPr bwMode="auto">
          <a:xfrm>
            <a:off x="4071938" y="1905000"/>
            <a:ext cx="5072062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b="1">
                <a:solidFill>
                  <a:srgbClr val="000066"/>
                </a:solidFill>
                <a:latin typeface="Helvetica" pitchFamily="34" charset="0"/>
              </a:rPr>
              <a:t>MEM[</a:t>
            </a:r>
            <a:r>
              <a:rPr lang="en-US" b="1">
                <a:latin typeface="Helvetica" pitchFamily="34" charset="0"/>
              </a:rPr>
              <a:t>R[rs] + sign_extend(offset)</a:t>
            </a:r>
            <a:r>
              <a:rPr lang="en-US" b="1">
                <a:solidFill>
                  <a:srgbClr val="000066"/>
                </a:solidFill>
                <a:latin typeface="Helvetica" pitchFamily="34" charset="0"/>
              </a:rPr>
              <a:t>]</a:t>
            </a:r>
            <a:r>
              <a:rPr lang="en-US" b="1">
                <a:latin typeface="Helvetica" pitchFamily="34" charset="0"/>
              </a:rPr>
              <a:t> &lt;- R[rt]</a:t>
            </a:r>
          </a:p>
        </p:txBody>
      </p:sp>
      <p:sp>
        <p:nvSpPr>
          <p:cNvPr id="3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Mayank Pandey, MNNIT, Allahabad, India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597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97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97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7013" grpId="0" animBg="1"/>
      <p:bldP spid="597014" grpId="0" animBg="1"/>
      <p:bldP spid="59701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2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/>
          <a:lstStyle/>
          <a:p>
            <a:r>
              <a:rPr lang="en-US" dirty="0" smtClean="0"/>
              <a:t>Data-path</a:t>
            </a:r>
            <a:r>
              <a:rPr lang="en-US" dirty="0"/>
              <a:t>: Branch Instruction</a:t>
            </a:r>
          </a:p>
        </p:txBody>
      </p:sp>
      <p:pic>
        <p:nvPicPr>
          <p:cNvPr id="521220" name="Picture 4" descr="F051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77987" y="1600200"/>
            <a:ext cx="5791200" cy="4262438"/>
          </a:xfrm>
          <a:prstGeom prst="rect">
            <a:avLst/>
          </a:prstGeom>
          <a:noFill/>
        </p:spPr>
      </p:pic>
      <p:sp>
        <p:nvSpPr>
          <p:cNvPr id="521221" name="Text Box 5"/>
          <p:cNvSpPr txBox="1">
            <a:spLocks noChangeArrowheads="1"/>
          </p:cNvSpPr>
          <p:nvPr/>
        </p:nvSpPr>
        <p:spPr bwMode="auto">
          <a:xfrm>
            <a:off x="3517900" y="5911850"/>
            <a:ext cx="113188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b="1">
                <a:latin typeface="Tahoma" pitchFamily="34" charset="0"/>
              </a:rPr>
              <a:t>Datapath</a:t>
            </a:r>
          </a:p>
        </p:txBody>
      </p:sp>
      <p:sp>
        <p:nvSpPr>
          <p:cNvPr id="521222" name="Text Box 6"/>
          <p:cNvSpPr txBox="1">
            <a:spLocks noChangeArrowheads="1"/>
          </p:cNvSpPr>
          <p:nvPr/>
        </p:nvSpPr>
        <p:spPr bwMode="auto">
          <a:xfrm>
            <a:off x="762000" y="2057400"/>
            <a:ext cx="2105025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 dirty="0">
                <a:latin typeface="Tahoma" pitchFamily="34" charset="0"/>
              </a:rPr>
              <a:t>No shift hardware required:</a:t>
            </a:r>
          </a:p>
          <a:p>
            <a:r>
              <a:rPr lang="en-US" sz="1200" dirty="0">
                <a:latin typeface="Tahoma" pitchFamily="34" charset="0"/>
              </a:rPr>
              <a:t>simply connect wires from </a:t>
            </a:r>
          </a:p>
          <a:p>
            <a:r>
              <a:rPr lang="en-US" sz="1200" dirty="0">
                <a:latin typeface="Tahoma" pitchFamily="34" charset="0"/>
              </a:rPr>
              <a:t>input to output, each shifted</a:t>
            </a:r>
          </a:p>
          <a:p>
            <a:r>
              <a:rPr lang="en-US" sz="1200" dirty="0">
                <a:latin typeface="Tahoma" pitchFamily="34" charset="0"/>
              </a:rPr>
              <a:t>left 2 bits</a:t>
            </a:r>
          </a:p>
        </p:txBody>
      </p:sp>
      <p:sp>
        <p:nvSpPr>
          <p:cNvPr id="521224" name="Line 8"/>
          <p:cNvSpPr>
            <a:spLocks noChangeShapeType="1"/>
          </p:cNvSpPr>
          <p:nvPr/>
        </p:nvSpPr>
        <p:spPr bwMode="auto">
          <a:xfrm>
            <a:off x="2744787" y="2362200"/>
            <a:ext cx="1981200" cy="1524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arrow" w="med" len="med"/>
          </a:ln>
          <a:effectLst/>
        </p:spPr>
        <p:txBody>
          <a:bodyPr wrap="none"/>
          <a:lstStyle/>
          <a:p>
            <a:endParaRPr lang="en-IN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Mayank Pandey, MNNIT, Allahabad, India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018" name="Rectangle 1026"/>
          <p:cNvSpPr>
            <a:spLocks noChangeArrowheads="1"/>
          </p:cNvSpPr>
          <p:nvPr/>
        </p:nvSpPr>
        <p:spPr bwMode="auto">
          <a:xfrm>
            <a:off x="8077200" y="2133600"/>
            <a:ext cx="457200" cy="152400"/>
          </a:xfrm>
          <a:prstGeom prst="rect">
            <a:avLst/>
          </a:prstGeom>
          <a:solidFill>
            <a:srgbClr val="00FF00"/>
          </a:solidFill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598019" name="Rectangle 1027"/>
          <p:cNvSpPr>
            <a:spLocks noChangeArrowheads="1"/>
          </p:cNvSpPr>
          <p:nvPr/>
        </p:nvSpPr>
        <p:spPr bwMode="auto">
          <a:xfrm>
            <a:off x="6858000" y="1676400"/>
            <a:ext cx="457200" cy="152400"/>
          </a:xfrm>
          <a:prstGeom prst="rect">
            <a:avLst/>
          </a:prstGeom>
          <a:solidFill>
            <a:srgbClr val="00FF00"/>
          </a:solidFill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598020" name="Rectangle 1028"/>
          <p:cNvSpPr>
            <a:spLocks noChangeArrowheads="1"/>
          </p:cNvSpPr>
          <p:nvPr/>
        </p:nvSpPr>
        <p:spPr bwMode="auto">
          <a:xfrm>
            <a:off x="5257800" y="3124200"/>
            <a:ext cx="533400" cy="152400"/>
          </a:xfrm>
          <a:prstGeom prst="rect">
            <a:avLst/>
          </a:prstGeom>
          <a:solidFill>
            <a:srgbClr val="FF6600"/>
          </a:solidFill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grpSp>
        <p:nvGrpSpPr>
          <p:cNvPr id="2" name="Group 1029"/>
          <p:cNvGrpSpPr>
            <a:grpSpLocks/>
          </p:cNvGrpSpPr>
          <p:nvPr/>
        </p:nvGrpSpPr>
        <p:grpSpPr bwMode="auto">
          <a:xfrm>
            <a:off x="3810000" y="2994025"/>
            <a:ext cx="762000" cy="1066800"/>
            <a:chOff x="2976" y="2489"/>
            <a:chExt cx="480" cy="672"/>
          </a:xfrm>
        </p:grpSpPr>
        <p:sp>
          <p:nvSpPr>
            <p:cNvPr id="598022" name="Rectangle 1030"/>
            <p:cNvSpPr>
              <a:spLocks noChangeArrowheads="1"/>
            </p:cNvSpPr>
            <p:nvPr/>
          </p:nvSpPr>
          <p:spPr bwMode="auto">
            <a:xfrm>
              <a:off x="2976" y="3065"/>
              <a:ext cx="480" cy="96"/>
            </a:xfrm>
            <a:prstGeom prst="rect">
              <a:avLst/>
            </a:prstGeom>
            <a:solidFill>
              <a:srgbClr val="FF66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98023" name="Rectangle 1031"/>
            <p:cNvSpPr>
              <a:spLocks noChangeArrowheads="1"/>
            </p:cNvSpPr>
            <p:nvPr/>
          </p:nvSpPr>
          <p:spPr bwMode="auto">
            <a:xfrm>
              <a:off x="2976" y="2489"/>
              <a:ext cx="480" cy="96"/>
            </a:xfrm>
            <a:prstGeom prst="rect">
              <a:avLst/>
            </a:prstGeom>
            <a:solidFill>
              <a:srgbClr val="FF66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598024" name="Rectangle 1032"/>
          <p:cNvSpPr>
            <a:spLocks noChangeArrowheads="1"/>
          </p:cNvSpPr>
          <p:nvPr/>
        </p:nvSpPr>
        <p:spPr bwMode="auto">
          <a:xfrm>
            <a:off x="838200" y="2003425"/>
            <a:ext cx="152400" cy="2971800"/>
          </a:xfrm>
          <a:prstGeom prst="rect">
            <a:avLst/>
          </a:prstGeom>
          <a:solidFill>
            <a:srgbClr val="00CCFF"/>
          </a:solidFill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598025" name="Rectangle 1033"/>
          <p:cNvSpPr>
            <a:spLocks noChangeArrowheads="1"/>
          </p:cNvSpPr>
          <p:nvPr/>
        </p:nvSpPr>
        <p:spPr bwMode="auto">
          <a:xfrm>
            <a:off x="914400" y="2003425"/>
            <a:ext cx="3276600" cy="152400"/>
          </a:xfrm>
          <a:prstGeom prst="rect">
            <a:avLst/>
          </a:prstGeom>
          <a:solidFill>
            <a:srgbClr val="00CCFF"/>
          </a:solidFill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598026" name="Rectangle 1034"/>
          <p:cNvSpPr>
            <a:spLocks noChangeArrowheads="1"/>
          </p:cNvSpPr>
          <p:nvPr/>
        </p:nvSpPr>
        <p:spPr bwMode="auto">
          <a:xfrm>
            <a:off x="838200" y="4876800"/>
            <a:ext cx="3429000" cy="152400"/>
          </a:xfrm>
          <a:prstGeom prst="rect">
            <a:avLst/>
          </a:prstGeom>
          <a:solidFill>
            <a:srgbClr val="00CCFF"/>
          </a:solidFill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598027" name="Rectangle 1035"/>
          <p:cNvSpPr>
            <a:spLocks noChangeArrowheads="1"/>
          </p:cNvSpPr>
          <p:nvPr/>
        </p:nvSpPr>
        <p:spPr bwMode="auto">
          <a:xfrm>
            <a:off x="4191000" y="2590800"/>
            <a:ext cx="152400" cy="2384425"/>
          </a:xfrm>
          <a:prstGeom prst="rect">
            <a:avLst/>
          </a:prstGeom>
          <a:solidFill>
            <a:srgbClr val="00CCFF"/>
          </a:solidFill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598028" name="Rectangle 1036"/>
          <p:cNvSpPr>
            <a:spLocks noChangeArrowheads="1"/>
          </p:cNvSpPr>
          <p:nvPr/>
        </p:nvSpPr>
        <p:spPr bwMode="auto">
          <a:xfrm>
            <a:off x="4179888" y="2547938"/>
            <a:ext cx="2133600" cy="152400"/>
          </a:xfrm>
          <a:prstGeom prst="rect">
            <a:avLst/>
          </a:prstGeom>
          <a:solidFill>
            <a:srgbClr val="00CCFF"/>
          </a:solidFill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598029" name="Rectangle 1037"/>
          <p:cNvSpPr>
            <a:spLocks noChangeArrowheads="1"/>
          </p:cNvSpPr>
          <p:nvPr/>
        </p:nvSpPr>
        <p:spPr bwMode="auto">
          <a:xfrm>
            <a:off x="6923088" y="2536825"/>
            <a:ext cx="381000" cy="152400"/>
          </a:xfrm>
          <a:prstGeom prst="rect">
            <a:avLst/>
          </a:prstGeom>
          <a:solidFill>
            <a:srgbClr val="00CCFF"/>
          </a:solidFill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grpSp>
        <p:nvGrpSpPr>
          <p:cNvPr id="3" name="Group 1038"/>
          <p:cNvGrpSpPr>
            <a:grpSpLocks/>
          </p:cNvGrpSpPr>
          <p:nvPr/>
        </p:nvGrpSpPr>
        <p:grpSpPr bwMode="auto">
          <a:xfrm>
            <a:off x="1752600" y="1752600"/>
            <a:ext cx="2492375" cy="1001713"/>
            <a:chOff x="1056" y="1241"/>
            <a:chExt cx="1570" cy="631"/>
          </a:xfrm>
        </p:grpSpPr>
        <p:sp>
          <p:nvSpPr>
            <p:cNvPr id="598031" name="Rectangle 1039"/>
            <p:cNvSpPr>
              <a:spLocks noChangeArrowheads="1"/>
            </p:cNvSpPr>
            <p:nvPr/>
          </p:nvSpPr>
          <p:spPr bwMode="auto">
            <a:xfrm>
              <a:off x="2530" y="1241"/>
              <a:ext cx="96" cy="240"/>
            </a:xfrm>
            <a:prstGeom prst="rect">
              <a:avLst/>
            </a:prstGeom>
            <a:solidFill>
              <a:srgbClr val="00CC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98032" name="Rectangle 1040"/>
            <p:cNvSpPr>
              <a:spLocks noChangeArrowheads="1"/>
            </p:cNvSpPr>
            <p:nvPr/>
          </p:nvSpPr>
          <p:spPr bwMode="auto">
            <a:xfrm>
              <a:off x="1550" y="1248"/>
              <a:ext cx="110" cy="384"/>
            </a:xfrm>
            <a:prstGeom prst="rect">
              <a:avLst/>
            </a:prstGeom>
            <a:solidFill>
              <a:srgbClr val="00CC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98033" name="Rectangle 1041"/>
            <p:cNvSpPr>
              <a:spLocks noChangeArrowheads="1"/>
            </p:cNvSpPr>
            <p:nvPr/>
          </p:nvSpPr>
          <p:spPr bwMode="auto">
            <a:xfrm>
              <a:off x="1666" y="1536"/>
              <a:ext cx="96" cy="336"/>
            </a:xfrm>
            <a:prstGeom prst="rect">
              <a:avLst/>
            </a:prstGeom>
            <a:solidFill>
              <a:srgbClr val="00CC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98034" name="Rectangle 1042"/>
            <p:cNvSpPr>
              <a:spLocks noChangeArrowheads="1"/>
            </p:cNvSpPr>
            <p:nvPr/>
          </p:nvSpPr>
          <p:spPr bwMode="auto">
            <a:xfrm>
              <a:off x="1570" y="1508"/>
              <a:ext cx="192" cy="96"/>
            </a:xfrm>
            <a:prstGeom prst="rect">
              <a:avLst/>
            </a:prstGeom>
            <a:solidFill>
              <a:srgbClr val="00CC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98035" name="Rectangle 1043"/>
            <p:cNvSpPr>
              <a:spLocks noChangeArrowheads="1"/>
            </p:cNvSpPr>
            <p:nvPr/>
          </p:nvSpPr>
          <p:spPr bwMode="auto">
            <a:xfrm>
              <a:off x="1310" y="1536"/>
              <a:ext cx="96" cy="336"/>
            </a:xfrm>
            <a:prstGeom prst="rect">
              <a:avLst/>
            </a:prstGeom>
            <a:solidFill>
              <a:srgbClr val="00CC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98036" name="Rectangle 1044"/>
            <p:cNvSpPr>
              <a:spLocks noChangeArrowheads="1"/>
            </p:cNvSpPr>
            <p:nvPr/>
          </p:nvSpPr>
          <p:spPr bwMode="auto">
            <a:xfrm>
              <a:off x="1070" y="1509"/>
              <a:ext cx="336" cy="96"/>
            </a:xfrm>
            <a:prstGeom prst="rect">
              <a:avLst/>
            </a:prstGeom>
            <a:solidFill>
              <a:srgbClr val="00CC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98037" name="Rectangle 1045"/>
            <p:cNvSpPr>
              <a:spLocks noChangeArrowheads="1"/>
            </p:cNvSpPr>
            <p:nvPr/>
          </p:nvSpPr>
          <p:spPr bwMode="auto">
            <a:xfrm>
              <a:off x="1056" y="1248"/>
              <a:ext cx="96" cy="288"/>
            </a:xfrm>
            <a:prstGeom prst="rect">
              <a:avLst/>
            </a:prstGeom>
            <a:solidFill>
              <a:srgbClr val="00CC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598038" name="Rectangle 1046"/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7793037" cy="1143000"/>
          </a:xfrm>
        </p:spPr>
        <p:txBody>
          <a:bodyPr/>
          <a:lstStyle/>
          <a:p>
            <a:r>
              <a:rPr lang="en-US" dirty="0"/>
              <a:t>Animating the </a:t>
            </a:r>
            <a:r>
              <a:rPr lang="en-US" dirty="0" smtClean="0"/>
              <a:t>Data-path</a:t>
            </a:r>
            <a:endParaRPr lang="en-US" dirty="0"/>
          </a:p>
        </p:txBody>
      </p:sp>
      <p:sp>
        <p:nvSpPr>
          <p:cNvPr id="598039" name="Text Box 1047"/>
          <p:cNvSpPr txBox="1">
            <a:spLocks noChangeArrowheads="1"/>
          </p:cNvSpPr>
          <p:nvPr/>
        </p:nvSpPr>
        <p:spPr bwMode="auto">
          <a:xfrm>
            <a:off x="4800600" y="4419600"/>
            <a:ext cx="3886200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eaLnBrk="0" hangingPunct="0"/>
            <a:r>
              <a:rPr lang="en-US" sz="2400" b="1">
                <a:latin typeface="Courier" pitchFamily="49" charset="0"/>
              </a:rPr>
              <a:t>beq rs, rt, offset</a:t>
            </a:r>
          </a:p>
        </p:txBody>
      </p:sp>
      <p:pic>
        <p:nvPicPr>
          <p:cNvPr id="598040" name="Picture 1048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5775" y="1371600"/>
            <a:ext cx="8166100" cy="41529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</p:pic>
      <p:sp>
        <p:nvSpPr>
          <p:cNvPr id="598041" name="Rectangle 1049"/>
          <p:cNvSpPr>
            <a:spLocks noChangeArrowheads="1"/>
          </p:cNvSpPr>
          <p:nvPr/>
        </p:nvSpPr>
        <p:spPr bwMode="auto">
          <a:xfrm>
            <a:off x="4343400" y="5051425"/>
            <a:ext cx="4833938" cy="7016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lvl="1" eaLnBrk="0" hangingPunct="0"/>
            <a:r>
              <a:rPr lang="en-US" b="1">
                <a:latin typeface="Helvetica" pitchFamily="34" charset="0"/>
              </a:rPr>
              <a:t>if (R[rs] == R[rt]) then </a:t>
            </a:r>
            <a:br>
              <a:rPr lang="en-US" b="1">
                <a:latin typeface="Helvetica" pitchFamily="34" charset="0"/>
              </a:rPr>
            </a:br>
            <a:r>
              <a:rPr lang="en-US" b="1">
                <a:latin typeface="Helvetica" pitchFamily="34" charset="0"/>
              </a:rPr>
              <a:t>  PC &lt;- PC+4 + s_extend(offset&lt;&lt;2)</a:t>
            </a:r>
          </a:p>
        </p:txBody>
      </p:sp>
      <p:sp>
        <p:nvSpPr>
          <p:cNvPr id="2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Mayank Pandey, MNNIT, Allahabad, India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598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98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98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98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98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98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98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98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98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8018" grpId="0" animBg="1"/>
      <p:bldP spid="598019" grpId="0" animBg="1"/>
      <p:bldP spid="598020" grpId="0" animBg="1"/>
      <p:bldP spid="598024" grpId="0" animBg="1"/>
      <p:bldP spid="598025" grpId="0" animBg="1"/>
      <p:bldP spid="598026" grpId="0" animBg="1"/>
      <p:bldP spid="598027" grpId="0" animBg="1"/>
      <p:bldP spid="598028" grpId="0" animBg="1"/>
      <p:bldP spid="59802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MIPS Datapath I: Single-Cycle</a:t>
            </a:r>
          </a:p>
        </p:txBody>
      </p:sp>
      <p:pic>
        <p:nvPicPr>
          <p:cNvPr id="553988" name="Picture 4" descr="f0511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 cstate="print"/>
          <a:srcRect l="16687" t="35376" r="14624" b="29427"/>
          <a:stretch>
            <a:fillRect/>
          </a:stretch>
        </p:blipFill>
        <p:spPr>
          <a:xfrm>
            <a:off x="228600" y="1371600"/>
            <a:ext cx="8686800" cy="4648200"/>
          </a:xfrm>
          <a:noFill/>
          <a:ln/>
        </p:spPr>
      </p:pic>
      <p:sp>
        <p:nvSpPr>
          <p:cNvPr id="553989" name="Text Box 5"/>
          <p:cNvSpPr txBox="1">
            <a:spLocks noChangeArrowheads="1"/>
          </p:cNvSpPr>
          <p:nvPr/>
        </p:nvSpPr>
        <p:spPr bwMode="auto">
          <a:xfrm>
            <a:off x="2895600" y="1447800"/>
            <a:ext cx="34877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>
                <a:latin typeface="Tahoma" pitchFamily="34" charset="0"/>
              </a:rPr>
              <a:t>Input is either register (R-type) or sign-extended</a:t>
            </a:r>
          </a:p>
          <a:p>
            <a:r>
              <a:rPr lang="en-US" sz="1200">
                <a:latin typeface="Tahoma" pitchFamily="34" charset="0"/>
              </a:rPr>
              <a:t>lower half of instruction (load/store)</a:t>
            </a:r>
          </a:p>
        </p:txBody>
      </p:sp>
      <p:sp>
        <p:nvSpPr>
          <p:cNvPr id="553990" name="Text Box 6"/>
          <p:cNvSpPr txBox="1">
            <a:spLocks noChangeArrowheads="1"/>
          </p:cNvSpPr>
          <p:nvPr/>
        </p:nvSpPr>
        <p:spPr bwMode="auto">
          <a:xfrm>
            <a:off x="2438400" y="5286375"/>
            <a:ext cx="5195888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b="1">
                <a:latin typeface="Tahoma" pitchFamily="34" charset="0"/>
              </a:rPr>
              <a:t>Combining the datapaths for R-type instructions </a:t>
            </a:r>
          </a:p>
          <a:p>
            <a:r>
              <a:rPr lang="en-US" sz="1600" b="1">
                <a:latin typeface="Tahoma" pitchFamily="34" charset="0"/>
              </a:rPr>
              <a:t>and load/stores using two multiplexors</a:t>
            </a:r>
          </a:p>
        </p:txBody>
      </p:sp>
      <p:sp>
        <p:nvSpPr>
          <p:cNvPr id="553991" name="Text Box 7"/>
          <p:cNvSpPr txBox="1">
            <a:spLocks noChangeArrowheads="1"/>
          </p:cNvSpPr>
          <p:nvPr/>
        </p:nvSpPr>
        <p:spPr bwMode="auto">
          <a:xfrm>
            <a:off x="481013" y="4999038"/>
            <a:ext cx="1423987" cy="639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>
                <a:latin typeface="Tahoma" pitchFamily="34" charset="0"/>
              </a:rPr>
              <a:t>Data is either </a:t>
            </a:r>
          </a:p>
          <a:p>
            <a:r>
              <a:rPr lang="en-US" sz="1200">
                <a:latin typeface="Tahoma" pitchFamily="34" charset="0"/>
              </a:rPr>
              <a:t>from ALU (R-type)</a:t>
            </a:r>
          </a:p>
          <a:p>
            <a:r>
              <a:rPr lang="en-US" sz="1200">
                <a:latin typeface="Tahoma" pitchFamily="34" charset="0"/>
              </a:rPr>
              <a:t>or memory (load)</a:t>
            </a:r>
          </a:p>
        </p:txBody>
      </p:sp>
      <p:sp>
        <p:nvSpPr>
          <p:cNvPr id="553992" name="Line 8"/>
          <p:cNvSpPr>
            <a:spLocks noChangeShapeType="1"/>
          </p:cNvSpPr>
          <p:nvPr/>
        </p:nvSpPr>
        <p:spPr bwMode="auto">
          <a:xfrm flipV="1">
            <a:off x="1143000" y="3581400"/>
            <a:ext cx="381000" cy="1447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arrow" w="med" len="med"/>
          </a:ln>
          <a:effectLst/>
        </p:spPr>
        <p:txBody>
          <a:bodyPr wrap="none"/>
          <a:lstStyle/>
          <a:p>
            <a:endParaRPr lang="en-IN"/>
          </a:p>
        </p:txBody>
      </p:sp>
      <p:sp>
        <p:nvSpPr>
          <p:cNvPr id="553993" name="Line 9"/>
          <p:cNvSpPr>
            <a:spLocks noChangeShapeType="1"/>
          </p:cNvSpPr>
          <p:nvPr/>
        </p:nvSpPr>
        <p:spPr bwMode="auto">
          <a:xfrm>
            <a:off x="4267200" y="1905000"/>
            <a:ext cx="304800" cy="12954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arrow" w="med" len="med"/>
          </a:ln>
          <a:effectLst/>
        </p:spPr>
        <p:txBody>
          <a:bodyPr wrap="none"/>
          <a:lstStyle/>
          <a:p>
            <a:endParaRPr lang="en-IN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Mayank Pandey, MNNIT, Allahabad, India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066" name="Rectangle 2"/>
          <p:cNvSpPr>
            <a:spLocks noChangeArrowheads="1"/>
          </p:cNvSpPr>
          <p:nvPr/>
        </p:nvSpPr>
        <p:spPr bwMode="auto">
          <a:xfrm>
            <a:off x="8534400" y="4419600"/>
            <a:ext cx="152400" cy="1143000"/>
          </a:xfrm>
          <a:prstGeom prst="rect">
            <a:avLst/>
          </a:prstGeom>
          <a:solidFill>
            <a:srgbClr val="FF9900"/>
          </a:solidFill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600067" name="Rectangle 3"/>
          <p:cNvSpPr>
            <a:spLocks noChangeArrowheads="1"/>
          </p:cNvSpPr>
          <p:nvPr/>
        </p:nvSpPr>
        <p:spPr bwMode="auto">
          <a:xfrm>
            <a:off x="1219200" y="5486400"/>
            <a:ext cx="7467600" cy="152400"/>
          </a:xfrm>
          <a:prstGeom prst="rect">
            <a:avLst/>
          </a:prstGeom>
          <a:solidFill>
            <a:srgbClr val="FF9900"/>
          </a:solidFill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600068" name="Rectangle 4"/>
          <p:cNvSpPr>
            <a:spLocks noChangeArrowheads="1"/>
          </p:cNvSpPr>
          <p:nvPr/>
        </p:nvSpPr>
        <p:spPr bwMode="auto">
          <a:xfrm>
            <a:off x="1176338" y="3429000"/>
            <a:ext cx="152400" cy="2209800"/>
          </a:xfrm>
          <a:prstGeom prst="rect">
            <a:avLst/>
          </a:prstGeom>
          <a:solidFill>
            <a:srgbClr val="FF9900"/>
          </a:solidFill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293688" y="2263775"/>
            <a:ext cx="2852737" cy="479425"/>
            <a:chOff x="185" y="1426"/>
            <a:chExt cx="1797" cy="302"/>
          </a:xfrm>
        </p:grpSpPr>
        <p:sp>
          <p:nvSpPr>
            <p:cNvPr id="600070" name="Rectangle 6"/>
            <p:cNvSpPr>
              <a:spLocks noChangeArrowheads="1"/>
            </p:cNvSpPr>
            <p:nvPr/>
          </p:nvSpPr>
          <p:spPr bwMode="auto">
            <a:xfrm>
              <a:off x="185" y="1426"/>
              <a:ext cx="1776" cy="96"/>
            </a:xfrm>
            <a:prstGeom prst="rect">
              <a:avLst/>
            </a:prstGeom>
            <a:solidFill>
              <a:srgbClr val="00CC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00071" name="Rectangle 7"/>
            <p:cNvSpPr>
              <a:spLocks noChangeArrowheads="1"/>
            </p:cNvSpPr>
            <p:nvPr/>
          </p:nvSpPr>
          <p:spPr bwMode="auto">
            <a:xfrm>
              <a:off x="1248" y="1440"/>
              <a:ext cx="96" cy="288"/>
            </a:xfrm>
            <a:prstGeom prst="rect">
              <a:avLst/>
            </a:prstGeom>
            <a:solidFill>
              <a:srgbClr val="00CC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00072" name="Rectangle 8"/>
            <p:cNvSpPr>
              <a:spLocks noChangeArrowheads="1"/>
            </p:cNvSpPr>
            <p:nvPr/>
          </p:nvSpPr>
          <p:spPr bwMode="auto">
            <a:xfrm>
              <a:off x="1563" y="1440"/>
              <a:ext cx="96" cy="288"/>
            </a:xfrm>
            <a:prstGeom prst="rect">
              <a:avLst/>
            </a:prstGeom>
            <a:solidFill>
              <a:srgbClr val="00CC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00073" name="Rectangle 9"/>
            <p:cNvSpPr>
              <a:spLocks noChangeArrowheads="1"/>
            </p:cNvSpPr>
            <p:nvPr/>
          </p:nvSpPr>
          <p:spPr bwMode="auto">
            <a:xfrm>
              <a:off x="1886" y="1440"/>
              <a:ext cx="96" cy="288"/>
            </a:xfrm>
            <a:prstGeom prst="rect">
              <a:avLst/>
            </a:prstGeom>
            <a:solidFill>
              <a:srgbClr val="00CC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600074" name="Rectangle 10"/>
          <p:cNvSpPr>
            <a:spLocks noChangeArrowheads="1"/>
          </p:cNvSpPr>
          <p:nvPr/>
        </p:nvSpPr>
        <p:spPr bwMode="auto">
          <a:xfrm>
            <a:off x="1176338" y="3352800"/>
            <a:ext cx="533400" cy="152400"/>
          </a:xfrm>
          <a:prstGeom prst="rect">
            <a:avLst/>
          </a:prstGeom>
          <a:solidFill>
            <a:srgbClr val="FF9900"/>
          </a:solidFill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grpSp>
        <p:nvGrpSpPr>
          <p:cNvPr id="3" name="Group 11"/>
          <p:cNvGrpSpPr>
            <a:grpSpLocks/>
          </p:cNvGrpSpPr>
          <p:nvPr/>
        </p:nvGrpSpPr>
        <p:grpSpPr bwMode="auto">
          <a:xfrm>
            <a:off x="3429000" y="2971800"/>
            <a:ext cx="5181600" cy="2438400"/>
            <a:chOff x="2160" y="1872"/>
            <a:chExt cx="3264" cy="1536"/>
          </a:xfrm>
        </p:grpSpPr>
        <p:sp>
          <p:nvSpPr>
            <p:cNvPr id="600076" name="Rectangle 12"/>
            <p:cNvSpPr>
              <a:spLocks noChangeArrowheads="1"/>
            </p:cNvSpPr>
            <p:nvPr/>
          </p:nvSpPr>
          <p:spPr bwMode="auto">
            <a:xfrm>
              <a:off x="2688" y="2400"/>
              <a:ext cx="192" cy="96"/>
            </a:xfrm>
            <a:prstGeom prst="rect">
              <a:avLst/>
            </a:prstGeom>
            <a:solidFill>
              <a:srgbClr val="FF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00077" name="Rectangle 13"/>
            <p:cNvSpPr>
              <a:spLocks noChangeArrowheads="1"/>
            </p:cNvSpPr>
            <p:nvPr/>
          </p:nvSpPr>
          <p:spPr bwMode="auto">
            <a:xfrm>
              <a:off x="2160" y="1872"/>
              <a:ext cx="720" cy="96"/>
            </a:xfrm>
            <a:prstGeom prst="rect">
              <a:avLst/>
            </a:prstGeom>
            <a:solidFill>
              <a:srgbClr val="FF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00078" name="Rectangle 14"/>
            <p:cNvSpPr>
              <a:spLocks noChangeArrowheads="1"/>
            </p:cNvSpPr>
            <p:nvPr/>
          </p:nvSpPr>
          <p:spPr bwMode="auto">
            <a:xfrm>
              <a:off x="3250" y="2112"/>
              <a:ext cx="288" cy="96"/>
            </a:xfrm>
            <a:prstGeom prst="rect">
              <a:avLst/>
            </a:prstGeom>
            <a:solidFill>
              <a:srgbClr val="FF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00079" name="Rectangle 15"/>
            <p:cNvSpPr>
              <a:spLocks noChangeArrowheads="1"/>
            </p:cNvSpPr>
            <p:nvPr/>
          </p:nvSpPr>
          <p:spPr bwMode="auto">
            <a:xfrm>
              <a:off x="3456" y="2160"/>
              <a:ext cx="96" cy="1248"/>
            </a:xfrm>
            <a:prstGeom prst="rect">
              <a:avLst/>
            </a:prstGeom>
            <a:solidFill>
              <a:srgbClr val="FF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00080" name="Rectangle 16"/>
            <p:cNvSpPr>
              <a:spLocks noChangeArrowheads="1"/>
            </p:cNvSpPr>
            <p:nvPr/>
          </p:nvSpPr>
          <p:spPr bwMode="auto">
            <a:xfrm>
              <a:off x="3456" y="3312"/>
              <a:ext cx="1536" cy="96"/>
            </a:xfrm>
            <a:prstGeom prst="rect">
              <a:avLst/>
            </a:prstGeom>
            <a:solidFill>
              <a:srgbClr val="FF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00081" name="Rectangle 17"/>
            <p:cNvSpPr>
              <a:spLocks noChangeArrowheads="1"/>
            </p:cNvSpPr>
            <p:nvPr/>
          </p:nvSpPr>
          <p:spPr bwMode="auto">
            <a:xfrm>
              <a:off x="4896" y="2880"/>
              <a:ext cx="96" cy="528"/>
            </a:xfrm>
            <a:prstGeom prst="rect">
              <a:avLst/>
            </a:prstGeom>
            <a:solidFill>
              <a:srgbClr val="FF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00082" name="Rectangle 18"/>
            <p:cNvSpPr>
              <a:spLocks noChangeArrowheads="1"/>
            </p:cNvSpPr>
            <p:nvPr/>
          </p:nvSpPr>
          <p:spPr bwMode="auto">
            <a:xfrm>
              <a:off x="4896" y="2880"/>
              <a:ext cx="192" cy="96"/>
            </a:xfrm>
            <a:prstGeom prst="rect">
              <a:avLst/>
            </a:prstGeom>
            <a:solidFill>
              <a:srgbClr val="FF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00083" name="Rectangle 19"/>
            <p:cNvSpPr>
              <a:spLocks noChangeArrowheads="1"/>
            </p:cNvSpPr>
            <p:nvPr/>
          </p:nvSpPr>
          <p:spPr bwMode="auto">
            <a:xfrm>
              <a:off x="5232" y="2784"/>
              <a:ext cx="192" cy="96"/>
            </a:xfrm>
            <a:prstGeom prst="rect">
              <a:avLst/>
            </a:prstGeom>
            <a:solidFill>
              <a:srgbClr val="FF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00084" name="Rectangle 20"/>
            <p:cNvSpPr>
              <a:spLocks noChangeArrowheads="1"/>
            </p:cNvSpPr>
            <p:nvPr/>
          </p:nvSpPr>
          <p:spPr bwMode="auto">
            <a:xfrm>
              <a:off x="2160" y="2284"/>
              <a:ext cx="384" cy="82"/>
            </a:xfrm>
            <a:prstGeom prst="rect">
              <a:avLst/>
            </a:prstGeom>
            <a:solidFill>
              <a:srgbClr val="FF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600085" name="Rectangle 21"/>
          <p:cNvSpPr>
            <a:spLocks noGrp="1" noChangeArrowheads="1"/>
          </p:cNvSpPr>
          <p:nvPr>
            <p:ph type="title"/>
          </p:nvPr>
        </p:nvSpPr>
        <p:spPr>
          <a:xfrm>
            <a:off x="457200" y="533400"/>
            <a:ext cx="8382000" cy="990600"/>
          </a:xfrm>
        </p:spPr>
        <p:txBody>
          <a:bodyPr/>
          <a:lstStyle/>
          <a:p>
            <a:r>
              <a:rPr lang="en-US" sz="3600" dirty="0"/>
              <a:t>Animating the </a:t>
            </a:r>
            <a:r>
              <a:rPr lang="en-US" sz="3600" dirty="0" smtClean="0"/>
              <a:t>Data-path</a:t>
            </a:r>
            <a:r>
              <a:rPr lang="en-US" sz="3600" dirty="0"/>
              <a:t>: </a:t>
            </a:r>
            <a:r>
              <a:rPr lang="en-US" sz="3600" dirty="0" smtClean="0"/>
              <a:t>R-type </a:t>
            </a:r>
            <a:r>
              <a:rPr lang="en-US" sz="3600" dirty="0"/>
              <a:t>Instruction</a:t>
            </a:r>
          </a:p>
        </p:txBody>
      </p:sp>
      <p:sp>
        <p:nvSpPr>
          <p:cNvPr id="600086" name="Text Box 22"/>
          <p:cNvSpPr txBox="1">
            <a:spLocks noChangeArrowheads="1"/>
          </p:cNvSpPr>
          <p:nvPr/>
        </p:nvSpPr>
        <p:spPr bwMode="auto">
          <a:xfrm>
            <a:off x="5562600" y="1828800"/>
            <a:ext cx="2374900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2400" b="1">
                <a:latin typeface="Courier" pitchFamily="49" charset="0"/>
              </a:rPr>
              <a:t>add rd,rs,rt</a:t>
            </a:r>
          </a:p>
        </p:txBody>
      </p:sp>
      <p:pic>
        <p:nvPicPr>
          <p:cNvPr id="600087" name="Picture 2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2057400"/>
            <a:ext cx="8401050" cy="351948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</p:pic>
      <p:sp>
        <p:nvSpPr>
          <p:cNvPr id="2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Mayank Pandey, MNNIT, Allahabad, India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00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600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00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00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0066" grpId="0" animBg="1"/>
      <p:bldP spid="600067" grpId="0" animBg="1"/>
      <p:bldP spid="600068" grpId="0" animBg="1"/>
      <p:bldP spid="60007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293688" y="2263775"/>
            <a:ext cx="2852737" cy="2384425"/>
            <a:chOff x="185" y="1426"/>
            <a:chExt cx="1797" cy="1502"/>
          </a:xfrm>
        </p:grpSpPr>
        <p:sp>
          <p:nvSpPr>
            <p:cNvPr id="601091" name="Rectangle 3"/>
            <p:cNvSpPr>
              <a:spLocks noChangeArrowheads="1"/>
            </p:cNvSpPr>
            <p:nvPr/>
          </p:nvSpPr>
          <p:spPr bwMode="auto">
            <a:xfrm>
              <a:off x="514" y="1536"/>
              <a:ext cx="96" cy="1392"/>
            </a:xfrm>
            <a:prstGeom prst="rect">
              <a:avLst/>
            </a:prstGeom>
            <a:solidFill>
              <a:srgbClr val="00CC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01092" name="Rectangle 4"/>
            <p:cNvSpPr>
              <a:spLocks noChangeArrowheads="1"/>
            </p:cNvSpPr>
            <p:nvPr/>
          </p:nvSpPr>
          <p:spPr bwMode="auto">
            <a:xfrm>
              <a:off x="185" y="1426"/>
              <a:ext cx="1776" cy="96"/>
            </a:xfrm>
            <a:prstGeom prst="rect">
              <a:avLst/>
            </a:prstGeom>
            <a:solidFill>
              <a:srgbClr val="00CC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01093" name="Rectangle 5"/>
            <p:cNvSpPr>
              <a:spLocks noChangeArrowheads="1"/>
            </p:cNvSpPr>
            <p:nvPr/>
          </p:nvSpPr>
          <p:spPr bwMode="auto">
            <a:xfrm>
              <a:off x="1248" y="1440"/>
              <a:ext cx="96" cy="288"/>
            </a:xfrm>
            <a:prstGeom prst="rect">
              <a:avLst/>
            </a:prstGeom>
            <a:solidFill>
              <a:srgbClr val="00CC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01094" name="Rectangle 6"/>
            <p:cNvSpPr>
              <a:spLocks noChangeArrowheads="1"/>
            </p:cNvSpPr>
            <p:nvPr/>
          </p:nvSpPr>
          <p:spPr bwMode="auto">
            <a:xfrm>
              <a:off x="1886" y="1440"/>
              <a:ext cx="96" cy="288"/>
            </a:xfrm>
            <a:prstGeom prst="rect">
              <a:avLst/>
            </a:prstGeom>
            <a:solidFill>
              <a:srgbClr val="00CC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601095" name="Rectangle 7"/>
          <p:cNvSpPr>
            <a:spLocks noChangeArrowheads="1"/>
          </p:cNvSpPr>
          <p:nvPr/>
        </p:nvSpPr>
        <p:spPr bwMode="auto">
          <a:xfrm>
            <a:off x="3429000" y="2971800"/>
            <a:ext cx="1143000" cy="152400"/>
          </a:xfrm>
          <a:prstGeom prst="rect">
            <a:avLst/>
          </a:prstGeom>
          <a:solidFill>
            <a:srgbClr val="FF9900"/>
          </a:solidFill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5159375" y="3352800"/>
            <a:ext cx="708025" cy="609600"/>
            <a:chOff x="3250" y="2112"/>
            <a:chExt cx="446" cy="384"/>
          </a:xfrm>
        </p:grpSpPr>
        <p:sp>
          <p:nvSpPr>
            <p:cNvPr id="601097" name="Rectangle 9"/>
            <p:cNvSpPr>
              <a:spLocks noChangeArrowheads="1"/>
            </p:cNvSpPr>
            <p:nvPr/>
          </p:nvSpPr>
          <p:spPr bwMode="auto">
            <a:xfrm>
              <a:off x="3504" y="2400"/>
              <a:ext cx="192" cy="96"/>
            </a:xfrm>
            <a:prstGeom prst="rect">
              <a:avLst/>
            </a:prstGeom>
            <a:solidFill>
              <a:srgbClr val="FF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01098" name="Rectangle 10"/>
            <p:cNvSpPr>
              <a:spLocks noChangeArrowheads="1"/>
            </p:cNvSpPr>
            <p:nvPr/>
          </p:nvSpPr>
          <p:spPr bwMode="auto">
            <a:xfrm>
              <a:off x="3250" y="2112"/>
              <a:ext cx="288" cy="96"/>
            </a:xfrm>
            <a:prstGeom prst="rect">
              <a:avLst/>
            </a:prstGeom>
            <a:solidFill>
              <a:srgbClr val="FF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01099" name="Rectangle 11"/>
            <p:cNvSpPr>
              <a:spLocks noChangeArrowheads="1"/>
            </p:cNvSpPr>
            <p:nvPr/>
          </p:nvSpPr>
          <p:spPr bwMode="auto">
            <a:xfrm>
              <a:off x="3456" y="2160"/>
              <a:ext cx="96" cy="336"/>
            </a:xfrm>
            <a:prstGeom prst="rect">
              <a:avLst/>
            </a:prstGeom>
            <a:solidFill>
              <a:srgbClr val="FF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601100" name="Rectangle 12"/>
          <p:cNvSpPr>
            <a:spLocks noChangeArrowheads="1"/>
          </p:cNvSpPr>
          <p:nvPr/>
        </p:nvSpPr>
        <p:spPr bwMode="auto">
          <a:xfrm>
            <a:off x="1176338" y="3352800"/>
            <a:ext cx="533400" cy="152400"/>
          </a:xfrm>
          <a:prstGeom prst="rect">
            <a:avLst/>
          </a:prstGeom>
          <a:solidFill>
            <a:srgbClr val="FF9900"/>
          </a:solidFill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601101" name="Rectangle 13"/>
          <p:cNvSpPr>
            <a:spLocks noChangeArrowheads="1"/>
          </p:cNvSpPr>
          <p:nvPr/>
        </p:nvSpPr>
        <p:spPr bwMode="auto">
          <a:xfrm>
            <a:off x="1176338" y="3429000"/>
            <a:ext cx="152400" cy="2209800"/>
          </a:xfrm>
          <a:prstGeom prst="rect">
            <a:avLst/>
          </a:prstGeom>
          <a:solidFill>
            <a:srgbClr val="FF9900"/>
          </a:solidFill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601102" name="Rectangle 14"/>
          <p:cNvSpPr>
            <a:spLocks noChangeArrowheads="1"/>
          </p:cNvSpPr>
          <p:nvPr/>
        </p:nvSpPr>
        <p:spPr bwMode="auto">
          <a:xfrm>
            <a:off x="1219200" y="5486400"/>
            <a:ext cx="7467600" cy="152400"/>
          </a:xfrm>
          <a:prstGeom prst="rect">
            <a:avLst/>
          </a:prstGeom>
          <a:solidFill>
            <a:srgbClr val="FF9900"/>
          </a:solidFill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601103" name="Rectangle 15"/>
          <p:cNvSpPr>
            <a:spLocks noChangeArrowheads="1"/>
          </p:cNvSpPr>
          <p:nvPr/>
        </p:nvSpPr>
        <p:spPr bwMode="auto">
          <a:xfrm>
            <a:off x="8534400" y="4419600"/>
            <a:ext cx="152400" cy="1143000"/>
          </a:xfrm>
          <a:prstGeom prst="rect">
            <a:avLst/>
          </a:prstGeom>
          <a:solidFill>
            <a:srgbClr val="FF9900"/>
          </a:solidFill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601104" name="Rectangle 16"/>
          <p:cNvSpPr>
            <a:spLocks noChangeArrowheads="1"/>
          </p:cNvSpPr>
          <p:nvPr/>
        </p:nvSpPr>
        <p:spPr bwMode="auto">
          <a:xfrm>
            <a:off x="8305800" y="4419600"/>
            <a:ext cx="304800" cy="152400"/>
          </a:xfrm>
          <a:prstGeom prst="rect">
            <a:avLst/>
          </a:prstGeom>
          <a:solidFill>
            <a:srgbClr val="FF9900"/>
          </a:solidFill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601105" name="Rectangle 17"/>
          <p:cNvSpPr>
            <a:spLocks noChangeArrowheads="1"/>
          </p:cNvSpPr>
          <p:nvPr/>
        </p:nvSpPr>
        <p:spPr bwMode="auto">
          <a:xfrm>
            <a:off x="7696200" y="4222750"/>
            <a:ext cx="381000" cy="152400"/>
          </a:xfrm>
          <a:prstGeom prst="rect">
            <a:avLst/>
          </a:prstGeom>
          <a:solidFill>
            <a:srgbClr val="FF9900"/>
          </a:solidFill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601106" name="Rectangle 18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305800" cy="990600"/>
          </a:xfrm>
        </p:spPr>
        <p:txBody>
          <a:bodyPr/>
          <a:lstStyle/>
          <a:p>
            <a:r>
              <a:rPr lang="en-US" sz="3600" dirty="0"/>
              <a:t>Animating the </a:t>
            </a:r>
            <a:r>
              <a:rPr lang="en-US" sz="3600" dirty="0" smtClean="0"/>
              <a:t>Data-path</a:t>
            </a:r>
            <a:r>
              <a:rPr lang="en-US" sz="3600" dirty="0"/>
              <a:t>: </a:t>
            </a:r>
            <a:r>
              <a:rPr lang="en-US" sz="3600" dirty="0" smtClean="0"/>
              <a:t>Load </a:t>
            </a:r>
            <a:r>
              <a:rPr lang="en-US" sz="3600" dirty="0"/>
              <a:t>Instruction</a:t>
            </a:r>
          </a:p>
        </p:txBody>
      </p:sp>
      <p:grpSp>
        <p:nvGrpSpPr>
          <p:cNvPr id="4" name="Group 19"/>
          <p:cNvGrpSpPr>
            <a:grpSpLocks/>
          </p:cNvGrpSpPr>
          <p:nvPr/>
        </p:nvGrpSpPr>
        <p:grpSpPr bwMode="auto">
          <a:xfrm>
            <a:off x="838200" y="3810000"/>
            <a:ext cx="3733800" cy="990600"/>
            <a:chOff x="528" y="2400"/>
            <a:chExt cx="2352" cy="624"/>
          </a:xfrm>
        </p:grpSpPr>
        <p:sp>
          <p:nvSpPr>
            <p:cNvPr id="601108" name="Rectangle 20"/>
            <p:cNvSpPr>
              <a:spLocks noChangeArrowheads="1"/>
            </p:cNvSpPr>
            <p:nvPr/>
          </p:nvSpPr>
          <p:spPr bwMode="auto">
            <a:xfrm>
              <a:off x="528" y="2914"/>
              <a:ext cx="1296" cy="96"/>
            </a:xfrm>
            <a:prstGeom prst="rect">
              <a:avLst/>
            </a:prstGeom>
            <a:solidFill>
              <a:srgbClr val="00CC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01109" name="Rectangle 21"/>
            <p:cNvSpPr>
              <a:spLocks noChangeArrowheads="1"/>
            </p:cNvSpPr>
            <p:nvPr/>
          </p:nvSpPr>
          <p:spPr bwMode="auto">
            <a:xfrm>
              <a:off x="2688" y="2400"/>
              <a:ext cx="192" cy="96"/>
            </a:xfrm>
            <a:prstGeom prst="rect">
              <a:avLst/>
            </a:prstGeom>
            <a:solidFill>
              <a:srgbClr val="00CC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01110" name="Rectangle 22"/>
            <p:cNvSpPr>
              <a:spLocks noChangeArrowheads="1"/>
            </p:cNvSpPr>
            <p:nvPr/>
          </p:nvSpPr>
          <p:spPr bwMode="auto">
            <a:xfrm>
              <a:off x="2229" y="2544"/>
              <a:ext cx="96" cy="432"/>
            </a:xfrm>
            <a:prstGeom prst="rect">
              <a:avLst/>
            </a:prstGeom>
            <a:solidFill>
              <a:srgbClr val="00CC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01111" name="Rectangle 23"/>
            <p:cNvSpPr>
              <a:spLocks noChangeArrowheads="1"/>
            </p:cNvSpPr>
            <p:nvPr/>
          </p:nvSpPr>
          <p:spPr bwMode="auto">
            <a:xfrm>
              <a:off x="2229" y="2496"/>
              <a:ext cx="336" cy="96"/>
            </a:xfrm>
            <a:prstGeom prst="rect">
              <a:avLst/>
            </a:prstGeom>
            <a:solidFill>
              <a:srgbClr val="00CC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01112" name="Rectangle 24"/>
            <p:cNvSpPr>
              <a:spLocks noChangeArrowheads="1"/>
            </p:cNvSpPr>
            <p:nvPr/>
          </p:nvSpPr>
          <p:spPr bwMode="auto">
            <a:xfrm>
              <a:off x="2016" y="2914"/>
              <a:ext cx="309" cy="110"/>
            </a:xfrm>
            <a:prstGeom prst="rect">
              <a:avLst/>
            </a:prstGeom>
            <a:solidFill>
              <a:srgbClr val="00CC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601113" name="Text Box 25"/>
          <p:cNvSpPr txBox="1">
            <a:spLocks noChangeArrowheads="1"/>
          </p:cNvSpPr>
          <p:nvPr/>
        </p:nvSpPr>
        <p:spPr bwMode="auto">
          <a:xfrm>
            <a:off x="5562600" y="1828800"/>
            <a:ext cx="3105150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2400" b="1">
                <a:latin typeface="Courier" pitchFamily="49" charset="0"/>
              </a:rPr>
              <a:t>lw rt,offset(rs)</a:t>
            </a:r>
          </a:p>
        </p:txBody>
      </p:sp>
      <p:pic>
        <p:nvPicPr>
          <p:cNvPr id="601114" name="Picture 2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2057400"/>
            <a:ext cx="8401050" cy="351948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</p:pic>
      <p:sp>
        <p:nvSpPr>
          <p:cNvPr id="2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Mayank Pandey, MNNIT, Allahabad, India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01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01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01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601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601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601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01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1095" grpId="0" animBg="1"/>
      <p:bldP spid="601100" grpId="0" animBg="1"/>
      <p:bldP spid="601101" grpId="0" animBg="1"/>
      <p:bldP spid="601102" grpId="0" animBg="1"/>
      <p:bldP spid="601103" grpId="0" animBg="1"/>
      <p:bldP spid="601104" grpId="0" animBg="1"/>
      <p:bldP spid="60110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293688" y="2263775"/>
            <a:ext cx="2351087" cy="2384425"/>
            <a:chOff x="185" y="1426"/>
            <a:chExt cx="1481" cy="1502"/>
          </a:xfrm>
        </p:grpSpPr>
        <p:sp>
          <p:nvSpPr>
            <p:cNvPr id="602115" name="Rectangle 3"/>
            <p:cNvSpPr>
              <a:spLocks noChangeArrowheads="1"/>
            </p:cNvSpPr>
            <p:nvPr/>
          </p:nvSpPr>
          <p:spPr bwMode="auto">
            <a:xfrm>
              <a:off x="514" y="1536"/>
              <a:ext cx="96" cy="1392"/>
            </a:xfrm>
            <a:prstGeom prst="rect">
              <a:avLst/>
            </a:prstGeom>
            <a:solidFill>
              <a:srgbClr val="00CC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02116" name="Rectangle 4"/>
            <p:cNvSpPr>
              <a:spLocks noChangeArrowheads="1"/>
            </p:cNvSpPr>
            <p:nvPr/>
          </p:nvSpPr>
          <p:spPr bwMode="auto">
            <a:xfrm>
              <a:off x="185" y="1426"/>
              <a:ext cx="1447" cy="110"/>
            </a:xfrm>
            <a:prstGeom prst="rect">
              <a:avLst/>
            </a:prstGeom>
            <a:solidFill>
              <a:srgbClr val="00CC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02117" name="Rectangle 5"/>
            <p:cNvSpPr>
              <a:spLocks noChangeArrowheads="1"/>
            </p:cNvSpPr>
            <p:nvPr/>
          </p:nvSpPr>
          <p:spPr bwMode="auto">
            <a:xfrm>
              <a:off x="1248" y="1440"/>
              <a:ext cx="96" cy="288"/>
            </a:xfrm>
            <a:prstGeom prst="rect">
              <a:avLst/>
            </a:prstGeom>
            <a:solidFill>
              <a:srgbClr val="00CC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02118" name="Rectangle 6"/>
            <p:cNvSpPr>
              <a:spLocks noChangeArrowheads="1"/>
            </p:cNvSpPr>
            <p:nvPr/>
          </p:nvSpPr>
          <p:spPr bwMode="auto">
            <a:xfrm>
              <a:off x="1570" y="1440"/>
              <a:ext cx="96" cy="288"/>
            </a:xfrm>
            <a:prstGeom prst="rect">
              <a:avLst/>
            </a:prstGeom>
            <a:solidFill>
              <a:srgbClr val="00CC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3429000" y="2971800"/>
            <a:ext cx="2438400" cy="1752600"/>
            <a:chOff x="2160" y="1872"/>
            <a:chExt cx="1536" cy="1104"/>
          </a:xfrm>
        </p:grpSpPr>
        <p:sp>
          <p:nvSpPr>
            <p:cNvPr id="602120" name="Rectangle 8"/>
            <p:cNvSpPr>
              <a:spLocks noChangeArrowheads="1"/>
            </p:cNvSpPr>
            <p:nvPr/>
          </p:nvSpPr>
          <p:spPr bwMode="auto">
            <a:xfrm>
              <a:off x="2324" y="2297"/>
              <a:ext cx="96" cy="672"/>
            </a:xfrm>
            <a:prstGeom prst="rect">
              <a:avLst/>
            </a:prstGeom>
            <a:solidFill>
              <a:srgbClr val="FF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02121" name="Rectangle 9"/>
            <p:cNvSpPr>
              <a:spLocks noChangeArrowheads="1"/>
            </p:cNvSpPr>
            <p:nvPr/>
          </p:nvSpPr>
          <p:spPr bwMode="auto">
            <a:xfrm>
              <a:off x="2160" y="2283"/>
              <a:ext cx="240" cy="96"/>
            </a:xfrm>
            <a:prstGeom prst="rect">
              <a:avLst/>
            </a:prstGeom>
            <a:solidFill>
              <a:srgbClr val="FF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02122" name="Rectangle 10"/>
            <p:cNvSpPr>
              <a:spLocks noChangeArrowheads="1"/>
            </p:cNvSpPr>
            <p:nvPr/>
          </p:nvSpPr>
          <p:spPr bwMode="auto">
            <a:xfrm>
              <a:off x="2688" y="2400"/>
              <a:ext cx="192" cy="96"/>
            </a:xfrm>
            <a:prstGeom prst="rect">
              <a:avLst/>
            </a:prstGeom>
            <a:solidFill>
              <a:srgbClr val="00CC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02123" name="Rectangle 11"/>
            <p:cNvSpPr>
              <a:spLocks noChangeArrowheads="1"/>
            </p:cNvSpPr>
            <p:nvPr/>
          </p:nvSpPr>
          <p:spPr bwMode="auto">
            <a:xfrm>
              <a:off x="2160" y="1872"/>
              <a:ext cx="720" cy="96"/>
            </a:xfrm>
            <a:prstGeom prst="rect">
              <a:avLst/>
            </a:prstGeom>
            <a:solidFill>
              <a:srgbClr val="FF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02124" name="Rectangle 12"/>
            <p:cNvSpPr>
              <a:spLocks noChangeArrowheads="1"/>
            </p:cNvSpPr>
            <p:nvPr/>
          </p:nvSpPr>
          <p:spPr bwMode="auto">
            <a:xfrm>
              <a:off x="3504" y="2400"/>
              <a:ext cx="192" cy="96"/>
            </a:xfrm>
            <a:prstGeom prst="rect">
              <a:avLst/>
            </a:prstGeom>
            <a:solidFill>
              <a:srgbClr val="FF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02125" name="Rectangle 13"/>
            <p:cNvSpPr>
              <a:spLocks noChangeArrowheads="1"/>
            </p:cNvSpPr>
            <p:nvPr/>
          </p:nvSpPr>
          <p:spPr bwMode="auto">
            <a:xfrm>
              <a:off x="3250" y="2112"/>
              <a:ext cx="288" cy="96"/>
            </a:xfrm>
            <a:prstGeom prst="rect">
              <a:avLst/>
            </a:prstGeom>
            <a:solidFill>
              <a:srgbClr val="FF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02126" name="Rectangle 14"/>
            <p:cNvSpPr>
              <a:spLocks noChangeArrowheads="1"/>
            </p:cNvSpPr>
            <p:nvPr/>
          </p:nvSpPr>
          <p:spPr bwMode="auto">
            <a:xfrm>
              <a:off x="3456" y="2160"/>
              <a:ext cx="96" cy="336"/>
            </a:xfrm>
            <a:prstGeom prst="rect">
              <a:avLst/>
            </a:prstGeom>
            <a:solidFill>
              <a:srgbClr val="FF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02127" name="Rectangle 15"/>
            <p:cNvSpPr>
              <a:spLocks noChangeArrowheads="1"/>
            </p:cNvSpPr>
            <p:nvPr/>
          </p:nvSpPr>
          <p:spPr bwMode="auto">
            <a:xfrm>
              <a:off x="2338" y="2880"/>
              <a:ext cx="1344" cy="96"/>
            </a:xfrm>
            <a:prstGeom prst="rect">
              <a:avLst/>
            </a:prstGeom>
            <a:solidFill>
              <a:srgbClr val="FF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602128" name="Rectangle 16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305800" cy="990600"/>
          </a:xfrm>
        </p:spPr>
        <p:txBody>
          <a:bodyPr/>
          <a:lstStyle/>
          <a:p>
            <a:r>
              <a:rPr lang="en-US" sz="3600" dirty="0"/>
              <a:t>Animating the </a:t>
            </a:r>
            <a:r>
              <a:rPr lang="en-US" sz="3600" dirty="0" smtClean="0"/>
              <a:t>Data-path</a:t>
            </a:r>
            <a:r>
              <a:rPr lang="en-US" sz="3600" dirty="0"/>
              <a:t>: </a:t>
            </a:r>
            <a:r>
              <a:rPr lang="en-US" sz="3600" dirty="0" smtClean="0"/>
              <a:t>Store </a:t>
            </a:r>
            <a:r>
              <a:rPr lang="en-US" sz="3600" dirty="0"/>
              <a:t>Instruction</a:t>
            </a:r>
          </a:p>
        </p:txBody>
      </p:sp>
      <p:grpSp>
        <p:nvGrpSpPr>
          <p:cNvPr id="4" name="Group 17"/>
          <p:cNvGrpSpPr>
            <a:grpSpLocks/>
          </p:cNvGrpSpPr>
          <p:nvPr/>
        </p:nvGrpSpPr>
        <p:grpSpPr bwMode="auto">
          <a:xfrm>
            <a:off x="838200" y="3962400"/>
            <a:ext cx="3233738" cy="838200"/>
            <a:chOff x="528" y="2496"/>
            <a:chExt cx="2037" cy="528"/>
          </a:xfrm>
        </p:grpSpPr>
        <p:sp>
          <p:nvSpPr>
            <p:cNvPr id="602130" name="Rectangle 18"/>
            <p:cNvSpPr>
              <a:spLocks noChangeArrowheads="1"/>
            </p:cNvSpPr>
            <p:nvPr/>
          </p:nvSpPr>
          <p:spPr bwMode="auto">
            <a:xfrm>
              <a:off x="528" y="2914"/>
              <a:ext cx="1296" cy="96"/>
            </a:xfrm>
            <a:prstGeom prst="rect">
              <a:avLst/>
            </a:prstGeom>
            <a:solidFill>
              <a:srgbClr val="00CC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02131" name="Rectangle 19"/>
            <p:cNvSpPr>
              <a:spLocks noChangeArrowheads="1"/>
            </p:cNvSpPr>
            <p:nvPr/>
          </p:nvSpPr>
          <p:spPr bwMode="auto">
            <a:xfrm>
              <a:off x="2229" y="2544"/>
              <a:ext cx="96" cy="432"/>
            </a:xfrm>
            <a:prstGeom prst="rect">
              <a:avLst/>
            </a:prstGeom>
            <a:solidFill>
              <a:srgbClr val="00CC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02132" name="Rectangle 20"/>
            <p:cNvSpPr>
              <a:spLocks noChangeArrowheads="1"/>
            </p:cNvSpPr>
            <p:nvPr/>
          </p:nvSpPr>
          <p:spPr bwMode="auto">
            <a:xfrm>
              <a:off x="2229" y="2496"/>
              <a:ext cx="336" cy="96"/>
            </a:xfrm>
            <a:prstGeom prst="rect">
              <a:avLst/>
            </a:prstGeom>
            <a:solidFill>
              <a:srgbClr val="00CC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02133" name="Rectangle 21"/>
            <p:cNvSpPr>
              <a:spLocks noChangeArrowheads="1"/>
            </p:cNvSpPr>
            <p:nvPr/>
          </p:nvSpPr>
          <p:spPr bwMode="auto">
            <a:xfrm>
              <a:off x="2016" y="2914"/>
              <a:ext cx="309" cy="110"/>
            </a:xfrm>
            <a:prstGeom prst="rect">
              <a:avLst/>
            </a:prstGeom>
            <a:solidFill>
              <a:srgbClr val="00CC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602134" name="Text Box 22"/>
          <p:cNvSpPr txBox="1">
            <a:spLocks noChangeArrowheads="1"/>
          </p:cNvSpPr>
          <p:nvPr/>
        </p:nvSpPr>
        <p:spPr bwMode="auto">
          <a:xfrm>
            <a:off x="5562600" y="1828800"/>
            <a:ext cx="3105150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2400" b="1">
                <a:latin typeface="Courier" pitchFamily="49" charset="0"/>
              </a:rPr>
              <a:t>sw rt,offset(rs)</a:t>
            </a:r>
          </a:p>
        </p:txBody>
      </p:sp>
      <p:pic>
        <p:nvPicPr>
          <p:cNvPr id="602135" name="Picture 2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2057400"/>
            <a:ext cx="8401050" cy="351948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</p:pic>
      <p:sp>
        <p:nvSpPr>
          <p:cNvPr id="2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Mayank Pandey, MNNIT, Allahabad, India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7953375" cy="1143000"/>
          </a:xfrm>
        </p:spPr>
        <p:txBody>
          <a:bodyPr/>
          <a:lstStyle/>
          <a:p>
            <a:r>
              <a:rPr lang="en-US" dirty="0"/>
              <a:t>MIPS </a:t>
            </a:r>
            <a:r>
              <a:rPr lang="en-US" dirty="0" smtClean="0"/>
              <a:t>Data-path </a:t>
            </a:r>
            <a:r>
              <a:rPr lang="en-US" dirty="0"/>
              <a:t>II: Single-Cycle</a:t>
            </a:r>
          </a:p>
        </p:txBody>
      </p:sp>
      <p:pic>
        <p:nvPicPr>
          <p:cNvPr id="522244" name="Picture 4" descr="F051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1447800"/>
            <a:ext cx="8229600" cy="4154487"/>
          </a:xfrm>
          <a:prstGeom prst="rect">
            <a:avLst/>
          </a:prstGeom>
          <a:noFill/>
        </p:spPr>
      </p:pic>
      <p:sp>
        <p:nvSpPr>
          <p:cNvPr id="522245" name="Text Box 5"/>
          <p:cNvSpPr txBox="1">
            <a:spLocks noChangeArrowheads="1"/>
          </p:cNvSpPr>
          <p:nvPr/>
        </p:nvSpPr>
        <p:spPr bwMode="auto">
          <a:xfrm>
            <a:off x="3138488" y="5602287"/>
            <a:ext cx="2652712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b="1">
                <a:latin typeface="Tahoma" pitchFamily="34" charset="0"/>
              </a:rPr>
              <a:t>Adding instruction fetch</a:t>
            </a:r>
          </a:p>
        </p:txBody>
      </p:sp>
      <p:sp>
        <p:nvSpPr>
          <p:cNvPr id="522246" name="Text Box 6"/>
          <p:cNvSpPr txBox="1">
            <a:spLocks noChangeArrowheads="1"/>
          </p:cNvSpPr>
          <p:nvPr/>
        </p:nvSpPr>
        <p:spPr bwMode="auto">
          <a:xfrm>
            <a:off x="288925" y="5038725"/>
            <a:ext cx="2146300" cy="639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>
                <a:solidFill>
                  <a:schemeClr val="hlink"/>
                </a:solidFill>
                <a:latin typeface="Tahoma" pitchFamily="34" charset="0"/>
              </a:rPr>
              <a:t>Separate instruction memory</a:t>
            </a:r>
          </a:p>
          <a:p>
            <a:r>
              <a:rPr lang="en-US" sz="1200">
                <a:solidFill>
                  <a:schemeClr val="hlink"/>
                </a:solidFill>
                <a:latin typeface="Tahoma" pitchFamily="34" charset="0"/>
              </a:rPr>
              <a:t>as instruction and data read</a:t>
            </a:r>
          </a:p>
          <a:p>
            <a:r>
              <a:rPr lang="en-US" sz="1200">
                <a:solidFill>
                  <a:schemeClr val="hlink"/>
                </a:solidFill>
                <a:latin typeface="Tahoma" pitchFamily="34" charset="0"/>
              </a:rPr>
              <a:t>occur in the same clock cycle</a:t>
            </a:r>
          </a:p>
        </p:txBody>
      </p:sp>
      <p:sp>
        <p:nvSpPr>
          <p:cNvPr id="522247" name="Line 7"/>
          <p:cNvSpPr>
            <a:spLocks noChangeShapeType="1"/>
          </p:cNvSpPr>
          <p:nvPr/>
        </p:nvSpPr>
        <p:spPr bwMode="auto">
          <a:xfrm flipV="1">
            <a:off x="914400" y="4383087"/>
            <a:ext cx="609600" cy="685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arrow" w="med" len="med"/>
          </a:ln>
          <a:effectLst/>
        </p:spPr>
        <p:txBody>
          <a:bodyPr wrap="none"/>
          <a:lstStyle/>
          <a:p>
            <a:endParaRPr lang="en-IN"/>
          </a:p>
        </p:txBody>
      </p:sp>
      <p:sp>
        <p:nvSpPr>
          <p:cNvPr id="522248" name="Text Box 8"/>
          <p:cNvSpPr txBox="1">
            <a:spLocks noChangeArrowheads="1"/>
          </p:cNvSpPr>
          <p:nvPr/>
        </p:nvSpPr>
        <p:spPr bwMode="auto">
          <a:xfrm>
            <a:off x="3052763" y="1639887"/>
            <a:ext cx="30432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>
                <a:solidFill>
                  <a:schemeClr val="hlink"/>
                </a:solidFill>
                <a:latin typeface="Tahoma" pitchFamily="34" charset="0"/>
              </a:rPr>
              <a:t>Separate adder as ALU operations and PC </a:t>
            </a:r>
          </a:p>
          <a:p>
            <a:r>
              <a:rPr lang="en-US" sz="1200">
                <a:solidFill>
                  <a:schemeClr val="hlink"/>
                </a:solidFill>
                <a:latin typeface="Tahoma" pitchFamily="34" charset="0"/>
              </a:rPr>
              <a:t>increment occur in the same clock cycle</a:t>
            </a:r>
          </a:p>
        </p:txBody>
      </p:sp>
      <p:sp>
        <p:nvSpPr>
          <p:cNvPr id="522250" name="Line 10"/>
          <p:cNvSpPr>
            <a:spLocks noChangeShapeType="1"/>
          </p:cNvSpPr>
          <p:nvPr/>
        </p:nvSpPr>
        <p:spPr bwMode="auto">
          <a:xfrm flipH="1">
            <a:off x="2438400" y="2020887"/>
            <a:ext cx="685800" cy="304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arrow" w="med" len="med"/>
          </a:ln>
          <a:effectLst/>
        </p:spPr>
        <p:txBody>
          <a:bodyPr wrap="none"/>
          <a:lstStyle/>
          <a:p>
            <a:endParaRPr lang="en-IN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Mayank Pandey, MNNIT, Allahabad, India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266" name="Rectangle 2050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258175" cy="1143000"/>
          </a:xfrm>
        </p:spPr>
        <p:txBody>
          <a:bodyPr/>
          <a:lstStyle/>
          <a:p>
            <a:r>
              <a:rPr lang="en-US" dirty="0"/>
              <a:t>MIPS </a:t>
            </a:r>
            <a:r>
              <a:rPr lang="en-US" dirty="0" err="1"/>
              <a:t>Datapath</a:t>
            </a:r>
            <a:r>
              <a:rPr lang="en-US" dirty="0"/>
              <a:t> III: Single-Cycle</a:t>
            </a:r>
          </a:p>
        </p:txBody>
      </p:sp>
      <p:pic>
        <p:nvPicPr>
          <p:cNvPr id="523268" name="Picture 2052" descr="F051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1825" y="1447800"/>
            <a:ext cx="7880350" cy="4111625"/>
          </a:xfrm>
          <a:prstGeom prst="rect">
            <a:avLst/>
          </a:prstGeom>
          <a:noFill/>
        </p:spPr>
      </p:pic>
      <p:sp>
        <p:nvSpPr>
          <p:cNvPr id="523269" name="Text Box 2053"/>
          <p:cNvSpPr txBox="1">
            <a:spLocks noChangeArrowheads="1"/>
          </p:cNvSpPr>
          <p:nvPr/>
        </p:nvSpPr>
        <p:spPr bwMode="auto">
          <a:xfrm>
            <a:off x="990600" y="5530850"/>
            <a:ext cx="66294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600" b="1">
                <a:latin typeface="Tahoma" pitchFamily="34" charset="0"/>
              </a:rPr>
              <a:t>                   Adding branch capability and another multiplexor</a:t>
            </a:r>
            <a:endParaRPr lang="en-US" sz="1200">
              <a:solidFill>
                <a:schemeClr val="hlink"/>
              </a:solidFill>
              <a:latin typeface="Tahoma" pitchFamily="34" charset="0"/>
            </a:endParaRPr>
          </a:p>
        </p:txBody>
      </p:sp>
      <p:sp>
        <p:nvSpPr>
          <p:cNvPr id="523271" name="Text Box 2055"/>
          <p:cNvSpPr txBox="1">
            <a:spLocks noChangeArrowheads="1"/>
          </p:cNvSpPr>
          <p:nvPr/>
        </p:nvSpPr>
        <p:spPr bwMode="auto">
          <a:xfrm>
            <a:off x="152400" y="5029200"/>
            <a:ext cx="22653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>
                <a:latin typeface="Tahoma" pitchFamily="34" charset="0"/>
              </a:rPr>
              <a:t>Instruction address is either</a:t>
            </a:r>
          </a:p>
          <a:p>
            <a:r>
              <a:rPr lang="en-US" sz="1200">
                <a:latin typeface="Tahoma" pitchFamily="34" charset="0"/>
              </a:rPr>
              <a:t>PC+4 or branch target address</a:t>
            </a:r>
          </a:p>
        </p:txBody>
      </p:sp>
      <p:sp>
        <p:nvSpPr>
          <p:cNvPr id="523272" name="Line 2056"/>
          <p:cNvSpPr>
            <a:spLocks noChangeShapeType="1"/>
          </p:cNvSpPr>
          <p:nvPr/>
        </p:nvSpPr>
        <p:spPr bwMode="auto">
          <a:xfrm flipV="1">
            <a:off x="381000" y="3810000"/>
            <a:ext cx="457200" cy="12192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arrow" w="med" len="med"/>
          </a:ln>
          <a:effectLst/>
        </p:spPr>
        <p:txBody>
          <a:bodyPr wrap="none"/>
          <a:lstStyle/>
          <a:p>
            <a:endParaRPr lang="en-IN"/>
          </a:p>
        </p:txBody>
      </p:sp>
      <p:sp>
        <p:nvSpPr>
          <p:cNvPr id="523273" name="Text Box 2057"/>
          <p:cNvSpPr txBox="1">
            <a:spLocks noChangeArrowheads="1"/>
          </p:cNvSpPr>
          <p:nvPr/>
        </p:nvSpPr>
        <p:spPr bwMode="auto">
          <a:xfrm>
            <a:off x="6729413" y="2667000"/>
            <a:ext cx="21097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>
                <a:solidFill>
                  <a:schemeClr val="hlink"/>
                </a:solidFill>
                <a:latin typeface="Tahoma" pitchFamily="34" charset="0"/>
              </a:rPr>
              <a:t>Extra adder needed as both</a:t>
            </a:r>
          </a:p>
          <a:p>
            <a:r>
              <a:rPr lang="en-US" sz="1200">
                <a:solidFill>
                  <a:schemeClr val="hlink"/>
                </a:solidFill>
                <a:latin typeface="Tahoma" pitchFamily="34" charset="0"/>
              </a:rPr>
              <a:t>adders operate in each cycle</a:t>
            </a:r>
          </a:p>
        </p:txBody>
      </p:sp>
      <p:sp>
        <p:nvSpPr>
          <p:cNvPr id="523274" name="Line 2058"/>
          <p:cNvSpPr>
            <a:spLocks noChangeShapeType="1"/>
          </p:cNvSpPr>
          <p:nvPr/>
        </p:nvSpPr>
        <p:spPr bwMode="auto">
          <a:xfrm flipH="1" flipV="1">
            <a:off x="6248400" y="2590800"/>
            <a:ext cx="533400" cy="304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arrow" w="med" len="med"/>
          </a:ln>
          <a:effectLst/>
        </p:spPr>
        <p:txBody>
          <a:bodyPr wrap="none"/>
          <a:lstStyle/>
          <a:p>
            <a:endParaRPr lang="en-IN"/>
          </a:p>
        </p:txBody>
      </p:sp>
      <p:sp>
        <p:nvSpPr>
          <p:cNvPr id="523275" name="Text Box 2059"/>
          <p:cNvSpPr txBox="1">
            <a:spLocks noChangeArrowheads="1"/>
          </p:cNvSpPr>
          <p:nvPr/>
        </p:nvSpPr>
        <p:spPr bwMode="auto">
          <a:xfrm>
            <a:off x="7467600" y="1447800"/>
            <a:ext cx="12763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200">
                <a:solidFill>
                  <a:schemeClr val="hlink"/>
                </a:solidFill>
                <a:latin typeface="Tahoma" pitchFamily="34" charset="0"/>
              </a:rPr>
              <a:t>New multiplexor</a:t>
            </a:r>
          </a:p>
        </p:txBody>
      </p:sp>
      <p:sp>
        <p:nvSpPr>
          <p:cNvPr id="523276" name="Line 2060"/>
          <p:cNvSpPr>
            <a:spLocks noChangeShapeType="1"/>
          </p:cNvSpPr>
          <p:nvPr/>
        </p:nvSpPr>
        <p:spPr bwMode="auto">
          <a:xfrm flipH="1">
            <a:off x="7162800" y="1676400"/>
            <a:ext cx="685800" cy="609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arrow" w="med" len="med"/>
          </a:ln>
          <a:effectLst/>
        </p:spPr>
        <p:txBody>
          <a:bodyPr wrap="none"/>
          <a:lstStyle/>
          <a:p>
            <a:endParaRPr lang="en-IN"/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Mayank Pandey, MNNIT, Allahabad, India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138" name="Rectangle 205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Datapath Executing </a:t>
            </a:r>
            <a:r>
              <a:rPr lang="en-US">
                <a:latin typeface="Courier New" pitchFamily="49" charset="0"/>
              </a:rPr>
              <a:t>add</a:t>
            </a:r>
          </a:p>
        </p:txBody>
      </p:sp>
      <p:sp>
        <p:nvSpPr>
          <p:cNvPr id="603139" name="Text Box 2051"/>
          <p:cNvSpPr txBox="1">
            <a:spLocks noChangeArrowheads="1"/>
          </p:cNvSpPr>
          <p:nvPr/>
        </p:nvSpPr>
        <p:spPr bwMode="auto">
          <a:xfrm>
            <a:off x="76200" y="5334000"/>
            <a:ext cx="2740025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2400" b="1">
                <a:latin typeface="Courier" pitchFamily="49" charset="0"/>
              </a:rPr>
              <a:t>add rd, rs, rt</a:t>
            </a:r>
          </a:p>
        </p:txBody>
      </p:sp>
      <p:grpSp>
        <p:nvGrpSpPr>
          <p:cNvPr id="2" name="Group 2052"/>
          <p:cNvGrpSpPr>
            <a:grpSpLocks/>
          </p:cNvGrpSpPr>
          <p:nvPr/>
        </p:nvGrpSpPr>
        <p:grpSpPr bwMode="auto">
          <a:xfrm>
            <a:off x="0" y="1687513"/>
            <a:ext cx="9167813" cy="4462462"/>
            <a:chOff x="0" y="1063"/>
            <a:chExt cx="5775" cy="2811"/>
          </a:xfrm>
        </p:grpSpPr>
        <p:sp>
          <p:nvSpPr>
            <p:cNvPr id="603141" name="Rectangle 2053"/>
            <p:cNvSpPr>
              <a:spLocks noChangeArrowheads="1"/>
            </p:cNvSpPr>
            <p:nvPr/>
          </p:nvSpPr>
          <p:spPr bwMode="auto">
            <a:xfrm>
              <a:off x="720" y="1673"/>
              <a:ext cx="384" cy="96"/>
            </a:xfrm>
            <a:prstGeom prst="rect">
              <a:avLst/>
            </a:pr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endParaRPr lang="en-US" sz="1800" b="1">
                <a:latin typeface="Helvetica" pitchFamily="34" charset="0"/>
              </a:endParaRPr>
            </a:p>
          </p:txBody>
        </p:sp>
        <p:sp>
          <p:nvSpPr>
            <p:cNvPr id="603142" name="Rectangle 2054"/>
            <p:cNvSpPr>
              <a:spLocks noChangeArrowheads="1"/>
            </p:cNvSpPr>
            <p:nvPr/>
          </p:nvSpPr>
          <p:spPr bwMode="auto">
            <a:xfrm>
              <a:off x="432" y="2064"/>
              <a:ext cx="288" cy="96"/>
            </a:xfrm>
            <a:prstGeom prst="rect">
              <a:avLst/>
            </a:pr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endParaRPr lang="en-US" sz="1800" b="1">
                <a:latin typeface="Helvetica" pitchFamily="34" charset="0"/>
              </a:endParaRPr>
            </a:p>
          </p:txBody>
        </p:sp>
        <p:sp>
          <p:nvSpPr>
            <p:cNvPr id="603143" name="Rectangle 2055"/>
            <p:cNvSpPr>
              <a:spLocks noChangeArrowheads="1"/>
            </p:cNvSpPr>
            <p:nvPr/>
          </p:nvSpPr>
          <p:spPr bwMode="auto">
            <a:xfrm flipH="1">
              <a:off x="508" y="1323"/>
              <a:ext cx="116" cy="816"/>
            </a:xfrm>
            <a:prstGeom prst="rect">
              <a:avLst/>
            </a:pr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03144" name="Rectangle 2056"/>
            <p:cNvSpPr>
              <a:spLocks noChangeArrowheads="1"/>
            </p:cNvSpPr>
            <p:nvPr/>
          </p:nvSpPr>
          <p:spPr bwMode="auto">
            <a:xfrm>
              <a:off x="507" y="1310"/>
              <a:ext cx="597" cy="82"/>
            </a:xfrm>
            <a:prstGeom prst="rect">
              <a:avLst/>
            </a:pr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endParaRPr lang="en-US" sz="1800" b="1">
                <a:latin typeface="Helvetica" pitchFamily="34" charset="0"/>
              </a:endParaRPr>
            </a:p>
          </p:txBody>
        </p:sp>
        <p:sp>
          <p:nvSpPr>
            <p:cNvPr id="603145" name="Rectangle 2057"/>
            <p:cNvSpPr>
              <a:spLocks noChangeArrowheads="1"/>
            </p:cNvSpPr>
            <p:nvPr/>
          </p:nvSpPr>
          <p:spPr bwMode="auto">
            <a:xfrm>
              <a:off x="1358" y="1522"/>
              <a:ext cx="2400" cy="96"/>
            </a:xfrm>
            <a:prstGeom prst="rect">
              <a:avLst/>
            </a:pr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endParaRPr lang="en-US" sz="1800" b="1">
                <a:latin typeface="Helvetica" pitchFamily="34" charset="0"/>
              </a:endParaRPr>
            </a:p>
          </p:txBody>
        </p:sp>
        <p:sp>
          <p:nvSpPr>
            <p:cNvPr id="603146" name="Rectangle 2058"/>
            <p:cNvSpPr>
              <a:spLocks noChangeArrowheads="1"/>
            </p:cNvSpPr>
            <p:nvPr/>
          </p:nvSpPr>
          <p:spPr bwMode="auto">
            <a:xfrm>
              <a:off x="3717" y="1344"/>
              <a:ext cx="96" cy="240"/>
            </a:xfrm>
            <a:prstGeom prst="rect">
              <a:avLst/>
            </a:pr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03147" name="Rectangle 2059"/>
            <p:cNvSpPr>
              <a:spLocks noChangeArrowheads="1"/>
            </p:cNvSpPr>
            <p:nvPr/>
          </p:nvSpPr>
          <p:spPr bwMode="auto">
            <a:xfrm>
              <a:off x="3710" y="1310"/>
              <a:ext cx="768" cy="82"/>
            </a:xfrm>
            <a:prstGeom prst="rect">
              <a:avLst/>
            </a:pr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03148" name="Rectangle 2060"/>
            <p:cNvSpPr>
              <a:spLocks noChangeArrowheads="1"/>
            </p:cNvSpPr>
            <p:nvPr/>
          </p:nvSpPr>
          <p:spPr bwMode="auto">
            <a:xfrm>
              <a:off x="4416" y="1536"/>
              <a:ext cx="192" cy="96"/>
            </a:xfrm>
            <a:prstGeom prst="rect">
              <a:avLst/>
            </a:pr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03149" name="Rectangle 2061"/>
            <p:cNvSpPr>
              <a:spLocks noChangeArrowheads="1"/>
            </p:cNvSpPr>
            <p:nvPr/>
          </p:nvSpPr>
          <p:spPr bwMode="auto">
            <a:xfrm>
              <a:off x="4409" y="1330"/>
              <a:ext cx="96" cy="288"/>
            </a:xfrm>
            <a:prstGeom prst="rect">
              <a:avLst/>
            </a:pr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03150" name="Rectangle 2062"/>
            <p:cNvSpPr>
              <a:spLocks noChangeArrowheads="1"/>
            </p:cNvSpPr>
            <p:nvPr/>
          </p:nvSpPr>
          <p:spPr bwMode="auto">
            <a:xfrm flipH="1">
              <a:off x="4760" y="1063"/>
              <a:ext cx="88" cy="569"/>
            </a:xfrm>
            <a:prstGeom prst="rect">
              <a:avLst/>
            </a:pr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03151" name="Rectangle 2063"/>
            <p:cNvSpPr>
              <a:spLocks noChangeArrowheads="1"/>
            </p:cNvSpPr>
            <p:nvPr/>
          </p:nvSpPr>
          <p:spPr bwMode="auto">
            <a:xfrm>
              <a:off x="0" y="1063"/>
              <a:ext cx="4800" cy="96"/>
            </a:xfrm>
            <a:prstGeom prst="rect">
              <a:avLst/>
            </a:pr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03152" name="Rectangle 2064"/>
            <p:cNvSpPr>
              <a:spLocks noChangeArrowheads="1"/>
            </p:cNvSpPr>
            <p:nvPr/>
          </p:nvSpPr>
          <p:spPr bwMode="auto">
            <a:xfrm>
              <a:off x="14" y="2084"/>
              <a:ext cx="240" cy="76"/>
            </a:xfrm>
            <a:prstGeom prst="rect">
              <a:avLst/>
            </a:pr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03153" name="Rectangle 2065"/>
            <p:cNvSpPr>
              <a:spLocks noChangeArrowheads="1"/>
            </p:cNvSpPr>
            <p:nvPr/>
          </p:nvSpPr>
          <p:spPr bwMode="auto">
            <a:xfrm>
              <a:off x="7" y="1152"/>
              <a:ext cx="96" cy="1008"/>
            </a:xfrm>
            <a:prstGeom prst="rect">
              <a:avLst/>
            </a:pr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03154" name="Rectangle 2066"/>
            <p:cNvSpPr>
              <a:spLocks noChangeArrowheads="1"/>
            </p:cNvSpPr>
            <p:nvPr/>
          </p:nvSpPr>
          <p:spPr bwMode="auto">
            <a:xfrm>
              <a:off x="4697" y="1598"/>
              <a:ext cx="144" cy="82"/>
            </a:xfrm>
            <a:prstGeom prst="rect">
              <a:avLst/>
            </a:pr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03155" name="Rectangle 2067"/>
            <p:cNvSpPr>
              <a:spLocks noChangeArrowheads="1"/>
            </p:cNvSpPr>
            <p:nvPr/>
          </p:nvSpPr>
          <p:spPr bwMode="auto">
            <a:xfrm>
              <a:off x="3120" y="2448"/>
              <a:ext cx="624" cy="96"/>
            </a:xfrm>
            <a:prstGeom prst="rect">
              <a:avLst/>
            </a:prstGeom>
            <a:solidFill>
              <a:srgbClr val="FF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03156" name="Rectangle 2068"/>
            <p:cNvSpPr>
              <a:spLocks noChangeArrowheads="1"/>
            </p:cNvSpPr>
            <p:nvPr/>
          </p:nvSpPr>
          <p:spPr bwMode="auto">
            <a:xfrm>
              <a:off x="2874" y="2078"/>
              <a:ext cx="96" cy="240"/>
            </a:xfrm>
            <a:prstGeom prst="rect">
              <a:avLst/>
            </a:prstGeom>
            <a:solidFill>
              <a:srgbClr val="00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03157" name="Rectangle 2069"/>
            <p:cNvSpPr>
              <a:spLocks noChangeArrowheads="1"/>
            </p:cNvSpPr>
            <p:nvPr/>
          </p:nvSpPr>
          <p:spPr bwMode="auto">
            <a:xfrm>
              <a:off x="2613" y="2078"/>
              <a:ext cx="96" cy="240"/>
            </a:xfrm>
            <a:prstGeom prst="rect">
              <a:avLst/>
            </a:prstGeom>
            <a:solidFill>
              <a:srgbClr val="00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03158" name="Rectangle 2070"/>
            <p:cNvSpPr>
              <a:spLocks noChangeArrowheads="1"/>
            </p:cNvSpPr>
            <p:nvPr/>
          </p:nvSpPr>
          <p:spPr bwMode="auto">
            <a:xfrm>
              <a:off x="2338" y="2078"/>
              <a:ext cx="96" cy="240"/>
            </a:xfrm>
            <a:prstGeom prst="rect">
              <a:avLst/>
            </a:prstGeom>
            <a:solidFill>
              <a:srgbClr val="00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03159" name="Rectangle 2071"/>
            <p:cNvSpPr>
              <a:spLocks noChangeArrowheads="1"/>
            </p:cNvSpPr>
            <p:nvPr/>
          </p:nvSpPr>
          <p:spPr bwMode="auto">
            <a:xfrm>
              <a:off x="1488" y="2064"/>
              <a:ext cx="1488" cy="96"/>
            </a:xfrm>
            <a:prstGeom prst="rect">
              <a:avLst/>
            </a:prstGeom>
            <a:solidFill>
              <a:srgbClr val="00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03160" name="Rectangle 2072"/>
            <p:cNvSpPr>
              <a:spLocks noChangeArrowheads="1"/>
            </p:cNvSpPr>
            <p:nvPr/>
          </p:nvSpPr>
          <p:spPr bwMode="auto">
            <a:xfrm>
              <a:off x="3120" y="2784"/>
              <a:ext cx="336" cy="96"/>
            </a:xfrm>
            <a:prstGeom prst="rect">
              <a:avLst/>
            </a:prstGeom>
            <a:solidFill>
              <a:srgbClr val="FF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03161" name="Rectangle 2073"/>
            <p:cNvSpPr>
              <a:spLocks noChangeArrowheads="1"/>
            </p:cNvSpPr>
            <p:nvPr/>
          </p:nvSpPr>
          <p:spPr bwMode="auto">
            <a:xfrm>
              <a:off x="3552" y="2880"/>
              <a:ext cx="192" cy="96"/>
            </a:xfrm>
            <a:prstGeom prst="rect">
              <a:avLst/>
            </a:prstGeom>
            <a:solidFill>
              <a:srgbClr val="FF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03162" name="Rectangle 2074"/>
            <p:cNvSpPr>
              <a:spLocks noChangeArrowheads="1"/>
            </p:cNvSpPr>
            <p:nvPr/>
          </p:nvSpPr>
          <p:spPr bwMode="auto">
            <a:xfrm>
              <a:off x="4032" y="2640"/>
              <a:ext cx="192" cy="96"/>
            </a:xfrm>
            <a:prstGeom prst="rect">
              <a:avLst/>
            </a:prstGeom>
            <a:solidFill>
              <a:srgbClr val="FF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03163" name="Rectangle 2075"/>
            <p:cNvSpPr>
              <a:spLocks noChangeArrowheads="1"/>
            </p:cNvSpPr>
            <p:nvPr/>
          </p:nvSpPr>
          <p:spPr bwMode="auto">
            <a:xfrm flipH="1">
              <a:off x="4183" y="2640"/>
              <a:ext cx="89" cy="1056"/>
            </a:xfrm>
            <a:prstGeom prst="rect">
              <a:avLst/>
            </a:prstGeom>
            <a:solidFill>
              <a:srgbClr val="FF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03164" name="Rectangle 2076"/>
            <p:cNvSpPr>
              <a:spLocks noChangeArrowheads="1"/>
            </p:cNvSpPr>
            <p:nvPr/>
          </p:nvSpPr>
          <p:spPr bwMode="auto">
            <a:xfrm>
              <a:off x="4176" y="3648"/>
              <a:ext cx="1104" cy="96"/>
            </a:xfrm>
            <a:prstGeom prst="rect">
              <a:avLst/>
            </a:prstGeom>
            <a:solidFill>
              <a:srgbClr val="FF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03165" name="Rectangle 2077"/>
            <p:cNvSpPr>
              <a:spLocks noChangeArrowheads="1"/>
            </p:cNvSpPr>
            <p:nvPr/>
          </p:nvSpPr>
          <p:spPr bwMode="auto">
            <a:xfrm flipH="1">
              <a:off x="5232" y="3312"/>
              <a:ext cx="96" cy="432"/>
            </a:xfrm>
            <a:prstGeom prst="rect">
              <a:avLst/>
            </a:prstGeom>
            <a:solidFill>
              <a:srgbClr val="FF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03166" name="Rectangle 2078"/>
            <p:cNvSpPr>
              <a:spLocks noChangeArrowheads="1"/>
            </p:cNvSpPr>
            <p:nvPr/>
          </p:nvSpPr>
          <p:spPr bwMode="auto">
            <a:xfrm>
              <a:off x="5232" y="3278"/>
              <a:ext cx="192" cy="82"/>
            </a:xfrm>
            <a:prstGeom prst="rect">
              <a:avLst/>
            </a:prstGeom>
            <a:solidFill>
              <a:srgbClr val="FF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03167" name="Rectangle 2079"/>
            <p:cNvSpPr>
              <a:spLocks noChangeArrowheads="1"/>
            </p:cNvSpPr>
            <p:nvPr/>
          </p:nvSpPr>
          <p:spPr bwMode="auto">
            <a:xfrm>
              <a:off x="5520" y="3216"/>
              <a:ext cx="144" cy="96"/>
            </a:xfrm>
            <a:prstGeom prst="rect">
              <a:avLst/>
            </a:prstGeom>
            <a:solidFill>
              <a:srgbClr val="FF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03168" name="Rectangle 2080"/>
            <p:cNvSpPr>
              <a:spLocks noChangeArrowheads="1"/>
            </p:cNvSpPr>
            <p:nvPr/>
          </p:nvSpPr>
          <p:spPr bwMode="auto">
            <a:xfrm flipH="1">
              <a:off x="5616" y="3216"/>
              <a:ext cx="96" cy="576"/>
            </a:xfrm>
            <a:prstGeom prst="rect">
              <a:avLst/>
            </a:prstGeom>
            <a:solidFill>
              <a:srgbClr val="FF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03169" name="Rectangle 2081"/>
            <p:cNvSpPr>
              <a:spLocks noChangeArrowheads="1"/>
            </p:cNvSpPr>
            <p:nvPr/>
          </p:nvSpPr>
          <p:spPr bwMode="auto">
            <a:xfrm>
              <a:off x="1920" y="3764"/>
              <a:ext cx="3792" cy="110"/>
            </a:xfrm>
            <a:prstGeom prst="rect">
              <a:avLst/>
            </a:prstGeom>
            <a:solidFill>
              <a:srgbClr val="FF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03170" name="Rectangle 2082"/>
            <p:cNvSpPr>
              <a:spLocks noChangeArrowheads="1"/>
            </p:cNvSpPr>
            <p:nvPr/>
          </p:nvSpPr>
          <p:spPr bwMode="auto">
            <a:xfrm flipH="1">
              <a:off x="1920" y="2688"/>
              <a:ext cx="96" cy="1152"/>
            </a:xfrm>
            <a:prstGeom prst="rect">
              <a:avLst/>
            </a:prstGeom>
            <a:solidFill>
              <a:srgbClr val="FF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03171" name="Rectangle 2083"/>
            <p:cNvSpPr>
              <a:spLocks noChangeArrowheads="1"/>
            </p:cNvSpPr>
            <p:nvPr/>
          </p:nvSpPr>
          <p:spPr bwMode="auto">
            <a:xfrm>
              <a:off x="1920" y="2647"/>
              <a:ext cx="240" cy="96"/>
            </a:xfrm>
            <a:prstGeom prst="rect">
              <a:avLst/>
            </a:prstGeom>
            <a:solidFill>
              <a:srgbClr val="FF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pic>
          <p:nvPicPr>
            <p:cNvPr id="603172" name="Picture 2084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0" y="1106"/>
              <a:ext cx="5775" cy="2734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</p:pic>
      </p:grpSp>
      <p:sp>
        <p:nvSpPr>
          <p:cNvPr id="3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Mayank Pandey, MNNIT, Allahabad, India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03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3139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62" name="Rectangle 205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Datapath Executing </a:t>
            </a:r>
            <a:r>
              <a:rPr lang="en-US">
                <a:latin typeface="Courier New" pitchFamily="49" charset="0"/>
              </a:rPr>
              <a:t>lw</a:t>
            </a:r>
          </a:p>
        </p:txBody>
      </p:sp>
      <p:sp>
        <p:nvSpPr>
          <p:cNvPr id="604163" name="Text Box 2051"/>
          <p:cNvSpPr txBox="1">
            <a:spLocks noChangeArrowheads="1"/>
          </p:cNvSpPr>
          <p:nvPr/>
        </p:nvSpPr>
        <p:spPr bwMode="auto">
          <a:xfrm>
            <a:off x="76200" y="5334000"/>
            <a:ext cx="3105150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2400" b="1">
                <a:latin typeface="Courier" pitchFamily="49" charset="0"/>
              </a:rPr>
              <a:t>lw rt,offset(rs)</a:t>
            </a:r>
          </a:p>
        </p:txBody>
      </p:sp>
      <p:grpSp>
        <p:nvGrpSpPr>
          <p:cNvPr id="2" name="Group 2052"/>
          <p:cNvGrpSpPr>
            <a:grpSpLocks/>
          </p:cNvGrpSpPr>
          <p:nvPr/>
        </p:nvGrpSpPr>
        <p:grpSpPr bwMode="auto">
          <a:xfrm>
            <a:off x="0" y="1687513"/>
            <a:ext cx="9167813" cy="4462462"/>
            <a:chOff x="0" y="1063"/>
            <a:chExt cx="5775" cy="2811"/>
          </a:xfrm>
        </p:grpSpPr>
        <p:sp>
          <p:nvSpPr>
            <p:cNvPr id="604165" name="Rectangle 2053"/>
            <p:cNvSpPr>
              <a:spLocks noChangeArrowheads="1"/>
            </p:cNvSpPr>
            <p:nvPr/>
          </p:nvSpPr>
          <p:spPr bwMode="auto">
            <a:xfrm>
              <a:off x="720" y="1673"/>
              <a:ext cx="384" cy="96"/>
            </a:xfrm>
            <a:prstGeom prst="rect">
              <a:avLst/>
            </a:pr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endParaRPr lang="en-US" sz="1800" b="1">
                <a:latin typeface="Helvetica" pitchFamily="34" charset="0"/>
              </a:endParaRPr>
            </a:p>
          </p:txBody>
        </p:sp>
        <p:sp>
          <p:nvSpPr>
            <p:cNvPr id="604166" name="Rectangle 2054"/>
            <p:cNvSpPr>
              <a:spLocks noChangeArrowheads="1"/>
            </p:cNvSpPr>
            <p:nvPr/>
          </p:nvSpPr>
          <p:spPr bwMode="auto">
            <a:xfrm>
              <a:off x="432" y="2064"/>
              <a:ext cx="288" cy="96"/>
            </a:xfrm>
            <a:prstGeom prst="rect">
              <a:avLst/>
            </a:pr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endParaRPr lang="en-US" sz="1800" b="1">
                <a:latin typeface="Helvetica" pitchFamily="34" charset="0"/>
              </a:endParaRPr>
            </a:p>
          </p:txBody>
        </p:sp>
        <p:sp>
          <p:nvSpPr>
            <p:cNvPr id="604167" name="Rectangle 2055"/>
            <p:cNvSpPr>
              <a:spLocks noChangeArrowheads="1"/>
            </p:cNvSpPr>
            <p:nvPr/>
          </p:nvSpPr>
          <p:spPr bwMode="auto">
            <a:xfrm flipH="1">
              <a:off x="508" y="1323"/>
              <a:ext cx="116" cy="816"/>
            </a:xfrm>
            <a:prstGeom prst="rect">
              <a:avLst/>
            </a:pr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04168" name="Rectangle 2056"/>
            <p:cNvSpPr>
              <a:spLocks noChangeArrowheads="1"/>
            </p:cNvSpPr>
            <p:nvPr/>
          </p:nvSpPr>
          <p:spPr bwMode="auto">
            <a:xfrm>
              <a:off x="507" y="1310"/>
              <a:ext cx="597" cy="82"/>
            </a:xfrm>
            <a:prstGeom prst="rect">
              <a:avLst/>
            </a:pr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endParaRPr lang="en-US" sz="1800" b="1">
                <a:latin typeface="Helvetica" pitchFamily="34" charset="0"/>
              </a:endParaRPr>
            </a:p>
          </p:txBody>
        </p:sp>
        <p:sp>
          <p:nvSpPr>
            <p:cNvPr id="604169" name="Rectangle 2057"/>
            <p:cNvSpPr>
              <a:spLocks noChangeArrowheads="1"/>
            </p:cNvSpPr>
            <p:nvPr/>
          </p:nvSpPr>
          <p:spPr bwMode="auto">
            <a:xfrm>
              <a:off x="1358" y="1522"/>
              <a:ext cx="2400" cy="96"/>
            </a:xfrm>
            <a:prstGeom prst="rect">
              <a:avLst/>
            </a:pr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endParaRPr lang="en-US" sz="1800" b="1">
                <a:latin typeface="Helvetica" pitchFamily="34" charset="0"/>
              </a:endParaRPr>
            </a:p>
          </p:txBody>
        </p:sp>
        <p:sp>
          <p:nvSpPr>
            <p:cNvPr id="604170" name="Rectangle 2058"/>
            <p:cNvSpPr>
              <a:spLocks noChangeArrowheads="1"/>
            </p:cNvSpPr>
            <p:nvPr/>
          </p:nvSpPr>
          <p:spPr bwMode="auto">
            <a:xfrm>
              <a:off x="3717" y="1344"/>
              <a:ext cx="96" cy="240"/>
            </a:xfrm>
            <a:prstGeom prst="rect">
              <a:avLst/>
            </a:pr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04171" name="Rectangle 2059"/>
            <p:cNvSpPr>
              <a:spLocks noChangeArrowheads="1"/>
            </p:cNvSpPr>
            <p:nvPr/>
          </p:nvSpPr>
          <p:spPr bwMode="auto">
            <a:xfrm>
              <a:off x="3710" y="1310"/>
              <a:ext cx="768" cy="82"/>
            </a:xfrm>
            <a:prstGeom prst="rect">
              <a:avLst/>
            </a:pr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04172" name="Rectangle 2060"/>
            <p:cNvSpPr>
              <a:spLocks noChangeArrowheads="1"/>
            </p:cNvSpPr>
            <p:nvPr/>
          </p:nvSpPr>
          <p:spPr bwMode="auto">
            <a:xfrm>
              <a:off x="4416" y="1536"/>
              <a:ext cx="192" cy="96"/>
            </a:xfrm>
            <a:prstGeom prst="rect">
              <a:avLst/>
            </a:pr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04173" name="Rectangle 2061"/>
            <p:cNvSpPr>
              <a:spLocks noChangeArrowheads="1"/>
            </p:cNvSpPr>
            <p:nvPr/>
          </p:nvSpPr>
          <p:spPr bwMode="auto">
            <a:xfrm>
              <a:off x="4409" y="1330"/>
              <a:ext cx="96" cy="288"/>
            </a:xfrm>
            <a:prstGeom prst="rect">
              <a:avLst/>
            </a:pr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04174" name="Rectangle 2062"/>
            <p:cNvSpPr>
              <a:spLocks noChangeArrowheads="1"/>
            </p:cNvSpPr>
            <p:nvPr/>
          </p:nvSpPr>
          <p:spPr bwMode="auto">
            <a:xfrm flipH="1">
              <a:off x="4769" y="1063"/>
              <a:ext cx="88" cy="569"/>
            </a:xfrm>
            <a:prstGeom prst="rect">
              <a:avLst/>
            </a:pr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04175" name="Rectangle 2063"/>
            <p:cNvSpPr>
              <a:spLocks noChangeArrowheads="1"/>
            </p:cNvSpPr>
            <p:nvPr/>
          </p:nvSpPr>
          <p:spPr bwMode="auto">
            <a:xfrm>
              <a:off x="0" y="1063"/>
              <a:ext cx="4800" cy="96"/>
            </a:xfrm>
            <a:prstGeom prst="rect">
              <a:avLst/>
            </a:pr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04176" name="Rectangle 2064"/>
            <p:cNvSpPr>
              <a:spLocks noChangeArrowheads="1"/>
            </p:cNvSpPr>
            <p:nvPr/>
          </p:nvSpPr>
          <p:spPr bwMode="auto">
            <a:xfrm>
              <a:off x="14" y="2084"/>
              <a:ext cx="240" cy="76"/>
            </a:xfrm>
            <a:prstGeom prst="rect">
              <a:avLst/>
            </a:pr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04177" name="Rectangle 2065"/>
            <p:cNvSpPr>
              <a:spLocks noChangeArrowheads="1"/>
            </p:cNvSpPr>
            <p:nvPr/>
          </p:nvSpPr>
          <p:spPr bwMode="auto">
            <a:xfrm>
              <a:off x="7" y="1152"/>
              <a:ext cx="96" cy="1008"/>
            </a:xfrm>
            <a:prstGeom prst="rect">
              <a:avLst/>
            </a:pr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04178" name="Rectangle 2066"/>
            <p:cNvSpPr>
              <a:spLocks noChangeArrowheads="1"/>
            </p:cNvSpPr>
            <p:nvPr/>
          </p:nvSpPr>
          <p:spPr bwMode="auto">
            <a:xfrm>
              <a:off x="4697" y="1598"/>
              <a:ext cx="144" cy="82"/>
            </a:xfrm>
            <a:prstGeom prst="rect">
              <a:avLst/>
            </a:pr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04179" name="Rectangle 2067"/>
            <p:cNvSpPr>
              <a:spLocks noChangeArrowheads="1"/>
            </p:cNvSpPr>
            <p:nvPr/>
          </p:nvSpPr>
          <p:spPr bwMode="auto">
            <a:xfrm>
              <a:off x="3120" y="2448"/>
              <a:ext cx="624" cy="96"/>
            </a:xfrm>
            <a:prstGeom prst="rect">
              <a:avLst/>
            </a:prstGeom>
            <a:solidFill>
              <a:srgbClr val="FF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04180" name="Rectangle 2068"/>
            <p:cNvSpPr>
              <a:spLocks noChangeArrowheads="1"/>
            </p:cNvSpPr>
            <p:nvPr/>
          </p:nvSpPr>
          <p:spPr bwMode="auto">
            <a:xfrm>
              <a:off x="2881" y="2078"/>
              <a:ext cx="96" cy="240"/>
            </a:xfrm>
            <a:prstGeom prst="rect">
              <a:avLst/>
            </a:prstGeom>
            <a:solidFill>
              <a:srgbClr val="00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04181" name="Rectangle 2069"/>
            <p:cNvSpPr>
              <a:spLocks noChangeArrowheads="1"/>
            </p:cNvSpPr>
            <p:nvPr/>
          </p:nvSpPr>
          <p:spPr bwMode="auto">
            <a:xfrm>
              <a:off x="2352" y="2078"/>
              <a:ext cx="96" cy="240"/>
            </a:xfrm>
            <a:prstGeom prst="rect">
              <a:avLst/>
            </a:prstGeom>
            <a:solidFill>
              <a:srgbClr val="00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04182" name="Rectangle 2070"/>
            <p:cNvSpPr>
              <a:spLocks noChangeArrowheads="1"/>
            </p:cNvSpPr>
            <p:nvPr/>
          </p:nvSpPr>
          <p:spPr bwMode="auto">
            <a:xfrm>
              <a:off x="1488" y="2064"/>
              <a:ext cx="1488" cy="96"/>
            </a:xfrm>
            <a:prstGeom prst="rect">
              <a:avLst/>
            </a:prstGeom>
            <a:solidFill>
              <a:srgbClr val="00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04183" name="Rectangle 2071"/>
            <p:cNvSpPr>
              <a:spLocks noChangeArrowheads="1"/>
            </p:cNvSpPr>
            <p:nvPr/>
          </p:nvSpPr>
          <p:spPr bwMode="auto">
            <a:xfrm>
              <a:off x="3168" y="2976"/>
              <a:ext cx="288" cy="96"/>
            </a:xfrm>
            <a:prstGeom prst="rect">
              <a:avLst/>
            </a:prstGeom>
            <a:solidFill>
              <a:srgbClr val="00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04184" name="Rectangle 2072"/>
            <p:cNvSpPr>
              <a:spLocks noChangeArrowheads="1"/>
            </p:cNvSpPr>
            <p:nvPr/>
          </p:nvSpPr>
          <p:spPr bwMode="auto">
            <a:xfrm>
              <a:off x="3552" y="2880"/>
              <a:ext cx="192" cy="96"/>
            </a:xfrm>
            <a:prstGeom prst="rect">
              <a:avLst/>
            </a:prstGeom>
            <a:solidFill>
              <a:srgbClr val="00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04185" name="Rectangle 2073"/>
            <p:cNvSpPr>
              <a:spLocks noChangeArrowheads="1"/>
            </p:cNvSpPr>
            <p:nvPr/>
          </p:nvSpPr>
          <p:spPr bwMode="auto">
            <a:xfrm>
              <a:off x="4032" y="2658"/>
              <a:ext cx="192" cy="96"/>
            </a:xfrm>
            <a:prstGeom prst="rect">
              <a:avLst/>
            </a:prstGeom>
            <a:solidFill>
              <a:srgbClr val="FF505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04186" name="Rectangle 2074"/>
            <p:cNvSpPr>
              <a:spLocks noChangeArrowheads="1"/>
            </p:cNvSpPr>
            <p:nvPr/>
          </p:nvSpPr>
          <p:spPr bwMode="auto">
            <a:xfrm flipH="1">
              <a:off x="4201" y="2640"/>
              <a:ext cx="89" cy="336"/>
            </a:xfrm>
            <a:prstGeom prst="rect">
              <a:avLst/>
            </a:prstGeom>
            <a:solidFill>
              <a:srgbClr val="FF505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04187" name="Rectangle 2075"/>
            <p:cNvSpPr>
              <a:spLocks noChangeArrowheads="1"/>
            </p:cNvSpPr>
            <p:nvPr/>
          </p:nvSpPr>
          <p:spPr bwMode="auto">
            <a:xfrm>
              <a:off x="5184" y="3120"/>
              <a:ext cx="240" cy="82"/>
            </a:xfrm>
            <a:prstGeom prst="rect">
              <a:avLst/>
            </a:prstGeom>
            <a:solidFill>
              <a:srgbClr val="FF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04188" name="Rectangle 2076"/>
            <p:cNvSpPr>
              <a:spLocks noChangeArrowheads="1"/>
            </p:cNvSpPr>
            <p:nvPr/>
          </p:nvSpPr>
          <p:spPr bwMode="auto">
            <a:xfrm>
              <a:off x="5520" y="3216"/>
              <a:ext cx="144" cy="96"/>
            </a:xfrm>
            <a:prstGeom prst="rect">
              <a:avLst/>
            </a:prstGeom>
            <a:solidFill>
              <a:srgbClr val="FF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04189" name="Rectangle 2077"/>
            <p:cNvSpPr>
              <a:spLocks noChangeArrowheads="1"/>
            </p:cNvSpPr>
            <p:nvPr/>
          </p:nvSpPr>
          <p:spPr bwMode="auto">
            <a:xfrm flipH="1">
              <a:off x="5643" y="3216"/>
              <a:ext cx="96" cy="576"/>
            </a:xfrm>
            <a:prstGeom prst="rect">
              <a:avLst/>
            </a:prstGeom>
            <a:solidFill>
              <a:srgbClr val="FF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04190" name="Rectangle 2078"/>
            <p:cNvSpPr>
              <a:spLocks noChangeArrowheads="1"/>
            </p:cNvSpPr>
            <p:nvPr/>
          </p:nvSpPr>
          <p:spPr bwMode="auto">
            <a:xfrm>
              <a:off x="1920" y="3764"/>
              <a:ext cx="3792" cy="110"/>
            </a:xfrm>
            <a:prstGeom prst="rect">
              <a:avLst/>
            </a:prstGeom>
            <a:solidFill>
              <a:srgbClr val="FF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04191" name="Rectangle 2079"/>
            <p:cNvSpPr>
              <a:spLocks noChangeArrowheads="1"/>
            </p:cNvSpPr>
            <p:nvPr/>
          </p:nvSpPr>
          <p:spPr bwMode="auto">
            <a:xfrm flipH="1">
              <a:off x="1920" y="2688"/>
              <a:ext cx="96" cy="1152"/>
            </a:xfrm>
            <a:prstGeom prst="rect">
              <a:avLst/>
            </a:prstGeom>
            <a:solidFill>
              <a:srgbClr val="FF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04192" name="Rectangle 2080"/>
            <p:cNvSpPr>
              <a:spLocks noChangeArrowheads="1"/>
            </p:cNvSpPr>
            <p:nvPr/>
          </p:nvSpPr>
          <p:spPr bwMode="auto">
            <a:xfrm>
              <a:off x="1920" y="2647"/>
              <a:ext cx="240" cy="96"/>
            </a:xfrm>
            <a:prstGeom prst="rect">
              <a:avLst/>
            </a:prstGeom>
            <a:solidFill>
              <a:srgbClr val="FF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04193" name="Rectangle 2081"/>
            <p:cNvSpPr>
              <a:spLocks noChangeArrowheads="1"/>
            </p:cNvSpPr>
            <p:nvPr/>
          </p:nvSpPr>
          <p:spPr bwMode="auto">
            <a:xfrm>
              <a:off x="4212" y="2894"/>
              <a:ext cx="240" cy="82"/>
            </a:xfrm>
            <a:prstGeom prst="rect">
              <a:avLst/>
            </a:prstGeom>
            <a:solidFill>
              <a:srgbClr val="FF505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endParaRPr lang="en-US" sz="2800" u="sng"/>
            </a:p>
          </p:txBody>
        </p:sp>
        <p:sp>
          <p:nvSpPr>
            <p:cNvPr id="604194" name="Rectangle 2082"/>
            <p:cNvSpPr>
              <a:spLocks noChangeArrowheads="1"/>
            </p:cNvSpPr>
            <p:nvPr/>
          </p:nvSpPr>
          <p:spPr bwMode="auto">
            <a:xfrm flipH="1">
              <a:off x="3168" y="3024"/>
              <a:ext cx="96" cy="384"/>
            </a:xfrm>
            <a:prstGeom prst="rect">
              <a:avLst/>
            </a:prstGeom>
            <a:solidFill>
              <a:srgbClr val="00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04195" name="Rectangle 2083"/>
            <p:cNvSpPr>
              <a:spLocks noChangeArrowheads="1"/>
            </p:cNvSpPr>
            <p:nvPr/>
          </p:nvSpPr>
          <p:spPr bwMode="auto">
            <a:xfrm>
              <a:off x="3024" y="3312"/>
              <a:ext cx="240" cy="96"/>
            </a:xfrm>
            <a:prstGeom prst="rect">
              <a:avLst/>
            </a:prstGeom>
            <a:solidFill>
              <a:srgbClr val="00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04196" name="Rectangle 2084"/>
            <p:cNvSpPr>
              <a:spLocks noChangeArrowheads="1"/>
            </p:cNvSpPr>
            <p:nvPr/>
          </p:nvSpPr>
          <p:spPr bwMode="auto">
            <a:xfrm>
              <a:off x="1728" y="3312"/>
              <a:ext cx="1104" cy="96"/>
            </a:xfrm>
            <a:prstGeom prst="rect">
              <a:avLst/>
            </a:prstGeom>
            <a:solidFill>
              <a:srgbClr val="00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04197" name="Rectangle 2085"/>
            <p:cNvSpPr>
              <a:spLocks noChangeArrowheads="1"/>
            </p:cNvSpPr>
            <p:nvPr/>
          </p:nvSpPr>
          <p:spPr bwMode="auto">
            <a:xfrm flipH="1">
              <a:off x="1728" y="2160"/>
              <a:ext cx="96" cy="1152"/>
            </a:xfrm>
            <a:prstGeom prst="rect">
              <a:avLst/>
            </a:prstGeom>
            <a:solidFill>
              <a:srgbClr val="00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pic>
          <p:nvPicPr>
            <p:cNvPr id="604198" name="Picture 2086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0" y="1104"/>
              <a:ext cx="5775" cy="2734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</p:pic>
      </p:grpSp>
      <p:sp>
        <p:nvSpPr>
          <p:cNvPr id="3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Mayank Pandey, MNNIT, Allahabad, India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04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163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18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Datapath Executing </a:t>
            </a:r>
            <a:r>
              <a:rPr lang="en-US">
                <a:latin typeface="Courier New" pitchFamily="49" charset="0"/>
              </a:rPr>
              <a:t>sw</a:t>
            </a:r>
          </a:p>
        </p:txBody>
      </p:sp>
      <p:sp>
        <p:nvSpPr>
          <p:cNvPr id="605187" name="Text Box 1027"/>
          <p:cNvSpPr txBox="1">
            <a:spLocks noChangeArrowheads="1"/>
          </p:cNvSpPr>
          <p:nvPr/>
        </p:nvSpPr>
        <p:spPr bwMode="auto">
          <a:xfrm>
            <a:off x="76200" y="5334000"/>
            <a:ext cx="3105150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2400" b="1">
                <a:latin typeface="Courier" pitchFamily="49" charset="0"/>
              </a:rPr>
              <a:t>sw rt,offset(rs)</a:t>
            </a:r>
          </a:p>
        </p:txBody>
      </p:sp>
      <p:grpSp>
        <p:nvGrpSpPr>
          <p:cNvPr id="2" name="Group 1028"/>
          <p:cNvGrpSpPr>
            <a:grpSpLocks/>
          </p:cNvGrpSpPr>
          <p:nvPr/>
        </p:nvGrpSpPr>
        <p:grpSpPr bwMode="auto">
          <a:xfrm>
            <a:off x="0" y="1687513"/>
            <a:ext cx="9167813" cy="4408487"/>
            <a:chOff x="0" y="1063"/>
            <a:chExt cx="5775" cy="2777"/>
          </a:xfrm>
        </p:grpSpPr>
        <p:grpSp>
          <p:nvGrpSpPr>
            <p:cNvPr id="3" name="Group 1029"/>
            <p:cNvGrpSpPr>
              <a:grpSpLocks/>
            </p:cNvGrpSpPr>
            <p:nvPr/>
          </p:nvGrpSpPr>
          <p:grpSpPr bwMode="auto">
            <a:xfrm>
              <a:off x="0" y="1063"/>
              <a:ext cx="4848" cy="2345"/>
              <a:chOff x="0" y="1063"/>
              <a:chExt cx="4848" cy="2345"/>
            </a:xfrm>
          </p:grpSpPr>
          <p:sp>
            <p:nvSpPr>
              <p:cNvPr id="605190" name="Rectangle 1030"/>
              <p:cNvSpPr>
                <a:spLocks noChangeArrowheads="1"/>
              </p:cNvSpPr>
              <p:nvPr/>
            </p:nvSpPr>
            <p:spPr bwMode="auto">
              <a:xfrm>
                <a:off x="3141" y="2784"/>
                <a:ext cx="171" cy="96"/>
              </a:xfrm>
              <a:prstGeom prst="rect">
                <a:avLst/>
              </a:prstGeom>
              <a:solidFill>
                <a:srgbClr val="FF9900"/>
              </a:solidFill>
              <a:ln w="2857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605191" name="Rectangle 1031"/>
              <p:cNvSpPr>
                <a:spLocks noChangeArrowheads="1"/>
              </p:cNvSpPr>
              <p:nvPr/>
            </p:nvSpPr>
            <p:spPr bwMode="auto">
              <a:xfrm flipH="1">
                <a:off x="3223" y="2818"/>
                <a:ext cx="96" cy="576"/>
              </a:xfrm>
              <a:prstGeom prst="rect">
                <a:avLst/>
              </a:prstGeom>
              <a:solidFill>
                <a:srgbClr val="FF9900"/>
              </a:solidFill>
              <a:ln w="2857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605192" name="Rectangle 1032"/>
              <p:cNvSpPr>
                <a:spLocks noChangeArrowheads="1"/>
              </p:cNvSpPr>
              <p:nvPr/>
            </p:nvSpPr>
            <p:spPr bwMode="auto">
              <a:xfrm>
                <a:off x="3285" y="3278"/>
                <a:ext cx="1104" cy="116"/>
              </a:xfrm>
              <a:prstGeom prst="rect">
                <a:avLst/>
              </a:prstGeom>
              <a:solidFill>
                <a:srgbClr val="FF9900"/>
              </a:solidFill>
              <a:ln w="2857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605193" name="Rectangle 1033"/>
              <p:cNvSpPr>
                <a:spLocks noChangeArrowheads="1"/>
              </p:cNvSpPr>
              <p:nvPr/>
            </p:nvSpPr>
            <p:spPr bwMode="auto">
              <a:xfrm>
                <a:off x="432" y="2064"/>
                <a:ext cx="288" cy="96"/>
              </a:xfrm>
              <a:prstGeom prst="rect">
                <a:avLst/>
              </a:prstGeom>
              <a:solidFill>
                <a:srgbClr val="00FF00"/>
              </a:solidFill>
              <a:ln w="2857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/>
                <a:endParaRPr lang="en-US" sz="1800" b="1">
                  <a:latin typeface="Helvetica" pitchFamily="34" charset="0"/>
                </a:endParaRPr>
              </a:p>
            </p:txBody>
          </p:sp>
          <p:sp>
            <p:nvSpPr>
              <p:cNvPr id="605194" name="Rectangle 1034"/>
              <p:cNvSpPr>
                <a:spLocks noChangeArrowheads="1"/>
              </p:cNvSpPr>
              <p:nvPr/>
            </p:nvSpPr>
            <p:spPr bwMode="auto">
              <a:xfrm flipH="1">
                <a:off x="508" y="1323"/>
                <a:ext cx="116" cy="816"/>
              </a:xfrm>
              <a:prstGeom prst="rect">
                <a:avLst/>
              </a:prstGeom>
              <a:solidFill>
                <a:srgbClr val="00FF00"/>
              </a:solidFill>
              <a:ln w="2857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605195" name="Rectangle 1035"/>
              <p:cNvSpPr>
                <a:spLocks noChangeArrowheads="1"/>
              </p:cNvSpPr>
              <p:nvPr/>
            </p:nvSpPr>
            <p:spPr bwMode="auto">
              <a:xfrm>
                <a:off x="507" y="1310"/>
                <a:ext cx="597" cy="82"/>
              </a:xfrm>
              <a:prstGeom prst="rect">
                <a:avLst/>
              </a:prstGeom>
              <a:solidFill>
                <a:srgbClr val="00FF00"/>
              </a:solidFill>
              <a:ln w="2857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/>
                <a:endParaRPr lang="en-US" sz="1800" b="1">
                  <a:latin typeface="Helvetica" pitchFamily="34" charset="0"/>
                </a:endParaRPr>
              </a:p>
            </p:txBody>
          </p:sp>
          <p:sp>
            <p:nvSpPr>
              <p:cNvPr id="605196" name="Rectangle 1036"/>
              <p:cNvSpPr>
                <a:spLocks noChangeArrowheads="1"/>
              </p:cNvSpPr>
              <p:nvPr/>
            </p:nvSpPr>
            <p:spPr bwMode="auto">
              <a:xfrm>
                <a:off x="1358" y="1522"/>
                <a:ext cx="2400" cy="96"/>
              </a:xfrm>
              <a:prstGeom prst="rect">
                <a:avLst/>
              </a:prstGeom>
              <a:solidFill>
                <a:srgbClr val="00FF00"/>
              </a:solidFill>
              <a:ln w="2857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/>
                <a:endParaRPr lang="en-US" sz="1800" b="1">
                  <a:latin typeface="Helvetica" pitchFamily="34" charset="0"/>
                </a:endParaRPr>
              </a:p>
            </p:txBody>
          </p:sp>
          <p:sp>
            <p:nvSpPr>
              <p:cNvPr id="605197" name="Rectangle 1037"/>
              <p:cNvSpPr>
                <a:spLocks noChangeArrowheads="1"/>
              </p:cNvSpPr>
              <p:nvPr/>
            </p:nvSpPr>
            <p:spPr bwMode="auto">
              <a:xfrm>
                <a:off x="3717" y="1344"/>
                <a:ext cx="96" cy="240"/>
              </a:xfrm>
              <a:prstGeom prst="rect">
                <a:avLst/>
              </a:prstGeom>
              <a:solidFill>
                <a:srgbClr val="00FF00"/>
              </a:solidFill>
              <a:ln w="2857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605198" name="Rectangle 1038"/>
              <p:cNvSpPr>
                <a:spLocks noChangeArrowheads="1"/>
              </p:cNvSpPr>
              <p:nvPr/>
            </p:nvSpPr>
            <p:spPr bwMode="auto">
              <a:xfrm>
                <a:off x="3710" y="1310"/>
                <a:ext cx="768" cy="82"/>
              </a:xfrm>
              <a:prstGeom prst="rect">
                <a:avLst/>
              </a:prstGeom>
              <a:solidFill>
                <a:srgbClr val="00FF00"/>
              </a:solidFill>
              <a:ln w="2857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605199" name="Rectangle 1039"/>
              <p:cNvSpPr>
                <a:spLocks noChangeArrowheads="1"/>
              </p:cNvSpPr>
              <p:nvPr/>
            </p:nvSpPr>
            <p:spPr bwMode="auto">
              <a:xfrm>
                <a:off x="4416" y="1529"/>
                <a:ext cx="192" cy="96"/>
              </a:xfrm>
              <a:prstGeom prst="rect">
                <a:avLst/>
              </a:prstGeom>
              <a:solidFill>
                <a:srgbClr val="00FF00"/>
              </a:solidFill>
              <a:ln w="2857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605200" name="Rectangle 1040"/>
              <p:cNvSpPr>
                <a:spLocks noChangeArrowheads="1"/>
              </p:cNvSpPr>
              <p:nvPr/>
            </p:nvSpPr>
            <p:spPr bwMode="auto">
              <a:xfrm>
                <a:off x="4409" y="1330"/>
                <a:ext cx="96" cy="288"/>
              </a:xfrm>
              <a:prstGeom prst="rect">
                <a:avLst/>
              </a:prstGeom>
              <a:solidFill>
                <a:srgbClr val="00FF00"/>
              </a:solidFill>
              <a:ln w="2857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605201" name="Rectangle 1041"/>
              <p:cNvSpPr>
                <a:spLocks noChangeArrowheads="1"/>
              </p:cNvSpPr>
              <p:nvPr/>
            </p:nvSpPr>
            <p:spPr bwMode="auto">
              <a:xfrm flipH="1">
                <a:off x="4760" y="1063"/>
                <a:ext cx="88" cy="569"/>
              </a:xfrm>
              <a:prstGeom prst="rect">
                <a:avLst/>
              </a:prstGeom>
              <a:solidFill>
                <a:srgbClr val="00FF00"/>
              </a:solidFill>
              <a:ln w="2857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605202" name="Rectangle 1042"/>
              <p:cNvSpPr>
                <a:spLocks noChangeArrowheads="1"/>
              </p:cNvSpPr>
              <p:nvPr/>
            </p:nvSpPr>
            <p:spPr bwMode="auto">
              <a:xfrm>
                <a:off x="0" y="1063"/>
                <a:ext cx="4800" cy="96"/>
              </a:xfrm>
              <a:prstGeom prst="rect">
                <a:avLst/>
              </a:prstGeom>
              <a:solidFill>
                <a:srgbClr val="00FF00"/>
              </a:solidFill>
              <a:ln w="2857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605203" name="Rectangle 1043"/>
              <p:cNvSpPr>
                <a:spLocks noChangeArrowheads="1"/>
              </p:cNvSpPr>
              <p:nvPr/>
            </p:nvSpPr>
            <p:spPr bwMode="auto">
              <a:xfrm>
                <a:off x="14" y="2084"/>
                <a:ext cx="240" cy="76"/>
              </a:xfrm>
              <a:prstGeom prst="rect">
                <a:avLst/>
              </a:prstGeom>
              <a:solidFill>
                <a:srgbClr val="00FF00"/>
              </a:solidFill>
              <a:ln w="2857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605204" name="Rectangle 1044"/>
              <p:cNvSpPr>
                <a:spLocks noChangeArrowheads="1"/>
              </p:cNvSpPr>
              <p:nvPr/>
            </p:nvSpPr>
            <p:spPr bwMode="auto">
              <a:xfrm>
                <a:off x="7" y="1152"/>
                <a:ext cx="96" cy="1008"/>
              </a:xfrm>
              <a:prstGeom prst="rect">
                <a:avLst/>
              </a:prstGeom>
              <a:solidFill>
                <a:srgbClr val="00FF00"/>
              </a:solidFill>
              <a:ln w="2857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605205" name="Rectangle 1045"/>
              <p:cNvSpPr>
                <a:spLocks noChangeArrowheads="1"/>
              </p:cNvSpPr>
              <p:nvPr/>
            </p:nvSpPr>
            <p:spPr bwMode="auto">
              <a:xfrm>
                <a:off x="3003" y="3312"/>
                <a:ext cx="240" cy="96"/>
              </a:xfrm>
              <a:prstGeom prst="rect">
                <a:avLst/>
              </a:prstGeom>
              <a:solidFill>
                <a:srgbClr val="00FFFF"/>
              </a:solidFill>
              <a:ln w="2857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605206" name="Rectangle 1046"/>
              <p:cNvSpPr>
                <a:spLocks noChangeArrowheads="1"/>
              </p:cNvSpPr>
              <p:nvPr/>
            </p:nvSpPr>
            <p:spPr bwMode="auto">
              <a:xfrm>
                <a:off x="1728" y="3312"/>
                <a:ext cx="1104" cy="96"/>
              </a:xfrm>
              <a:prstGeom prst="rect">
                <a:avLst/>
              </a:prstGeom>
              <a:solidFill>
                <a:srgbClr val="00FFFF"/>
              </a:solidFill>
              <a:ln w="2857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605207" name="Rectangle 1047"/>
              <p:cNvSpPr>
                <a:spLocks noChangeArrowheads="1"/>
              </p:cNvSpPr>
              <p:nvPr/>
            </p:nvSpPr>
            <p:spPr bwMode="auto">
              <a:xfrm flipH="1">
                <a:off x="1728" y="2160"/>
                <a:ext cx="96" cy="1152"/>
              </a:xfrm>
              <a:prstGeom prst="rect">
                <a:avLst/>
              </a:prstGeom>
              <a:solidFill>
                <a:srgbClr val="00FFFF"/>
              </a:solidFill>
              <a:ln w="2857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605208" name="Rectangle 1048"/>
              <p:cNvSpPr>
                <a:spLocks noChangeArrowheads="1"/>
              </p:cNvSpPr>
              <p:nvPr/>
            </p:nvSpPr>
            <p:spPr bwMode="auto">
              <a:xfrm>
                <a:off x="3168" y="2976"/>
                <a:ext cx="288" cy="96"/>
              </a:xfrm>
              <a:prstGeom prst="rect">
                <a:avLst/>
              </a:prstGeom>
              <a:solidFill>
                <a:srgbClr val="00FFFF"/>
              </a:solidFill>
              <a:ln w="2857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605209" name="Rectangle 1049"/>
              <p:cNvSpPr>
                <a:spLocks noChangeArrowheads="1"/>
              </p:cNvSpPr>
              <p:nvPr/>
            </p:nvSpPr>
            <p:spPr bwMode="auto">
              <a:xfrm>
                <a:off x="3120" y="2448"/>
                <a:ext cx="624" cy="96"/>
              </a:xfrm>
              <a:prstGeom prst="rect">
                <a:avLst/>
              </a:prstGeom>
              <a:solidFill>
                <a:srgbClr val="FF9900"/>
              </a:solidFill>
              <a:ln w="2857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605210" name="Rectangle 1050"/>
              <p:cNvSpPr>
                <a:spLocks noChangeArrowheads="1"/>
              </p:cNvSpPr>
              <p:nvPr/>
            </p:nvSpPr>
            <p:spPr bwMode="auto">
              <a:xfrm>
                <a:off x="2626" y="2078"/>
                <a:ext cx="96" cy="240"/>
              </a:xfrm>
              <a:prstGeom prst="rect">
                <a:avLst/>
              </a:prstGeom>
              <a:solidFill>
                <a:srgbClr val="00FFFF"/>
              </a:solidFill>
              <a:ln w="2857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605211" name="Rectangle 1051"/>
              <p:cNvSpPr>
                <a:spLocks noChangeArrowheads="1"/>
              </p:cNvSpPr>
              <p:nvPr/>
            </p:nvSpPr>
            <p:spPr bwMode="auto">
              <a:xfrm>
                <a:off x="2352" y="2078"/>
                <a:ext cx="96" cy="240"/>
              </a:xfrm>
              <a:prstGeom prst="rect">
                <a:avLst/>
              </a:prstGeom>
              <a:solidFill>
                <a:srgbClr val="00FFFF"/>
              </a:solidFill>
              <a:ln w="2857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605212" name="Rectangle 1052"/>
              <p:cNvSpPr>
                <a:spLocks noChangeArrowheads="1"/>
              </p:cNvSpPr>
              <p:nvPr/>
            </p:nvSpPr>
            <p:spPr bwMode="auto">
              <a:xfrm>
                <a:off x="1481" y="2064"/>
                <a:ext cx="1248" cy="96"/>
              </a:xfrm>
              <a:prstGeom prst="rect">
                <a:avLst/>
              </a:prstGeom>
              <a:solidFill>
                <a:srgbClr val="00FFFF"/>
              </a:solidFill>
              <a:ln w="2857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605213" name="Rectangle 1053"/>
              <p:cNvSpPr>
                <a:spLocks noChangeArrowheads="1"/>
              </p:cNvSpPr>
              <p:nvPr/>
            </p:nvSpPr>
            <p:spPr bwMode="auto">
              <a:xfrm>
                <a:off x="3552" y="2894"/>
                <a:ext cx="192" cy="96"/>
              </a:xfrm>
              <a:prstGeom prst="rect">
                <a:avLst/>
              </a:prstGeom>
              <a:solidFill>
                <a:srgbClr val="00FFFF"/>
              </a:solidFill>
              <a:ln w="2857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605214" name="Rectangle 1054"/>
              <p:cNvSpPr>
                <a:spLocks noChangeArrowheads="1"/>
              </p:cNvSpPr>
              <p:nvPr/>
            </p:nvSpPr>
            <p:spPr bwMode="auto">
              <a:xfrm>
                <a:off x="4032" y="2640"/>
                <a:ext cx="192" cy="96"/>
              </a:xfrm>
              <a:prstGeom prst="rect">
                <a:avLst/>
              </a:prstGeom>
              <a:solidFill>
                <a:srgbClr val="FF5050"/>
              </a:solidFill>
              <a:ln w="2857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605215" name="Rectangle 1055"/>
              <p:cNvSpPr>
                <a:spLocks noChangeArrowheads="1"/>
              </p:cNvSpPr>
              <p:nvPr/>
            </p:nvSpPr>
            <p:spPr bwMode="auto">
              <a:xfrm flipH="1">
                <a:off x="4183" y="2640"/>
                <a:ext cx="89" cy="336"/>
              </a:xfrm>
              <a:prstGeom prst="rect">
                <a:avLst/>
              </a:prstGeom>
              <a:solidFill>
                <a:srgbClr val="FF5050"/>
              </a:solidFill>
              <a:ln w="2857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605216" name="Rectangle 1056"/>
              <p:cNvSpPr>
                <a:spLocks noChangeArrowheads="1"/>
              </p:cNvSpPr>
              <p:nvPr/>
            </p:nvSpPr>
            <p:spPr bwMode="auto">
              <a:xfrm>
                <a:off x="4176" y="2894"/>
                <a:ext cx="240" cy="82"/>
              </a:xfrm>
              <a:prstGeom prst="rect">
                <a:avLst/>
              </a:prstGeom>
              <a:solidFill>
                <a:srgbClr val="FF5050"/>
              </a:solidFill>
              <a:ln w="2857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605217" name="Rectangle 1057"/>
              <p:cNvSpPr>
                <a:spLocks noChangeArrowheads="1"/>
              </p:cNvSpPr>
              <p:nvPr/>
            </p:nvSpPr>
            <p:spPr bwMode="auto">
              <a:xfrm>
                <a:off x="4697" y="1598"/>
                <a:ext cx="144" cy="82"/>
              </a:xfrm>
              <a:prstGeom prst="rect">
                <a:avLst/>
              </a:prstGeom>
              <a:solidFill>
                <a:srgbClr val="00FF00"/>
              </a:solidFill>
              <a:ln w="2857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605218" name="Rectangle 1058"/>
              <p:cNvSpPr>
                <a:spLocks noChangeArrowheads="1"/>
              </p:cNvSpPr>
              <p:nvPr/>
            </p:nvSpPr>
            <p:spPr bwMode="auto">
              <a:xfrm>
                <a:off x="1481" y="2064"/>
                <a:ext cx="1248" cy="96"/>
              </a:xfrm>
              <a:prstGeom prst="rect">
                <a:avLst/>
              </a:prstGeom>
              <a:solidFill>
                <a:srgbClr val="00FFFF"/>
              </a:solidFill>
              <a:ln w="2857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605219" name="Rectangle 1059"/>
              <p:cNvSpPr>
                <a:spLocks noChangeArrowheads="1"/>
              </p:cNvSpPr>
              <p:nvPr/>
            </p:nvSpPr>
            <p:spPr bwMode="auto">
              <a:xfrm flipH="1">
                <a:off x="3147" y="3010"/>
                <a:ext cx="96" cy="384"/>
              </a:xfrm>
              <a:prstGeom prst="rect">
                <a:avLst/>
              </a:prstGeom>
              <a:solidFill>
                <a:srgbClr val="00FFFF"/>
              </a:solidFill>
              <a:ln w="2857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605220" name="Rectangle 1060"/>
              <p:cNvSpPr>
                <a:spLocks noChangeArrowheads="1"/>
              </p:cNvSpPr>
              <p:nvPr/>
            </p:nvSpPr>
            <p:spPr bwMode="auto">
              <a:xfrm>
                <a:off x="720" y="1673"/>
                <a:ext cx="384" cy="96"/>
              </a:xfrm>
              <a:prstGeom prst="rect">
                <a:avLst/>
              </a:prstGeom>
              <a:solidFill>
                <a:srgbClr val="00FF00"/>
              </a:solidFill>
              <a:ln w="2857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/>
                <a:endParaRPr lang="en-US" sz="1800" b="1">
                  <a:latin typeface="Helvetica" pitchFamily="34" charset="0"/>
                </a:endParaRPr>
              </a:p>
            </p:txBody>
          </p:sp>
        </p:grpSp>
        <p:pic>
          <p:nvPicPr>
            <p:cNvPr id="605221" name="Picture 1061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0" y="1106"/>
              <a:ext cx="5775" cy="2734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</p:pic>
      </p:grpSp>
      <p:sp>
        <p:nvSpPr>
          <p:cNvPr id="3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Mayank Pandey, MNNIT, Allahabad, India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05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5187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210" name="Rectangle 205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Datapath Executing </a:t>
            </a:r>
            <a:r>
              <a:rPr lang="en-US">
                <a:latin typeface="Courier New" pitchFamily="49" charset="0"/>
              </a:rPr>
              <a:t>beq</a:t>
            </a:r>
          </a:p>
        </p:txBody>
      </p:sp>
      <p:sp>
        <p:nvSpPr>
          <p:cNvPr id="606211" name="Text Box 2051"/>
          <p:cNvSpPr txBox="1">
            <a:spLocks noChangeArrowheads="1"/>
          </p:cNvSpPr>
          <p:nvPr/>
        </p:nvSpPr>
        <p:spPr bwMode="auto">
          <a:xfrm>
            <a:off x="0" y="5334000"/>
            <a:ext cx="3105150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2400" b="1">
                <a:latin typeface="Courier" pitchFamily="49" charset="0"/>
              </a:rPr>
              <a:t>beq r1,r2,offset</a:t>
            </a:r>
          </a:p>
        </p:txBody>
      </p:sp>
      <p:grpSp>
        <p:nvGrpSpPr>
          <p:cNvPr id="2" name="Group 2052"/>
          <p:cNvGrpSpPr>
            <a:grpSpLocks/>
          </p:cNvGrpSpPr>
          <p:nvPr/>
        </p:nvGrpSpPr>
        <p:grpSpPr bwMode="auto">
          <a:xfrm>
            <a:off x="0" y="1676400"/>
            <a:ext cx="9167813" cy="4419600"/>
            <a:chOff x="0" y="1056"/>
            <a:chExt cx="5775" cy="2784"/>
          </a:xfrm>
        </p:grpSpPr>
        <p:sp>
          <p:nvSpPr>
            <p:cNvPr id="606213" name="Rectangle 2053"/>
            <p:cNvSpPr>
              <a:spLocks noChangeArrowheads="1"/>
            </p:cNvSpPr>
            <p:nvPr/>
          </p:nvSpPr>
          <p:spPr bwMode="auto">
            <a:xfrm>
              <a:off x="720" y="1673"/>
              <a:ext cx="384" cy="96"/>
            </a:xfrm>
            <a:prstGeom prst="rect">
              <a:avLst/>
            </a:pr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endParaRPr lang="en-US" sz="1800" b="1">
                <a:latin typeface="Helvetica" pitchFamily="34" charset="0"/>
              </a:endParaRPr>
            </a:p>
          </p:txBody>
        </p:sp>
        <p:sp>
          <p:nvSpPr>
            <p:cNvPr id="606214" name="Rectangle 2054"/>
            <p:cNvSpPr>
              <a:spLocks noChangeArrowheads="1"/>
            </p:cNvSpPr>
            <p:nvPr/>
          </p:nvSpPr>
          <p:spPr bwMode="auto">
            <a:xfrm>
              <a:off x="1344" y="1501"/>
              <a:ext cx="2784" cy="131"/>
            </a:xfrm>
            <a:prstGeom prst="rect">
              <a:avLst/>
            </a:pr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endParaRPr lang="en-US" sz="1800" b="1">
                <a:latin typeface="Helvetica" pitchFamily="34" charset="0"/>
              </a:endParaRPr>
            </a:p>
          </p:txBody>
        </p:sp>
        <p:sp>
          <p:nvSpPr>
            <p:cNvPr id="606215" name="Rectangle 2055"/>
            <p:cNvSpPr>
              <a:spLocks noChangeArrowheads="1"/>
            </p:cNvSpPr>
            <p:nvPr/>
          </p:nvSpPr>
          <p:spPr bwMode="auto">
            <a:xfrm>
              <a:off x="507" y="1310"/>
              <a:ext cx="597" cy="82"/>
            </a:xfrm>
            <a:prstGeom prst="rect">
              <a:avLst/>
            </a:pr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endParaRPr lang="en-US" sz="1800" b="1">
                <a:latin typeface="Helvetica" pitchFamily="34" charset="0"/>
              </a:endParaRPr>
            </a:p>
          </p:txBody>
        </p:sp>
        <p:sp>
          <p:nvSpPr>
            <p:cNvPr id="606216" name="Rectangle 2056"/>
            <p:cNvSpPr>
              <a:spLocks noChangeArrowheads="1"/>
            </p:cNvSpPr>
            <p:nvPr/>
          </p:nvSpPr>
          <p:spPr bwMode="auto">
            <a:xfrm>
              <a:off x="432" y="2064"/>
              <a:ext cx="288" cy="96"/>
            </a:xfrm>
            <a:prstGeom prst="rect">
              <a:avLst/>
            </a:pr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endParaRPr lang="en-US" sz="1800" b="1">
                <a:latin typeface="Helvetica" pitchFamily="34" charset="0"/>
              </a:endParaRPr>
            </a:p>
          </p:txBody>
        </p:sp>
        <p:sp>
          <p:nvSpPr>
            <p:cNvPr id="606217" name="Rectangle 2057"/>
            <p:cNvSpPr>
              <a:spLocks noChangeArrowheads="1"/>
            </p:cNvSpPr>
            <p:nvPr/>
          </p:nvSpPr>
          <p:spPr bwMode="auto">
            <a:xfrm flipH="1">
              <a:off x="508" y="1323"/>
              <a:ext cx="116" cy="816"/>
            </a:xfrm>
            <a:prstGeom prst="rect">
              <a:avLst/>
            </a:pr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06218" name="Rectangle 2058"/>
            <p:cNvSpPr>
              <a:spLocks noChangeArrowheads="1"/>
            </p:cNvSpPr>
            <p:nvPr/>
          </p:nvSpPr>
          <p:spPr bwMode="auto">
            <a:xfrm>
              <a:off x="3888" y="1893"/>
              <a:ext cx="240" cy="75"/>
            </a:xfrm>
            <a:prstGeom prst="rect">
              <a:avLst/>
            </a:prstGeom>
            <a:solidFill>
              <a:srgbClr val="00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06219" name="Rectangle 2059"/>
            <p:cNvSpPr>
              <a:spLocks noChangeArrowheads="1"/>
            </p:cNvSpPr>
            <p:nvPr/>
          </p:nvSpPr>
          <p:spPr bwMode="auto">
            <a:xfrm>
              <a:off x="4368" y="1714"/>
              <a:ext cx="240" cy="75"/>
            </a:xfrm>
            <a:prstGeom prst="rect">
              <a:avLst/>
            </a:pr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06220" name="Rectangle 2060"/>
            <p:cNvSpPr>
              <a:spLocks noChangeArrowheads="1"/>
            </p:cNvSpPr>
            <p:nvPr/>
          </p:nvSpPr>
          <p:spPr bwMode="auto">
            <a:xfrm>
              <a:off x="14" y="2084"/>
              <a:ext cx="240" cy="76"/>
            </a:xfrm>
            <a:prstGeom prst="rect">
              <a:avLst/>
            </a:pr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06221" name="Rectangle 2061"/>
            <p:cNvSpPr>
              <a:spLocks noChangeArrowheads="1"/>
            </p:cNvSpPr>
            <p:nvPr/>
          </p:nvSpPr>
          <p:spPr bwMode="auto">
            <a:xfrm>
              <a:off x="7" y="1152"/>
              <a:ext cx="96" cy="1008"/>
            </a:xfrm>
            <a:prstGeom prst="rect">
              <a:avLst/>
            </a:pr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06222" name="Rectangle 2062"/>
            <p:cNvSpPr>
              <a:spLocks noChangeArrowheads="1"/>
            </p:cNvSpPr>
            <p:nvPr/>
          </p:nvSpPr>
          <p:spPr bwMode="auto">
            <a:xfrm>
              <a:off x="0" y="1063"/>
              <a:ext cx="4800" cy="96"/>
            </a:xfrm>
            <a:prstGeom prst="rect">
              <a:avLst/>
            </a:pr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06223" name="Rectangle 2063"/>
            <p:cNvSpPr>
              <a:spLocks noChangeArrowheads="1"/>
            </p:cNvSpPr>
            <p:nvPr/>
          </p:nvSpPr>
          <p:spPr bwMode="auto">
            <a:xfrm>
              <a:off x="4704" y="1598"/>
              <a:ext cx="144" cy="82"/>
            </a:xfrm>
            <a:prstGeom prst="rect">
              <a:avLst/>
            </a:pr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06224" name="Rectangle 2064"/>
            <p:cNvSpPr>
              <a:spLocks noChangeArrowheads="1"/>
            </p:cNvSpPr>
            <p:nvPr/>
          </p:nvSpPr>
          <p:spPr bwMode="auto">
            <a:xfrm flipH="1">
              <a:off x="4760" y="1056"/>
              <a:ext cx="88" cy="624"/>
            </a:xfrm>
            <a:prstGeom prst="rect">
              <a:avLst/>
            </a:pr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06225" name="Rectangle 2065"/>
            <p:cNvSpPr>
              <a:spLocks noChangeArrowheads="1"/>
            </p:cNvSpPr>
            <p:nvPr/>
          </p:nvSpPr>
          <p:spPr bwMode="auto">
            <a:xfrm flipH="1">
              <a:off x="3161" y="1902"/>
              <a:ext cx="96" cy="1492"/>
            </a:xfrm>
            <a:prstGeom prst="rect">
              <a:avLst/>
            </a:prstGeom>
            <a:solidFill>
              <a:srgbClr val="00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06226" name="Rectangle 2066"/>
            <p:cNvSpPr>
              <a:spLocks noChangeArrowheads="1"/>
            </p:cNvSpPr>
            <p:nvPr/>
          </p:nvSpPr>
          <p:spPr bwMode="auto">
            <a:xfrm>
              <a:off x="3024" y="3312"/>
              <a:ext cx="240" cy="96"/>
            </a:xfrm>
            <a:prstGeom prst="rect">
              <a:avLst/>
            </a:prstGeom>
            <a:solidFill>
              <a:srgbClr val="00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06227" name="Rectangle 2067"/>
            <p:cNvSpPr>
              <a:spLocks noChangeArrowheads="1"/>
            </p:cNvSpPr>
            <p:nvPr/>
          </p:nvSpPr>
          <p:spPr bwMode="auto">
            <a:xfrm>
              <a:off x="3161" y="1893"/>
              <a:ext cx="480" cy="82"/>
            </a:xfrm>
            <a:prstGeom prst="rect">
              <a:avLst/>
            </a:prstGeom>
            <a:solidFill>
              <a:srgbClr val="00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06228" name="Rectangle 2068"/>
            <p:cNvSpPr>
              <a:spLocks noChangeArrowheads="1"/>
            </p:cNvSpPr>
            <p:nvPr/>
          </p:nvSpPr>
          <p:spPr bwMode="auto">
            <a:xfrm>
              <a:off x="1728" y="3312"/>
              <a:ext cx="1104" cy="96"/>
            </a:xfrm>
            <a:prstGeom prst="rect">
              <a:avLst/>
            </a:prstGeom>
            <a:solidFill>
              <a:srgbClr val="00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06229" name="Rectangle 2069"/>
            <p:cNvSpPr>
              <a:spLocks noChangeArrowheads="1"/>
            </p:cNvSpPr>
            <p:nvPr/>
          </p:nvSpPr>
          <p:spPr bwMode="auto">
            <a:xfrm flipH="1">
              <a:off x="1728" y="2160"/>
              <a:ext cx="96" cy="1152"/>
            </a:xfrm>
            <a:prstGeom prst="rect">
              <a:avLst/>
            </a:prstGeom>
            <a:solidFill>
              <a:srgbClr val="00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06230" name="Rectangle 2070"/>
            <p:cNvSpPr>
              <a:spLocks noChangeArrowheads="1"/>
            </p:cNvSpPr>
            <p:nvPr/>
          </p:nvSpPr>
          <p:spPr bwMode="auto">
            <a:xfrm>
              <a:off x="3120" y="2784"/>
              <a:ext cx="336" cy="96"/>
            </a:xfrm>
            <a:prstGeom prst="rect">
              <a:avLst/>
            </a:prstGeom>
            <a:solidFill>
              <a:srgbClr val="FF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06231" name="Rectangle 2071"/>
            <p:cNvSpPr>
              <a:spLocks noChangeArrowheads="1"/>
            </p:cNvSpPr>
            <p:nvPr/>
          </p:nvSpPr>
          <p:spPr bwMode="auto">
            <a:xfrm>
              <a:off x="3120" y="2448"/>
              <a:ext cx="624" cy="96"/>
            </a:xfrm>
            <a:prstGeom prst="rect">
              <a:avLst/>
            </a:prstGeom>
            <a:solidFill>
              <a:srgbClr val="FF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06232" name="Rectangle 2072"/>
            <p:cNvSpPr>
              <a:spLocks noChangeArrowheads="1"/>
            </p:cNvSpPr>
            <p:nvPr/>
          </p:nvSpPr>
          <p:spPr bwMode="auto">
            <a:xfrm>
              <a:off x="2626" y="2078"/>
              <a:ext cx="96" cy="240"/>
            </a:xfrm>
            <a:prstGeom prst="rect">
              <a:avLst/>
            </a:prstGeom>
            <a:solidFill>
              <a:srgbClr val="00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06233" name="Rectangle 2073"/>
            <p:cNvSpPr>
              <a:spLocks noChangeArrowheads="1"/>
            </p:cNvSpPr>
            <p:nvPr/>
          </p:nvSpPr>
          <p:spPr bwMode="auto">
            <a:xfrm>
              <a:off x="2352" y="2078"/>
              <a:ext cx="96" cy="240"/>
            </a:xfrm>
            <a:prstGeom prst="rect">
              <a:avLst/>
            </a:prstGeom>
            <a:solidFill>
              <a:srgbClr val="00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06234" name="Rectangle 2074"/>
            <p:cNvSpPr>
              <a:spLocks noChangeArrowheads="1"/>
            </p:cNvSpPr>
            <p:nvPr/>
          </p:nvSpPr>
          <p:spPr bwMode="auto">
            <a:xfrm>
              <a:off x="1481" y="2064"/>
              <a:ext cx="1248" cy="96"/>
            </a:xfrm>
            <a:prstGeom prst="rect">
              <a:avLst/>
            </a:prstGeom>
            <a:solidFill>
              <a:srgbClr val="00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06235" name="Rectangle 2075"/>
            <p:cNvSpPr>
              <a:spLocks noChangeArrowheads="1"/>
            </p:cNvSpPr>
            <p:nvPr/>
          </p:nvSpPr>
          <p:spPr bwMode="auto">
            <a:xfrm>
              <a:off x="3545" y="2894"/>
              <a:ext cx="192" cy="96"/>
            </a:xfrm>
            <a:prstGeom prst="rect">
              <a:avLst/>
            </a:prstGeom>
            <a:solidFill>
              <a:srgbClr val="FF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06236" name="Rectangle 2076"/>
            <p:cNvSpPr>
              <a:spLocks noChangeArrowheads="1"/>
            </p:cNvSpPr>
            <p:nvPr/>
          </p:nvSpPr>
          <p:spPr bwMode="auto">
            <a:xfrm>
              <a:off x="4032" y="2496"/>
              <a:ext cx="288" cy="96"/>
            </a:xfrm>
            <a:prstGeom prst="rect">
              <a:avLst/>
            </a:prstGeom>
            <a:solidFill>
              <a:srgbClr val="FF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pic>
          <p:nvPicPr>
            <p:cNvPr id="606237" name="Picture 2077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0" y="1106"/>
              <a:ext cx="5775" cy="2734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</p:pic>
      </p:grpSp>
      <p:sp>
        <p:nvSpPr>
          <p:cNvPr id="3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Mayank Pandey, MNNIT, Allahabad, India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06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6211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62" name="Rectangle 2050"/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/>
          <a:lstStyle/>
          <a:p>
            <a:r>
              <a:rPr lang="en-US" dirty="0"/>
              <a:t>Control</a:t>
            </a:r>
          </a:p>
        </p:txBody>
      </p:sp>
      <p:sp>
        <p:nvSpPr>
          <p:cNvPr id="552963" name="Rectangle 2051"/>
          <p:cNvSpPr>
            <a:spLocks noGrp="1" noChangeArrowheads="1"/>
          </p:cNvSpPr>
          <p:nvPr>
            <p:ph type="body" idx="1"/>
          </p:nvPr>
        </p:nvSpPr>
        <p:spPr>
          <a:xfrm>
            <a:off x="533400" y="1447800"/>
            <a:ext cx="7772400" cy="4114800"/>
          </a:xfrm>
        </p:spPr>
        <p:txBody>
          <a:bodyPr/>
          <a:lstStyle/>
          <a:p>
            <a:r>
              <a:rPr lang="en-US" sz="2800" dirty="0"/>
              <a:t>Control unit takes input from</a:t>
            </a:r>
          </a:p>
          <a:p>
            <a:pPr lvl="1"/>
            <a:r>
              <a:rPr lang="en-US" sz="2400" dirty="0"/>
              <a:t>the instruction </a:t>
            </a:r>
            <a:r>
              <a:rPr lang="en-US" sz="2400" dirty="0" err="1"/>
              <a:t>opcode</a:t>
            </a:r>
            <a:r>
              <a:rPr lang="en-US" sz="2400" dirty="0"/>
              <a:t> bits</a:t>
            </a:r>
          </a:p>
          <a:p>
            <a:pPr lvl="1">
              <a:buFont typeface="Wingdings" pitchFamily="2" charset="2"/>
              <a:buNone/>
            </a:pPr>
            <a:endParaRPr lang="en-US" sz="2400" dirty="0"/>
          </a:p>
          <a:p>
            <a:r>
              <a:rPr lang="en-US" sz="2800" dirty="0"/>
              <a:t>Control unit generates</a:t>
            </a:r>
          </a:p>
          <a:p>
            <a:pPr lvl="1"/>
            <a:r>
              <a:rPr lang="en-US" sz="2400" dirty="0"/>
              <a:t>ALU control input</a:t>
            </a:r>
          </a:p>
          <a:p>
            <a:pPr lvl="1"/>
            <a:r>
              <a:rPr lang="en-US" sz="2400" dirty="0"/>
              <a:t>write enable (possibly, read enable also) signals for each storage element</a:t>
            </a:r>
          </a:p>
          <a:p>
            <a:pPr lvl="1"/>
            <a:r>
              <a:rPr lang="en-US" sz="2400" dirty="0"/>
              <a:t>selector controls for each multiplexor</a:t>
            </a: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Mayank Pandey, MNNIT, Allahabad, India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750196382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034" name="Rectangle 2050"/>
          <p:cNvSpPr>
            <a:spLocks noGrp="1" noChangeArrowheads="1"/>
          </p:cNvSpPr>
          <p:nvPr>
            <p:ph type="title"/>
          </p:nvPr>
        </p:nvSpPr>
        <p:spPr>
          <a:xfrm>
            <a:off x="533400" y="304800"/>
            <a:ext cx="7793037" cy="1143000"/>
          </a:xfrm>
        </p:spPr>
        <p:txBody>
          <a:bodyPr/>
          <a:lstStyle/>
          <a:p>
            <a:r>
              <a:rPr lang="en-US" dirty="0"/>
              <a:t>ALU Control</a:t>
            </a:r>
          </a:p>
        </p:txBody>
      </p:sp>
      <p:sp>
        <p:nvSpPr>
          <p:cNvPr id="556035" name="Rectangle 2051"/>
          <p:cNvSpPr>
            <a:spLocks noGrp="1" noChangeArrowheads="1"/>
          </p:cNvSpPr>
          <p:nvPr>
            <p:ph type="body" idx="1"/>
          </p:nvPr>
        </p:nvSpPr>
        <p:spPr>
          <a:xfrm>
            <a:off x="381000" y="1295400"/>
            <a:ext cx="8382000" cy="4114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000" dirty="0"/>
              <a:t>Plan to control ALU: main control sends a 2-bit </a:t>
            </a:r>
            <a:r>
              <a:rPr lang="en-US" sz="2000" dirty="0" err="1"/>
              <a:t>ALUOp</a:t>
            </a:r>
            <a:r>
              <a:rPr lang="en-US" sz="2000" dirty="0"/>
              <a:t> control field  to the ALU control. Based on </a:t>
            </a:r>
            <a:r>
              <a:rPr lang="en-US" sz="2000" dirty="0" err="1"/>
              <a:t>ALUOp</a:t>
            </a:r>
            <a:r>
              <a:rPr lang="en-US" sz="2000" dirty="0"/>
              <a:t> and </a:t>
            </a:r>
            <a:r>
              <a:rPr lang="en-US" sz="2000" dirty="0" err="1"/>
              <a:t>funct</a:t>
            </a:r>
            <a:r>
              <a:rPr lang="en-US" sz="2000" dirty="0"/>
              <a:t> field of instruction the ALU control generates the 3-bit ALU control field</a:t>
            </a:r>
          </a:p>
          <a:p>
            <a:pPr>
              <a:lnSpc>
                <a:spcPct val="90000"/>
              </a:lnSpc>
            </a:pPr>
            <a:endParaRPr lang="en-US" sz="2000" dirty="0"/>
          </a:p>
          <a:p>
            <a:pPr marL="457200" lvl="1" indent="0">
              <a:lnSpc>
                <a:spcPct val="90000"/>
              </a:lnSpc>
              <a:buNone/>
            </a:pPr>
            <a:r>
              <a:rPr lang="en-US" sz="1800" dirty="0"/>
              <a:t>ALU control    </a:t>
            </a:r>
            <a:r>
              <a:rPr lang="en-US" sz="1800" dirty="0" err="1"/>
              <a:t>Func</a:t>
            </a:r>
            <a:r>
              <a:rPr lang="en-US" sz="1800" dirty="0"/>
              <a:t>-</a:t>
            </a:r>
          </a:p>
          <a:p>
            <a:pPr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/>
              <a:t>           field</a:t>
            </a:r>
            <a:r>
              <a:rPr lang="en-US" sz="1800" b="1" dirty="0"/>
              <a:t>               </a:t>
            </a:r>
            <a:r>
              <a:rPr lang="en-US" sz="1800" dirty="0" err="1"/>
              <a:t>tion</a:t>
            </a:r>
            <a:endParaRPr lang="en-US" sz="1800" dirty="0"/>
          </a:p>
          <a:p>
            <a:pPr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sz="1800" dirty="0"/>
          </a:p>
          <a:p>
            <a:pPr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1" dirty="0"/>
              <a:t>            </a:t>
            </a:r>
            <a:r>
              <a:rPr lang="en-US" sz="1800" dirty="0"/>
              <a:t>000               and</a:t>
            </a:r>
          </a:p>
          <a:p>
            <a:pPr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/>
              <a:t>           001               or</a:t>
            </a:r>
          </a:p>
          <a:p>
            <a:pPr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/>
              <a:t>           010               add</a:t>
            </a:r>
          </a:p>
          <a:p>
            <a:pPr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/>
              <a:t>           110               sub</a:t>
            </a:r>
          </a:p>
          <a:p>
            <a:pPr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/>
              <a:t>           111               </a:t>
            </a:r>
            <a:r>
              <a:rPr lang="en-US" sz="1800" dirty="0" err="1"/>
              <a:t>slt</a:t>
            </a:r>
            <a:endParaRPr lang="en-US" sz="1800" dirty="0"/>
          </a:p>
          <a:p>
            <a:pPr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sz="2000" dirty="0"/>
          </a:p>
          <a:p>
            <a:pPr>
              <a:lnSpc>
                <a:spcPct val="90000"/>
              </a:lnSpc>
            </a:pPr>
            <a:r>
              <a:rPr lang="en-US" sz="2000" dirty="0"/>
              <a:t>ALU must perform</a:t>
            </a:r>
          </a:p>
          <a:p>
            <a:pPr lvl="1">
              <a:lnSpc>
                <a:spcPct val="90000"/>
              </a:lnSpc>
            </a:pPr>
            <a:r>
              <a:rPr lang="en-US" sz="1800" i="1" dirty="0"/>
              <a:t>add</a:t>
            </a:r>
            <a:r>
              <a:rPr lang="en-US" sz="1800" dirty="0"/>
              <a:t> for load/stores (</a:t>
            </a:r>
            <a:r>
              <a:rPr lang="en-US" sz="1800" dirty="0" err="1"/>
              <a:t>ALUOp</a:t>
            </a:r>
            <a:r>
              <a:rPr lang="en-US" sz="1800" dirty="0"/>
              <a:t> 00)</a:t>
            </a:r>
          </a:p>
          <a:p>
            <a:pPr lvl="1">
              <a:lnSpc>
                <a:spcPct val="90000"/>
              </a:lnSpc>
            </a:pPr>
            <a:r>
              <a:rPr lang="en-US" sz="1800" i="1" dirty="0"/>
              <a:t>sub</a:t>
            </a:r>
            <a:r>
              <a:rPr lang="en-US" sz="1800" dirty="0"/>
              <a:t> for branches (</a:t>
            </a:r>
            <a:r>
              <a:rPr lang="en-US" sz="1800" dirty="0" err="1"/>
              <a:t>ALUOp</a:t>
            </a:r>
            <a:r>
              <a:rPr lang="en-US" sz="1800" dirty="0"/>
              <a:t> 01)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one of </a:t>
            </a:r>
            <a:r>
              <a:rPr lang="en-US" sz="1800" i="1" dirty="0"/>
              <a:t>and</a:t>
            </a:r>
            <a:r>
              <a:rPr lang="en-US" sz="1800" dirty="0"/>
              <a:t>, </a:t>
            </a:r>
            <a:r>
              <a:rPr lang="en-US" sz="1800" i="1" dirty="0"/>
              <a:t>or</a:t>
            </a:r>
            <a:r>
              <a:rPr lang="en-US" sz="1800" dirty="0"/>
              <a:t>, </a:t>
            </a:r>
            <a:r>
              <a:rPr lang="en-US" sz="1800" i="1" dirty="0"/>
              <a:t>add</a:t>
            </a:r>
            <a:r>
              <a:rPr lang="en-US" sz="1800" dirty="0"/>
              <a:t>, </a:t>
            </a:r>
            <a:r>
              <a:rPr lang="en-US" sz="1800" i="1" dirty="0"/>
              <a:t>sub</a:t>
            </a:r>
            <a:r>
              <a:rPr lang="en-US" sz="1800" dirty="0"/>
              <a:t>, </a:t>
            </a:r>
            <a:r>
              <a:rPr lang="en-US" sz="1800" i="1" dirty="0" err="1"/>
              <a:t>slt</a:t>
            </a:r>
            <a:r>
              <a:rPr lang="en-US" sz="1800" i="1" dirty="0"/>
              <a:t> </a:t>
            </a:r>
            <a:r>
              <a:rPr lang="en-US" sz="1800" dirty="0"/>
              <a:t>for R-type instructions, depending on the instruction’s 6-bit </a:t>
            </a:r>
            <a:r>
              <a:rPr lang="en-US" sz="1800" dirty="0" err="1"/>
              <a:t>funct</a:t>
            </a:r>
            <a:r>
              <a:rPr lang="en-US" sz="1800" dirty="0"/>
              <a:t> field (</a:t>
            </a:r>
            <a:r>
              <a:rPr lang="en-US" sz="1800" dirty="0" err="1"/>
              <a:t>ALUOp</a:t>
            </a:r>
            <a:r>
              <a:rPr lang="en-US" sz="1800" dirty="0"/>
              <a:t> 10)</a:t>
            </a:r>
          </a:p>
          <a:p>
            <a:pPr marL="457200" lvl="1" indent="0">
              <a:lnSpc>
                <a:spcPct val="90000"/>
              </a:lnSpc>
              <a:buNone/>
            </a:pPr>
            <a:endParaRPr lang="en-US" sz="1800" i="1" dirty="0"/>
          </a:p>
          <a:p>
            <a:pPr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1" dirty="0"/>
              <a:t/>
            </a:r>
            <a:br>
              <a:rPr lang="en-US" sz="1800" b="1" dirty="0"/>
            </a:br>
            <a:endParaRPr lang="en-US" sz="1800" b="1" dirty="0"/>
          </a:p>
        </p:txBody>
      </p:sp>
      <p:sp>
        <p:nvSpPr>
          <p:cNvPr id="556036" name="Rectangle 2052"/>
          <p:cNvSpPr>
            <a:spLocks noChangeArrowheads="1"/>
          </p:cNvSpPr>
          <p:nvPr/>
        </p:nvSpPr>
        <p:spPr bwMode="auto">
          <a:xfrm>
            <a:off x="914400" y="2514600"/>
            <a:ext cx="2209800" cy="2209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56037" name="Line 2053"/>
          <p:cNvSpPr>
            <a:spLocks noChangeShapeType="1"/>
          </p:cNvSpPr>
          <p:nvPr/>
        </p:nvSpPr>
        <p:spPr bwMode="auto">
          <a:xfrm>
            <a:off x="914400" y="3276600"/>
            <a:ext cx="22098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556038" name="Oval 2054"/>
          <p:cNvSpPr>
            <a:spLocks noChangeArrowheads="1"/>
          </p:cNvSpPr>
          <p:nvPr/>
        </p:nvSpPr>
        <p:spPr bwMode="auto">
          <a:xfrm>
            <a:off x="5029200" y="2514600"/>
            <a:ext cx="685800" cy="1676400"/>
          </a:xfrm>
          <a:prstGeom prst="ellips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56039" name="Oval 2055"/>
          <p:cNvSpPr>
            <a:spLocks noChangeArrowheads="1"/>
          </p:cNvSpPr>
          <p:nvPr/>
        </p:nvSpPr>
        <p:spPr bwMode="auto">
          <a:xfrm>
            <a:off x="6705600" y="2819400"/>
            <a:ext cx="609600" cy="1143000"/>
          </a:xfrm>
          <a:prstGeom prst="ellips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56040" name="Text Box 2056"/>
          <p:cNvSpPr txBox="1">
            <a:spLocks noChangeArrowheads="1"/>
          </p:cNvSpPr>
          <p:nvPr/>
        </p:nvSpPr>
        <p:spPr bwMode="auto">
          <a:xfrm>
            <a:off x="5046663" y="3200400"/>
            <a:ext cx="668337" cy="639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200">
                <a:latin typeface="Tahoma" pitchFamily="34" charset="0"/>
              </a:rPr>
              <a:t>Main</a:t>
            </a:r>
          </a:p>
          <a:p>
            <a:r>
              <a:rPr lang="en-US" sz="1200">
                <a:latin typeface="Tahoma" pitchFamily="34" charset="0"/>
              </a:rPr>
              <a:t>Control</a:t>
            </a:r>
          </a:p>
          <a:p>
            <a:endParaRPr lang="en-US" sz="1200">
              <a:latin typeface="Tahoma" pitchFamily="34" charset="0"/>
            </a:endParaRPr>
          </a:p>
        </p:txBody>
      </p:sp>
      <p:sp>
        <p:nvSpPr>
          <p:cNvPr id="556041" name="Text Box 2057"/>
          <p:cNvSpPr txBox="1">
            <a:spLocks noChangeArrowheads="1"/>
          </p:cNvSpPr>
          <p:nvPr/>
        </p:nvSpPr>
        <p:spPr bwMode="auto">
          <a:xfrm>
            <a:off x="6705600" y="3200400"/>
            <a:ext cx="6683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200">
                <a:latin typeface="Tahoma" pitchFamily="34" charset="0"/>
              </a:rPr>
              <a:t>ALU</a:t>
            </a:r>
          </a:p>
          <a:p>
            <a:r>
              <a:rPr lang="en-US" sz="1200">
                <a:latin typeface="Tahoma" pitchFamily="34" charset="0"/>
              </a:rPr>
              <a:t>Control</a:t>
            </a:r>
          </a:p>
        </p:txBody>
      </p:sp>
      <p:sp>
        <p:nvSpPr>
          <p:cNvPr id="556042" name="Line 2058"/>
          <p:cNvSpPr>
            <a:spLocks noChangeShapeType="1"/>
          </p:cNvSpPr>
          <p:nvPr/>
        </p:nvSpPr>
        <p:spPr bwMode="auto">
          <a:xfrm>
            <a:off x="5715000" y="3048000"/>
            <a:ext cx="1066800" cy="0"/>
          </a:xfrm>
          <a:prstGeom prst="line">
            <a:avLst/>
          </a:prstGeom>
          <a:noFill/>
          <a:ln w="25400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556046" name="Line 2062"/>
          <p:cNvSpPr>
            <a:spLocks noChangeShapeType="1"/>
          </p:cNvSpPr>
          <p:nvPr/>
        </p:nvSpPr>
        <p:spPr bwMode="auto">
          <a:xfrm>
            <a:off x="5257800" y="4495800"/>
            <a:ext cx="914400" cy="0"/>
          </a:xfrm>
          <a:prstGeom prst="line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556047" name="Line 2063"/>
          <p:cNvSpPr>
            <a:spLocks noChangeShapeType="1"/>
          </p:cNvSpPr>
          <p:nvPr/>
        </p:nvSpPr>
        <p:spPr bwMode="auto">
          <a:xfrm flipV="1">
            <a:off x="6172200" y="3657600"/>
            <a:ext cx="0" cy="838200"/>
          </a:xfrm>
          <a:prstGeom prst="line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556048" name="Line 2064"/>
          <p:cNvSpPr>
            <a:spLocks noChangeShapeType="1"/>
          </p:cNvSpPr>
          <p:nvPr/>
        </p:nvSpPr>
        <p:spPr bwMode="auto">
          <a:xfrm>
            <a:off x="6172200" y="3657600"/>
            <a:ext cx="609600" cy="0"/>
          </a:xfrm>
          <a:prstGeom prst="line">
            <a:avLst/>
          </a:prstGeom>
          <a:noFill/>
          <a:ln w="25400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556050" name="Line 2066"/>
          <p:cNvSpPr>
            <a:spLocks noChangeShapeType="1"/>
          </p:cNvSpPr>
          <p:nvPr/>
        </p:nvSpPr>
        <p:spPr bwMode="auto">
          <a:xfrm>
            <a:off x="6248400" y="2895600"/>
            <a:ext cx="228600" cy="304800"/>
          </a:xfrm>
          <a:prstGeom prst="line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556052" name="Line 2068"/>
          <p:cNvSpPr>
            <a:spLocks noChangeShapeType="1"/>
          </p:cNvSpPr>
          <p:nvPr/>
        </p:nvSpPr>
        <p:spPr bwMode="auto">
          <a:xfrm>
            <a:off x="5791200" y="4343400"/>
            <a:ext cx="228600" cy="304800"/>
          </a:xfrm>
          <a:prstGeom prst="line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556053" name="Line 2069"/>
          <p:cNvSpPr>
            <a:spLocks noChangeShapeType="1"/>
          </p:cNvSpPr>
          <p:nvPr/>
        </p:nvSpPr>
        <p:spPr bwMode="auto">
          <a:xfrm>
            <a:off x="7315200" y="3352800"/>
            <a:ext cx="1143000" cy="0"/>
          </a:xfrm>
          <a:prstGeom prst="line">
            <a:avLst/>
          </a:prstGeom>
          <a:noFill/>
          <a:ln w="25400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556054" name="Line 2070"/>
          <p:cNvSpPr>
            <a:spLocks noChangeShapeType="1"/>
          </p:cNvSpPr>
          <p:nvPr/>
        </p:nvSpPr>
        <p:spPr bwMode="auto">
          <a:xfrm>
            <a:off x="7924800" y="3200400"/>
            <a:ext cx="228600" cy="304800"/>
          </a:xfrm>
          <a:prstGeom prst="line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556056" name="Text Box 2072"/>
          <p:cNvSpPr txBox="1">
            <a:spLocks noChangeArrowheads="1"/>
          </p:cNvSpPr>
          <p:nvPr/>
        </p:nvSpPr>
        <p:spPr bwMode="auto">
          <a:xfrm>
            <a:off x="6172200" y="2667000"/>
            <a:ext cx="2667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200">
                <a:latin typeface="Tahoma" pitchFamily="34" charset="0"/>
              </a:rPr>
              <a:t>2</a:t>
            </a:r>
          </a:p>
        </p:txBody>
      </p:sp>
      <p:sp>
        <p:nvSpPr>
          <p:cNvPr id="556057" name="Text Box 2073"/>
          <p:cNvSpPr txBox="1">
            <a:spLocks noChangeArrowheads="1"/>
          </p:cNvSpPr>
          <p:nvPr/>
        </p:nvSpPr>
        <p:spPr bwMode="auto">
          <a:xfrm>
            <a:off x="5756275" y="3048000"/>
            <a:ext cx="64452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1200">
                <a:latin typeface="Tahoma" pitchFamily="34" charset="0"/>
              </a:rPr>
              <a:t>ALUOp</a:t>
            </a:r>
          </a:p>
        </p:txBody>
      </p:sp>
      <p:sp>
        <p:nvSpPr>
          <p:cNvPr id="556058" name="Text Box 2074"/>
          <p:cNvSpPr txBox="1">
            <a:spLocks noChangeArrowheads="1"/>
          </p:cNvSpPr>
          <p:nvPr/>
        </p:nvSpPr>
        <p:spPr bwMode="auto">
          <a:xfrm>
            <a:off x="5676900" y="4114800"/>
            <a:ext cx="2667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200">
                <a:latin typeface="Tahoma" pitchFamily="34" charset="0"/>
              </a:rPr>
              <a:t>6</a:t>
            </a:r>
          </a:p>
        </p:txBody>
      </p:sp>
      <p:sp>
        <p:nvSpPr>
          <p:cNvPr id="556059" name="Text Box 2075"/>
          <p:cNvSpPr txBox="1">
            <a:spLocks noChangeArrowheads="1"/>
          </p:cNvSpPr>
          <p:nvPr/>
        </p:nvSpPr>
        <p:spPr bwMode="auto">
          <a:xfrm>
            <a:off x="5032375" y="4495800"/>
            <a:ext cx="9112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200">
                <a:latin typeface="Tahoma" pitchFamily="34" charset="0"/>
              </a:rPr>
              <a:t>Instruction</a:t>
            </a:r>
          </a:p>
          <a:p>
            <a:r>
              <a:rPr lang="en-US" sz="1200">
                <a:latin typeface="Tahoma" pitchFamily="34" charset="0"/>
              </a:rPr>
              <a:t>funct field</a:t>
            </a:r>
          </a:p>
        </p:txBody>
      </p:sp>
      <p:sp>
        <p:nvSpPr>
          <p:cNvPr id="556060" name="Text Box 2076"/>
          <p:cNvSpPr txBox="1">
            <a:spLocks noChangeArrowheads="1"/>
          </p:cNvSpPr>
          <p:nvPr/>
        </p:nvSpPr>
        <p:spPr bwMode="auto">
          <a:xfrm>
            <a:off x="7810500" y="2971800"/>
            <a:ext cx="2667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200">
                <a:latin typeface="Tahoma" pitchFamily="34" charset="0"/>
              </a:rPr>
              <a:t>3</a:t>
            </a:r>
          </a:p>
        </p:txBody>
      </p:sp>
      <p:sp>
        <p:nvSpPr>
          <p:cNvPr id="556061" name="Text Box 2077"/>
          <p:cNvSpPr txBox="1">
            <a:spLocks noChangeArrowheads="1"/>
          </p:cNvSpPr>
          <p:nvPr/>
        </p:nvSpPr>
        <p:spPr bwMode="auto">
          <a:xfrm>
            <a:off x="7431088" y="3352800"/>
            <a:ext cx="646112" cy="639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200">
                <a:latin typeface="Tahoma" pitchFamily="34" charset="0"/>
              </a:rPr>
              <a:t>ALU </a:t>
            </a:r>
          </a:p>
          <a:p>
            <a:r>
              <a:rPr lang="en-US" sz="1200">
                <a:latin typeface="Tahoma" pitchFamily="34" charset="0"/>
              </a:rPr>
              <a:t>control</a:t>
            </a:r>
          </a:p>
          <a:p>
            <a:r>
              <a:rPr lang="en-US" sz="1200">
                <a:latin typeface="Tahoma" pitchFamily="34" charset="0"/>
              </a:rPr>
              <a:t>input</a:t>
            </a:r>
          </a:p>
        </p:txBody>
      </p:sp>
      <p:sp>
        <p:nvSpPr>
          <p:cNvPr id="556063" name="Text Box 2079"/>
          <p:cNvSpPr txBox="1">
            <a:spLocks noChangeArrowheads="1"/>
          </p:cNvSpPr>
          <p:nvPr/>
        </p:nvSpPr>
        <p:spPr bwMode="auto">
          <a:xfrm>
            <a:off x="8458200" y="3124200"/>
            <a:ext cx="4524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200">
                <a:latin typeface="Tahoma" pitchFamily="34" charset="0"/>
              </a:rPr>
              <a:t>To</a:t>
            </a:r>
          </a:p>
          <a:p>
            <a:r>
              <a:rPr lang="en-US" sz="1200">
                <a:latin typeface="Tahoma" pitchFamily="34" charset="0"/>
              </a:rPr>
              <a:t>ALU</a:t>
            </a:r>
          </a:p>
        </p:txBody>
      </p:sp>
      <p:sp>
        <p:nvSpPr>
          <p:cNvPr id="556064" name="AutoShape 2080"/>
          <p:cNvSpPr>
            <a:spLocks/>
          </p:cNvSpPr>
          <p:nvPr/>
        </p:nvSpPr>
        <p:spPr bwMode="auto">
          <a:xfrm>
            <a:off x="8305800" y="5181600"/>
            <a:ext cx="152400" cy="1143000"/>
          </a:xfrm>
          <a:prstGeom prst="rightBrace">
            <a:avLst>
              <a:gd name="adj1" fmla="val 62500"/>
              <a:gd name="adj2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56067" name="Text Box 2083"/>
          <p:cNvSpPr txBox="1">
            <a:spLocks noChangeArrowheads="1"/>
          </p:cNvSpPr>
          <p:nvPr/>
        </p:nvSpPr>
        <p:spPr bwMode="auto">
          <a:xfrm rot="70645">
            <a:off x="6400800" y="4572000"/>
            <a:ext cx="1412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200">
                <a:latin typeface="Tahoma" pitchFamily="34" charset="0"/>
              </a:rPr>
              <a:t>ALUOp generation</a:t>
            </a:r>
          </a:p>
          <a:p>
            <a:r>
              <a:rPr lang="en-US" sz="1200">
                <a:latin typeface="Tahoma" pitchFamily="34" charset="0"/>
              </a:rPr>
              <a:t>by main control</a:t>
            </a:r>
          </a:p>
        </p:txBody>
      </p:sp>
      <p:sp>
        <p:nvSpPr>
          <p:cNvPr id="556068" name="Freeform 2084"/>
          <p:cNvSpPr>
            <a:spLocks/>
          </p:cNvSpPr>
          <p:nvPr/>
        </p:nvSpPr>
        <p:spPr bwMode="auto">
          <a:xfrm>
            <a:off x="6096000" y="3352800"/>
            <a:ext cx="2590800" cy="2362200"/>
          </a:xfrm>
          <a:custGeom>
            <a:avLst/>
            <a:gdLst>
              <a:gd name="T0" fmla="*/ 1344 w 1472"/>
              <a:gd name="T1" fmla="*/ 1488 h 1488"/>
              <a:gd name="T2" fmla="*/ 1296 w 1472"/>
              <a:gd name="T3" fmla="*/ 1008 h 1488"/>
              <a:gd name="T4" fmla="*/ 288 w 1472"/>
              <a:gd name="T5" fmla="*/ 432 h 1488"/>
              <a:gd name="T6" fmla="*/ 0 w 1472"/>
              <a:gd name="T7" fmla="*/ 0 h 14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472" h="1488">
                <a:moveTo>
                  <a:pt x="1344" y="1488"/>
                </a:moveTo>
                <a:cubicBezTo>
                  <a:pt x="1408" y="1336"/>
                  <a:pt x="1472" y="1184"/>
                  <a:pt x="1296" y="1008"/>
                </a:cubicBezTo>
                <a:cubicBezTo>
                  <a:pt x="1120" y="832"/>
                  <a:pt x="504" y="600"/>
                  <a:pt x="288" y="432"/>
                </a:cubicBezTo>
                <a:cubicBezTo>
                  <a:pt x="72" y="264"/>
                  <a:pt x="36" y="132"/>
                  <a:pt x="0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miter lim="800000"/>
            <a:headEnd type="none" w="med" len="med"/>
            <a:tailEnd type="arrow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2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92875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Mayank Pandey, MNNIT, Allahabad, India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114436259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29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381000"/>
            <a:ext cx="7793038" cy="1143000"/>
          </a:xfrm>
        </p:spPr>
        <p:txBody>
          <a:bodyPr/>
          <a:lstStyle/>
          <a:p>
            <a:r>
              <a:rPr lang="en-US" dirty="0"/>
              <a:t>Setting ALU Control </a:t>
            </a:r>
            <a:r>
              <a:rPr lang="en-US" dirty="0" smtClean="0"/>
              <a:t>Bits</a:t>
            </a:r>
            <a:endParaRPr lang="en-US" dirty="0"/>
          </a:p>
        </p:txBody>
      </p:sp>
      <p:sp>
        <p:nvSpPr>
          <p:cNvPr id="524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371600"/>
            <a:ext cx="8534400" cy="37338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sz="2000" dirty="0"/>
              <a:t>Instruction   </a:t>
            </a:r>
            <a:r>
              <a:rPr lang="en-US" sz="2000" dirty="0" err="1"/>
              <a:t>AluOp</a:t>
            </a:r>
            <a:r>
              <a:rPr lang="en-US" sz="2000" dirty="0"/>
              <a:t>    </a:t>
            </a:r>
            <a:r>
              <a:rPr lang="en-US" sz="2000" dirty="0" smtClean="0"/>
              <a:t> Instruction       </a:t>
            </a:r>
            <a:r>
              <a:rPr lang="en-US" sz="2000" dirty="0" err="1" smtClean="0"/>
              <a:t>Funct</a:t>
            </a:r>
            <a:r>
              <a:rPr lang="en-US" sz="2000" dirty="0" smtClean="0"/>
              <a:t> </a:t>
            </a:r>
            <a:r>
              <a:rPr lang="en-US" sz="2000" dirty="0"/>
              <a:t>Field   </a:t>
            </a:r>
            <a:r>
              <a:rPr lang="en-US" sz="2000" dirty="0" smtClean="0"/>
              <a:t>      Desired            ALU </a:t>
            </a:r>
            <a:r>
              <a:rPr lang="en-US" sz="2000" dirty="0"/>
              <a:t>control</a:t>
            </a:r>
          </a:p>
          <a:p>
            <a:pPr>
              <a:buFont typeface="Wingdings" pitchFamily="2" charset="2"/>
              <a:buNone/>
            </a:pPr>
            <a:r>
              <a:rPr lang="en-US" sz="2000" dirty="0" err="1"/>
              <a:t>opcode</a:t>
            </a:r>
            <a:r>
              <a:rPr lang="en-US" sz="2000" dirty="0"/>
              <a:t>                    </a:t>
            </a:r>
            <a:r>
              <a:rPr lang="en-US" sz="2000" dirty="0" smtClean="0"/>
              <a:t>     operation                       	          ALU </a:t>
            </a:r>
            <a:r>
              <a:rPr lang="en-US" sz="2000" dirty="0"/>
              <a:t>action   </a:t>
            </a:r>
            <a:r>
              <a:rPr lang="en-US" sz="2000" dirty="0" smtClean="0"/>
              <a:t>    input</a:t>
            </a:r>
            <a:endParaRPr lang="en-US" sz="2000" dirty="0"/>
          </a:p>
          <a:p>
            <a:pPr>
              <a:buFont typeface="Wingdings" pitchFamily="2" charset="2"/>
              <a:buNone/>
            </a:pPr>
            <a:r>
              <a:rPr lang="en-US" sz="1600" dirty="0">
                <a:latin typeface="Courier New" pitchFamily="49" charset="0"/>
              </a:rPr>
              <a:t>LW         00      load word    </a:t>
            </a:r>
            <a:r>
              <a:rPr lang="en-US" sz="1600" dirty="0" err="1">
                <a:latin typeface="Courier New" pitchFamily="49" charset="0"/>
              </a:rPr>
              <a:t>xxxxxx</a:t>
            </a:r>
            <a:r>
              <a:rPr lang="en-US" sz="1600" dirty="0">
                <a:latin typeface="Courier New" pitchFamily="49" charset="0"/>
              </a:rPr>
              <a:t>     add         010</a:t>
            </a:r>
          </a:p>
          <a:p>
            <a:pPr>
              <a:buFont typeface="Wingdings" pitchFamily="2" charset="2"/>
              <a:buNone/>
            </a:pPr>
            <a:r>
              <a:rPr lang="en-US" sz="1600" dirty="0">
                <a:latin typeface="Courier New" pitchFamily="49" charset="0"/>
              </a:rPr>
              <a:t>SW         00      store word   </a:t>
            </a:r>
            <a:r>
              <a:rPr lang="en-US" sz="1600" dirty="0" err="1">
                <a:latin typeface="Courier New" pitchFamily="49" charset="0"/>
              </a:rPr>
              <a:t>xxxxxx</a:t>
            </a:r>
            <a:r>
              <a:rPr lang="en-US" sz="1600" dirty="0">
                <a:latin typeface="Courier New" pitchFamily="49" charset="0"/>
              </a:rPr>
              <a:t>     add         010</a:t>
            </a:r>
          </a:p>
          <a:p>
            <a:pPr>
              <a:buFont typeface="Wingdings" pitchFamily="2" charset="2"/>
              <a:buNone/>
            </a:pPr>
            <a:r>
              <a:rPr lang="en-US" sz="1600" dirty="0">
                <a:latin typeface="Courier New" pitchFamily="49" charset="0"/>
              </a:rPr>
              <a:t>Branch </a:t>
            </a:r>
            <a:r>
              <a:rPr lang="en-US" sz="1600" dirty="0" err="1">
                <a:latin typeface="Courier New" pitchFamily="49" charset="0"/>
              </a:rPr>
              <a:t>eq</a:t>
            </a:r>
            <a:r>
              <a:rPr lang="en-US" sz="1600" dirty="0">
                <a:latin typeface="Courier New" pitchFamily="49" charset="0"/>
              </a:rPr>
              <a:t>  01      branch </a:t>
            </a:r>
            <a:r>
              <a:rPr lang="en-US" sz="1600" dirty="0" err="1">
                <a:latin typeface="Courier New" pitchFamily="49" charset="0"/>
              </a:rPr>
              <a:t>eq</a:t>
            </a:r>
            <a:r>
              <a:rPr lang="en-US" sz="1600" dirty="0">
                <a:latin typeface="Courier New" pitchFamily="49" charset="0"/>
              </a:rPr>
              <a:t>    </a:t>
            </a:r>
            <a:r>
              <a:rPr lang="en-US" sz="1600" dirty="0" err="1">
                <a:latin typeface="Courier New" pitchFamily="49" charset="0"/>
              </a:rPr>
              <a:t>xxxxxx</a:t>
            </a:r>
            <a:r>
              <a:rPr lang="en-US" sz="1600" dirty="0">
                <a:latin typeface="Courier New" pitchFamily="49" charset="0"/>
              </a:rPr>
              <a:t>     subtract    110</a:t>
            </a:r>
          </a:p>
          <a:p>
            <a:pPr>
              <a:buFont typeface="Wingdings" pitchFamily="2" charset="2"/>
              <a:buNone/>
            </a:pPr>
            <a:r>
              <a:rPr lang="en-US" sz="1600" dirty="0">
                <a:latin typeface="Courier New" pitchFamily="49" charset="0"/>
              </a:rPr>
              <a:t>R-type     10      add          100000     add         010</a:t>
            </a:r>
          </a:p>
          <a:p>
            <a:pPr>
              <a:buFont typeface="Wingdings" pitchFamily="2" charset="2"/>
              <a:buNone/>
            </a:pPr>
            <a:r>
              <a:rPr lang="en-US" sz="1600" dirty="0">
                <a:latin typeface="Courier New" pitchFamily="49" charset="0"/>
              </a:rPr>
              <a:t>R-type     10      subtract     100010     subtract    110</a:t>
            </a:r>
          </a:p>
          <a:p>
            <a:pPr>
              <a:buFont typeface="Wingdings" pitchFamily="2" charset="2"/>
              <a:buNone/>
            </a:pPr>
            <a:r>
              <a:rPr lang="en-US" sz="1600" dirty="0">
                <a:latin typeface="Courier New" pitchFamily="49" charset="0"/>
              </a:rPr>
              <a:t>R-type     10      AND          100100     and         000</a:t>
            </a:r>
          </a:p>
          <a:p>
            <a:pPr>
              <a:buFont typeface="Wingdings" pitchFamily="2" charset="2"/>
              <a:buNone/>
            </a:pPr>
            <a:r>
              <a:rPr lang="en-US" sz="1600" dirty="0">
                <a:latin typeface="Courier New" pitchFamily="49" charset="0"/>
              </a:rPr>
              <a:t>R-type     10      OR           100101     or          001</a:t>
            </a:r>
          </a:p>
          <a:p>
            <a:pPr>
              <a:buFont typeface="Wingdings" pitchFamily="2" charset="2"/>
              <a:buNone/>
            </a:pPr>
            <a:r>
              <a:rPr lang="en-US" sz="1600" dirty="0">
                <a:latin typeface="Courier New" pitchFamily="49" charset="0"/>
              </a:rPr>
              <a:t>R-type     10      set on less  101010     set on less 111</a:t>
            </a:r>
          </a:p>
          <a:p>
            <a:pPr>
              <a:buFont typeface="Wingdings" pitchFamily="2" charset="2"/>
              <a:buNone/>
            </a:pPr>
            <a:endParaRPr lang="en-US" sz="1600" dirty="0" smtClean="0">
              <a:latin typeface="Courier New" pitchFamily="49" charset="0"/>
            </a:endParaRPr>
          </a:p>
          <a:p>
            <a:pPr>
              <a:buFont typeface="Wingdings" pitchFamily="2" charset="2"/>
              <a:buNone/>
            </a:pP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 smtClean="0">
                <a:latin typeface="Courier New" pitchFamily="49" charset="0"/>
              </a:rPr>
              <a:t>                   </a:t>
            </a:r>
            <a:endParaRPr lang="en-US" sz="1600" dirty="0">
              <a:latin typeface="Courier New" pitchFamily="49" charset="0"/>
            </a:endParaRPr>
          </a:p>
        </p:txBody>
      </p:sp>
      <p:sp>
        <p:nvSpPr>
          <p:cNvPr id="12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Mayank Pandey, MNNIT, Allahabad, India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64070570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Truth Table: ALU Control bits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0C72227-FECD-4039-A327-B8D82E75A27D}" type="datetime1">
              <a:rPr lang="en-US" smtClean="0"/>
              <a:pPr>
                <a:defRPr/>
              </a:pPr>
              <a:t>3/31/2015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Mayank Pandey, MNNIT, Allahabad, India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B326667-E6E6-4DE2-8E19-42096EDF6697}" type="slidenum">
              <a:rPr lang="en-US" smtClean="0"/>
              <a:pPr>
                <a:defRPr/>
              </a:pPr>
              <a:t>31</a:t>
            </a:fld>
            <a:endParaRPr lang="en-US" dirty="0"/>
          </a:p>
        </p:txBody>
      </p:sp>
      <p:grpSp>
        <p:nvGrpSpPr>
          <p:cNvPr id="6" name="Group 8"/>
          <p:cNvGrpSpPr>
            <a:grpSpLocks noChangeAspect="1"/>
          </p:cNvGrpSpPr>
          <p:nvPr/>
        </p:nvGrpSpPr>
        <p:grpSpPr bwMode="auto">
          <a:xfrm>
            <a:off x="1371661" y="1763527"/>
            <a:ext cx="5981255" cy="2882900"/>
            <a:chOff x="1311" y="2480"/>
            <a:chExt cx="3137" cy="1512"/>
          </a:xfrm>
        </p:grpSpPr>
        <p:sp>
          <p:nvSpPr>
            <p:cNvPr id="7" name="AutoShape 7"/>
            <p:cNvSpPr>
              <a:spLocks noChangeAspect="1" noChangeArrowheads="1" noTextEdit="1"/>
            </p:cNvSpPr>
            <p:nvPr/>
          </p:nvSpPr>
          <p:spPr bwMode="auto">
            <a:xfrm>
              <a:off x="1311" y="2480"/>
              <a:ext cx="3137" cy="15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Rectangle 9"/>
            <p:cNvSpPr>
              <a:spLocks noChangeArrowheads="1"/>
            </p:cNvSpPr>
            <p:nvPr/>
          </p:nvSpPr>
          <p:spPr bwMode="auto">
            <a:xfrm>
              <a:off x="1319" y="2488"/>
              <a:ext cx="3118" cy="328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Line 10"/>
            <p:cNvSpPr>
              <a:spLocks noChangeShapeType="1"/>
            </p:cNvSpPr>
            <p:nvPr/>
          </p:nvSpPr>
          <p:spPr bwMode="auto">
            <a:xfrm>
              <a:off x="1319" y="2480"/>
              <a:ext cx="312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Rectangle 11"/>
            <p:cNvSpPr>
              <a:spLocks noChangeArrowheads="1"/>
            </p:cNvSpPr>
            <p:nvPr/>
          </p:nvSpPr>
          <p:spPr bwMode="auto">
            <a:xfrm>
              <a:off x="1319" y="2480"/>
              <a:ext cx="3121" cy="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Line 12"/>
            <p:cNvSpPr>
              <a:spLocks noChangeShapeType="1"/>
            </p:cNvSpPr>
            <p:nvPr/>
          </p:nvSpPr>
          <p:spPr bwMode="auto">
            <a:xfrm>
              <a:off x="1319" y="2645"/>
              <a:ext cx="244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Rectangle 13"/>
            <p:cNvSpPr>
              <a:spLocks noChangeArrowheads="1"/>
            </p:cNvSpPr>
            <p:nvPr/>
          </p:nvSpPr>
          <p:spPr bwMode="auto">
            <a:xfrm>
              <a:off x="1319" y="2645"/>
              <a:ext cx="2441" cy="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Line 14"/>
            <p:cNvSpPr>
              <a:spLocks noChangeShapeType="1"/>
            </p:cNvSpPr>
            <p:nvPr/>
          </p:nvSpPr>
          <p:spPr bwMode="auto">
            <a:xfrm>
              <a:off x="1319" y="2811"/>
              <a:ext cx="311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Rectangle 15"/>
            <p:cNvSpPr>
              <a:spLocks noChangeArrowheads="1"/>
            </p:cNvSpPr>
            <p:nvPr/>
          </p:nvSpPr>
          <p:spPr bwMode="auto">
            <a:xfrm>
              <a:off x="1319" y="2811"/>
              <a:ext cx="3121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Line 16"/>
            <p:cNvSpPr>
              <a:spLocks noChangeShapeType="1"/>
            </p:cNvSpPr>
            <p:nvPr/>
          </p:nvSpPr>
          <p:spPr bwMode="auto">
            <a:xfrm>
              <a:off x="1319" y="2976"/>
              <a:ext cx="311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Rectangle 17"/>
            <p:cNvSpPr>
              <a:spLocks noChangeArrowheads="1"/>
            </p:cNvSpPr>
            <p:nvPr/>
          </p:nvSpPr>
          <p:spPr bwMode="auto">
            <a:xfrm>
              <a:off x="1319" y="2976"/>
              <a:ext cx="3121" cy="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Line 18"/>
            <p:cNvSpPr>
              <a:spLocks noChangeShapeType="1"/>
            </p:cNvSpPr>
            <p:nvPr/>
          </p:nvSpPr>
          <p:spPr bwMode="auto">
            <a:xfrm>
              <a:off x="1319" y="3141"/>
              <a:ext cx="311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Rectangle 19"/>
            <p:cNvSpPr>
              <a:spLocks noChangeArrowheads="1"/>
            </p:cNvSpPr>
            <p:nvPr/>
          </p:nvSpPr>
          <p:spPr bwMode="auto">
            <a:xfrm>
              <a:off x="1319" y="3141"/>
              <a:ext cx="3121" cy="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Line 20"/>
            <p:cNvSpPr>
              <a:spLocks noChangeShapeType="1"/>
            </p:cNvSpPr>
            <p:nvPr/>
          </p:nvSpPr>
          <p:spPr bwMode="auto">
            <a:xfrm>
              <a:off x="1319" y="3307"/>
              <a:ext cx="311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Rectangle 21"/>
            <p:cNvSpPr>
              <a:spLocks noChangeArrowheads="1"/>
            </p:cNvSpPr>
            <p:nvPr/>
          </p:nvSpPr>
          <p:spPr bwMode="auto">
            <a:xfrm>
              <a:off x="1319" y="3307"/>
              <a:ext cx="3121" cy="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Line 22"/>
            <p:cNvSpPr>
              <a:spLocks noChangeShapeType="1"/>
            </p:cNvSpPr>
            <p:nvPr/>
          </p:nvSpPr>
          <p:spPr bwMode="auto">
            <a:xfrm>
              <a:off x="1319" y="3472"/>
              <a:ext cx="311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Rectangle 23"/>
            <p:cNvSpPr>
              <a:spLocks noChangeArrowheads="1"/>
            </p:cNvSpPr>
            <p:nvPr/>
          </p:nvSpPr>
          <p:spPr bwMode="auto">
            <a:xfrm>
              <a:off x="1319" y="3472"/>
              <a:ext cx="3121" cy="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Line 24"/>
            <p:cNvSpPr>
              <a:spLocks noChangeShapeType="1"/>
            </p:cNvSpPr>
            <p:nvPr/>
          </p:nvSpPr>
          <p:spPr bwMode="auto">
            <a:xfrm>
              <a:off x="1319" y="3638"/>
              <a:ext cx="311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Rectangle 25"/>
            <p:cNvSpPr>
              <a:spLocks noChangeArrowheads="1"/>
            </p:cNvSpPr>
            <p:nvPr/>
          </p:nvSpPr>
          <p:spPr bwMode="auto">
            <a:xfrm>
              <a:off x="1319" y="3638"/>
              <a:ext cx="3121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Line 26"/>
            <p:cNvSpPr>
              <a:spLocks noChangeShapeType="1"/>
            </p:cNvSpPr>
            <p:nvPr/>
          </p:nvSpPr>
          <p:spPr bwMode="auto">
            <a:xfrm>
              <a:off x="1319" y="3803"/>
              <a:ext cx="311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Rectangle 27"/>
            <p:cNvSpPr>
              <a:spLocks noChangeArrowheads="1"/>
            </p:cNvSpPr>
            <p:nvPr/>
          </p:nvSpPr>
          <p:spPr bwMode="auto">
            <a:xfrm>
              <a:off x="1319" y="3803"/>
              <a:ext cx="3121" cy="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Line 28"/>
            <p:cNvSpPr>
              <a:spLocks noChangeShapeType="1"/>
            </p:cNvSpPr>
            <p:nvPr/>
          </p:nvSpPr>
          <p:spPr bwMode="auto">
            <a:xfrm>
              <a:off x="1319" y="3968"/>
              <a:ext cx="311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Rectangle 29"/>
            <p:cNvSpPr>
              <a:spLocks noChangeArrowheads="1"/>
            </p:cNvSpPr>
            <p:nvPr/>
          </p:nvSpPr>
          <p:spPr bwMode="auto">
            <a:xfrm>
              <a:off x="1319" y="3968"/>
              <a:ext cx="3121" cy="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Rectangle 30"/>
            <p:cNvSpPr>
              <a:spLocks noChangeArrowheads="1"/>
            </p:cNvSpPr>
            <p:nvPr/>
          </p:nvSpPr>
          <p:spPr bwMode="auto">
            <a:xfrm>
              <a:off x="1679" y="2515"/>
              <a:ext cx="44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1">
                  <a:solidFill>
                    <a:srgbClr val="000000"/>
                  </a:solidFill>
                  <a:latin typeface="Arial" charset="0"/>
                </a:rPr>
                <a:t>ALUOp</a:t>
              </a:r>
              <a:endParaRPr lang="en-US"/>
            </a:p>
          </p:txBody>
        </p:sp>
        <p:sp>
          <p:nvSpPr>
            <p:cNvPr id="30" name="Rectangle 31"/>
            <p:cNvSpPr>
              <a:spLocks noChangeArrowheads="1"/>
            </p:cNvSpPr>
            <p:nvPr/>
          </p:nvSpPr>
          <p:spPr bwMode="auto">
            <a:xfrm>
              <a:off x="2797" y="2515"/>
              <a:ext cx="648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1">
                  <a:solidFill>
                    <a:srgbClr val="000000"/>
                  </a:solidFill>
                  <a:latin typeface="Arial" charset="0"/>
                </a:rPr>
                <a:t>Funct field</a:t>
              </a:r>
              <a:endParaRPr lang="en-US"/>
            </a:p>
          </p:txBody>
        </p:sp>
        <p:sp>
          <p:nvSpPr>
            <p:cNvPr id="31" name="Rectangle 32"/>
            <p:cNvSpPr>
              <a:spLocks noChangeArrowheads="1"/>
            </p:cNvSpPr>
            <p:nvPr/>
          </p:nvSpPr>
          <p:spPr bwMode="auto">
            <a:xfrm>
              <a:off x="3799" y="2515"/>
              <a:ext cx="605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1">
                  <a:solidFill>
                    <a:srgbClr val="000000"/>
                  </a:solidFill>
                  <a:latin typeface="Arial" charset="0"/>
                </a:rPr>
                <a:t>Operation</a:t>
              </a:r>
              <a:endParaRPr lang="en-US"/>
            </a:p>
          </p:txBody>
        </p:sp>
        <p:sp>
          <p:nvSpPr>
            <p:cNvPr id="32" name="Rectangle 33"/>
            <p:cNvSpPr>
              <a:spLocks noChangeArrowheads="1"/>
            </p:cNvSpPr>
            <p:nvPr/>
          </p:nvSpPr>
          <p:spPr bwMode="auto">
            <a:xfrm>
              <a:off x="1354" y="2681"/>
              <a:ext cx="511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1">
                  <a:solidFill>
                    <a:srgbClr val="000000"/>
                  </a:solidFill>
                  <a:latin typeface="Arial" charset="0"/>
                </a:rPr>
                <a:t>ALUOp1</a:t>
              </a:r>
              <a:endParaRPr lang="en-US"/>
            </a:p>
          </p:txBody>
        </p:sp>
        <p:sp>
          <p:nvSpPr>
            <p:cNvPr id="33" name="Rectangle 34"/>
            <p:cNvSpPr>
              <a:spLocks noChangeArrowheads="1"/>
            </p:cNvSpPr>
            <p:nvPr/>
          </p:nvSpPr>
          <p:spPr bwMode="auto">
            <a:xfrm>
              <a:off x="1934" y="2681"/>
              <a:ext cx="511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1">
                  <a:solidFill>
                    <a:srgbClr val="000000"/>
                  </a:solidFill>
                  <a:latin typeface="Arial" charset="0"/>
                </a:rPr>
                <a:t>ALUOp0</a:t>
              </a:r>
              <a:endParaRPr lang="en-US"/>
            </a:p>
          </p:txBody>
        </p:sp>
        <p:sp>
          <p:nvSpPr>
            <p:cNvPr id="34" name="Rectangle 35"/>
            <p:cNvSpPr>
              <a:spLocks noChangeArrowheads="1"/>
            </p:cNvSpPr>
            <p:nvPr/>
          </p:nvSpPr>
          <p:spPr bwMode="auto">
            <a:xfrm>
              <a:off x="2510" y="2681"/>
              <a:ext cx="149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1">
                  <a:solidFill>
                    <a:srgbClr val="000000"/>
                  </a:solidFill>
                  <a:latin typeface="Arial" charset="0"/>
                </a:rPr>
                <a:t>F5</a:t>
              </a:r>
              <a:endParaRPr lang="en-US"/>
            </a:p>
          </p:txBody>
        </p:sp>
        <p:sp>
          <p:nvSpPr>
            <p:cNvPr id="35" name="Rectangle 36"/>
            <p:cNvSpPr>
              <a:spLocks noChangeArrowheads="1"/>
            </p:cNvSpPr>
            <p:nvPr/>
          </p:nvSpPr>
          <p:spPr bwMode="auto">
            <a:xfrm>
              <a:off x="2724" y="2681"/>
              <a:ext cx="149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1">
                  <a:solidFill>
                    <a:srgbClr val="000000"/>
                  </a:solidFill>
                  <a:latin typeface="Arial" charset="0"/>
                </a:rPr>
                <a:t>F4</a:t>
              </a:r>
              <a:endParaRPr lang="en-US"/>
            </a:p>
          </p:txBody>
        </p:sp>
        <p:sp>
          <p:nvSpPr>
            <p:cNvPr id="36" name="Rectangle 37"/>
            <p:cNvSpPr>
              <a:spLocks noChangeArrowheads="1"/>
            </p:cNvSpPr>
            <p:nvPr/>
          </p:nvSpPr>
          <p:spPr bwMode="auto">
            <a:xfrm>
              <a:off x="2938" y="2681"/>
              <a:ext cx="149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1">
                  <a:solidFill>
                    <a:srgbClr val="000000"/>
                  </a:solidFill>
                  <a:latin typeface="Arial" charset="0"/>
                </a:rPr>
                <a:t>F3</a:t>
              </a:r>
              <a:endParaRPr lang="en-US"/>
            </a:p>
          </p:txBody>
        </p:sp>
        <p:sp>
          <p:nvSpPr>
            <p:cNvPr id="37" name="Rectangle 38"/>
            <p:cNvSpPr>
              <a:spLocks noChangeArrowheads="1"/>
            </p:cNvSpPr>
            <p:nvPr/>
          </p:nvSpPr>
          <p:spPr bwMode="auto">
            <a:xfrm>
              <a:off x="3151" y="2681"/>
              <a:ext cx="149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1">
                  <a:solidFill>
                    <a:srgbClr val="000000"/>
                  </a:solidFill>
                  <a:latin typeface="Arial" charset="0"/>
                </a:rPr>
                <a:t>F2</a:t>
              </a:r>
              <a:endParaRPr lang="en-US"/>
            </a:p>
          </p:txBody>
        </p:sp>
        <p:sp>
          <p:nvSpPr>
            <p:cNvPr id="38" name="Rectangle 39"/>
            <p:cNvSpPr>
              <a:spLocks noChangeArrowheads="1"/>
            </p:cNvSpPr>
            <p:nvPr/>
          </p:nvSpPr>
          <p:spPr bwMode="auto">
            <a:xfrm>
              <a:off x="3365" y="2681"/>
              <a:ext cx="149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1">
                  <a:solidFill>
                    <a:srgbClr val="000000"/>
                  </a:solidFill>
                  <a:latin typeface="Arial" charset="0"/>
                </a:rPr>
                <a:t>F1</a:t>
              </a:r>
              <a:endParaRPr lang="en-US"/>
            </a:p>
          </p:txBody>
        </p:sp>
        <p:sp>
          <p:nvSpPr>
            <p:cNvPr id="39" name="Rectangle 40"/>
            <p:cNvSpPr>
              <a:spLocks noChangeArrowheads="1"/>
            </p:cNvSpPr>
            <p:nvPr/>
          </p:nvSpPr>
          <p:spPr bwMode="auto">
            <a:xfrm>
              <a:off x="3579" y="2681"/>
              <a:ext cx="149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1">
                  <a:solidFill>
                    <a:srgbClr val="000000"/>
                  </a:solidFill>
                  <a:latin typeface="Arial" charset="0"/>
                </a:rPr>
                <a:t>F0</a:t>
              </a:r>
              <a:endParaRPr lang="en-US"/>
            </a:p>
          </p:txBody>
        </p:sp>
        <p:sp>
          <p:nvSpPr>
            <p:cNvPr id="40" name="Rectangle 41"/>
            <p:cNvSpPr>
              <a:spLocks noChangeArrowheads="1"/>
            </p:cNvSpPr>
            <p:nvPr/>
          </p:nvSpPr>
          <p:spPr bwMode="auto">
            <a:xfrm>
              <a:off x="1573" y="2846"/>
              <a:ext cx="71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Arial" charset="0"/>
                </a:rPr>
                <a:t>0</a:t>
              </a:r>
              <a:endParaRPr lang="en-US"/>
            </a:p>
          </p:txBody>
        </p:sp>
        <p:sp>
          <p:nvSpPr>
            <p:cNvPr id="41" name="Rectangle 42"/>
            <p:cNvSpPr>
              <a:spLocks noChangeArrowheads="1"/>
            </p:cNvSpPr>
            <p:nvPr/>
          </p:nvSpPr>
          <p:spPr bwMode="auto">
            <a:xfrm>
              <a:off x="2152" y="2846"/>
              <a:ext cx="71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Arial" charset="0"/>
                </a:rPr>
                <a:t>0</a:t>
              </a:r>
              <a:endParaRPr lang="en-US"/>
            </a:p>
          </p:txBody>
        </p:sp>
        <p:sp>
          <p:nvSpPr>
            <p:cNvPr id="42" name="Rectangle 43"/>
            <p:cNvSpPr>
              <a:spLocks noChangeArrowheads="1"/>
            </p:cNvSpPr>
            <p:nvPr/>
          </p:nvSpPr>
          <p:spPr bwMode="auto">
            <a:xfrm>
              <a:off x="2542" y="2846"/>
              <a:ext cx="85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Arial" charset="0"/>
                </a:rPr>
                <a:t>X</a:t>
              </a:r>
              <a:endParaRPr lang="en-US"/>
            </a:p>
          </p:txBody>
        </p:sp>
        <p:sp>
          <p:nvSpPr>
            <p:cNvPr id="43" name="Rectangle 44"/>
            <p:cNvSpPr>
              <a:spLocks noChangeArrowheads="1"/>
            </p:cNvSpPr>
            <p:nvPr/>
          </p:nvSpPr>
          <p:spPr bwMode="auto">
            <a:xfrm>
              <a:off x="2756" y="2846"/>
              <a:ext cx="85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Arial" charset="0"/>
                </a:rPr>
                <a:t>X</a:t>
              </a:r>
              <a:endParaRPr lang="en-US"/>
            </a:p>
          </p:txBody>
        </p:sp>
        <p:sp>
          <p:nvSpPr>
            <p:cNvPr id="44" name="Rectangle 45"/>
            <p:cNvSpPr>
              <a:spLocks noChangeArrowheads="1"/>
            </p:cNvSpPr>
            <p:nvPr/>
          </p:nvSpPr>
          <p:spPr bwMode="auto">
            <a:xfrm>
              <a:off x="2969" y="2846"/>
              <a:ext cx="85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Arial" charset="0"/>
                </a:rPr>
                <a:t>X</a:t>
              </a:r>
              <a:endParaRPr lang="en-US"/>
            </a:p>
          </p:txBody>
        </p:sp>
        <p:sp>
          <p:nvSpPr>
            <p:cNvPr id="45" name="Rectangle 46"/>
            <p:cNvSpPr>
              <a:spLocks noChangeArrowheads="1"/>
            </p:cNvSpPr>
            <p:nvPr/>
          </p:nvSpPr>
          <p:spPr bwMode="auto">
            <a:xfrm>
              <a:off x="3183" y="2846"/>
              <a:ext cx="85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Arial" charset="0"/>
                </a:rPr>
                <a:t>X</a:t>
              </a:r>
              <a:endParaRPr lang="en-US"/>
            </a:p>
          </p:txBody>
        </p:sp>
        <p:sp>
          <p:nvSpPr>
            <p:cNvPr id="46" name="Rectangle 47"/>
            <p:cNvSpPr>
              <a:spLocks noChangeArrowheads="1"/>
            </p:cNvSpPr>
            <p:nvPr/>
          </p:nvSpPr>
          <p:spPr bwMode="auto">
            <a:xfrm>
              <a:off x="3397" y="2846"/>
              <a:ext cx="85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Arial" charset="0"/>
                </a:rPr>
                <a:t>X</a:t>
              </a:r>
              <a:endParaRPr lang="en-US"/>
            </a:p>
          </p:txBody>
        </p:sp>
        <p:sp>
          <p:nvSpPr>
            <p:cNvPr id="47" name="Rectangle 48"/>
            <p:cNvSpPr>
              <a:spLocks noChangeArrowheads="1"/>
            </p:cNvSpPr>
            <p:nvPr/>
          </p:nvSpPr>
          <p:spPr bwMode="auto">
            <a:xfrm>
              <a:off x="3610" y="2846"/>
              <a:ext cx="85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Arial" charset="0"/>
                </a:rPr>
                <a:t>X</a:t>
              </a:r>
              <a:endParaRPr lang="en-US"/>
            </a:p>
          </p:txBody>
        </p:sp>
        <p:sp>
          <p:nvSpPr>
            <p:cNvPr id="48" name="Rectangle 49"/>
            <p:cNvSpPr>
              <a:spLocks noChangeArrowheads="1"/>
            </p:cNvSpPr>
            <p:nvPr/>
          </p:nvSpPr>
          <p:spPr bwMode="auto">
            <a:xfrm>
              <a:off x="3994" y="2846"/>
              <a:ext cx="213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Arial" charset="0"/>
                </a:rPr>
                <a:t>010</a:t>
              </a:r>
              <a:endParaRPr lang="en-US"/>
            </a:p>
          </p:txBody>
        </p:sp>
        <p:sp>
          <p:nvSpPr>
            <p:cNvPr id="49" name="Rectangle 50"/>
            <p:cNvSpPr>
              <a:spLocks noChangeArrowheads="1"/>
            </p:cNvSpPr>
            <p:nvPr/>
          </p:nvSpPr>
          <p:spPr bwMode="auto">
            <a:xfrm>
              <a:off x="1566" y="3011"/>
              <a:ext cx="71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Arial" charset="0"/>
                </a:rPr>
                <a:t>0</a:t>
              </a:r>
              <a:endParaRPr lang="en-US"/>
            </a:p>
          </p:txBody>
        </p:sp>
        <p:sp>
          <p:nvSpPr>
            <p:cNvPr id="50" name="Rectangle 51"/>
            <p:cNvSpPr>
              <a:spLocks noChangeArrowheads="1"/>
            </p:cNvSpPr>
            <p:nvPr/>
          </p:nvSpPr>
          <p:spPr bwMode="auto">
            <a:xfrm>
              <a:off x="2152" y="3011"/>
              <a:ext cx="71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Arial" charset="0"/>
                </a:rPr>
                <a:t>1</a:t>
              </a:r>
              <a:endParaRPr lang="en-US"/>
            </a:p>
          </p:txBody>
        </p:sp>
        <p:sp>
          <p:nvSpPr>
            <p:cNvPr id="51" name="Rectangle 52"/>
            <p:cNvSpPr>
              <a:spLocks noChangeArrowheads="1"/>
            </p:cNvSpPr>
            <p:nvPr/>
          </p:nvSpPr>
          <p:spPr bwMode="auto">
            <a:xfrm>
              <a:off x="2542" y="3011"/>
              <a:ext cx="85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Arial" charset="0"/>
                </a:rPr>
                <a:t>X</a:t>
              </a:r>
              <a:endParaRPr lang="en-US"/>
            </a:p>
          </p:txBody>
        </p:sp>
        <p:sp>
          <p:nvSpPr>
            <p:cNvPr id="52" name="Rectangle 53"/>
            <p:cNvSpPr>
              <a:spLocks noChangeArrowheads="1"/>
            </p:cNvSpPr>
            <p:nvPr/>
          </p:nvSpPr>
          <p:spPr bwMode="auto">
            <a:xfrm>
              <a:off x="2756" y="3011"/>
              <a:ext cx="85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Arial" charset="0"/>
                </a:rPr>
                <a:t>X</a:t>
              </a:r>
              <a:endParaRPr lang="en-US"/>
            </a:p>
          </p:txBody>
        </p:sp>
        <p:sp>
          <p:nvSpPr>
            <p:cNvPr id="53" name="Rectangle 54"/>
            <p:cNvSpPr>
              <a:spLocks noChangeArrowheads="1"/>
            </p:cNvSpPr>
            <p:nvPr/>
          </p:nvSpPr>
          <p:spPr bwMode="auto">
            <a:xfrm>
              <a:off x="2969" y="3011"/>
              <a:ext cx="85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Arial" charset="0"/>
                </a:rPr>
                <a:t>X</a:t>
              </a:r>
              <a:endParaRPr lang="en-US"/>
            </a:p>
          </p:txBody>
        </p:sp>
        <p:sp>
          <p:nvSpPr>
            <p:cNvPr id="54" name="Rectangle 55"/>
            <p:cNvSpPr>
              <a:spLocks noChangeArrowheads="1"/>
            </p:cNvSpPr>
            <p:nvPr/>
          </p:nvSpPr>
          <p:spPr bwMode="auto">
            <a:xfrm>
              <a:off x="3183" y="3011"/>
              <a:ext cx="85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Arial" charset="0"/>
                </a:rPr>
                <a:t>X</a:t>
              </a:r>
              <a:endParaRPr lang="en-US"/>
            </a:p>
          </p:txBody>
        </p:sp>
        <p:sp>
          <p:nvSpPr>
            <p:cNvPr id="55" name="Rectangle 56"/>
            <p:cNvSpPr>
              <a:spLocks noChangeArrowheads="1"/>
            </p:cNvSpPr>
            <p:nvPr/>
          </p:nvSpPr>
          <p:spPr bwMode="auto">
            <a:xfrm>
              <a:off x="3397" y="3011"/>
              <a:ext cx="85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Arial" charset="0"/>
                </a:rPr>
                <a:t>X</a:t>
              </a:r>
              <a:endParaRPr lang="en-US"/>
            </a:p>
          </p:txBody>
        </p:sp>
        <p:sp>
          <p:nvSpPr>
            <p:cNvPr id="56" name="Rectangle 57"/>
            <p:cNvSpPr>
              <a:spLocks noChangeArrowheads="1"/>
            </p:cNvSpPr>
            <p:nvPr/>
          </p:nvSpPr>
          <p:spPr bwMode="auto">
            <a:xfrm>
              <a:off x="3610" y="3011"/>
              <a:ext cx="85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Arial" charset="0"/>
                </a:rPr>
                <a:t>X</a:t>
              </a:r>
              <a:endParaRPr lang="en-US"/>
            </a:p>
          </p:txBody>
        </p:sp>
        <p:sp>
          <p:nvSpPr>
            <p:cNvPr id="57" name="Rectangle 58"/>
            <p:cNvSpPr>
              <a:spLocks noChangeArrowheads="1"/>
            </p:cNvSpPr>
            <p:nvPr/>
          </p:nvSpPr>
          <p:spPr bwMode="auto">
            <a:xfrm>
              <a:off x="3994" y="3011"/>
              <a:ext cx="213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Arial" charset="0"/>
                </a:rPr>
                <a:t>110</a:t>
              </a:r>
              <a:endParaRPr lang="en-US"/>
            </a:p>
          </p:txBody>
        </p:sp>
        <p:sp>
          <p:nvSpPr>
            <p:cNvPr id="58" name="Rectangle 59"/>
            <p:cNvSpPr>
              <a:spLocks noChangeArrowheads="1"/>
            </p:cNvSpPr>
            <p:nvPr/>
          </p:nvSpPr>
          <p:spPr bwMode="auto">
            <a:xfrm>
              <a:off x="1573" y="3177"/>
              <a:ext cx="71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Arial" charset="0"/>
                </a:rPr>
                <a:t>1</a:t>
              </a:r>
              <a:endParaRPr lang="en-US"/>
            </a:p>
          </p:txBody>
        </p:sp>
        <p:sp>
          <p:nvSpPr>
            <p:cNvPr id="59" name="Rectangle 60"/>
            <p:cNvSpPr>
              <a:spLocks noChangeArrowheads="1"/>
            </p:cNvSpPr>
            <p:nvPr/>
          </p:nvSpPr>
          <p:spPr bwMode="auto">
            <a:xfrm>
              <a:off x="2145" y="3177"/>
              <a:ext cx="85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Arial" charset="0"/>
                </a:rPr>
                <a:t>X</a:t>
              </a:r>
              <a:endParaRPr lang="en-US"/>
            </a:p>
          </p:txBody>
        </p:sp>
        <p:sp>
          <p:nvSpPr>
            <p:cNvPr id="60" name="Rectangle 61"/>
            <p:cNvSpPr>
              <a:spLocks noChangeArrowheads="1"/>
            </p:cNvSpPr>
            <p:nvPr/>
          </p:nvSpPr>
          <p:spPr bwMode="auto">
            <a:xfrm>
              <a:off x="2542" y="3177"/>
              <a:ext cx="85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Arial" charset="0"/>
                </a:rPr>
                <a:t>X</a:t>
              </a:r>
              <a:endParaRPr lang="en-US"/>
            </a:p>
          </p:txBody>
        </p:sp>
        <p:sp>
          <p:nvSpPr>
            <p:cNvPr id="61" name="Rectangle 62"/>
            <p:cNvSpPr>
              <a:spLocks noChangeArrowheads="1"/>
            </p:cNvSpPr>
            <p:nvPr/>
          </p:nvSpPr>
          <p:spPr bwMode="auto">
            <a:xfrm>
              <a:off x="2756" y="3177"/>
              <a:ext cx="85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Arial" charset="0"/>
                </a:rPr>
                <a:t>X</a:t>
              </a:r>
              <a:endParaRPr lang="en-US"/>
            </a:p>
          </p:txBody>
        </p:sp>
        <p:sp>
          <p:nvSpPr>
            <p:cNvPr id="62" name="Rectangle 63"/>
            <p:cNvSpPr>
              <a:spLocks noChangeArrowheads="1"/>
            </p:cNvSpPr>
            <p:nvPr/>
          </p:nvSpPr>
          <p:spPr bwMode="auto">
            <a:xfrm>
              <a:off x="2976" y="3177"/>
              <a:ext cx="71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Arial" charset="0"/>
                </a:rPr>
                <a:t>0</a:t>
              </a:r>
              <a:endParaRPr lang="en-US"/>
            </a:p>
          </p:txBody>
        </p:sp>
        <p:sp>
          <p:nvSpPr>
            <p:cNvPr id="63" name="Rectangle 64"/>
            <p:cNvSpPr>
              <a:spLocks noChangeArrowheads="1"/>
            </p:cNvSpPr>
            <p:nvPr/>
          </p:nvSpPr>
          <p:spPr bwMode="auto">
            <a:xfrm>
              <a:off x="3190" y="3177"/>
              <a:ext cx="71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Arial" charset="0"/>
                </a:rPr>
                <a:t>0</a:t>
              </a:r>
              <a:endParaRPr lang="en-US"/>
            </a:p>
          </p:txBody>
        </p:sp>
        <p:sp>
          <p:nvSpPr>
            <p:cNvPr id="64" name="Rectangle 65"/>
            <p:cNvSpPr>
              <a:spLocks noChangeArrowheads="1"/>
            </p:cNvSpPr>
            <p:nvPr/>
          </p:nvSpPr>
          <p:spPr bwMode="auto">
            <a:xfrm>
              <a:off x="3403" y="3177"/>
              <a:ext cx="71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Arial" charset="0"/>
                </a:rPr>
                <a:t>0</a:t>
              </a:r>
              <a:endParaRPr lang="en-US"/>
            </a:p>
          </p:txBody>
        </p:sp>
        <p:sp>
          <p:nvSpPr>
            <p:cNvPr id="65" name="Rectangle 66"/>
            <p:cNvSpPr>
              <a:spLocks noChangeArrowheads="1"/>
            </p:cNvSpPr>
            <p:nvPr/>
          </p:nvSpPr>
          <p:spPr bwMode="auto">
            <a:xfrm>
              <a:off x="3617" y="3177"/>
              <a:ext cx="71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Arial" charset="0"/>
                </a:rPr>
                <a:t>0</a:t>
              </a:r>
              <a:endParaRPr lang="en-US"/>
            </a:p>
          </p:txBody>
        </p:sp>
        <p:sp>
          <p:nvSpPr>
            <p:cNvPr id="66" name="Rectangle 67"/>
            <p:cNvSpPr>
              <a:spLocks noChangeArrowheads="1"/>
            </p:cNvSpPr>
            <p:nvPr/>
          </p:nvSpPr>
          <p:spPr bwMode="auto">
            <a:xfrm>
              <a:off x="3994" y="3177"/>
              <a:ext cx="213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Arial" charset="0"/>
                </a:rPr>
                <a:t>010</a:t>
              </a:r>
              <a:endParaRPr lang="en-US"/>
            </a:p>
          </p:txBody>
        </p:sp>
        <p:sp>
          <p:nvSpPr>
            <p:cNvPr id="67" name="Rectangle 68"/>
            <p:cNvSpPr>
              <a:spLocks noChangeArrowheads="1"/>
            </p:cNvSpPr>
            <p:nvPr/>
          </p:nvSpPr>
          <p:spPr bwMode="auto">
            <a:xfrm>
              <a:off x="1573" y="3342"/>
              <a:ext cx="71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Arial" charset="0"/>
                </a:rPr>
                <a:t>1</a:t>
              </a:r>
              <a:endParaRPr lang="en-US"/>
            </a:p>
          </p:txBody>
        </p:sp>
        <p:sp>
          <p:nvSpPr>
            <p:cNvPr id="68" name="Rectangle 69"/>
            <p:cNvSpPr>
              <a:spLocks noChangeArrowheads="1"/>
            </p:cNvSpPr>
            <p:nvPr/>
          </p:nvSpPr>
          <p:spPr bwMode="auto">
            <a:xfrm>
              <a:off x="2145" y="3342"/>
              <a:ext cx="85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Arial" charset="0"/>
                </a:rPr>
                <a:t>X</a:t>
              </a:r>
              <a:endParaRPr lang="en-US"/>
            </a:p>
          </p:txBody>
        </p:sp>
        <p:sp>
          <p:nvSpPr>
            <p:cNvPr id="69" name="Rectangle 70"/>
            <p:cNvSpPr>
              <a:spLocks noChangeArrowheads="1"/>
            </p:cNvSpPr>
            <p:nvPr/>
          </p:nvSpPr>
          <p:spPr bwMode="auto">
            <a:xfrm>
              <a:off x="2542" y="3342"/>
              <a:ext cx="85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 dirty="0">
                  <a:solidFill>
                    <a:srgbClr val="000000"/>
                  </a:solidFill>
                  <a:latin typeface="Arial" charset="0"/>
                </a:rPr>
                <a:t>X</a:t>
              </a:r>
              <a:endParaRPr lang="en-US" dirty="0"/>
            </a:p>
          </p:txBody>
        </p:sp>
        <p:sp>
          <p:nvSpPr>
            <p:cNvPr id="70" name="Rectangle 71"/>
            <p:cNvSpPr>
              <a:spLocks noChangeArrowheads="1"/>
            </p:cNvSpPr>
            <p:nvPr/>
          </p:nvSpPr>
          <p:spPr bwMode="auto">
            <a:xfrm>
              <a:off x="2756" y="3342"/>
              <a:ext cx="85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Arial" charset="0"/>
                </a:rPr>
                <a:t>X</a:t>
              </a:r>
              <a:endParaRPr lang="en-US"/>
            </a:p>
          </p:txBody>
        </p:sp>
        <p:sp>
          <p:nvSpPr>
            <p:cNvPr id="71" name="Rectangle 72"/>
            <p:cNvSpPr>
              <a:spLocks noChangeArrowheads="1"/>
            </p:cNvSpPr>
            <p:nvPr/>
          </p:nvSpPr>
          <p:spPr bwMode="auto">
            <a:xfrm>
              <a:off x="2976" y="3342"/>
              <a:ext cx="71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Arial" charset="0"/>
                </a:rPr>
                <a:t>0</a:t>
              </a:r>
              <a:endParaRPr lang="en-US"/>
            </a:p>
          </p:txBody>
        </p:sp>
        <p:sp>
          <p:nvSpPr>
            <p:cNvPr id="72" name="Rectangle 73"/>
            <p:cNvSpPr>
              <a:spLocks noChangeArrowheads="1"/>
            </p:cNvSpPr>
            <p:nvPr/>
          </p:nvSpPr>
          <p:spPr bwMode="auto">
            <a:xfrm>
              <a:off x="3190" y="3342"/>
              <a:ext cx="71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Arial" charset="0"/>
                </a:rPr>
                <a:t>0</a:t>
              </a:r>
              <a:endParaRPr lang="en-US"/>
            </a:p>
          </p:txBody>
        </p:sp>
        <p:sp>
          <p:nvSpPr>
            <p:cNvPr id="73" name="Rectangle 74"/>
            <p:cNvSpPr>
              <a:spLocks noChangeArrowheads="1"/>
            </p:cNvSpPr>
            <p:nvPr/>
          </p:nvSpPr>
          <p:spPr bwMode="auto">
            <a:xfrm>
              <a:off x="3403" y="3342"/>
              <a:ext cx="71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Arial" charset="0"/>
                </a:rPr>
                <a:t>1</a:t>
              </a:r>
              <a:endParaRPr lang="en-US"/>
            </a:p>
          </p:txBody>
        </p:sp>
        <p:sp>
          <p:nvSpPr>
            <p:cNvPr id="74" name="Rectangle 75"/>
            <p:cNvSpPr>
              <a:spLocks noChangeArrowheads="1"/>
            </p:cNvSpPr>
            <p:nvPr/>
          </p:nvSpPr>
          <p:spPr bwMode="auto">
            <a:xfrm>
              <a:off x="3617" y="3342"/>
              <a:ext cx="71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Arial" charset="0"/>
                </a:rPr>
                <a:t>0</a:t>
              </a:r>
              <a:endParaRPr lang="en-US"/>
            </a:p>
          </p:txBody>
        </p:sp>
        <p:sp>
          <p:nvSpPr>
            <p:cNvPr id="75" name="Rectangle 76"/>
            <p:cNvSpPr>
              <a:spLocks noChangeArrowheads="1"/>
            </p:cNvSpPr>
            <p:nvPr/>
          </p:nvSpPr>
          <p:spPr bwMode="auto">
            <a:xfrm>
              <a:off x="3994" y="3342"/>
              <a:ext cx="213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Arial" charset="0"/>
                </a:rPr>
                <a:t>110</a:t>
              </a:r>
              <a:endParaRPr lang="en-US"/>
            </a:p>
          </p:txBody>
        </p:sp>
        <p:sp>
          <p:nvSpPr>
            <p:cNvPr id="76" name="Rectangle 77"/>
            <p:cNvSpPr>
              <a:spLocks noChangeArrowheads="1"/>
            </p:cNvSpPr>
            <p:nvPr/>
          </p:nvSpPr>
          <p:spPr bwMode="auto">
            <a:xfrm>
              <a:off x="1573" y="3508"/>
              <a:ext cx="71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Arial" charset="0"/>
                </a:rPr>
                <a:t>1</a:t>
              </a:r>
              <a:endParaRPr lang="en-US"/>
            </a:p>
          </p:txBody>
        </p:sp>
        <p:sp>
          <p:nvSpPr>
            <p:cNvPr id="77" name="Rectangle 78"/>
            <p:cNvSpPr>
              <a:spLocks noChangeArrowheads="1"/>
            </p:cNvSpPr>
            <p:nvPr/>
          </p:nvSpPr>
          <p:spPr bwMode="auto">
            <a:xfrm>
              <a:off x="2145" y="3508"/>
              <a:ext cx="85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Arial" charset="0"/>
                </a:rPr>
                <a:t>X</a:t>
              </a:r>
              <a:endParaRPr lang="en-US"/>
            </a:p>
          </p:txBody>
        </p:sp>
        <p:sp>
          <p:nvSpPr>
            <p:cNvPr id="78" name="Rectangle 79"/>
            <p:cNvSpPr>
              <a:spLocks noChangeArrowheads="1"/>
            </p:cNvSpPr>
            <p:nvPr/>
          </p:nvSpPr>
          <p:spPr bwMode="auto">
            <a:xfrm>
              <a:off x="2542" y="3508"/>
              <a:ext cx="85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Arial" charset="0"/>
                </a:rPr>
                <a:t>X</a:t>
              </a:r>
              <a:endParaRPr lang="en-US"/>
            </a:p>
          </p:txBody>
        </p:sp>
        <p:sp>
          <p:nvSpPr>
            <p:cNvPr id="79" name="Rectangle 80"/>
            <p:cNvSpPr>
              <a:spLocks noChangeArrowheads="1"/>
            </p:cNvSpPr>
            <p:nvPr/>
          </p:nvSpPr>
          <p:spPr bwMode="auto">
            <a:xfrm>
              <a:off x="2756" y="3508"/>
              <a:ext cx="85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Arial" charset="0"/>
                </a:rPr>
                <a:t>X</a:t>
              </a:r>
              <a:endParaRPr lang="en-US"/>
            </a:p>
          </p:txBody>
        </p:sp>
        <p:sp>
          <p:nvSpPr>
            <p:cNvPr id="80" name="Rectangle 81"/>
            <p:cNvSpPr>
              <a:spLocks noChangeArrowheads="1"/>
            </p:cNvSpPr>
            <p:nvPr/>
          </p:nvSpPr>
          <p:spPr bwMode="auto">
            <a:xfrm>
              <a:off x="2976" y="3508"/>
              <a:ext cx="71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Arial" charset="0"/>
                </a:rPr>
                <a:t>0</a:t>
              </a:r>
              <a:endParaRPr lang="en-US"/>
            </a:p>
          </p:txBody>
        </p:sp>
        <p:sp>
          <p:nvSpPr>
            <p:cNvPr id="81" name="Rectangle 82"/>
            <p:cNvSpPr>
              <a:spLocks noChangeArrowheads="1"/>
            </p:cNvSpPr>
            <p:nvPr/>
          </p:nvSpPr>
          <p:spPr bwMode="auto">
            <a:xfrm>
              <a:off x="3190" y="3508"/>
              <a:ext cx="71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Arial" charset="0"/>
                </a:rPr>
                <a:t>1</a:t>
              </a:r>
              <a:endParaRPr lang="en-US"/>
            </a:p>
          </p:txBody>
        </p:sp>
        <p:sp>
          <p:nvSpPr>
            <p:cNvPr id="82" name="Rectangle 83"/>
            <p:cNvSpPr>
              <a:spLocks noChangeArrowheads="1"/>
            </p:cNvSpPr>
            <p:nvPr/>
          </p:nvSpPr>
          <p:spPr bwMode="auto">
            <a:xfrm>
              <a:off x="3403" y="3508"/>
              <a:ext cx="71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Arial" charset="0"/>
                </a:rPr>
                <a:t>0</a:t>
              </a:r>
              <a:endParaRPr lang="en-US"/>
            </a:p>
          </p:txBody>
        </p:sp>
        <p:sp>
          <p:nvSpPr>
            <p:cNvPr id="83" name="Rectangle 84"/>
            <p:cNvSpPr>
              <a:spLocks noChangeArrowheads="1"/>
            </p:cNvSpPr>
            <p:nvPr/>
          </p:nvSpPr>
          <p:spPr bwMode="auto">
            <a:xfrm>
              <a:off x="3617" y="3508"/>
              <a:ext cx="71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Arial" charset="0"/>
                </a:rPr>
                <a:t>0</a:t>
              </a:r>
              <a:endParaRPr lang="en-US"/>
            </a:p>
          </p:txBody>
        </p:sp>
        <p:sp>
          <p:nvSpPr>
            <p:cNvPr id="84" name="Rectangle 85"/>
            <p:cNvSpPr>
              <a:spLocks noChangeArrowheads="1"/>
            </p:cNvSpPr>
            <p:nvPr/>
          </p:nvSpPr>
          <p:spPr bwMode="auto">
            <a:xfrm>
              <a:off x="3994" y="3508"/>
              <a:ext cx="213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Arial" charset="0"/>
                </a:rPr>
                <a:t>000</a:t>
              </a:r>
              <a:endParaRPr lang="en-US"/>
            </a:p>
          </p:txBody>
        </p:sp>
        <p:sp>
          <p:nvSpPr>
            <p:cNvPr id="85" name="Rectangle 86"/>
            <p:cNvSpPr>
              <a:spLocks noChangeArrowheads="1"/>
            </p:cNvSpPr>
            <p:nvPr/>
          </p:nvSpPr>
          <p:spPr bwMode="auto">
            <a:xfrm>
              <a:off x="1573" y="3673"/>
              <a:ext cx="71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Arial" charset="0"/>
                </a:rPr>
                <a:t>1</a:t>
              </a:r>
              <a:endParaRPr lang="en-US"/>
            </a:p>
          </p:txBody>
        </p:sp>
        <p:sp>
          <p:nvSpPr>
            <p:cNvPr id="86" name="Rectangle 87"/>
            <p:cNvSpPr>
              <a:spLocks noChangeArrowheads="1"/>
            </p:cNvSpPr>
            <p:nvPr/>
          </p:nvSpPr>
          <p:spPr bwMode="auto">
            <a:xfrm>
              <a:off x="2145" y="3673"/>
              <a:ext cx="85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Arial" charset="0"/>
                </a:rPr>
                <a:t>X</a:t>
              </a:r>
              <a:endParaRPr lang="en-US"/>
            </a:p>
          </p:txBody>
        </p:sp>
        <p:sp>
          <p:nvSpPr>
            <p:cNvPr id="87" name="Rectangle 88"/>
            <p:cNvSpPr>
              <a:spLocks noChangeArrowheads="1"/>
            </p:cNvSpPr>
            <p:nvPr/>
          </p:nvSpPr>
          <p:spPr bwMode="auto">
            <a:xfrm>
              <a:off x="2542" y="3673"/>
              <a:ext cx="85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Arial" charset="0"/>
                </a:rPr>
                <a:t>X</a:t>
              </a:r>
              <a:endParaRPr lang="en-US"/>
            </a:p>
          </p:txBody>
        </p:sp>
        <p:sp>
          <p:nvSpPr>
            <p:cNvPr id="88" name="Rectangle 89"/>
            <p:cNvSpPr>
              <a:spLocks noChangeArrowheads="1"/>
            </p:cNvSpPr>
            <p:nvPr/>
          </p:nvSpPr>
          <p:spPr bwMode="auto">
            <a:xfrm>
              <a:off x="2756" y="3673"/>
              <a:ext cx="85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Arial" charset="0"/>
                </a:rPr>
                <a:t>X</a:t>
              </a:r>
              <a:endParaRPr lang="en-US"/>
            </a:p>
          </p:txBody>
        </p:sp>
        <p:sp>
          <p:nvSpPr>
            <p:cNvPr id="89" name="Rectangle 90"/>
            <p:cNvSpPr>
              <a:spLocks noChangeArrowheads="1"/>
            </p:cNvSpPr>
            <p:nvPr/>
          </p:nvSpPr>
          <p:spPr bwMode="auto">
            <a:xfrm>
              <a:off x="2976" y="3673"/>
              <a:ext cx="71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Arial" charset="0"/>
                </a:rPr>
                <a:t>0</a:t>
              </a:r>
              <a:endParaRPr lang="en-US"/>
            </a:p>
          </p:txBody>
        </p:sp>
        <p:sp>
          <p:nvSpPr>
            <p:cNvPr id="90" name="Rectangle 91"/>
            <p:cNvSpPr>
              <a:spLocks noChangeArrowheads="1"/>
            </p:cNvSpPr>
            <p:nvPr/>
          </p:nvSpPr>
          <p:spPr bwMode="auto">
            <a:xfrm>
              <a:off x="3190" y="3673"/>
              <a:ext cx="71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Arial" charset="0"/>
                </a:rPr>
                <a:t>1</a:t>
              </a:r>
              <a:endParaRPr lang="en-US"/>
            </a:p>
          </p:txBody>
        </p:sp>
        <p:sp>
          <p:nvSpPr>
            <p:cNvPr id="91" name="Rectangle 92"/>
            <p:cNvSpPr>
              <a:spLocks noChangeArrowheads="1"/>
            </p:cNvSpPr>
            <p:nvPr/>
          </p:nvSpPr>
          <p:spPr bwMode="auto">
            <a:xfrm>
              <a:off x="3403" y="3673"/>
              <a:ext cx="71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Arial" charset="0"/>
                </a:rPr>
                <a:t>0</a:t>
              </a:r>
              <a:endParaRPr lang="en-US"/>
            </a:p>
          </p:txBody>
        </p:sp>
        <p:sp>
          <p:nvSpPr>
            <p:cNvPr id="92" name="Rectangle 93"/>
            <p:cNvSpPr>
              <a:spLocks noChangeArrowheads="1"/>
            </p:cNvSpPr>
            <p:nvPr/>
          </p:nvSpPr>
          <p:spPr bwMode="auto">
            <a:xfrm>
              <a:off x="3617" y="3673"/>
              <a:ext cx="71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Arial" charset="0"/>
                </a:rPr>
                <a:t>1</a:t>
              </a:r>
              <a:endParaRPr lang="en-US"/>
            </a:p>
          </p:txBody>
        </p:sp>
        <p:sp>
          <p:nvSpPr>
            <p:cNvPr id="93" name="Rectangle 94"/>
            <p:cNvSpPr>
              <a:spLocks noChangeArrowheads="1"/>
            </p:cNvSpPr>
            <p:nvPr/>
          </p:nvSpPr>
          <p:spPr bwMode="auto">
            <a:xfrm>
              <a:off x="3994" y="3673"/>
              <a:ext cx="213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Arial" charset="0"/>
                </a:rPr>
                <a:t>001</a:t>
              </a:r>
              <a:endParaRPr lang="en-US"/>
            </a:p>
          </p:txBody>
        </p:sp>
        <p:sp>
          <p:nvSpPr>
            <p:cNvPr id="94" name="Rectangle 95"/>
            <p:cNvSpPr>
              <a:spLocks noChangeArrowheads="1"/>
            </p:cNvSpPr>
            <p:nvPr/>
          </p:nvSpPr>
          <p:spPr bwMode="auto">
            <a:xfrm>
              <a:off x="1573" y="3838"/>
              <a:ext cx="71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Arial" charset="0"/>
                </a:rPr>
                <a:t>1</a:t>
              </a:r>
              <a:endParaRPr lang="en-US"/>
            </a:p>
          </p:txBody>
        </p:sp>
        <p:sp>
          <p:nvSpPr>
            <p:cNvPr id="95" name="Rectangle 96"/>
            <p:cNvSpPr>
              <a:spLocks noChangeArrowheads="1"/>
            </p:cNvSpPr>
            <p:nvPr/>
          </p:nvSpPr>
          <p:spPr bwMode="auto">
            <a:xfrm>
              <a:off x="2145" y="3838"/>
              <a:ext cx="85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Arial" charset="0"/>
                </a:rPr>
                <a:t>X</a:t>
              </a:r>
              <a:endParaRPr lang="en-US"/>
            </a:p>
          </p:txBody>
        </p:sp>
        <p:sp>
          <p:nvSpPr>
            <p:cNvPr id="96" name="Rectangle 97"/>
            <p:cNvSpPr>
              <a:spLocks noChangeArrowheads="1"/>
            </p:cNvSpPr>
            <p:nvPr/>
          </p:nvSpPr>
          <p:spPr bwMode="auto">
            <a:xfrm>
              <a:off x="2542" y="3838"/>
              <a:ext cx="85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Arial" charset="0"/>
                </a:rPr>
                <a:t>X</a:t>
              </a:r>
              <a:endParaRPr lang="en-US"/>
            </a:p>
          </p:txBody>
        </p:sp>
        <p:sp>
          <p:nvSpPr>
            <p:cNvPr id="97" name="Rectangle 98"/>
            <p:cNvSpPr>
              <a:spLocks noChangeArrowheads="1"/>
            </p:cNvSpPr>
            <p:nvPr/>
          </p:nvSpPr>
          <p:spPr bwMode="auto">
            <a:xfrm>
              <a:off x="2756" y="3838"/>
              <a:ext cx="85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Arial" charset="0"/>
                </a:rPr>
                <a:t>X</a:t>
              </a:r>
              <a:endParaRPr lang="en-US"/>
            </a:p>
          </p:txBody>
        </p:sp>
        <p:sp>
          <p:nvSpPr>
            <p:cNvPr id="98" name="Rectangle 99"/>
            <p:cNvSpPr>
              <a:spLocks noChangeArrowheads="1"/>
            </p:cNvSpPr>
            <p:nvPr/>
          </p:nvSpPr>
          <p:spPr bwMode="auto">
            <a:xfrm>
              <a:off x="2976" y="3838"/>
              <a:ext cx="71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Arial" charset="0"/>
                </a:rPr>
                <a:t>1</a:t>
              </a:r>
              <a:endParaRPr lang="en-US"/>
            </a:p>
          </p:txBody>
        </p:sp>
        <p:sp>
          <p:nvSpPr>
            <p:cNvPr id="99" name="Rectangle 100"/>
            <p:cNvSpPr>
              <a:spLocks noChangeArrowheads="1"/>
            </p:cNvSpPr>
            <p:nvPr/>
          </p:nvSpPr>
          <p:spPr bwMode="auto">
            <a:xfrm>
              <a:off x="3190" y="3838"/>
              <a:ext cx="71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Arial" charset="0"/>
                </a:rPr>
                <a:t>0</a:t>
              </a:r>
              <a:endParaRPr lang="en-US"/>
            </a:p>
          </p:txBody>
        </p:sp>
        <p:sp>
          <p:nvSpPr>
            <p:cNvPr id="100" name="Rectangle 101"/>
            <p:cNvSpPr>
              <a:spLocks noChangeArrowheads="1"/>
            </p:cNvSpPr>
            <p:nvPr/>
          </p:nvSpPr>
          <p:spPr bwMode="auto">
            <a:xfrm>
              <a:off x="3403" y="3838"/>
              <a:ext cx="71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Arial" charset="0"/>
                </a:rPr>
                <a:t>1</a:t>
              </a:r>
              <a:endParaRPr lang="en-US"/>
            </a:p>
          </p:txBody>
        </p:sp>
        <p:sp>
          <p:nvSpPr>
            <p:cNvPr id="101" name="Rectangle 102"/>
            <p:cNvSpPr>
              <a:spLocks noChangeArrowheads="1"/>
            </p:cNvSpPr>
            <p:nvPr/>
          </p:nvSpPr>
          <p:spPr bwMode="auto">
            <a:xfrm>
              <a:off x="3617" y="3838"/>
              <a:ext cx="71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Arial" charset="0"/>
                </a:rPr>
                <a:t>0</a:t>
              </a:r>
              <a:endParaRPr lang="en-US"/>
            </a:p>
          </p:txBody>
        </p:sp>
        <p:sp>
          <p:nvSpPr>
            <p:cNvPr id="102" name="Rectangle 103"/>
            <p:cNvSpPr>
              <a:spLocks noChangeArrowheads="1"/>
            </p:cNvSpPr>
            <p:nvPr/>
          </p:nvSpPr>
          <p:spPr bwMode="auto">
            <a:xfrm>
              <a:off x="3994" y="3838"/>
              <a:ext cx="213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Arial" charset="0"/>
                </a:rPr>
                <a:t>111</a:t>
              </a:r>
              <a:endParaRPr lang="en-US"/>
            </a:p>
          </p:txBody>
        </p:sp>
        <p:sp>
          <p:nvSpPr>
            <p:cNvPr id="103" name="Line 104"/>
            <p:cNvSpPr>
              <a:spLocks noChangeShapeType="1"/>
            </p:cNvSpPr>
            <p:nvPr/>
          </p:nvSpPr>
          <p:spPr bwMode="auto">
            <a:xfrm>
              <a:off x="1311" y="2480"/>
              <a:ext cx="1" cy="149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4" name="Rectangle 105"/>
            <p:cNvSpPr>
              <a:spLocks noChangeArrowheads="1"/>
            </p:cNvSpPr>
            <p:nvPr/>
          </p:nvSpPr>
          <p:spPr bwMode="auto">
            <a:xfrm>
              <a:off x="1311" y="2480"/>
              <a:ext cx="8" cy="149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5" name="Line 106"/>
            <p:cNvSpPr>
              <a:spLocks noChangeShapeType="1"/>
            </p:cNvSpPr>
            <p:nvPr/>
          </p:nvSpPr>
          <p:spPr bwMode="auto">
            <a:xfrm>
              <a:off x="2470" y="2488"/>
              <a:ext cx="1" cy="148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6" name="Rectangle 107"/>
            <p:cNvSpPr>
              <a:spLocks noChangeArrowheads="1"/>
            </p:cNvSpPr>
            <p:nvPr/>
          </p:nvSpPr>
          <p:spPr bwMode="auto">
            <a:xfrm>
              <a:off x="2470" y="2480"/>
              <a:ext cx="8" cy="149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7" name="Line 108"/>
            <p:cNvSpPr>
              <a:spLocks noChangeShapeType="1"/>
            </p:cNvSpPr>
            <p:nvPr/>
          </p:nvSpPr>
          <p:spPr bwMode="auto">
            <a:xfrm>
              <a:off x="3752" y="2488"/>
              <a:ext cx="1" cy="148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8" name="Rectangle 109"/>
            <p:cNvSpPr>
              <a:spLocks noChangeArrowheads="1"/>
            </p:cNvSpPr>
            <p:nvPr/>
          </p:nvSpPr>
          <p:spPr bwMode="auto">
            <a:xfrm>
              <a:off x="3752" y="2480"/>
              <a:ext cx="8" cy="149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9" name="Line 110"/>
            <p:cNvSpPr>
              <a:spLocks noChangeShapeType="1"/>
            </p:cNvSpPr>
            <p:nvPr/>
          </p:nvSpPr>
          <p:spPr bwMode="auto">
            <a:xfrm>
              <a:off x="4432" y="2488"/>
              <a:ext cx="1" cy="148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0" name="Rectangle 111"/>
            <p:cNvSpPr>
              <a:spLocks noChangeArrowheads="1"/>
            </p:cNvSpPr>
            <p:nvPr/>
          </p:nvSpPr>
          <p:spPr bwMode="auto">
            <a:xfrm>
              <a:off x="4432" y="2480"/>
              <a:ext cx="8" cy="149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1" name="Line 112"/>
            <p:cNvSpPr>
              <a:spLocks noChangeShapeType="1"/>
            </p:cNvSpPr>
            <p:nvPr/>
          </p:nvSpPr>
          <p:spPr bwMode="auto">
            <a:xfrm>
              <a:off x="1891" y="2645"/>
              <a:ext cx="1" cy="132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2" name="Rectangle 113"/>
            <p:cNvSpPr>
              <a:spLocks noChangeArrowheads="1"/>
            </p:cNvSpPr>
            <p:nvPr/>
          </p:nvSpPr>
          <p:spPr bwMode="auto">
            <a:xfrm>
              <a:off x="1891" y="2645"/>
              <a:ext cx="7" cy="133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3" name="Line 114"/>
            <p:cNvSpPr>
              <a:spLocks noChangeShapeType="1"/>
            </p:cNvSpPr>
            <p:nvPr/>
          </p:nvSpPr>
          <p:spPr bwMode="auto">
            <a:xfrm>
              <a:off x="2684" y="2645"/>
              <a:ext cx="1" cy="132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4" name="Rectangle 115"/>
            <p:cNvSpPr>
              <a:spLocks noChangeArrowheads="1"/>
            </p:cNvSpPr>
            <p:nvPr/>
          </p:nvSpPr>
          <p:spPr bwMode="auto">
            <a:xfrm>
              <a:off x="2684" y="2645"/>
              <a:ext cx="8" cy="133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5" name="Line 116"/>
            <p:cNvSpPr>
              <a:spLocks noChangeShapeType="1"/>
            </p:cNvSpPr>
            <p:nvPr/>
          </p:nvSpPr>
          <p:spPr bwMode="auto">
            <a:xfrm>
              <a:off x="2898" y="2645"/>
              <a:ext cx="1" cy="132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6" name="Rectangle 117"/>
            <p:cNvSpPr>
              <a:spLocks noChangeArrowheads="1"/>
            </p:cNvSpPr>
            <p:nvPr/>
          </p:nvSpPr>
          <p:spPr bwMode="auto">
            <a:xfrm>
              <a:off x="2898" y="2645"/>
              <a:ext cx="7" cy="133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7" name="Line 118"/>
            <p:cNvSpPr>
              <a:spLocks noChangeShapeType="1"/>
            </p:cNvSpPr>
            <p:nvPr/>
          </p:nvSpPr>
          <p:spPr bwMode="auto">
            <a:xfrm>
              <a:off x="3111" y="2645"/>
              <a:ext cx="1" cy="132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8" name="Rectangle 119"/>
            <p:cNvSpPr>
              <a:spLocks noChangeArrowheads="1"/>
            </p:cNvSpPr>
            <p:nvPr/>
          </p:nvSpPr>
          <p:spPr bwMode="auto">
            <a:xfrm>
              <a:off x="3111" y="2645"/>
              <a:ext cx="8" cy="133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9" name="Line 120"/>
            <p:cNvSpPr>
              <a:spLocks noChangeShapeType="1"/>
            </p:cNvSpPr>
            <p:nvPr/>
          </p:nvSpPr>
          <p:spPr bwMode="auto">
            <a:xfrm>
              <a:off x="3325" y="2645"/>
              <a:ext cx="1" cy="132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20" name="Rectangle 121"/>
            <p:cNvSpPr>
              <a:spLocks noChangeArrowheads="1"/>
            </p:cNvSpPr>
            <p:nvPr/>
          </p:nvSpPr>
          <p:spPr bwMode="auto">
            <a:xfrm>
              <a:off x="3325" y="2645"/>
              <a:ext cx="7" cy="133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21" name="Line 122"/>
            <p:cNvSpPr>
              <a:spLocks noChangeShapeType="1"/>
            </p:cNvSpPr>
            <p:nvPr/>
          </p:nvSpPr>
          <p:spPr bwMode="auto">
            <a:xfrm>
              <a:off x="3538" y="2645"/>
              <a:ext cx="1" cy="132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22" name="Rectangle 123"/>
            <p:cNvSpPr>
              <a:spLocks noChangeArrowheads="1"/>
            </p:cNvSpPr>
            <p:nvPr/>
          </p:nvSpPr>
          <p:spPr bwMode="auto">
            <a:xfrm>
              <a:off x="3538" y="2645"/>
              <a:ext cx="8" cy="133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23" name="Rectangle 124"/>
            <p:cNvSpPr>
              <a:spLocks noChangeArrowheads="1"/>
            </p:cNvSpPr>
            <p:nvPr/>
          </p:nvSpPr>
          <p:spPr bwMode="auto">
            <a:xfrm>
              <a:off x="1311" y="2480"/>
              <a:ext cx="3129" cy="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24" name="Rectangle 125"/>
            <p:cNvSpPr>
              <a:spLocks noChangeArrowheads="1"/>
            </p:cNvSpPr>
            <p:nvPr/>
          </p:nvSpPr>
          <p:spPr bwMode="auto">
            <a:xfrm>
              <a:off x="1311" y="3968"/>
              <a:ext cx="3129" cy="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25" name="Rectangle 126"/>
            <p:cNvSpPr>
              <a:spLocks noChangeArrowheads="1"/>
            </p:cNvSpPr>
            <p:nvPr/>
          </p:nvSpPr>
          <p:spPr bwMode="auto">
            <a:xfrm>
              <a:off x="1311" y="2488"/>
              <a:ext cx="8" cy="148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26" name="Rectangle 127"/>
            <p:cNvSpPr>
              <a:spLocks noChangeArrowheads="1"/>
            </p:cNvSpPr>
            <p:nvPr/>
          </p:nvSpPr>
          <p:spPr bwMode="auto">
            <a:xfrm>
              <a:off x="4432" y="2488"/>
              <a:ext cx="8" cy="148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="" xmlns:p14="http://schemas.microsoft.com/office/powerpoint/2010/main" val="1606002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058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Designing the Main Control</a:t>
            </a:r>
          </a:p>
        </p:txBody>
      </p:sp>
      <p:sp>
        <p:nvSpPr>
          <p:cNvPr id="557059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182688" y="3124200"/>
            <a:ext cx="7772400" cy="4114800"/>
          </a:xfrm>
        </p:spPr>
        <p:txBody>
          <a:bodyPr/>
          <a:lstStyle/>
          <a:p>
            <a:r>
              <a:rPr lang="en-US" sz="2000"/>
              <a:t>Observations about MIPS instruction format</a:t>
            </a:r>
          </a:p>
          <a:p>
            <a:pPr lvl="1"/>
            <a:r>
              <a:rPr lang="en-US" sz="1800"/>
              <a:t>opcode is always in bits 31-26</a:t>
            </a:r>
          </a:p>
          <a:p>
            <a:pPr lvl="1"/>
            <a:r>
              <a:rPr lang="en-US" sz="1800"/>
              <a:t>two registers to be read are always rs (bits 25-21) and rt (bits 20-16)</a:t>
            </a:r>
          </a:p>
          <a:p>
            <a:pPr lvl="1"/>
            <a:r>
              <a:rPr lang="en-US" sz="1800"/>
              <a:t>base register for load/stores is always rs  (bits 25-21)</a:t>
            </a:r>
          </a:p>
          <a:p>
            <a:pPr lvl="1"/>
            <a:r>
              <a:rPr lang="en-US" sz="1800"/>
              <a:t>16-bit offset for branch equal and load/store is always bits 15-0</a:t>
            </a:r>
          </a:p>
          <a:p>
            <a:pPr lvl="1"/>
            <a:r>
              <a:rPr lang="en-US" sz="1800"/>
              <a:t>destination register for loads is in bits 20-16 (rt) while for R-type instructions it is in bits 15-11 (rd) (</a:t>
            </a:r>
            <a:r>
              <a:rPr lang="en-US" sz="1800" i="1"/>
              <a:t>will require multiplexor to select</a:t>
            </a:r>
            <a:r>
              <a:rPr lang="en-US" sz="1800"/>
              <a:t>)</a:t>
            </a:r>
          </a:p>
        </p:txBody>
      </p:sp>
      <p:sp>
        <p:nvSpPr>
          <p:cNvPr id="557060" name="Rectangle 1028"/>
          <p:cNvSpPr>
            <a:spLocks noChangeArrowheads="1"/>
          </p:cNvSpPr>
          <p:nvPr/>
        </p:nvSpPr>
        <p:spPr bwMode="auto">
          <a:xfrm>
            <a:off x="1295400" y="1447800"/>
            <a:ext cx="71628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57061" name="Rectangle 1029"/>
          <p:cNvSpPr>
            <a:spLocks noChangeArrowheads="1"/>
          </p:cNvSpPr>
          <p:nvPr/>
        </p:nvSpPr>
        <p:spPr bwMode="auto">
          <a:xfrm>
            <a:off x="1295400" y="2286000"/>
            <a:ext cx="71628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57063" name="Line 1031"/>
          <p:cNvSpPr>
            <a:spLocks noChangeShapeType="1"/>
          </p:cNvSpPr>
          <p:nvPr/>
        </p:nvSpPr>
        <p:spPr bwMode="auto">
          <a:xfrm>
            <a:off x="2362200" y="14478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557064" name="Line 1032"/>
          <p:cNvSpPr>
            <a:spLocks noChangeShapeType="1"/>
          </p:cNvSpPr>
          <p:nvPr/>
        </p:nvSpPr>
        <p:spPr bwMode="auto">
          <a:xfrm>
            <a:off x="3429000" y="14478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557065" name="Line 1033"/>
          <p:cNvSpPr>
            <a:spLocks noChangeShapeType="1"/>
          </p:cNvSpPr>
          <p:nvPr/>
        </p:nvSpPr>
        <p:spPr bwMode="auto">
          <a:xfrm>
            <a:off x="4724400" y="14478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557066" name="Line 1034"/>
          <p:cNvSpPr>
            <a:spLocks noChangeShapeType="1"/>
          </p:cNvSpPr>
          <p:nvPr/>
        </p:nvSpPr>
        <p:spPr bwMode="auto">
          <a:xfrm>
            <a:off x="5867400" y="14478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557067" name="Line 1035"/>
          <p:cNvSpPr>
            <a:spLocks noChangeShapeType="1"/>
          </p:cNvSpPr>
          <p:nvPr/>
        </p:nvSpPr>
        <p:spPr bwMode="auto">
          <a:xfrm>
            <a:off x="7086600" y="14478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557068" name="Line 1036"/>
          <p:cNvSpPr>
            <a:spLocks noChangeShapeType="1"/>
          </p:cNvSpPr>
          <p:nvPr/>
        </p:nvSpPr>
        <p:spPr bwMode="auto">
          <a:xfrm>
            <a:off x="2362200" y="22860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557069" name="Line 1037"/>
          <p:cNvSpPr>
            <a:spLocks noChangeShapeType="1"/>
          </p:cNvSpPr>
          <p:nvPr/>
        </p:nvSpPr>
        <p:spPr bwMode="auto">
          <a:xfrm>
            <a:off x="3429000" y="22860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557070" name="Line 1038"/>
          <p:cNvSpPr>
            <a:spLocks noChangeShapeType="1"/>
          </p:cNvSpPr>
          <p:nvPr/>
        </p:nvSpPr>
        <p:spPr bwMode="auto">
          <a:xfrm>
            <a:off x="4724400" y="22860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557075" name="Text Box 1043"/>
          <p:cNvSpPr txBox="1">
            <a:spLocks noChangeArrowheads="1"/>
          </p:cNvSpPr>
          <p:nvPr/>
        </p:nvSpPr>
        <p:spPr bwMode="auto">
          <a:xfrm>
            <a:off x="1563688" y="1706563"/>
            <a:ext cx="569912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200">
                <a:latin typeface="Tahoma" pitchFamily="34" charset="0"/>
              </a:rPr>
              <a:t>31-26</a:t>
            </a:r>
          </a:p>
        </p:txBody>
      </p:sp>
      <p:sp>
        <p:nvSpPr>
          <p:cNvPr id="557076" name="Text Box 1044"/>
          <p:cNvSpPr txBox="1">
            <a:spLocks noChangeArrowheads="1"/>
          </p:cNvSpPr>
          <p:nvPr/>
        </p:nvSpPr>
        <p:spPr bwMode="auto">
          <a:xfrm>
            <a:off x="2630488" y="1706563"/>
            <a:ext cx="569912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200">
                <a:latin typeface="Tahoma" pitchFamily="34" charset="0"/>
              </a:rPr>
              <a:t>25-21</a:t>
            </a:r>
          </a:p>
        </p:txBody>
      </p:sp>
      <p:sp>
        <p:nvSpPr>
          <p:cNvPr id="557077" name="Text Box 1045"/>
          <p:cNvSpPr txBox="1">
            <a:spLocks noChangeArrowheads="1"/>
          </p:cNvSpPr>
          <p:nvPr/>
        </p:nvSpPr>
        <p:spPr bwMode="auto">
          <a:xfrm>
            <a:off x="3773488" y="1706563"/>
            <a:ext cx="569912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200">
                <a:latin typeface="Tahoma" pitchFamily="34" charset="0"/>
              </a:rPr>
              <a:t>20-16</a:t>
            </a:r>
          </a:p>
        </p:txBody>
      </p:sp>
      <p:sp>
        <p:nvSpPr>
          <p:cNvPr id="557078" name="Text Box 1046"/>
          <p:cNvSpPr txBox="1">
            <a:spLocks noChangeArrowheads="1"/>
          </p:cNvSpPr>
          <p:nvPr/>
        </p:nvSpPr>
        <p:spPr bwMode="auto">
          <a:xfrm>
            <a:off x="5068888" y="1706563"/>
            <a:ext cx="569912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1200">
                <a:latin typeface="Tahoma" pitchFamily="34" charset="0"/>
              </a:rPr>
              <a:t>15-11</a:t>
            </a:r>
          </a:p>
        </p:txBody>
      </p:sp>
      <p:sp>
        <p:nvSpPr>
          <p:cNvPr id="557079" name="Text Box 1047"/>
          <p:cNvSpPr txBox="1">
            <a:spLocks noChangeArrowheads="1"/>
          </p:cNvSpPr>
          <p:nvPr/>
        </p:nvSpPr>
        <p:spPr bwMode="auto">
          <a:xfrm>
            <a:off x="6248400" y="1706563"/>
            <a:ext cx="487363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200">
                <a:latin typeface="Tahoma" pitchFamily="34" charset="0"/>
              </a:rPr>
              <a:t>10-6</a:t>
            </a:r>
          </a:p>
        </p:txBody>
      </p:sp>
      <p:sp>
        <p:nvSpPr>
          <p:cNvPr id="557080" name="Text Box 1048"/>
          <p:cNvSpPr txBox="1">
            <a:spLocks noChangeArrowheads="1"/>
          </p:cNvSpPr>
          <p:nvPr/>
        </p:nvSpPr>
        <p:spPr bwMode="auto">
          <a:xfrm>
            <a:off x="7596188" y="1706563"/>
            <a:ext cx="404812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200">
                <a:latin typeface="Tahoma" pitchFamily="34" charset="0"/>
              </a:rPr>
              <a:t>5-0</a:t>
            </a:r>
          </a:p>
        </p:txBody>
      </p:sp>
      <p:sp>
        <p:nvSpPr>
          <p:cNvPr id="557081" name="Text Box 1049"/>
          <p:cNvSpPr txBox="1">
            <a:spLocks noChangeArrowheads="1"/>
          </p:cNvSpPr>
          <p:nvPr/>
        </p:nvSpPr>
        <p:spPr bwMode="auto">
          <a:xfrm>
            <a:off x="1563688" y="2544763"/>
            <a:ext cx="569912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200">
                <a:latin typeface="Tahoma" pitchFamily="34" charset="0"/>
              </a:rPr>
              <a:t>31-26</a:t>
            </a:r>
          </a:p>
        </p:txBody>
      </p:sp>
      <p:sp>
        <p:nvSpPr>
          <p:cNvPr id="557082" name="Text Box 1050"/>
          <p:cNvSpPr txBox="1">
            <a:spLocks noChangeArrowheads="1"/>
          </p:cNvSpPr>
          <p:nvPr/>
        </p:nvSpPr>
        <p:spPr bwMode="auto">
          <a:xfrm>
            <a:off x="2630488" y="2544763"/>
            <a:ext cx="569912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200">
                <a:latin typeface="Tahoma" pitchFamily="34" charset="0"/>
              </a:rPr>
              <a:t>25-21</a:t>
            </a:r>
          </a:p>
        </p:txBody>
      </p:sp>
      <p:sp>
        <p:nvSpPr>
          <p:cNvPr id="557083" name="Text Box 1051"/>
          <p:cNvSpPr txBox="1">
            <a:spLocks noChangeArrowheads="1"/>
          </p:cNvSpPr>
          <p:nvPr/>
        </p:nvSpPr>
        <p:spPr bwMode="auto">
          <a:xfrm>
            <a:off x="3810000" y="2544763"/>
            <a:ext cx="569913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200">
                <a:latin typeface="Tahoma" pitchFamily="34" charset="0"/>
              </a:rPr>
              <a:t>20-16</a:t>
            </a:r>
          </a:p>
        </p:txBody>
      </p:sp>
      <p:sp>
        <p:nvSpPr>
          <p:cNvPr id="557084" name="Text Box 1052"/>
          <p:cNvSpPr txBox="1">
            <a:spLocks noChangeArrowheads="1"/>
          </p:cNvSpPr>
          <p:nvPr/>
        </p:nvSpPr>
        <p:spPr bwMode="auto">
          <a:xfrm>
            <a:off x="6248400" y="2544763"/>
            <a:ext cx="487363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200">
                <a:latin typeface="Tahoma" pitchFamily="34" charset="0"/>
              </a:rPr>
              <a:t>15-0</a:t>
            </a:r>
          </a:p>
        </p:txBody>
      </p:sp>
      <p:sp>
        <p:nvSpPr>
          <p:cNvPr id="557089" name="Text Box 1057"/>
          <p:cNvSpPr txBox="1">
            <a:spLocks noChangeArrowheads="1"/>
          </p:cNvSpPr>
          <p:nvPr/>
        </p:nvSpPr>
        <p:spPr bwMode="auto">
          <a:xfrm>
            <a:off x="1447800" y="1447800"/>
            <a:ext cx="66833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200">
                <a:latin typeface="Tahoma" pitchFamily="34" charset="0"/>
              </a:rPr>
              <a:t>opcode</a:t>
            </a:r>
          </a:p>
        </p:txBody>
      </p:sp>
      <p:sp>
        <p:nvSpPr>
          <p:cNvPr id="557090" name="Text Box 1058"/>
          <p:cNvSpPr txBox="1">
            <a:spLocks noChangeArrowheads="1"/>
          </p:cNvSpPr>
          <p:nvPr/>
        </p:nvSpPr>
        <p:spPr bwMode="auto">
          <a:xfrm>
            <a:off x="1447800" y="2286000"/>
            <a:ext cx="66833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200">
                <a:latin typeface="Tahoma" pitchFamily="34" charset="0"/>
              </a:rPr>
              <a:t>opcode</a:t>
            </a:r>
          </a:p>
        </p:txBody>
      </p:sp>
      <p:sp>
        <p:nvSpPr>
          <p:cNvPr id="557092" name="Text Box 1060"/>
          <p:cNvSpPr txBox="1">
            <a:spLocks noChangeArrowheads="1"/>
          </p:cNvSpPr>
          <p:nvPr/>
        </p:nvSpPr>
        <p:spPr bwMode="auto">
          <a:xfrm>
            <a:off x="2743200" y="1447800"/>
            <a:ext cx="30797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200">
                <a:latin typeface="Tahoma" pitchFamily="34" charset="0"/>
              </a:rPr>
              <a:t>rs</a:t>
            </a:r>
          </a:p>
        </p:txBody>
      </p:sp>
      <p:sp>
        <p:nvSpPr>
          <p:cNvPr id="557093" name="Text Box 1061"/>
          <p:cNvSpPr txBox="1">
            <a:spLocks noChangeArrowheads="1"/>
          </p:cNvSpPr>
          <p:nvPr/>
        </p:nvSpPr>
        <p:spPr bwMode="auto">
          <a:xfrm>
            <a:off x="2743200" y="2286000"/>
            <a:ext cx="30797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200">
                <a:latin typeface="Tahoma" pitchFamily="34" charset="0"/>
              </a:rPr>
              <a:t>rs</a:t>
            </a:r>
          </a:p>
        </p:txBody>
      </p:sp>
      <p:sp>
        <p:nvSpPr>
          <p:cNvPr id="557095" name="Text Box 1063"/>
          <p:cNvSpPr txBox="1">
            <a:spLocks noChangeArrowheads="1"/>
          </p:cNvSpPr>
          <p:nvPr/>
        </p:nvSpPr>
        <p:spPr bwMode="auto">
          <a:xfrm>
            <a:off x="3962400" y="1447800"/>
            <a:ext cx="290513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200">
                <a:latin typeface="Tahoma" pitchFamily="34" charset="0"/>
              </a:rPr>
              <a:t>rt</a:t>
            </a:r>
          </a:p>
        </p:txBody>
      </p:sp>
      <p:sp>
        <p:nvSpPr>
          <p:cNvPr id="557096" name="Text Box 1064"/>
          <p:cNvSpPr txBox="1">
            <a:spLocks noChangeArrowheads="1"/>
          </p:cNvSpPr>
          <p:nvPr/>
        </p:nvSpPr>
        <p:spPr bwMode="auto">
          <a:xfrm>
            <a:off x="3976688" y="2286000"/>
            <a:ext cx="290512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200">
                <a:latin typeface="Tahoma" pitchFamily="34" charset="0"/>
              </a:rPr>
              <a:t>rt</a:t>
            </a:r>
          </a:p>
        </p:txBody>
      </p:sp>
      <p:sp>
        <p:nvSpPr>
          <p:cNvPr id="557098" name="Text Box 1066"/>
          <p:cNvSpPr txBox="1">
            <a:spLocks noChangeArrowheads="1"/>
          </p:cNvSpPr>
          <p:nvPr/>
        </p:nvSpPr>
        <p:spPr bwMode="auto">
          <a:xfrm>
            <a:off x="6172200" y="2316163"/>
            <a:ext cx="70485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1200">
                <a:latin typeface="Tahoma" pitchFamily="34" charset="0"/>
              </a:rPr>
              <a:t>address</a:t>
            </a:r>
          </a:p>
        </p:txBody>
      </p:sp>
      <p:sp>
        <p:nvSpPr>
          <p:cNvPr id="557100" name="Text Box 1068"/>
          <p:cNvSpPr txBox="1">
            <a:spLocks noChangeArrowheads="1"/>
          </p:cNvSpPr>
          <p:nvPr/>
        </p:nvSpPr>
        <p:spPr bwMode="auto">
          <a:xfrm>
            <a:off x="5162550" y="1477963"/>
            <a:ext cx="32385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200">
                <a:latin typeface="Tahoma" pitchFamily="34" charset="0"/>
              </a:rPr>
              <a:t>rd</a:t>
            </a:r>
          </a:p>
        </p:txBody>
      </p:sp>
      <p:sp>
        <p:nvSpPr>
          <p:cNvPr id="557101" name="Text Box 1069"/>
          <p:cNvSpPr txBox="1">
            <a:spLocks noChangeArrowheads="1"/>
          </p:cNvSpPr>
          <p:nvPr/>
        </p:nvSpPr>
        <p:spPr bwMode="auto">
          <a:xfrm>
            <a:off x="6184900" y="1477963"/>
            <a:ext cx="5969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200">
                <a:latin typeface="Tahoma" pitchFamily="34" charset="0"/>
              </a:rPr>
              <a:t>shamt</a:t>
            </a:r>
          </a:p>
        </p:txBody>
      </p:sp>
      <p:sp>
        <p:nvSpPr>
          <p:cNvPr id="557102" name="Text Box 1070"/>
          <p:cNvSpPr txBox="1">
            <a:spLocks noChangeArrowheads="1"/>
          </p:cNvSpPr>
          <p:nvPr/>
        </p:nvSpPr>
        <p:spPr bwMode="auto">
          <a:xfrm>
            <a:off x="7475538" y="1477963"/>
            <a:ext cx="525462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200">
                <a:latin typeface="Tahoma" pitchFamily="34" charset="0"/>
              </a:rPr>
              <a:t>funct</a:t>
            </a:r>
          </a:p>
        </p:txBody>
      </p:sp>
      <p:sp>
        <p:nvSpPr>
          <p:cNvPr id="557103" name="Text Box 1071"/>
          <p:cNvSpPr txBox="1">
            <a:spLocks noChangeArrowheads="1"/>
          </p:cNvSpPr>
          <p:nvPr/>
        </p:nvSpPr>
        <p:spPr bwMode="auto">
          <a:xfrm>
            <a:off x="668338" y="1447800"/>
            <a:ext cx="627062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200">
                <a:latin typeface="Tahoma" pitchFamily="34" charset="0"/>
              </a:rPr>
              <a:t>R-type</a:t>
            </a:r>
          </a:p>
        </p:txBody>
      </p:sp>
      <p:sp>
        <p:nvSpPr>
          <p:cNvPr id="557104" name="Text Box 1072"/>
          <p:cNvSpPr txBox="1">
            <a:spLocks noChangeArrowheads="1"/>
          </p:cNvSpPr>
          <p:nvPr/>
        </p:nvSpPr>
        <p:spPr bwMode="auto">
          <a:xfrm>
            <a:off x="381000" y="2209800"/>
            <a:ext cx="9509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200">
                <a:latin typeface="Tahoma" pitchFamily="34" charset="0"/>
              </a:rPr>
              <a:t>Load/store </a:t>
            </a:r>
          </a:p>
          <a:p>
            <a:r>
              <a:rPr lang="en-US" sz="1200">
                <a:latin typeface="Tahoma" pitchFamily="34" charset="0"/>
              </a:rPr>
              <a:t>or branch</a:t>
            </a:r>
          </a:p>
        </p:txBody>
      </p:sp>
      <p:sp>
        <p:nvSpPr>
          <p:cNvPr id="3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Mayank Pandey, MNNIT, Allahabad, India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482530634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314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381000"/>
            <a:ext cx="7793037" cy="1143000"/>
          </a:xfrm>
        </p:spPr>
        <p:txBody>
          <a:bodyPr/>
          <a:lstStyle/>
          <a:p>
            <a:r>
              <a:rPr lang="en-US" dirty="0" smtClean="0"/>
              <a:t>Data-path </a:t>
            </a:r>
            <a:r>
              <a:rPr lang="en-US" dirty="0"/>
              <a:t>with Control I</a:t>
            </a:r>
          </a:p>
        </p:txBody>
      </p:sp>
      <p:pic>
        <p:nvPicPr>
          <p:cNvPr id="525316" name="Picture 4" descr="F0517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323975"/>
            <a:ext cx="8382000" cy="416083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25317" name="Text Box 5"/>
          <p:cNvSpPr txBox="1">
            <a:spLocks noChangeArrowheads="1"/>
          </p:cNvSpPr>
          <p:nvPr/>
        </p:nvSpPr>
        <p:spPr bwMode="auto">
          <a:xfrm>
            <a:off x="533400" y="5438775"/>
            <a:ext cx="8535988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600" b="1">
                <a:latin typeface="Tahoma" pitchFamily="34" charset="0"/>
              </a:rPr>
              <a:t>Adding control to the MIPS Datapath III (and a new multiplexor to select field to </a:t>
            </a:r>
          </a:p>
          <a:p>
            <a:r>
              <a:rPr lang="en-US" sz="1600" b="1">
                <a:latin typeface="Tahoma" pitchFamily="34" charset="0"/>
              </a:rPr>
              <a:t>specify destination register): </a:t>
            </a:r>
            <a:r>
              <a:rPr lang="en-US" sz="1600" b="1">
                <a:solidFill>
                  <a:schemeClr val="hlink"/>
                </a:solidFill>
                <a:latin typeface="Tahoma" pitchFamily="34" charset="0"/>
              </a:rPr>
              <a:t>what are the functions of the 9 control signals?</a:t>
            </a:r>
          </a:p>
        </p:txBody>
      </p:sp>
      <p:sp>
        <p:nvSpPr>
          <p:cNvPr id="525318" name="Text Box 6"/>
          <p:cNvSpPr txBox="1">
            <a:spLocks noChangeArrowheads="1"/>
          </p:cNvSpPr>
          <p:nvPr/>
        </p:nvSpPr>
        <p:spPr bwMode="auto">
          <a:xfrm>
            <a:off x="2743200" y="2314575"/>
            <a:ext cx="127635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1200">
                <a:solidFill>
                  <a:schemeClr val="hlink"/>
                </a:solidFill>
                <a:latin typeface="Tahoma" pitchFamily="34" charset="0"/>
              </a:rPr>
              <a:t>New multiplexor</a:t>
            </a:r>
          </a:p>
        </p:txBody>
      </p:sp>
      <p:sp>
        <p:nvSpPr>
          <p:cNvPr id="525320" name="Line 8"/>
          <p:cNvSpPr>
            <a:spLocks noChangeShapeType="1"/>
          </p:cNvSpPr>
          <p:nvPr/>
        </p:nvSpPr>
        <p:spPr bwMode="auto">
          <a:xfrm>
            <a:off x="3352800" y="2543175"/>
            <a:ext cx="228600" cy="9144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arrow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Mayank Pandey, MNNIT, Allahabad, India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474402936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826" name="Rectangle 2050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229600" cy="1143000"/>
          </a:xfrm>
        </p:spPr>
        <p:txBody>
          <a:bodyPr/>
          <a:lstStyle/>
          <a:p>
            <a:r>
              <a:rPr lang="en-US" dirty="0"/>
              <a:t>Control Signals</a:t>
            </a:r>
          </a:p>
        </p:txBody>
      </p:sp>
      <p:sp>
        <p:nvSpPr>
          <p:cNvPr id="589827" name="Rectangle 2051"/>
          <p:cNvSpPr>
            <a:spLocks noGrp="1" noChangeArrowheads="1"/>
          </p:cNvSpPr>
          <p:nvPr>
            <p:ph type="body" idx="1"/>
          </p:nvPr>
        </p:nvSpPr>
        <p:spPr>
          <a:xfrm>
            <a:off x="228600" y="1371600"/>
            <a:ext cx="9829800" cy="41148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sz="1200" b="1" dirty="0"/>
              <a:t>Signal Name       </a:t>
            </a:r>
            <a:r>
              <a:rPr lang="en-US" sz="1200" b="1" dirty="0" smtClean="0"/>
              <a:t>                         Effect </a:t>
            </a:r>
            <a:r>
              <a:rPr lang="en-US" sz="1200" b="1" dirty="0"/>
              <a:t>when </a:t>
            </a:r>
            <a:r>
              <a:rPr lang="en-US" sz="1200" b="1" dirty="0" err="1"/>
              <a:t>deasserted</a:t>
            </a:r>
            <a:r>
              <a:rPr lang="en-US" sz="1200" b="1" dirty="0"/>
              <a:t>                                         Effect when asserted</a:t>
            </a:r>
          </a:p>
          <a:p>
            <a:pPr>
              <a:buFont typeface="Wingdings" pitchFamily="2" charset="2"/>
              <a:buNone/>
            </a:pPr>
            <a:endParaRPr lang="en-US" sz="1200" b="1" dirty="0"/>
          </a:p>
          <a:p>
            <a:pPr>
              <a:buFont typeface="Wingdings" pitchFamily="2" charset="2"/>
              <a:buNone/>
            </a:pPr>
            <a:r>
              <a:rPr lang="en-US" sz="1200" dirty="0" err="1"/>
              <a:t>RegDst</a:t>
            </a:r>
            <a:r>
              <a:rPr lang="en-US" sz="1200" dirty="0"/>
              <a:t>               </a:t>
            </a:r>
            <a:r>
              <a:rPr lang="en-US" sz="1200" dirty="0" smtClean="0"/>
              <a:t>                    </a:t>
            </a:r>
            <a:r>
              <a:rPr lang="en-US" sz="1200" dirty="0"/>
              <a:t>The register destination number for the                    </a:t>
            </a:r>
            <a:r>
              <a:rPr lang="en-US" sz="1200" dirty="0" err="1"/>
              <a:t>The</a:t>
            </a:r>
            <a:r>
              <a:rPr lang="en-US" sz="1200" dirty="0"/>
              <a:t> register destination number for the</a:t>
            </a:r>
          </a:p>
          <a:p>
            <a:pPr>
              <a:buFont typeface="Wingdings" pitchFamily="2" charset="2"/>
              <a:buNone/>
            </a:pPr>
            <a:r>
              <a:rPr lang="en-US" sz="1200" dirty="0"/>
              <a:t>                         </a:t>
            </a:r>
            <a:r>
              <a:rPr lang="en-US" sz="1200" dirty="0" smtClean="0"/>
              <a:t>                   </a:t>
            </a:r>
            <a:r>
              <a:rPr lang="en-US" sz="1200" dirty="0"/>
              <a:t>Write register comes from the </a:t>
            </a:r>
            <a:r>
              <a:rPr lang="en-US" sz="1200" dirty="0" err="1"/>
              <a:t>rt</a:t>
            </a:r>
            <a:r>
              <a:rPr lang="en-US" sz="1200" dirty="0"/>
              <a:t> field (bits 20-16)     Write register comes from the </a:t>
            </a:r>
            <a:r>
              <a:rPr lang="en-US" sz="1200" dirty="0" err="1"/>
              <a:t>rd</a:t>
            </a:r>
            <a:r>
              <a:rPr lang="en-US" sz="1200" dirty="0"/>
              <a:t> field (bits 15-11)</a:t>
            </a:r>
          </a:p>
          <a:p>
            <a:pPr>
              <a:buFont typeface="Wingdings" pitchFamily="2" charset="2"/>
              <a:buNone/>
            </a:pPr>
            <a:r>
              <a:rPr lang="en-US" sz="1200" dirty="0" err="1"/>
              <a:t>RegWrite</a:t>
            </a:r>
            <a:r>
              <a:rPr lang="en-US" sz="1200" dirty="0"/>
              <a:t>             </a:t>
            </a:r>
            <a:r>
              <a:rPr lang="en-US" sz="1200" dirty="0" smtClean="0"/>
              <a:t>                             </a:t>
            </a:r>
            <a:r>
              <a:rPr lang="en-US" sz="1200" dirty="0"/>
              <a:t>None                                                                    The register on the Write register input is written </a:t>
            </a:r>
          </a:p>
          <a:p>
            <a:pPr>
              <a:buFont typeface="Wingdings" pitchFamily="2" charset="2"/>
              <a:buNone/>
            </a:pPr>
            <a:r>
              <a:rPr lang="en-US" sz="1200" dirty="0"/>
              <a:t>						      with the value on the Write data input</a:t>
            </a:r>
          </a:p>
          <a:p>
            <a:pPr>
              <a:buFont typeface="Wingdings" pitchFamily="2" charset="2"/>
              <a:buNone/>
            </a:pPr>
            <a:r>
              <a:rPr lang="en-US" sz="1200" dirty="0" err="1"/>
              <a:t>AlLUSrc</a:t>
            </a:r>
            <a:r>
              <a:rPr lang="en-US" sz="1200" dirty="0"/>
              <a:t>                </a:t>
            </a:r>
            <a:r>
              <a:rPr lang="en-US" sz="1200" dirty="0" smtClean="0"/>
              <a:t>                  The </a:t>
            </a:r>
            <a:r>
              <a:rPr lang="en-US" sz="1200" dirty="0"/>
              <a:t>second ALU operand comes from the                 </a:t>
            </a:r>
            <a:r>
              <a:rPr lang="en-US" sz="1200" dirty="0" err="1"/>
              <a:t>The</a:t>
            </a:r>
            <a:r>
              <a:rPr lang="en-US" sz="1200" dirty="0"/>
              <a:t> second ALU operand is the sign-extended, </a:t>
            </a:r>
          </a:p>
          <a:p>
            <a:pPr>
              <a:buFont typeface="Wingdings" pitchFamily="2" charset="2"/>
              <a:buNone/>
            </a:pPr>
            <a:r>
              <a:rPr lang="en-US" sz="1200" dirty="0"/>
              <a:t>                           </a:t>
            </a:r>
            <a:r>
              <a:rPr lang="en-US" sz="1200" dirty="0" smtClean="0"/>
              <a:t>                      second </a:t>
            </a:r>
            <a:r>
              <a:rPr lang="en-US" sz="1200" dirty="0"/>
              <a:t>register file output (Read data 2)                  lower 16 bits of the instruction</a:t>
            </a:r>
          </a:p>
          <a:p>
            <a:pPr>
              <a:buFont typeface="Wingdings" pitchFamily="2" charset="2"/>
              <a:buNone/>
            </a:pPr>
            <a:r>
              <a:rPr lang="en-US" sz="1200" dirty="0" err="1"/>
              <a:t>PCSrc</a:t>
            </a:r>
            <a:r>
              <a:rPr lang="en-US" sz="1200" dirty="0"/>
              <a:t>                  </a:t>
            </a:r>
            <a:r>
              <a:rPr lang="en-US" sz="1200" dirty="0" smtClean="0"/>
              <a:t>                 The </a:t>
            </a:r>
            <a:r>
              <a:rPr lang="en-US" sz="1200" dirty="0"/>
              <a:t>PC is replaced by the output of the adder            The PC is replaced by the output of the adder</a:t>
            </a:r>
          </a:p>
          <a:p>
            <a:pPr>
              <a:buFont typeface="Wingdings" pitchFamily="2" charset="2"/>
              <a:buNone/>
            </a:pPr>
            <a:r>
              <a:rPr lang="en-US" sz="1200" dirty="0"/>
              <a:t>		       </a:t>
            </a:r>
            <a:r>
              <a:rPr lang="en-US" sz="1200" dirty="0" smtClean="0"/>
              <a:t>                that </a:t>
            </a:r>
            <a:r>
              <a:rPr lang="en-US" sz="1200" dirty="0"/>
              <a:t>computes the value of PC + 4                            that computes the branch target</a:t>
            </a:r>
          </a:p>
          <a:p>
            <a:pPr>
              <a:buFont typeface="Wingdings" pitchFamily="2" charset="2"/>
              <a:buNone/>
            </a:pPr>
            <a:r>
              <a:rPr lang="en-US" sz="1200" dirty="0" err="1"/>
              <a:t>MemRead</a:t>
            </a:r>
            <a:r>
              <a:rPr lang="en-US" sz="1200" dirty="0"/>
              <a:t>            </a:t>
            </a:r>
            <a:r>
              <a:rPr lang="en-US" sz="1200" dirty="0" smtClean="0"/>
              <a:t>           None</a:t>
            </a:r>
            <a:r>
              <a:rPr lang="en-US" sz="1200" dirty="0"/>
              <a:t>				       Data memory contents designated by the address</a:t>
            </a:r>
          </a:p>
          <a:p>
            <a:pPr>
              <a:buFont typeface="Wingdings" pitchFamily="2" charset="2"/>
              <a:buNone/>
            </a:pPr>
            <a:r>
              <a:rPr lang="en-US" sz="1200" dirty="0"/>
              <a:t>						       input are put on the first Read data output</a:t>
            </a:r>
          </a:p>
          <a:p>
            <a:pPr>
              <a:buFont typeface="Wingdings" pitchFamily="2" charset="2"/>
              <a:buNone/>
            </a:pPr>
            <a:r>
              <a:rPr lang="en-US" sz="1200" dirty="0" err="1"/>
              <a:t>MemWrite</a:t>
            </a:r>
            <a:r>
              <a:rPr lang="en-US" sz="1200" dirty="0"/>
              <a:t>            </a:t>
            </a:r>
            <a:r>
              <a:rPr lang="en-US" sz="1200" dirty="0" smtClean="0"/>
              <a:t>       None</a:t>
            </a:r>
            <a:r>
              <a:rPr lang="en-US" sz="1200" dirty="0"/>
              <a:t>				       Data memory contents designated by the address</a:t>
            </a:r>
          </a:p>
          <a:p>
            <a:pPr>
              <a:buFont typeface="Wingdings" pitchFamily="2" charset="2"/>
              <a:buNone/>
            </a:pPr>
            <a:r>
              <a:rPr lang="en-US" sz="1200" dirty="0"/>
              <a:t>						       input are replaced by the value of the Write data input</a:t>
            </a:r>
          </a:p>
          <a:p>
            <a:pPr>
              <a:buFont typeface="Wingdings" pitchFamily="2" charset="2"/>
              <a:buNone/>
            </a:pPr>
            <a:r>
              <a:rPr lang="en-US" sz="1200" dirty="0" err="1"/>
              <a:t>MemtoReg</a:t>
            </a:r>
            <a:r>
              <a:rPr lang="en-US" sz="1200" dirty="0"/>
              <a:t>           </a:t>
            </a:r>
            <a:r>
              <a:rPr lang="en-US" sz="1200" dirty="0" smtClean="0"/>
              <a:t>     The </a:t>
            </a:r>
            <a:r>
              <a:rPr lang="en-US" sz="1200" dirty="0"/>
              <a:t>value fed to the register Write data input  	       The value fed to the register Write data input</a:t>
            </a:r>
          </a:p>
          <a:p>
            <a:pPr>
              <a:buFont typeface="Wingdings" pitchFamily="2" charset="2"/>
              <a:buNone/>
            </a:pPr>
            <a:r>
              <a:rPr lang="en-US" sz="1200" dirty="0"/>
              <a:t>                          </a:t>
            </a:r>
            <a:r>
              <a:rPr lang="en-US" sz="1200" dirty="0" smtClean="0"/>
              <a:t>        comes </a:t>
            </a:r>
            <a:r>
              <a:rPr lang="en-US" sz="1200" dirty="0"/>
              <a:t>from the ALU			       comes from the data memory</a:t>
            </a:r>
          </a:p>
          <a:p>
            <a:pPr>
              <a:buFont typeface="Wingdings" pitchFamily="2" charset="2"/>
              <a:buNone/>
            </a:pPr>
            <a:endParaRPr lang="en-US" sz="1200" dirty="0"/>
          </a:p>
          <a:p>
            <a:pPr>
              <a:buFont typeface="Wingdings" pitchFamily="2" charset="2"/>
              <a:buNone/>
            </a:pPr>
            <a:endParaRPr lang="en-US" sz="1200" dirty="0"/>
          </a:p>
        </p:txBody>
      </p:sp>
      <p:sp>
        <p:nvSpPr>
          <p:cNvPr id="589828" name="Line 2052"/>
          <p:cNvSpPr>
            <a:spLocks noChangeShapeType="1"/>
          </p:cNvSpPr>
          <p:nvPr/>
        </p:nvSpPr>
        <p:spPr bwMode="auto">
          <a:xfrm>
            <a:off x="228600" y="2286000"/>
            <a:ext cx="86868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589835" name="Line 2059"/>
          <p:cNvSpPr>
            <a:spLocks noChangeShapeType="1"/>
          </p:cNvSpPr>
          <p:nvPr/>
        </p:nvSpPr>
        <p:spPr bwMode="auto">
          <a:xfrm>
            <a:off x="228600" y="2667000"/>
            <a:ext cx="86868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589836" name="Line 2060"/>
          <p:cNvSpPr>
            <a:spLocks noChangeShapeType="1"/>
          </p:cNvSpPr>
          <p:nvPr/>
        </p:nvSpPr>
        <p:spPr bwMode="auto">
          <a:xfrm>
            <a:off x="228600" y="3124200"/>
            <a:ext cx="86868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589837" name="Line 2061"/>
          <p:cNvSpPr>
            <a:spLocks noChangeShapeType="1"/>
          </p:cNvSpPr>
          <p:nvPr/>
        </p:nvSpPr>
        <p:spPr bwMode="auto">
          <a:xfrm>
            <a:off x="228600" y="3581400"/>
            <a:ext cx="86868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589838" name="Line 2062"/>
          <p:cNvSpPr>
            <a:spLocks noChangeShapeType="1"/>
          </p:cNvSpPr>
          <p:nvPr/>
        </p:nvSpPr>
        <p:spPr bwMode="auto">
          <a:xfrm>
            <a:off x="228600" y="4038600"/>
            <a:ext cx="86868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589839" name="Line 2063"/>
          <p:cNvSpPr>
            <a:spLocks noChangeShapeType="1"/>
          </p:cNvSpPr>
          <p:nvPr/>
        </p:nvSpPr>
        <p:spPr bwMode="auto">
          <a:xfrm>
            <a:off x="228600" y="4495800"/>
            <a:ext cx="86868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589840" name="Line 2064"/>
          <p:cNvSpPr>
            <a:spLocks noChangeShapeType="1"/>
          </p:cNvSpPr>
          <p:nvPr/>
        </p:nvSpPr>
        <p:spPr bwMode="auto">
          <a:xfrm>
            <a:off x="228600" y="1752600"/>
            <a:ext cx="8686800" cy="0"/>
          </a:xfrm>
          <a:prstGeom prst="line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589841" name="Line 2065"/>
          <p:cNvSpPr>
            <a:spLocks noChangeShapeType="1"/>
          </p:cNvSpPr>
          <p:nvPr/>
        </p:nvSpPr>
        <p:spPr bwMode="auto">
          <a:xfrm>
            <a:off x="1371600" y="1295400"/>
            <a:ext cx="0" cy="3657600"/>
          </a:xfrm>
          <a:prstGeom prst="line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589842" name="Line 2066"/>
          <p:cNvSpPr>
            <a:spLocks noChangeShapeType="1"/>
          </p:cNvSpPr>
          <p:nvPr/>
        </p:nvSpPr>
        <p:spPr bwMode="auto">
          <a:xfrm>
            <a:off x="5029200" y="1295400"/>
            <a:ext cx="0" cy="3657600"/>
          </a:xfrm>
          <a:prstGeom prst="line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589843" name="Text Box 2067"/>
          <p:cNvSpPr txBox="1">
            <a:spLocks noChangeArrowheads="1"/>
          </p:cNvSpPr>
          <p:nvPr/>
        </p:nvSpPr>
        <p:spPr bwMode="auto">
          <a:xfrm>
            <a:off x="2798763" y="5084763"/>
            <a:ext cx="375443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600" b="1">
                <a:latin typeface="Tahoma" pitchFamily="34" charset="0"/>
              </a:rPr>
              <a:t>Effects of the seven control signals</a:t>
            </a:r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Mayank Pandey, MNNIT, Allahabad, India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50179405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5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7793038" cy="1143000"/>
          </a:xfrm>
          <a:noFill/>
          <a:ln/>
          <a:extLs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/>
          <a:lstStyle/>
          <a:p>
            <a:r>
              <a:rPr lang="en-US" dirty="0"/>
              <a:t/>
            </a:r>
            <a:br>
              <a:rPr lang="en-US" dirty="0"/>
            </a:br>
            <a:r>
              <a:rPr lang="en-US" dirty="0" err="1" smtClean="0"/>
              <a:t>Datapath</a:t>
            </a:r>
            <a:r>
              <a:rPr lang="en-US" dirty="0" smtClean="0"/>
              <a:t> </a:t>
            </a:r>
            <a:r>
              <a:rPr lang="en-US" dirty="0"/>
              <a:t>with Control II</a:t>
            </a:r>
            <a:br>
              <a:rPr lang="en-US" dirty="0"/>
            </a:br>
            <a:endParaRPr lang="en-US" dirty="0"/>
          </a:p>
        </p:txBody>
      </p:sp>
      <p:sp>
        <p:nvSpPr>
          <p:cNvPr id="4495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800"/>
              <a:t/>
            </a:r>
            <a:br>
              <a:rPr lang="en-US" sz="2800"/>
            </a:br>
            <a:r>
              <a:rPr lang="en-US" sz="2800"/>
              <a:t/>
            </a:r>
            <a:br>
              <a:rPr lang="en-US" sz="2800"/>
            </a:br>
            <a:r>
              <a:rPr lang="en-US" sz="2800"/>
              <a:t/>
            </a:r>
            <a:br>
              <a:rPr lang="en-US" sz="2800"/>
            </a:br>
            <a:r>
              <a:rPr lang="en-US" sz="2800"/>
              <a:t/>
            </a:r>
            <a:br>
              <a:rPr lang="en-US" sz="2800"/>
            </a:br>
            <a:r>
              <a:rPr lang="en-US" sz="2800"/>
              <a:t/>
            </a:r>
            <a:br>
              <a:rPr lang="en-US" sz="2800"/>
            </a:br>
            <a:r>
              <a:rPr lang="en-US" sz="2800"/>
              <a:t/>
            </a:r>
            <a:br>
              <a:rPr lang="en-US" sz="2800"/>
            </a:br>
            <a:r>
              <a:rPr lang="en-US" sz="2800"/>
              <a:t/>
            </a:r>
            <a:br>
              <a:rPr lang="en-US" sz="2800"/>
            </a:br>
            <a:r>
              <a:rPr lang="en-US" sz="2800"/>
              <a:t/>
            </a:r>
            <a:br>
              <a:rPr lang="en-US" sz="2800"/>
            </a:br>
            <a:r>
              <a:rPr lang="en-US" sz="2800"/>
              <a:t/>
            </a:r>
            <a:br>
              <a:rPr lang="en-US" sz="2800"/>
            </a:br>
            <a:r>
              <a:rPr lang="en-US" sz="2800"/>
              <a:t/>
            </a:r>
            <a:br>
              <a:rPr lang="en-US" sz="2800"/>
            </a:br>
            <a:r>
              <a:rPr lang="en-US" sz="2800"/>
              <a:t/>
            </a:r>
            <a:br>
              <a:rPr lang="en-US" sz="2800"/>
            </a:br>
            <a:r>
              <a:rPr lang="en-US" sz="2800"/>
              <a:t/>
            </a:r>
            <a:br>
              <a:rPr lang="en-US" sz="2800"/>
            </a:br>
            <a:r>
              <a:rPr lang="en-US" sz="2800"/>
              <a:t/>
            </a:r>
            <a:br>
              <a:rPr lang="en-US" sz="2800"/>
            </a:br>
            <a:r>
              <a:rPr lang="en-US" sz="2800"/>
              <a:t/>
            </a:r>
            <a:br>
              <a:rPr lang="en-US" sz="2800"/>
            </a:br>
            <a:r>
              <a:rPr lang="en-US" sz="2800"/>
              <a:t/>
            </a:r>
            <a:br>
              <a:rPr lang="en-US" sz="2800"/>
            </a:br>
            <a:r>
              <a:rPr lang="en-US" sz="2800"/>
              <a:t/>
            </a:r>
            <a:br>
              <a:rPr lang="en-US" sz="2800"/>
            </a:br>
            <a:r>
              <a:rPr lang="en-US" sz="2800"/>
              <a:t/>
            </a:r>
            <a:br>
              <a:rPr lang="en-US" sz="2800"/>
            </a:br>
            <a:endParaRPr lang="en-US" sz="2800"/>
          </a:p>
        </p:txBody>
      </p:sp>
      <p:pic>
        <p:nvPicPr>
          <p:cNvPr id="449542" name="Picture 6" descr="F0519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11287"/>
            <a:ext cx="7696200" cy="4303713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9543" name="Text Box 7"/>
          <p:cNvSpPr txBox="1">
            <a:spLocks noChangeArrowheads="1"/>
          </p:cNvSpPr>
          <p:nvPr/>
        </p:nvSpPr>
        <p:spPr bwMode="auto">
          <a:xfrm>
            <a:off x="441325" y="5743575"/>
            <a:ext cx="7940675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600" b="1" dirty="0">
                <a:latin typeface="Tahoma" pitchFamily="34" charset="0"/>
              </a:rPr>
              <a:t>MIPS </a:t>
            </a:r>
            <a:r>
              <a:rPr lang="en-US" sz="1600" b="1" dirty="0" err="1">
                <a:latin typeface="Tahoma" pitchFamily="34" charset="0"/>
              </a:rPr>
              <a:t>datapath</a:t>
            </a:r>
            <a:r>
              <a:rPr lang="en-US" sz="1600" b="1" dirty="0">
                <a:latin typeface="Tahoma" pitchFamily="34" charset="0"/>
              </a:rPr>
              <a:t> with the control unit: input to control is the 6-bit instruction</a:t>
            </a:r>
          </a:p>
          <a:p>
            <a:r>
              <a:rPr lang="en-US" sz="1600" b="1" dirty="0" err="1">
                <a:latin typeface="Tahoma" pitchFamily="34" charset="0"/>
              </a:rPr>
              <a:t>opcode</a:t>
            </a:r>
            <a:r>
              <a:rPr lang="en-US" sz="1600" b="1" dirty="0">
                <a:latin typeface="Tahoma" pitchFamily="34" charset="0"/>
              </a:rPr>
              <a:t> field, output is seven 1-bit signals and the 2-bit </a:t>
            </a:r>
            <a:r>
              <a:rPr lang="en-US" sz="1600" b="1" dirty="0" err="1">
                <a:latin typeface="Tahoma" pitchFamily="34" charset="0"/>
              </a:rPr>
              <a:t>ALUOp</a:t>
            </a:r>
            <a:r>
              <a:rPr lang="en-US" sz="1600" b="1" dirty="0">
                <a:latin typeface="Tahoma" pitchFamily="34" charset="0"/>
              </a:rPr>
              <a:t> signal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Mayank Pandey, MNNIT, Allahabad, India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4082115545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506" name="Rectangle 2050"/>
          <p:cNvSpPr>
            <a:spLocks noGrp="1" noChangeArrowheads="1"/>
          </p:cNvSpPr>
          <p:nvPr>
            <p:ph type="title"/>
          </p:nvPr>
        </p:nvSpPr>
        <p:spPr>
          <a:xfrm>
            <a:off x="0" y="3429000"/>
            <a:ext cx="7793038" cy="1143000"/>
          </a:xfrm>
        </p:spPr>
        <p:txBody>
          <a:bodyPr/>
          <a:lstStyle/>
          <a:p>
            <a:r>
              <a:rPr lang="en-US" sz="3200"/>
              <a:t>Datapath with</a:t>
            </a:r>
            <a:br>
              <a:rPr lang="en-US" sz="3200"/>
            </a:br>
            <a:r>
              <a:rPr lang="en-US" sz="3200"/>
              <a:t>Control II (cont.) </a:t>
            </a:r>
          </a:p>
        </p:txBody>
      </p:sp>
      <p:graphicFrame>
        <p:nvGraphicFramePr>
          <p:cNvPr id="533508" name="Object 2052">
            <a:hlinkClick r:id="" action="ppaction://ole?verb=0"/>
          </p:cNvPr>
          <p:cNvGraphicFramePr>
            <a:graphicFrameLocks noGrp="1"/>
          </p:cNvGraphicFramePr>
          <p:nvPr>
            <p:ph type="body" idx="1"/>
          </p:nvPr>
        </p:nvGraphicFramePr>
        <p:xfrm>
          <a:off x="685800" y="5033963"/>
          <a:ext cx="7772400" cy="1519237"/>
        </p:xfrm>
        <a:graphic>
          <a:graphicData uri="http://schemas.openxmlformats.org/presentationml/2006/ole">
            <p:oleObj spid="_x0000_s1039" name="Worksheet" r:id="rId3" imgW="7454900" imgH="1458913" progId="Excel.Sheet.8">
              <p:embed/>
            </p:oleObj>
          </a:graphicData>
        </a:graphic>
      </p:graphicFrame>
      <p:pic>
        <p:nvPicPr>
          <p:cNvPr id="533509" name="Picture 2053" descr="F0519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28600"/>
            <a:ext cx="7831138" cy="4379913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3510" name="Text Box 2054"/>
          <p:cNvSpPr txBox="1">
            <a:spLocks noChangeArrowheads="1"/>
          </p:cNvSpPr>
          <p:nvPr/>
        </p:nvSpPr>
        <p:spPr bwMode="auto">
          <a:xfrm>
            <a:off x="441325" y="4616450"/>
            <a:ext cx="83581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600" b="1">
                <a:latin typeface="Tahoma" pitchFamily="34" charset="0"/>
              </a:rPr>
              <a:t>Determining control signals for the MIPS datapath based on instruction opcode </a:t>
            </a:r>
          </a:p>
        </p:txBody>
      </p:sp>
      <p:sp>
        <p:nvSpPr>
          <p:cNvPr id="533511" name="Text Box 2055"/>
          <p:cNvSpPr txBox="1">
            <a:spLocks noChangeArrowheads="1"/>
          </p:cNvSpPr>
          <p:nvPr/>
        </p:nvSpPr>
        <p:spPr bwMode="auto">
          <a:xfrm>
            <a:off x="7470775" y="152400"/>
            <a:ext cx="1595438" cy="1004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200">
                <a:latin typeface="Tahoma" pitchFamily="34" charset="0"/>
              </a:rPr>
              <a:t>PCSrc cannot be</a:t>
            </a:r>
          </a:p>
          <a:p>
            <a:r>
              <a:rPr lang="en-US" sz="1200">
                <a:latin typeface="Tahoma" pitchFamily="34" charset="0"/>
              </a:rPr>
              <a:t>set </a:t>
            </a:r>
            <a:r>
              <a:rPr lang="en-US" sz="1200" i="1">
                <a:latin typeface="Tahoma" pitchFamily="34" charset="0"/>
              </a:rPr>
              <a:t>directly</a:t>
            </a:r>
            <a:r>
              <a:rPr lang="en-US" sz="1200">
                <a:latin typeface="Tahoma" pitchFamily="34" charset="0"/>
              </a:rPr>
              <a:t> from the </a:t>
            </a:r>
          </a:p>
          <a:p>
            <a:r>
              <a:rPr lang="en-US" sz="1200">
                <a:latin typeface="Tahoma" pitchFamily="34" charset="0"/>
              </a:rPr>
              <a:t>opcode: zero test </a:t>
            </a:r>
          </a:p>
          <a:p>
            <a:r>
              <a:rPr lang="en-US" sz="1200">
                <a:latin typeface="Tahoma" pitchFamily="34" charset="0"/>
              </a:rPr>
              <a:t>outcome is required</a:t>
            </a:r>
          </a:p>
          <a:p>
            <a:endParaRPr lang="en-US" sz="1200">
              <a:latin typeface="Tahoma" pitchFamily="34" charset="0"/>
            </a:endParaRPr>
          </a:p>
        </p:txBody>
      </p:sp>
      <p:sp>
        <p:nvSpPr>
          <p:cNvPr id="533513" name="Line 2057"/>
          <p:cNvSpPr>
            <a:spLocks noChangeShapeType="1"/>
          </p:cNvSpPr>
          <p:nvPr/>
        </p:nvSpPr>
        <p:spPr bwMode="auto">
          <a:xfrm flipH="1">
            <a:off x="7620000" y="914400"/>
            <a:ext cx="685800" cy="304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arrow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2297964713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378" name="Rectangle 2050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/>
          <a:lstStyle/>
          <a:p>
            <a:r>
              <a:rPr lang="en-US" sz="4000" dirty="0"/>
              <a:t>Control </a:t>
            </a:r>
            <a:r>
              <a:rPr lang="en-US" sz="4000" dirty="0" smtClean="0"/>
              <a:t>Signals: R-Type </a:t>
            </a:r>
            <a:r>
              <a:rPr lang="en-US" sz="4000" dirty="0"/>
              <a:t>Instruction</a:t>
            </a:r>
          </a:p>
        </p:txBody>
      </p:sp>
      <p:sp>
        <p:nvSpPr>
          <p:cNvPr id="613380" name="Rectangle 2052"/>
          <p:cNvSpPr>
            <a:spLocks noChangeArrowheads="1"/>
          </p:cNvSpPr>
          <p:nvPr/>
        </p:nvSpPr>
        <p:spPr bwMode="auto">
          <a:xfrm>
            <a:off x="2947988" y="3898900"/>
            <a:ext cx="76200" cy="16002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3381" name="Rectangle 2053"/>
          <p:cNvSpPr>
            <a:spLocks noChangeArrowheads="1"/>
          </p:cNvSpPr>
          <p:nvPr/>
        </p:nvSpPr>
        <p:spPr bwMode="auto">
          <a:xfrm>
            <a:off x="2971800" y="3898900"/>
            <a:ext cx="304800" cy="762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3382" name="Rectangle 2054"/>
          <p:cNvSpPr>
            <a:spLocks noChangeArrowheads="1"/>
          </p:cNvSpPr>
          <p:nvPr/>
        </p:nvSpPr>
        <p:spPr bwMode="auto">
          <a:xfrm>
            <a:off x="2955925" y="5438775"/>
            <a:ext cx="5257800" cy="762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3383" name="Rectangle 2055"/>
          <p:cNvSpPr>
            <a:spLocks noChangeArrowheads="1"/>
          </p:cNvSpPr>
          <p:nvPr/>
        </p:nvSpPr>
        <p:spPr bwMode="auto">
          <a:xfrm>
            <a:off x="7924800" y="4676775"/>
            <a:ext cx="228600" cy="762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3384" name="Rectangle 2056"/>
          <p:cNvSpPr>
            <a:spLocks noChangeArrowheads="1"/>
          </p:cNvSpPr>
          <p:nvPr/>
        </p:nvSpPr>
        <p:spPr bwMode="auto">
          <a:xfrm>
            <a:off x="8137525" y="4660900"/>
            <a:ext cx="76200" cy="8382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3385" name="Rectangle 2057"/>
          <p:cNvSpPr>
            <a:spLocks noChangeArrowheads="1"/>
          </p:cNvSpPr>
          <p:nvPr/>
        </p:nvSpPr>
        <p:spPr bwMode="auto">
          <a:xfrm>
            <a:off x="7620000" y="4789488"/>
            <a:ext cx="184150" cy="74612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3386" name="Rectangle 2058"/>
          <p:cNvSpPr>
            <a:spLocks noChangeArrowheads="1"/>
          </p:cNvSpPr>
          <p:nvPr/>
        </p:nvSpPr>
        <p:spPr bwMode="auto">
          <a:xfrm>
            <a:off x="7588250" y="4829175"/>
            <a:ext cx="76200" cy="5334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3387" name="Rectangle 2059"/>
          <p:cNvSpPr>
            <a:spLocks noChangeArrowheads="1"/>
          </p:cNvSpPr>
          <p:nvPr/>
        </p:nvSpPr>
        <p:spPr bwMode="auto">
          <a:xfrm>
            <a:off x="6156325" y="5310188"/>
            <a:ext cx="1463675" cy="762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3388" name="Rectangle 2060"/>
          <p:cNvSpPr>
            <a:spLocks noChangeArrowheads="1"/>
          </p:cNvSpPr>
          <p:nvPr/>
        </p:nvSpPr>
        <p:spPr bwMode="auto">
          <a:xfrm>
            <a:off x="6135688" y="3914775"/>
            <a:ext cx="76200" cy="14478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3389" name="Rectangle 2061"/>
          <p:cNvSpPr>
            <a:spLocks noChangeArrowheads="1"/>
          </p:cNvSpPr>
          <p:nvPr/>
        </p:nvSpPr>
        <p:spPr bwMode="auto">
          <a:xfrm>
            <a:off x="5872163" y="3898900"/>
            <a:ext cx="331787" cy="762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3390" name="Rectangle 2062"/>
          <p:cNvSpPr>
            <a:spLocks noChangeArrowheads="1"/>
          </p:cNvSpPr>
          <p:nvPr/>
        </p:nvSpPr>
        <p:spPr bwMode="auto">
          <a:xfrm>
            <a:off x="5218113" y="4227513"/>
            <a:ext cx="228600" cy="74612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3391" name="Rectangle 2063"/>
          <p:cNvSpPr>
            <a:spLocks noChangeArrowheads="1"/>
          </p:cNvSpPr>
          <p:nvPr/>
        </p:nvSpPr>
        <p:spPr bwMode="auto">
          <a:xfrm>
            <a:off x="4595813" y="4075113"/>
            <a:ext cx="457200" cy="74612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3392" name="Rectangle 2064"/>
          <p:cNvSpPr>
            <a:spLocks noChangeArrowheads="1"/>
          </p:cNvSpPr>
          <p:nvPr/>
        </p:nvSpPr>
        <p:spPr bwMode="auto">
          <a:xfrm>
            <a:off x="4587875" y="3594100"/>
            <a:ext cx="838200" cy="762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3393" name="Rectangle 2065"/>
          <p:cNvSpPr>
            <a:spLocks noChangeArrowheads="1"/>
          </p:cNvSpPr>
          <p:nvPr/>
        </p:nvSpPr>
        <p:spPr bwMode="auto">
          <a:xfrm>
            <a:off x="4275138" y="3176588"/>
            <a:ext cx="76200" cy="280987"/>
          </a:xfrm>
          <a:prstGeom prst="rect">
            <a:avLst/>
          </a:prstGeom>
          <a:solidFill>
            <a:srgbClr val="00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3394" name="Rectangle 2066"/>
          <p:cNvSpPr>
            <a:spLocks noChangeArrowheads="1"/>
          </p:cNvSpPr>
          <p:nvPr/>
        </p:nvSpPr>
        <p:spPr bwMode="auto">
          <a:xfrm>
            <a:off x="4435475" y="2795588"/>
            <a:ext cx="76200" cy="280987"/>
          </a:xfrm>
          <a:prstGeom prst="rect">
            <a:avLst/>
          </a:prstGeom>
          <a:solidFill>
            <a:srgbClr val="00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3395" name="Rectangle 2067"/>
          <p:cNvSpPr>
            <a:spLocks noChangeArrowheads="1"/>
          </p:cNvSpPr>
          <p:nvPr/>
        </p:nvSpPr>
        <p:spPr bwMode="auto">
          <a:xfrm>
            <a:off x="3910013" y="2795588"/>
            <a:ext cx="76200" cy="609600"/>
          </a:xfrm>
          <a:prstGeom prst="rect">
            <a:avLst/>
          </a:prstGeom>
          <a:solidFill>
            <a:srgbClr val="00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3396" name="Rectangle 2068"/>
          <p:cNvSpPr>
            <a:spLocks noChangeArrowheads="1"/>
          </p:cNvSpPr>
          <p:nvPr/>
        </p:nvSpPr>
        <p:spPr bwMode="auto">
          <a:xfrm>
            <a:off x="3536950" y="2816225"/>
            <a:ext cx="76200" cy="609600"/>
          </a:xfrm>
          <a:prstGeom prst="rect">
            <a:avLst/>
          </a:prstGeom>
          <a:solidFill>
            <a:srgbClr val="00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3397" name="Rectangle 2069"/>
          <p:cNvSpPr>
            <a:spLocks noChangeArrowheads="1"/>
          </p:cNvSpPr>
          <p:nvPr/>
        </p:nvSpPr>
        <p:spPr bwMode="auto">
          <a:xfrm>
            <a:off x="2301875" y="2787650"/>
            <a:ext cx="2209800" cy="76200"/>
          </a:xfrm>
          <a:prstGeom prst="rect">
            <a:avLst/>
          </a:prstGeom>
          <a:solidFill>
            <a:srgbClr val="00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3398" name="Rectangle 2070"/>
          <p:cNvSpPr>
            <a:spLocks noChangeArrowheads="1"/>
          </p:cNvSpPr>
          <p:nvPr/>
        </p:nvSpPr>
        <p:spPr bwMode="auto">
          <a:xfrm>
            <a:off x="2133600" y="2001838"/>
            <a:ext cx="3392488" cy="76200"/>
          </a:xfrm>
          <a:prstGeom prst="rect">
            <a:avLst/>
          </a:prstGeom>
          <a:solidFill>
            <a:srgbClr val="00FF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3399" name="Rectangle 2071"/>
          <p:cNvSpPr>
            <a:spLocks noChangeArrowheads="1"/>
          </p:cNvSpPr>
          <p:nvPr/>
        </p:nvSpPr>
        <p:spPr bwMode="auto">
          <a:xfrm>
            <a:off x="6400800" y="2001838"/>
            <a:ext cx="280988" cy="84137"/>
          </a:xfrm>
          <a:prstGeom prst="rect">
            <a:avLst/>
          </a:prstGeom>
          <a:solidFill>
            <a:srgbClr val="00FF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3400" name="Rectangle 2072"/>
          <p:cNvSpPr>
            <a:spLocks noChangeArrowheads="1"/>
          </p:cNvSpPr>
          <p:nvPr/>
        </p:nvSpPr>
        <p:spPr bwMode="auto">
          <a:xfrm>
            <a:off x="6400800" y="1704975"/>
            <a:ext cx="90488" cy="304800"/>
          </a:xfrm>
          <a:prstGeom prst="rect">
            <a:avLst/>
          </a:prstGeom>
          <a:solidFill>
            <a:srgbClr val="00FF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3401" name="Rectangle 2073"/>
          <p:cNvSpPr>
            <a:spLocks noChangeArrowheads="1"/>
          </p:cNvSpPr>
          <p:nvPr/>
        </p:nvSpPr>
        <p:spPr bwMode="auto">
          <a:xfrm>
            <a:off x="5486400" y="1704975"/>
            <a:ext cx="990600" cy="76200"/>
          </a:xfrm>
          <a:prstGeom prst="rect">
            <a:avLst/>
          </a:prstGeom>
          <a:solidFill>
            <a:srgbClr val="00FF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3402" name="Rectangle 2074"/>
          <p:cNvSpPr>
            <a:spLocks noChangeArrowheads="1"/>
          </p:cNvSpPr>
          <p:nvPr/>
        </p:nvSpPr>
        <p:spPr bwMode="auto">
          <a:xfrm>
            <a:off x="5449888" y="1704975"/>
            <a:ext cx="90487" cy="304800"/>
          </a:xfrm>
          <a:prstGeom prst="rect">
            <a:avLst/>
          </a:prstGeom>
          <a:solidFill>
            <a:srgbClr val="00FF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3403" name="Rectangle 2075"/>
          <p:cNvSpPr>
            <a:spLocks noChangeArrowheads="1"/>
          </p:cNvSpPr>
          <p:nvPr/>
        </p:nvSpPr>
        <p:spPr bwMode="auto">
          <a:xfrm>
            <a:off x="6765925" y="2122488"/>
            <a:ext cx="228600" cy="76200"/>
          </a:xfrm>
          <a:prstGeom prst="rect">
            <a:avLst/>
          </a:prstGeom>
          <a:solidFill>
            <a:srgbClr val="00FF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3404" name="Rectangle 2076"/>
          <p:cNvSpPr>
            <a:spLocks noChangeArrowheads="1"/>
          </p:cNvSpPr>
          <p:nvPr/>
        </p:nvSpPr>
        <p:spPr bwMode="auto">
          <a:xfrm>
            <a:off x="6918325" y="1400175"/>
            <a:ext cx="76200" cy="762000"/>
          </a:xfrm>
          <a:prstGeom prst="rect">
            <a:avLst/>
          </a:prstGeom>
          <a:solidFill>
            <a:srgbClr val="00FF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3405" name="Rectangle 2077"/>
          <p:cNvSpPr>
            <a:spLocks noChangeArrowheads="1"/>
          </p:cNvSpPr>
          <p:nvPr/>
        </p:nvSpPr>
        <p:spPr bwMode="auto">
          <a:xfrm>
            <a:off x="288925" y="1371600"/>
            <a:ext cx="6705600" cy="76200"/>
          </a:xfrm>
          <a:prstGeom prst="rect">
            <a:avLst/>
          </a:prstGeom>
          <a:solidFill>
            <a:srgbClr val="00FF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3406" name="Rectangle 2078"/>
          <p:cNvSpPr>
            <a:spLocks noChangeArrowheads="1"/>
          </p:cNvSpPr>
          <p:nvPr/>
        </p:nvSpPr>
        <p:spPr bwMode="auto">
          <a:xfrm>
            <a:off x="276225" y="1400175"/>
            <a:ext cx="76200" cy="1447800"/>
          </a:xfrm>
          <a:prstGeom prst="rect">
            <a:avLst/>
          </a:prstGeom>
          <a:solidFill>
            <a:srgbClr val="00FF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endParaRPr lang="en-US" sz="1800" b="1">
              <a:latin typeface="Helvetica" pitchFamily="34" charset="0"/>
            </a:endParaRPr>
          </a:p>
        </p:txBody>
      </p:sp>
      <p:sp>
        <p:nvSpPr>
          <p:cNvPr id="613407" name="Rectangle 2079"/>
          <p:cNvSpPr>
            <a:spLocks noChangeArrowheads="1"/>
          </p:cNvSpPr>
          <p:nvPr/>
        </p:nvSpPr>
        <p:spPr bwMode="auto">
          <a:xfrm>
            <a:off x="304800" y="2776538"/>
            <a:ext cx="228600" cy="76200"/>
          </a:xfrm>
          <a:prstGeom prst="rect">
            <a:avLst/>
          </a:prstGeom>
          <a:solidFill>
            <a:srgbClr val="00FF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3408" name="Rectangle 2080"/>
          <p:cNvSpPr>
            <a:spLocks noChangeArrowheads="1"/>
          </p:cNvSpPr>
          <p:nvPr/>
        </p:nvSpPr>
        <p:spPr bwMode="auto">
          <a:xfrm>
            <a:off x="806450" y="2787650"/>
            <a:ext cx="457200" cy="76200"/>
          </a:xfrm>
          <a:prstGeom prst="rect">
            <a:avLst/>
          </a:prstGeom>
          <a:solidFill>
            <a:srgbClr val="00FF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3409" name="Rectangle 2081"/>
          <p:cNvSpPr>
            <a:spLocks noChangeArrowheads="1"/>
          </p:cNvSpPr>
          <p:nvPr/>
        </p:nvSpPr>
        <p:spPr bwMode="auto">
          <a:xfrm>
            <a:off x="1371600" y="2222500"/>
            <a:ext cx="381000" cy="76200"/>
          </a:xfrm>
          <a:prstGeom prst="rect">
            <a:avLst/>
          </a:prstGeom>
          <a:solidFill>
            <a:srgbClr val="00FF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3410" name="Rectangle 2082"/>
          <p:cNvSpPr>
            <a:spLocks noChangeArrowheads="1"/>
          </p:cNvSpPr>
          <p:nvPr/>
        </p:nvSpPr>
        <p:spPr bwMode="auto">
          <a:xfrm>
            <a:off x="990600" y="1704975"/>
            <a:ext cx="762000" cy="76200"/>
          </a:xfrm>
          <a:prstGeom prst="rect">
            <a:avLst/>
          </a:prstGeom>
          <a:solidFill>
            <a:srgbClr val="00FF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3411" name="Rectangle 2083"/>
          <p:cNvSpPr>
            <a:spLocks noChangeArrowheads="1"/>
          </p:cNvSpPr>
          <p:nvPr/>
        </p:nvSpPr>
        <p:spPr bwMode="auto">
          <a:xfrm>
            <a:off x="982663" y="1704975"/>
            <a:ext cx="76200" cy="1143000"/>
          </a:xfrm>
          <a:prstGeom prst="rect">
            <a:avLst/>
          </a:prstGeom>
          <a:solidFill>
            <a:srgbClr val="00FF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endParaRPr lang="en-US" sz="1800" b="1">
              <a:latin typeface="Helvetica" pitchFamily="34" charset="0"/>
            </a:endParaRPr>
          </a:p>
        </p:txBody>
      </p:sp>
      <p:sp>
        <p:nvSpPr>
          <p:cNvPr id="613413" name="Text Box 2085"/>
          <p:cNvSpPr txBox="1">
            <a:spLocks noChangeArrowheads="1"/>
          </p:cNvSpPr>
          <p:nvPr/>
        </p:nvSpPr>
        <p:spPr bwMode="auto">
          <a:xfrm>
            <a:off x="838200" y="4905375"/>
            <a:ext cx="1473200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1400" b="1">
                <a:solidFill>
                  <a:srgbClr val="000099"/>
                </a:solidFill>
                <a:latin typeface="Helvetica" pitchFamily="34" charset="0"/>
              </a:rPr>
              <a:t>Control signals</a:t>
            </a:r>
          </a:p>
          <a:p>
            <a:pPr eaLnBrk="0" hangingPunct="0"/>
            <a:r>
              <a:rPr lang="en-US" sz="1400" b="1">
                <a:solidFill>
                  <a:srgbClr val="000099"/>
                </a:solidFill>
                <a:latin typeface="Helvetica" pitchFamily="34" charset="0"/>
              </a:rPr>
              <a:t>shown in blue</a:t>
            </a:r>
          </a:p>
        </p:txBody>
      </p:sp>
      <p:sp>
        <p:nvSpPr>
          <p:cNvPr id="613414" name="Text Box 2086"/>
          <p:cNvSpPr txBox="1">
            <a:spLocks noChangeArrowheads="1"/>
          </p:cNvSpPr>
          <p:nvPr/>
        </p:nvSpPr>
        <p:spPr bwMode="auto">
          <a:xfrm>
            <a:off x="4924425" y="3122613"/>
            <a:ext cx="2571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1</a:t>
            </a:r>
          </a:p>
        </p:txBody>
      </p:sp>
      <p:sp>
        <p:nvSpPr>
          <p:cNvPr id="613415" name="Text Box 2087"/>
          <p:cNvSpPr txBox="1">
            <a:spLocks noChangeArrowheads="1"/>
          </p:cNvSpPr>
          <p:nvPr/>
        </p:nvSpPr>
        <p:spPr bwMode="auto">
          <a:xfrm>
            <a:off x="6600825" y="2589213"/>
            <a:ext cx="2571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0</a:t>
            </a:r>
          </a:p>
        </p:txBody>
      </p:sp>
      <p:sp>
        <p:nvSpPr>
          <p:cNvPr id="613416" name="Text Box 2088"/>
          <p:cNvSpPr txBox="1">
            <a:spLocks noChangeArrowheads="1"/>
          </p:cNvSpPr>
          <p:nvPr/>
        </p:nvSpPr>
        <p:spPr bwMode="auto">
          <a:xfrm>
            <a:off x="5029200" y="4772025"/>
            <a:ext cx="2571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0</a:t>
            </a:r>
          </a:p>
        </p:txBody>
      </p:sp>
      <p:sp>
        <p:nvSpPr>
          <p:cNvPr id="613417" name="Text Box 2089"/>
          <p:cNvSpPr txBox="1">
            <a:spLocks noChangeArrowheads="1"/>
          </p:cNvSpPr>
          <p:nvPr/>
        </p:nvSpPr>
        <p:spPr bwMode="auto">
          <a:xfrm>
            <a:off x="7740650" y="3884613"/>
            <a:ext cx="2571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0</a:t>
            </a:r>
          </a:p>
        </p:txBody>
      </p:sp>
      <p:sp>
        <p:nvSpPr>
          <p:cNvPr id="613418" name="Text Box 2090"/>
          <p:cNvSpPr txBox="1">
            <a:spLocks noChangeArrowheads="1"/>
          </p:cNvSpPr>
          <p:nvPr/>
        </p:nvSpPr>
        <p:spPr bwMode="auto">
          <a:xfrm>
            <a:off x="3633788" y="4570413"/>
            <a:ext cx="2571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1</a:t>
            </a:r>
          </a:p>
        </p:txBody>
      </p:sp>
      <p:grpSp>
        <p:nvGrpSpPr>
          <p:cNvPr id="613419" name="Group 2091"/>
          <p:cNvGrpSpPr>
            <a:grpSpLocks/>
          </p:cNvGrpSpPr>
          <p:nvPr/>
        </p:nvGrpSpPr>
        <p:grpSpPr bwMode="auto">
          <a:xfrm>
            <a:off x="5326063" y="2825750"/>
            <a:ext cx="1912937" cy="427038"/>
            <a:chOff x="3451" y="2050"/>
            <a:chExt cx="1205" cy="269"/>
          </a:xfrm>
        </p:grpSpPr>
        <p:sp>
          <p:nvSpPr>
            <p:cNvPr id="613420" name="Text Box 2092"/>
            <p:cNvSpPr txBox="1">
              <a:spLocks noChangeArrowheads="1"/>
            </p:cNvSpPr>
            <p:nvPr/>
          </p:nvSpPr>
          <p:spPr bwMode="auto">
            <a:xfrm>
              <a:off x="3451" y="2102"/>
              <a:ext cx="384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=""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hangingPunct="0"/>
              <a:r>
                <a:rPr lang="en-US" sz="1400" b="1">
                  <a:solidFill>
                    <a:srgbClr val="FF0000"/>
                  </a:solidFill>
                  <a:latin typeface="Helvetica" pitchFamily="34" charset="0"/>
                </a:rPr>
                <a:t>???</a:t>
              </a:r>
              <a:endParaRPr lang="en-US" sz="1800" b="1">
                <a:solidFill>
                  <a:srgbClr val="FF0000"/>
                </a:solidFill>
                <a:latin typeface="Helvetica" pitchFamily="34" charset="0"/>
              </a:endParaRPr>
            </a:p>
          </p:txBody>
        </p:sp>
        <p:sp>
          <p:nvSpPr>
            <p:cNvPr id="613421" name="Line 2093"/>
            <p:cNvSpPr>
              <a:spLocks noChangeShapeType="1"/>
            </p:cNvSpPr>
            <p:nvPr/>
          </p:nvSpPr>
          <p:spPr bwMode="auto">
            <a:xfrm>
              <a:off x="3776" y="2184"/>
              <a:ext cx="336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13422" name="Text Box 2094"/>
            <p:cNvSpPr txBox="1">
              <a:spLocks noChangeArrowheads="1"/>
            </p:cNvSpPr>
            <p:nvPr/>
          </p:nvSpPr>
          <p:spPr bwMode="auto">
            <a:xfrm>
              <a:off x="3840" y="2050"/>
              <a:ext cx="816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=""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hangingPunct="0"/>
              <a:r>
                <a:rPr lang="en-US" sz="1000" b="1">
                  <a:solidFill>
                    <a:srgbClr val="FF0000"/>
                  </a:solidFill>
                  <a:latin typeface="Helvetica" pitchFamily="34" charset="0"/>
                </a:rPr>
                <a:t>Value depends on </a:t>
              </a:r>
              <a:r>
                <a:rPr lang="en-US" sz="1200" b="1">
                  <a:solidFill>
                    <a:srgbClr val="FF0000"/>
                  </a:solidFill>
                  <a:latin typeface="Courier" pitchFamily="49" charset="0"/>
                </a:rPr>
                <a:t>funct</a:t>
              </a:r>
              <a:endParaRPr lang="en-US" sz="1200" b="1">
                <a:solidFill>
                  <a:srgbClr val="FF0000"/>
                </a:solidFill>
                <a:latin typeface="Helvetica" pitchFamily="34" charset="0"/>
              </a:endParaRPr>
            </a:p>
          </p:txBody>
        </p:sp>
      </p:grpSp>
      <p:sp>
        <p:nvSpPr>
          <p:cNvPr id="613423" name="Text Box 2095"/>
          <p:cNvSpPr txBox="1">
            <a:spLocks noChangeArrowheads="1"/>
          </p:cNvSpPr>
          <p:nvPr/>
        </p:nvSpPr>
        <p:spPr bwMode="auto">
          <a:xfrm>
            <a:off x="6880225" y="3548063"/>
            <a:ext cx="2571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0</a:t>
            </a:r>
          </a:p>
        </p:txBody>
      </p:sp>
      <p:sp>
        <p:nvSpPr>
          <p:cNvPr id="613424" name="Text Box 2096"/>
          <p:cNvSpPr txBox="1">
            <a:spLocks noChangeArrowheads="1"/>
          </p:cNvSpPr>
          <p:nvPr/>
        </p:nvSpPr>
        <p:spPr bwMode="auto">
          <a:xfrm>
            <a:off x="7010400" y="5027613"/>
            <a:ext cx="2571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0</a:t>
            </a:r>
          </a:p>
        </p:txBody>
      </p:sp>
      <p:pic>
        <p:nvPicPr>
          <p:cNvPr id="613425" name="Picture 2097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395413"/>
            <a:ext cx="8077200" cy="4122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Mayank Pandey, MNNIT, Allahabad, India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825773848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34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34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34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134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134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134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134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134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134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134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134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134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134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134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4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134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134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3414" grpId="0" autoUpdateAnimBg="0"/>
      <p:bldP spid="613415" grpId="0" build="p" autoUpdateAnimBg="0"/>
      <p:bldP spid="613416" grpId="0" autoUpdateAnimBg="0"/>
      <p:bldP spid="613417" grpId="0" autoUpdateAnimBg="0"/>
      <p:bldP spid="613418" grpId="0" autoUpdateAnimBg="0"/>
      <p:bldP spid="613423" grpId="0" autoUpdateAnimBg="0"/>
      <p:bldP spid="613424" grpId="0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450" name="Picture 107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395413"/>
            <a:ext cx="8077200" cy="4122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14402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</a:t>
            </a:r>
            <a:r>
              <a:rPr lang="en-US" dirty="0" smtClean="0"/>
              <a:t>Signals: </a:t>
            </a:r>
            <a:r>
              <a:rPr lang="en-US" dirty="0" err="1" smtClean="0">
                <a:latin typeface="Courier New" pitchFamily="49" charset="0"/>
              </a:rPr>
              <a:t>lw</a:t>
            </a:r>
            <a:r>
              <a:rPr lang="en-US" dirty="0" smtClean="0"/>
              <a:t> </a:t>
            </a:r>
            <a:r>
              <a:rPr lang="en-US" dirty="0"/>
              <a:t>Instruction</a:t>
            </a:r>
          </a:p>
        </p:txBody>
      </p:sp>
      <p:sp>
        <p:nvSpPr>
          <p:cNvPr id="614404" name="Text Box 1028"/>
          <p:cNvSpPr txBox="1">
            <a:spLocks noChangeArrowheads="1"/>
          </p:cNvSpPr>
          <p:nvPr/>
        </p:nvSpPr>
        <p:spPr bwMode="auto">
          <a:xfrm>
            <a:off x="6829425" y="2589213"/>
            <a:ext cx="2571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0</a:t>
            </a:r>
          </a:p>
        </p:txBody>
      </p:sp>
      <p:sp>
        <p:nvSpPr>
          <p:cNvPr id="614405" name="Rectangle 1029"/>
          <p:cNvSpPr>
            <a:spLocks noChangeArrowheads="1"/>
          </p:cNvSpPr>
          <p:nvPr/>
        </p:nvSpPr>
        <p:spPr bwMode="auto">
          <a:xfrm>
            <a:off x="7696200" y="4525963"/>
            <a:ext cx="336550" cy="74612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4406" name="Rectangle 1030"/>
          <p:cNvSpPr>
            <a:spLocks noChangeArrowheads="1"/>
          </p:cNvSpPr>
          <p:nvPr/>
        </p:nvSpPr>
        <p:spPr bwMode="auto">
          <a:xfrm>
            <a:off x="8153400" y="4676775"/>
            <a:ext cx="228600" cy="762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4407" name="Rectangle 1031"/>
          <p:cNvSpPr>
            <a:spLocks noChangeArrowheads="1"/>
          </p:cNvSpPr>
          <p:nvPr/>
        </p:nvSpPr>
        <p:spPr bwMode="auto">
          <a:xfrm>
            <a:off x="8366125" y="4660900"/>
            <a:ext cx="76200" cy="8382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4408" name="Rectangle 1032"/>
          <p:cNvSpPr>
            <a:spLocks noChangeArrowheads="1"/>
          </p:cNvSpPr>
          <p:nvPr/>
        </p:nvSpPr>
        <p:spPr bwMode="auto">
          <a:xfrm>
            <a:off x="3184525" y="5464175"/>
            <a:ext cx="5257800" cy="762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4409" name="Rectangle 1033"/>
          <p:cNvSpPr>
            <a:spLocks noChangeArrowheads="1"/>
          </p:cNvSpPr>
          <p:nvPr/>
        </p:nvSpPr>
        <p:spPr bwMode="auto">
          <a:xfrm>
            <a:off x="6364288" y="3914775"/>
            <a:ext cx="74612" cy="381000"/>
          </a:xfrm>
          <a:prstGeom prst="rect">
            <a:avLst/>
          </a:prstGeom>
          <a:solidFill>
            <a:srgbClr val="FF505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4410" name="Rectangle 1034"/>
          <p:cNvSpPr>
            <a:spLocks noChangeArrowheads="1"/>
          </p:cNvSpPr>
          <p:nvPr/>
        </p:nvSpPr>
        <p:spPr bwMode="auto">
          <a:xfrm>
            <a:off x="6100763" y="3898900"/>
            <a:ext cx="331787" cy="76200"/>
          </a:xfrm>
          <a:prstGeom prst="rect">
            <a:avLst/>
          </a:prstGeom>
          <a:solidFill>
            <a:srgbClr val="FF505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4411" name="Rectangle 1035"/>
          <p:cNvSpPr>
            <a:spLocks noChangeArrowheads="1"/>
          </p:cNvSpPr>
          <p:nvPr/>
        </p:nvSpPr>
        <p:spPr bwMode="auto">
          <a:xfrm>
            <a:off x="6362700" y="4232275"/>
            <a:ext cx="304800" cy="76200"/>
          </a:xfrm>
          <a:prstGeom prst="rect">
            <a:avLst/>
          </a:prstGeom>
          <a:solidFill>
            <a:srgbClr val="FF505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4412" name="Rectangle 1036"/>
          <p:cNvSpPr>
            <a:spLocks noChangeArrowheads="1"/>
          </p:cNvSpPr>
          <p:nvPr/>
        </p:nvSpPr>
        <p:spPr bwMode="auto">
          <a:xfrm>
            <a:off x="3176588" y="3898900"/>
            <a:ext cx="76200" cy="16002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4413" name="Rectangle 1037"/>
          <p:cNvSpPr>
            <a:spLocks noChangeArrowheads="1"/>
          </p:cNvSpPr>
          <p:nvPr/>
        </p:nvSpPr>
        <p:spPr bwMode="auto">
          <a:xfrm>
            <a:off x="3200400" y="3898900"/>
            <a:ext cx="304800" cy="762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4414" name="Rectangle 1038"/>
          <p:cNvSpPr>
            <a:spLocks noChangeArrowheads="1"/>
          </p:cNvSpPr>
          <p:nvPr/>
        </p:nvSpPr>
        <p:spPr bwMode="auto">
          <a:xfrm>
            <a:off x="4816475" y="3594100"/>
            <a:ext cx="838200" cy="762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4415" name="Rectangle 1039"/>
          <p:cNvSpPr>
            <a:spLocks noChangeArrowheads="1"/>
          </p:cNvSpPr>
          <p:nvPr/>
        </p:nvSpPr>
        <p:spPr bwMode="auto">
          <a:xfrm>
            <a:off x="5446713" y="4227513"/>
            <a:ext cx="228600" cy="74612"/>
          </a:xfrm>
          <a:prstGeom prst="rect">
            <a:avLst/>
          </a:prstGeom>
          <a:solidFill>
            <a:srgbClr val="00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4416" name="Rectangle 1040"/>
          <p:cNvSpPr>
            <a:spLocks noChangeArrowheads="1"/>
          </p:cNvSpPr>
          <p:nvPr/>
        </p:nvSpPr>
        <p:spPr bwMode="auto">
          <a:xfrm>
            <a:off x="4908550" y="4371975"/>
            <a:ext cx="381000" cy="76200"/>
          </a:xfrm>
          <a:prstGeom prst="rect">
            <a:avLst/>
          </a:prstGeom>
          <a:solidFill>
            <a:srgbClr val="00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4417" name="Rectangle 1041"/>
          <p:cNvSpPr>
            <a:spLocks noChangeArrowheads="1"/>
          </p:cNvSpPr>
          <p:nvPr/>
        </p:nvSpPr>
        <p:spPr bwMode="auto">
          <a:xfrm>
            <a:off x="4914900" y="4416425"/>
            <a:ext cx="76200" cy="457200"/>
          </a:xfrm>
          <a:prstGeom prst="rect">
            <a:avLst/>
          </a:prstGeom>
          <a:solidFill>
            <a:srgbClr val="00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4418" name="Rectangle 1042"/>
          <p:cNvSpPr>
            <a:spLocks noChangeArrowheads="1"/>
          </p:cNvSpPr>
          <p:nvPr/>
        </p:nvSpPr>
        <p:spPr bwMode="auto">
          <a:xfrm>
            <a:off x="4686300" y="4822825"/>
            <a:ext cx="304800" cy="76200"/>
          </a:xfrm>
          <a:prstGeom prst="rect">
            <a:avLst/>
          </a:prstGeom>
          <a:solidFill>
            <a:srgbClr val="00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4419" name="Rectangle 1043"/>
          <p:cNvSpPr>
            <a:spLocks noChangeArrowheads="1"/>
          </p:cNvSpPr>
          <p:nvPr/>
        </p:nvSpPr>
        <p:spPr bwMode="auto">
          <a:xfrm>
            <a:off x="2914650" y="4822825"/>
            <a:ext cx="1524000" cy="76200"/>
          </a:xfrm>
          <a:prstGeom prst="rect">
            <a:avLst/>
          </a:prstGeom>
          <a:solidFill>
            <a:srgbClr val="00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4420" name="Rectangle 1044"/>
          <p:cNvSpPr>
            <a:spLocks noChangeArrowheads="1"/>
          </p:cNvSpPr>
          <p:nvPr/>
        </p:nvSpPr>
        <p:spPr bwMode="auto">
          <a:xfrm>
            <a:off x="2908300" y="2828925"/>
            <a:ext cx="76200" cy="2057400"/>
          </a:xfrm>
          <a:prstGeom prst="rect">
            <a:avLst/>
          </a:prstGeom>
          <a:solidFill>
            <a:srgbClr val="00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4421" name="Rectangle 1045"/>
          <p:cNvSpPr>
            <a:spLocks noChangeArrowheads="1"/>
          </p:cNvSpPr>
          <p:nvPr/>
        </p:nvSpPr>
        <p:spPr bwMode="auto">
          <a:xfrm>
            <a:off x="4133850" y="2867025"/>
            <a:ext cx="304800" cy="76200"/>
          </a:xfrm>
          <a:prstGeom prst="rect">
            <a:avLst/>
          </a:prstGeom>
          <a:solidFill>
            <a:srgbClr val="00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4422" name="Rectangle 1046"/>
          <p:cNvSpPr>
            <a:spLocks noChangeArrowheads="1"/>
          </p:cNvSpPr>
          <p:nvPr/>
        </p:nvSpPr>
        <p:spPr bwMode="auto">
          <a:xfrm>
            <a:off x="4362450" y="2898775"/>
            <a:ext cx="76200" cy="152400"/>
          </a:xfrm>
          <a:prstGeom prst="rect">
            <a:avLst/>
          </a:prstGeom>
          <a:solidFill>
            <a:srgbClr val="00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4423" name="Rectangle 1047"/>
          <p:cNvSpPr>
            <a:spLocks noChangeArrowheads="1"/>
          </p:cNvSpPr>
          <p:nvPr/>
        </p:nvSpPr>
        <p:spPr bwMode="auto">
          <a:xfrm>
            <a:off x="4503738" y="3176588"/>
            <a:ext cx="76200" cy="280987"/>
          </a:xfrm>
          <a:prstGeom prst="rect">
            <a:avLst/>
          </a:prstGeom>
          <a:solidFill>
            <a:srgbClr val="00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4424" name="Rectangle 1048"/>
          <p:cNvSpPr>
            <a:spLocks noChangeArrowheads="1"/>
          </p:cNvSpPr>
          <p:nvPr/>
        </p:nvSpPr>
        <p:spPr bwMode="auto">
          <a:xfrm>
            <a:off x="4138613" y="2795588"/>
            <a:ext cx="74612" cy="128587"/>
          </a:xfrm>
          <a:prstGeom prst="rect">
            <a:avLst/>
          </a:prstGeom>
          <a:solidFill>
            <a:srgbClr val="00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4425" name="Rectangle 1049"/>
          <p:cNvSpPr>
            <a:spLocks noChangeArrowheads="1"/>
          </p:cNvSpPr>
          <p:nvPr/>
        </p:nvSpPr>
        <p:spPr bwMode="auto">
          <a:xfrm>
            <a:off x="3765550" y="2816225"/>
            <a:ext cx="76200" cy="609600"/>
          </a:xfrm>
          <a:prstGeom prst="rect">
            <a:avLst/>
          </a:prstGeom>
          <a:solidFill>
            <a:srgbClr val="00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4426" name="Rectangle 1050"/>
          <p:cNvSpPr>
            <a:spLocks noChangeArrowheads="1"/>
          </p:cNvSpPr>
          <p:nvPr/>
        </p:nvSpPr>
        <p:spPr bwMode="auto">
          <a:xfrm>
            <a:off x="2530475" y="2787650"/>
            <a:ext cx="1660525" cy="74613"/>
          </a:xfrm>
          <a:prstGeom prst="rect">
            <a:avLst/>
          </a:prstGeom>
          <a:solidFill>
            <a:srgbClr val="00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4427" name="Rectangle 1051"/>
          <p:cNvSpPr>
            <a:spLocks noChangeArrowheads="1"/>
          </p:cNvSpPr>
          <p:nvPr/>
        </p:nvSpPr>
        <p:spPr bwMode="auto">
          <a:xfrm>
            <a:off x="2362200" y="2001838"/>
            <a:ext cx="3392488" cy="76200"/>
          </a:xfrm>
          <a:prstGeom prst="rect">
            <a:avLst/>
          </a:prstGeom>
          <a:solidFill>
            <a:srgbClr val="00FF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4428" name="Rectangle 1052"/>
          <p:cNvSpPr>
            <a:spLocks noChangeArrowheads="1"/>
          </p:cNvSpPr>
          <p:nvPr/>
        </p:nvSpPr>
        <p:spPr bwMode="auto">
          <a:xfrm>
            <a:off x="6629400" y="2001838"/>
            <a:ext cx="280988" cy="84137"/>
          </a:xfrm>
          <a:prstGeom prst="rect">
            <a:avLst/>
          </a:prstGeom>
          <a:solidFill>
            <a:srgbClr val="00FF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4429" name="Rectangle 1053"/>
          <p:cNvSpPr>
            <a:spLocks noChangeArrowheads="1"/>
          </p:cNvSpPr>
          <p:nvPr/>
        </p:nvSpPr>
        <p:spPr bwMode="auto">
          <a:xfrm>
            <a:off x="6629400" y="1704975"/>
            <a:ext cx="90488" cy="304800"/>
          </a:xfrm>
          <a:prstGeom prst="rect">
            <a:avLst/>
          </a:prstGeom>
          <a:solidFill>
            <a:srgbClr val="00FF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4430" name="Rectangle 1054"/>
          <p:cNvSpPr>
            <a:spLocks noChangeArrowheads="1"/>
          </p:cNvSpPr>
          <p:nvPr/>
        </p:nvSpPr>
        <p:spPr bwMode="auto">
          <a:xfrm>
            <a:off x="5715000" y="1704975"/>
            <a:ext cx="990600" cy="76200"/>
          </a:xfrm>
          <a:prstGeom prst="rect">
            <a:avLst/>
          </a:prstGeom>
          <a:solidFill>
            <a:srgbClr val="00FF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4431" name="Rectangle 1055"/>
          <p:cNvSpPr>
            <a:spLocks noChangeArrowheads="1"/>
          </p:cNvSpPr>
          <p:nvPr/>
        </p:nvSpPr>
        <p:spPr bwMode="auto">
          <a:xfrm>
            <a:off x="5678488" y="1704975"/>
            <a:ext cx="90487" cy="304800"/>
          </a:xfrm>
          <a:prstGeom prst="rect">
            <a:avLst/>
          </a:prstGeom>
          <a:solidFill>
            <a:srgbClr val="00FF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4432" name="Rectangle 1056"/>
          <p:cNvSpPr>
            <a:spLocks noChangeArrowheads="1"/>
          </p:cNvSpPr>
          <p:nvPr/>
        </p:nvSpPr>
        <p:spPr bwMode="auto">
          <a:xfrm>
            <a:off x="6994525" y="2122488"/>
            <a:ext cx="228600" cy="76200"/>
          </a:xfrm>
          <a:prstGeom prst="rect">
            <a:avLst/>
          </a:prstGeom>
          <a:solidFill>
            <a:srgbClr val="00FF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4433" name="Rectangle 1057"/>
          <p:cNvSpPr>
            <a:spLocks noChangeArrowheads="1"/>
          </p:cNvSpPr>
          <p:nvPr/>
        </p:nvSpPr>
        <p:spPr bwMode="auto">
          <a:xfrm>
            <a:off x="7146925" y="1400175"/>
            <a:ext cx="76200" cy="762000"/>
          </a:xfrm>
          <a:prstGeom prst="rect">
            <a:avLst/>
          </a:prstGeom>
          <a:solidFill>
            <a:srgbClr val="00FF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4434" name="Rectangle 1058"/>
          <p:cNvSpPr>
            <a:spLocks noChangeArrowheads="1"/>
          </p:cNvSpPr>
          <p:nvPr/>
        </p:nvSpPr>
        <p:spPr bwMode="auto">
          <a:xfrm>
            <a:off x="517525" y="1371600"/>
            <a:ext cx="6705600" cy="76200"/>
          </a:xfrm>
          <a:prstGeom prst="rect">
            <a:avLst/>
          </a:prstGeom>
          <a:solidFill>
            <a:srgbClr val="00FF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4435" name="Rectangle 1059"/>
          <p:cNvSpPr>
            <a:spLocks noChangeArrowheads="1"/>
          </p:cNvSpPr>
          <p:nvPr/>
        </p:nvSpPr>
        <p:spPr bwMode="auto">
          <a:xfrm>
            <a:off x="504825" y="1400175"/>
            <a:ext cx="76200" cy="1447800"/>
          </a:xfrm>
          <a:prstGeom prst="rect">
            <a:avLst/>
          </a:prstGeom>
          <a:solidFill>
            <a:srgbClr val="00FF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endParaRPr lang="en-US" sz="1800" b="1">
              <a:latin typeface="Helvetica" pitchFamily="34" charset="0"/>
            </a:endParaRPr>
          </a:p>
        </p:txBody>
      </p:sp>
      <p:sp>
        <p:nvSpPr>
          <p:cNvPr id="614436" name="Rectangle 1060"/>
          <p:cNvSpPr>
            <a:spLocks noChangeArrowheads="1"/>
          </p:cNvSpPr>
          <p:nvPr/>
        </p:nvSpPr>
        <p:spPr bwMode="auto">
          <a:xfrm>
            <a:off x="533400" y="2776538"/>
            <a:ext cx="228600" cy="76200"/>
          </a:xfrm>
          <a:prstGeom prst="rect">
            <a:avLst/>
          </a:prstGeom>
          <a:solidFill>
            <a:srgbClr val="00FF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4437" name="Rectangle 1061"/>
          <p:cNvSpPr>
            <a:spLocks noChangeArrowheads="1"/>
          </p:cNvSpPr>
          <p:nvPr/>
        </p:nvSpPr>
        <p:spPr bwMode="auto">
          <a:xfrm>
            <a:off x="1035050" y="2787650"/>
            <a:ext cx="457200" cy="76200"/>
          </a:xfrm>
          <a:prstGeom prst="rect">
            <a:avLst/>
          </a:prstGeom>
          <a:solidFill>
            <a:srgbClr val="00FF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4438" name="Rectangle 1062"/>
          <p:cNvSpPr>
            <a:spLocks noChangeArrowheads="1"/>
          </p:cNvSpPr>
          <p:nvPr/>
        </p:nvSpPr>
        <p:spPr bwMode="auto">
          <a:xfrm>
            <a:off x="1600200" y="2222500"/>
            <a:ext cx="381000" cy="76200"/>
          </a:xfrm>
          <a:prstGeom prst="rect">
            <a:avLst/>
          </a:prstGeom>
          <a:solidFill>
            <a:srgbClr val="00FF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4439" name="Rectangle 1063"/>
          <p:cNvSpPr>
            <a:spLocks noChangeArrowheads="1"/>
          </p:cNvSpPr>
          <p:nvPr/>
        </p:nvSpPr>
        <p:spPr bwMode="auto">
          <a:xfrm>
            <a:off x="1219200" y="1704975"/>
            <a:ext cx="762000" cy="76200"/>
          </a:xfrm>
          <a:prstGeom prst="rect">
            <a:avLst/>
          </a:prstGeom>
          <a:solidFill>
            <a:srgbClr val="00FF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4440" name="Rectangle 1064"/>
          <p:cNvSpPr>
            <a:spLocks noChangeArrowheads="1"/>
          </p:cNvSpPr>
          <p:nvPr/>
        </p:nvSpPr>
        <p:spPr bwMode="auto">
          <a:xfrm>
            <a:off x="1211263" y="1704975"/>
            <a:ext cx="76200" cy="1143000"/>
          </a:xfrm>
          <a:prstGeom prst="rect">
            <a:avLst/>
          </a:prstGeom>
          <a:solidFill>
            <a:srgbClr val="00FF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endParaRPr lang="en-US" sz="1800" b="1">
              <a:latin typeface="Helvetica" pitchFamily="34" charset="0"/>
            </a:endParaRPr>
          </a:p>
        </p:txBody>
      </p:sp>
      <p:sp>
        <p:nvSpPr>
          <p:cNvPr id="614441" name="Rectangle 1065"/>
          <p:cNvSpPr>
            <a:spLocks noChangeArrowheads="1"/>
          </p:cNvSpPr>
          <p:nvPr/>
        </p:nvSpPr>
        <p:spPr bwMode="auto">
          <a:xfrm>
            <a:off x="304800" y="228600"/>
            <a:ext cx="8153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7" tIns="44450" rIns="90487" bIns="44450" anchor="ctr"/>
          <a:lstStyle/>
          <a:p>
            <a:endParaRPr lang="en-US" sz="4400">
              <a:solidFill>
                <a:schemeClr val="tx2"/>
              </a:solidFill>
              <a:latin typeface="Tahoma" pitchFamily="34" charset="0"/>
            </a:endParaRPr>
          </a:p>
        </p:txBody>
      </p:sp>
      <p:sp>
        <p:nvSpPr>
          <p:cNvPr id="614442" name="Text Box 1066"/>
          <p:cNvSpPr txBox="1">
            <a:spLocks noChangeArrowheads="1"/>
          </p:cNvSpPr>
          <p:nvPr/>
        </p:nvSpPr>
        <p:spPr bwMode="auto">
          <a:xfrm>
            <a:off x="1066800" y="4905375"/>
            <a:ext cx="1473200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1400" b="1">
                <a:solidFill>
                  <a:srgbClr val="000099"/>
                </a:solidFill>
                <a:latin typeface="Helvetica" pitchFamily="34" charset="0"/>
              </a:rPr>
              <a:t>Control signals</a:t>
            </a:r>
          </a:p>
          <a:p>
            <a:pPr eaLnBrk="0" hangingPunct="0"/>
            <a:r>
              <a:rPr lang="en-US" sz="1400" b="1">
                <a:solidFill>
                  <a:srgbClr val="000099"/>
                </a:solidFill>
                <a:latin typeface="Helvetica" pitchFamily="34" charset="0"/>
              </a:rPr>
              <a:t>shown in blue</a:t>
            </a:r>
          </a:p>
        </p:txBody>
      </p:sp>
      <p:sp>
        <p:nvSpPr>
          <p:cNvPr id="614443" name="Text Box 1067"/>
          <p:cNvSpPr txBox="1">
            <a:spLocks noChangeArrowheads="1"/>
          </p:cNvSpPr>
          <p:nvPr/>
        </p:nvSpPr>
        <p:spPr bwMode="auto">
          <a:xfrm>
            <a:off x="5153025" y="3121025"/>
            <a:ext cx="2571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0</a:t>
            </a:r>
          </a:p>
        </p:txBody>
      </p:sp>
      <p:sp>
        <p:nvSpPr>
          <p:cNvPr id="614444" name="Text Box 1068"/>
          <p:cNvSpPr txBox="1">
            <a:spLocks noChangeArrowheads="1"/>
          </p:cNvSpPr>
          <p:nvPr/>
        </p:nvSpPr>
        <p:spPr bwMode="auto">
          <a:xfrm>
            <a:off x="5554663" y="2811463"/>
            <a:ext cx="6096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010</a:t>
            </a:r>
          </a:p>
        </p:txBody>
      </p:sp>
      <p:sp>
        <p:nvSpPr>
          <p:cNvPr id="614445" name="Text Box 1069"/>
          <p:cNvSpPr txBox="1">
            <a:spLocks noChangeArrowheads="1"/>
          </p:cNvSpPr>
          <p:nvPr/>
        </p:nvSpPr>
        <p:spPr bwMode="auto">
          <a:xfrm>
            <a:off x="5257800" y="4783138"/>
            <a:ext cx="2571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1</a:t>
            </a:r>
          </a:p>
        </p:txBody>
      </p:sp>
      <p:sp>
        <p:nvSpPr>
          <p:cNvPr id="614446" name="Text Box 1070"/>
          <p:cNvSpPr txBox="1">
            <a:spLocks noChangeArrowheads="1"/>
          </p:cNvSpPr>
          <p:nvPr/>
        </p:nvSpPr>
        <p:spPr bwMode="auto">
          <a:xfrm>
            <a:off x="7969250" y="3884613"/>
            <a:ext cx="2571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1</a:t>
            </a:r>
          </a:p>
        </p:txBody>
      </p:sp>
      <p:sp>
        <p:nvSpPr>
          <p:cNvPr id="614447" name="Text Box 1071"/>
          <p:cNvSpPr txBox="1">
            <a:spLocks noChangeArrowheads="1"/>
          </p:cNvSpPr>
          <p:nvPr/>
        </p:nvSpPr>
        <p:spPr bwMode="auto">
          <a:xfrm>
            <a:off x="3862388" y="4570413"/>
            <a:ext cx="2571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1</a:t>
            </a:r>
          </a:p>
        </p:txBody>
      </p:sp>
      <p:sp>
        <p:nvSpPr>
          <p:cNvPr id="614448" name="Text Box 1072"/>
          <p:cNvSpPr txBox="1">
            <a:spLocks noChangeArrowheads="1"/>
          </p:cNvSpPr>
          <p:nvPr/>
        </p:nvSpPr>
        <p:spPr bwMode="auto">
          <a:xfrm>
            <a:off x="7108825" y="3503613"/>
            <a:ext cx="2571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0</a:t>
            </a:r>
          </a:p>
        </p:txBody>
      </p:sp>
      <p:sp>
        <p:nvSpPr>
          <p:cNvPr id="614449" name="Text Box 1073"/>
          <p:cNvSpPr txBox="1">
            <a:spLocks noChangeArrowheads="1"/>
          </p:cNvSpPr>
          <p:nvPr/>
        </p:nvSpPr>
        <p:spPr bwMode="auto">
          <a:xfrm>
            <a:off x="7239000" y="5027613"/>
            <a:ext cx="2571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1</a:t>
            </a:r>
          </a:p>
        </p:txBody>
      </p:sp>
      <p:sp>
        <p:nvSpPr>
          <p:cNvPr id="5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Mayank Pandey, MNNIT, Allahabad, India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148230661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4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4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44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144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144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144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144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144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144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144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144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144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144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144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144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144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04" grpId="0" autoUpdateAnimBg="0"/>
      <p:bldP spid="614443" grpId="0" autoUpdateAnimBg="0"/>
      <p:bldP spid="614444" grpId="0" autoUpdateAnimBg="0"/>
      <p:bldP spid="614445" grpId="0" autoUpdateAnimBg="0"/>
      <p:bldP spid="614446" grpId="0" autoUpdateAnimBg="0"/>
      <p:bldP spid="614447" grpId="0" autoUpdateAnimBg="0"/>
      <p:bldP spid="614448" grpId="0" autoUpdateAnimBg="0"/>
      <p:bldP spid="614449" grpId="0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5468" name="Picture 1068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395412"/>
            <a:ext cx="8077200" cy="4122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1542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</a:t>
            </a:r>
            <a:r>
              <a:rPr lang="en-US" dirty="0" smtClean="0"/>
              <a:t>Signals: </a:t>
            </a:r>
            <a:r>
              <a:rPr lang="en-US" dirty="0" err="1" smtClean="0">
                <a:latin typeface="Courier New" pitchFamily="49" charset="0"/>
              </a:rPr>
              <a:t>sw</a:t>
            </a:r>
            <a:r>
              <a:rPr lang="en-US" dirty="0" smtClean="0"/>
              <a:t> </a:t>
            </a:r>
            <a:r>
              <a:rPr lang="en-US" dirty="0"/>
              <a:t>Instruction</a:t>
            </a:r>
          </a:p>
        </p:txBody>
      </p:sp>
      <p:sp>
        <p:nvSpPr>
          <p:cNvPr id="615428" name="Text Box 1028"/>
          <p:cNvSpPr txBox="1">
            <a:spLocks noChangeArrowheads="1"/>
          </p:cNvSpPr>
          <p:nvPr/>
        </p:nvSpPr>
        <p:spPr bwMode="auto">
          <a:xfrm>
            <a:off x="6905625" y="2589212"/>
            <a:ext cx="2571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0</a:t>
            </a:r>
          </a:p>
        </p:txBody>
      </p:sp>
      <p:sp>
        <p:nvSpPr>
          <p:cNvPr id="615429" name="Rectangle 1029"/>
          <p:cNvSpPr>
            <a:spLocks noChangeArrowheads="1"/>
          </p:cNvSpPr>
          <p:nvPr/>
        </p:nvSpPr>
        <p:spPr bwMode="auto">
          <a:xfrm>
            <a:off x="4927600" y="4079875"/>
            <a:ext cx="228600" cy="762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5430" name="Rectangle 1030"/>
          <p:cNvSpPr>
            <a:spLocks noChangeArrowheads="1"/>
          </p:cNvSpPr>
          <p:nvPr/>
        </p:nvSpPr>
        <p:spPr bwMode="auto">
          <a:xfrm flipV="1">
            <a:off x="5105400" y="4792662"/>
            <a:ext cx="1600200" cy="74613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5431" name="Rectangle 1031"/>
          <p:cNvSpPr>
            <a:spLocks noChangeArrowheads="1"/>
          </p:cNvSpPr>
          <p:nvPr/>
        </p:nvSpPr>
        <p:spPr bwMode="auto">
          <a:xfrm>
            <a:off x="5105400" y="4086225"/>
            <a:ext cx="76200" cy="7620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5432" name="Rectangle 1032"/>
          <p:cNvSpPr>
            <a:spLocks noChangeArrowheads="1"/>
          </p:cNvSpPr>
          <p:nvPr/>
        </p:nvSpPr>
        <p:spPr bwMode="auto">
          <a:xfrm>
            <a:off x="6440488" y="3914775"/>
            <a:ext cx="74612" cy="381000"/>
          </a:xfrm>
          <a:prstGeom prst="rect">
            <a:avLst/>
          </a:prstGeom>
          <a:solidFill>
            <a:srgbClr val="FF505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5433" name="Rectangle 1033"/>
          <p:cNvSpPr>
            <a:spLocks noChangeArrowheads="1"/>
          </p:cNvSpPr>
          <p:nvPr/>
        </p:nvSpPr>
        <p:spPr bwMode="auto">
          <a:xfrm>
            <a:off x="6176963" y="3898900"/>
            <a:ext cx="331787" cy="76200"/>
          </a:xfrm>
          <a:prstGeom prst="rect">
            <a:avLst/>
          </a:prstGeom>
          <a:solidFill>
            <a:srgbClr val="FF505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5434" name="Rectangle 1034"/>
          <p:cNvSpPr>
            <a:spLocks noChangeArrowheads="1"/>
          </p:cNvSpPr>
          <p:nvPr/>
        </p:nvSpPr>
        <p:spPr bwMode="auto">
          <a:xfrm>
            <a:off x="6438900" y="4232275"/>
            <a:ext cx="304800" cy="76200"/>
          </a:xfrm>
          <a:prstGeom prst="rect">
            <a:avLst/>
          </a:prstGeom>
          <a:solidFill>
            <a:srgbClr val="FF505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5435" name="Rectangle 1035"/>
          <p:cNvSpPr>
            <a:spLocks noChangeArrowheads="1"/>
          </p:cNvSpPr>
          <p:nvPr/>
        </p:nvSpPr>
        <p:spPr bwMode="auto">
          <a:xfrm>
            <a:off x="4892675" y="3594100"/>
            <a:ext cx="838200" cy="762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5436" name="Rectangle 1036"/>
          <p:cNvSpPr>
            <a:spLocks noChangeArrowheads="1"/>
          </p:cNvSpPr>
          <p:nvPr/>
        </p:nvSpPr>
        <p:spPr bwMode="auto">
          <a:xfrm>
            <a:off x="5522913" y="4227512"/>
            <a:ext cx="228600" cy="74613"/>
          </a:xfrm>
          <a:prstGeom prst="rect">
            <a:avLst/>
          </a:prstGeom>
          <a:solidFill>
            <a:srgbClr val="EF6F6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5437" name="Rectangle 1037"/>
          <p:cNvSpPr>
            <a:spLocks noChangeArrowheads="1"/>
          </p:cNvSpPr>
          <p:nvPr/>
        </p:nvSpPr>
        <p:spPr bwMode="auto">
          <a:xfrm>
            <a:off x="4984750" y="4371975"/>
            <a:ext cx="381000" cy="76200"/>
          </a:xfrm>
          <a:prstGeom prst="rect">
            <a:avLst/>
          </a:prstGeom>
          <a:solidFill>
            <a:srgbClr val="00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5438" name="Rectangle 1038"/>
          <p:cNvSpPr>
            <a:spLocks noChangeArrowheads="1"/>
          </p:cNvSpPr>
          <p:nvPr/>
        </p:nvSpPr>
        <p:spPr bwMode="auto">
          <a:xfrm>
            <a:off x="4991100" y="4416425"/>
            <a:ext cx="76200" cy="457200"/>
          </a:xfrm>
          <a:prstGeom prst="rect">
            <a:avLst/>
          </a:prstGeom>
          <a:solidFill>
            <a:srgbClr val="00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5439" name="Rectangle 1039"/>
          <p:cNvSpPr>
            <a:spLocks noChangeArrowheads="1"/>
          </p:cNvSpPr>
          <p:nvPr/>
        </p:nvSpPr>
        <p:spPr bwMode="auto">
          <a:xfrm>
            <a:off x="4762500" y="4822825"/>
            <a:ext cx="304800" cy="76200"/>
          </a:xfrm>
          <a:prstGeom prst="rect">
            <a:avLst/>
          </a:prstGeom>
          <a:solidFill>
            <a:srgbClr val="00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5440" name="Rectangle 1040"/>
          <p:cNvSpPr>
            <a:spLocks noChangeArrowheads="1"/>
          </p:cNvSpPr>
          <p:nvPr/>
        </p:nvSpPr>
        <p:spPr bwMode="auto">
          <a:xfrm>
            <a:off x="2990850" y="4822825"/>
            <a:ext cx="1524000" cy="76200"/>
          </a:xfrm>
          <a:prstGeom prst="rect">
            <a:avLst/>
          </a:prstGeom>
          <a:solidFill>
            <a:srgbClr val="00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5441" name="Rectangle 1041"/>
          <p:cNvSpPr>
            <a:spLocks noChangeArrowheads="1"/>
          </p:cNvSpPr>
          <p:nvPr/>
        </p:nvSpPr>
        <p:spPr bwMode="auto">
          <a:xfrm>
            <a:off x="2984500" y="2828925"/>
            <a:ext cx="76200" cy="2057400"/>
          </a:xfrm>
          <a:prstGeom prst="rect">
            <a:avLst/>
          </a:prstGeom>
          <a:solidFill>
            <a:srgbClr val="00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5442" name="Rectangle 1042"/>
          <p:cNvSpPr>
            <a:spLocks noChangeArrowheads="1"/>
          </p:cNvSpPr>
          <p:nvPr/>
        </p:nvSpPr>
        <p:spPr bwMode="auto">
          <a:xfrm>
            <a:off x="4214813" y="2795587"/>
            <a:ext cx="74612" cy="661988"/>
          </a:xfrm>
          <a:prstGeom prst="rect">
            <a:avLst/>
          </a:prstGeom>
          <a:solidFill>
            <a:srgbClr val="00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5443" name="Rectangle 1043"/>
          <p:cNvSpPr>
            <a:spLocks noChangeArrowheads="1"/>
          </p:cNvSpPr>
          <p:nvPr/>
        </p:nvSpPr>
        <p:spPr bwMode="auto">
          <a:xfrm>
            <a:off x="3841750" y="2816225"/>
            <a:ext cx="76200" cy="609600"/>
          </a:xfrm>
          <a:prstGeom prst="rect">
            <a:avLst/>
          </a:prstGeom>
          <a:solidFill>
            <a:srgbClr val="00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5444" name="Rectangle 1044"/>
          <p:cNvSpPr>
            <a:spLocks noChangeArrowheads="1"/>
          </p:cNvSpPr>
          <p:nvPr/>
        </p:nvSpPr>
        <p:spPr bwMode="auto">
          <a:xfrm>
            <a:off x="2606675" y="2787650"/>
            <a:ext cx="1660525" cy="74612"/>
          </a:xfrm>
          <a:prstGeom prst="rect">
            <a:avLst/>
          </a:prstGeom>
          <a:solidFill>
            <a:srgbClr val="00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5445" name="Rectangle 1045"/>
          <p:cNvSpPr>
            <a:spLocks noChangeArrowheads="1"/>
          </p:cNvSpPr>
          <p:nvPr/>
        </p:nvSpPr>
        <p:spPr bwMode="auto">
          <a:xfrm>
            <a:off x="2438400" y="2001837"/>
            <a:ext cx="3392488" cy="76200"/>
          </a:xfrm>
          <a:prstGeom prst="rect">
            <a:avLst/>
          </a:prstGeom>
          <a:solidFill>
            <a:srgbClr val="00FF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5446" name="Rectangle 1046"/>
          <p:cNvSpPr>
            <a:spLocks noChangeArrowheads="1"/>
          </p:cNvSpPr>
          <p:nvPr/>
        </p:nvSpPr>
        <p:spPr bwMode="auto">
          <a:xfrm>
            <a:off x="6705600" y="2001837"/>
            <a:ext cx="280988" cy="84138"/>
          </a:xfrm>
          <a:prstGeom prst="rect">
            <a:avLst/>
          </a:prstGeom>
          <a:solidFill>
            <a:srgbClr val="00FF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5447" name="Rectangle 1047"/>
          <p:cNvSpPr>
            <a:spLocks noChangeArrowheads="1"/>
          </p:cNvSpPr>
          <p:nvPr/>
        </p:nvSpPr>
        <p:spPr bwMode="auto">
          <a:xfrm>
            <a:off x="6705600" y="1704975"/>
            <a:ext cx="90488" cy="304800"/>
          </a:xfrm>
          <a:prstGeom prst="rect">
            <a:avLst/>
          </a:prstGeom>
          <a:solidFill>
            <a:srgbClr val="00FF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5448" name="Rectangle 1048"/>
          <p:cNvSpPr>
            <a:spLocks noChangeArrowheads="1"/>
          </p:cNvSpPr>
          <p:nvPr/>
        </p:nvSpPr>
        <p:spPr bwMode="auto">
          <a:xfrm>
            <a:off x="5791200" y="1704975"/>
            <a:ext cx="990600" cy="76200"/>
          </a:xfrm>
          <a:prstGeom prst="rect">
            <a:avLst/>
          </a:prstGeom>
          <a:solidFill>
            <a:srgbClr val="00FF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5449" name="Rectangle 1049"/>
          <p:cNvSpPr>
            <a:spLocks noChangeArrowheads="1"/>
          </p:cNvSpPr>
          <p:nvPr/>
        </p:nvSpPr>
        <p:spPr bwMode="auto">
          <a:xfrm>
            <a:off x="5754688" y="1704975"/>
            <a:ext cx="90487" cy="304800"/>
          </a:xfrm>
          <a:prstGeom prst="rect">
            <a:avLst/>
          </a:prstGeom>
          <a:solidFill>
            <a:srgbClr val="00FF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5450" name="Rectangle 1050"/>
          <p:cNvSpPr>
            <a:spLocks noChangeArrowheads="1"/>
          </p:cNvSpPr>
          <p:nvPr/>
        </p:nvSpPr>
        <p:spPr bwMode="auto">
          <a:xfrm>
            <a:off x="7070725" y="2122487"/>
            <a:ext cx="228600" cy="76200"/>
          </a:xfrm>
          <a:prstGeom prst="rect">
            <a:avLst/>
          </a:prstGeom>
          <a:solidFill>
            <a:srgbClr val="00FF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5451" name="Rectangle 1051"/>
          <p:cNvSpPr>
            <a:spLocks noChangeArrowheads="1"/>
          </p:cNvSpPr>
          <p:nvPr/>
        </p:nvSpPr>
        <p:spPr bwMode="auto">
          <a:xfrm>
            <a:off x="7223125" y="1400175"/>
            <a:ext cx="76200" cy="762000"/>
          </a:xfrm>
          <a:prstGeom prst="rect">
            <a:avLst/>
          </a:prstGeom>
          <a:solidFill>
            <a:srgbClr val="00FF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5452" name="Rectangle 1052"/>
          <p:cNvSpPr>
            <a:spLocks noChangeArrowheads="1"/>
          </p:cNvSpPr>
          <p:nvPr/>
        </p:nvSpPr>
        <p:spPr bwMode="auto">
          <a:xfrm>
            <a:off x="593725" y="1371600"/>
            <a:ext cx="6705600" cy="76200"/>
          </a:xfrm>
          <a:prstGeom prst="rect">
            <a:avLst/>
          </a:prstGeom>
          <a:solidFill>
            <a:srgbClr val="00FF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5453" name="Rectangle 1053"/>
          <p:cNvSpPr>
            <a:spLocks noChangeArrowheads="1"/>
          </p:cNvSpPr>
          <p:nvPr/>
        </p:nvSpPr>
        <p:spPr bwMode="auto">
          <a:xfrm>
            <a:off x="581025" y="1400175"/>
            <a:ext cx="76200" cy="1447800"/>
          </a:xfrm>
          <a:prstGeom prst="rect">
            <a:avLst/>
          </a:prstGeom>
          <a:solidFill>
            <a:srgbClr val="00FF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rgbClr val="FF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endParaRPr lang="en-US" sz="1800" b="1">
              <a:latin typeface="Helvetica" pitchFamily="34" charset="0"/>
            </a:endParaRPr>
          </a:p>
        </p:txBody>
      </p:sp>
      <p:sp>
        <p:nvSpPr>
          <p:cNvPr id="615454" name="Rectangle 1054"/>
          <p:cNvSpPr>
            <a:spLocks noChangeArrowheads="1"/>
          </p:cNvSpPr>
          <p:nvPr/>
        </p:nvSpPr>
        <p:spPr bwMode="auto">
          <a:xfrm>
            <a:off x="609600" y="2776537"/>
            <a:ext cx="228600" cy="76200"/>
          </a:xfrm>
          <a:prstGeom prst="rect">
            <a:avLst/>
          </a:prstGeom>
          <a:solidFill>
            <a:srgbClr val="00FF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rgbClr val="FF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5455" name="Rectangle 1055"/>
          <p:cNvSpPr>
            <a:spLocks noChangeArrowheads="1"/>
          </p:cNvSpPr>
          <p:nvPr/>
        </p:nvSpPr>
        <p:spPr bwMode="auto">
          <a:xfrm>
            <a:off x="1111250" y="2787650"/>
            <a:ext cx="457200" cy="76200"/>
          </a:xfrm>
          <a:prstGeom prst="rect">
            <a:avLst/>
          </a:prstGeom>
          <a:solidFill>
            <a:srgbClr val="00FF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5456" name="Rectangle 1056"/>
          <p:cNvSpPr>
            <a:spLocks noChangeArrowheads="1"/>
          </p:cNvSpPr>
          <p:nvPr/>
        </p:nvSpPr>
        <p:spPr bwMode="auto">
          <a:xfrm>
            <a:off x="1676400" y="2222500"/>
            <a:ext cx="381000" cy="76200"/>
          </a:xfrm>
          <a:prstGeom prst="rect">
            <a:avLst/>
          </a:prstGeom>
          <a:solidFill>
            <a:srgbClr val="00FF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5457" name="Rectangle 1057"/>
          <p:cNvSpPr>
            <a:spLocks noChangeArrowheads="1"/>
          </p:cNvSpPr>
          <p:nvPr/>
        </p:nvSpPr>
        <p:spPr bwMode="auto">
          <a:xfrm>
            <a:off x="1295400" y="1704975"/>
            <a:ext cx="762000" cy="76200"/>
          </a:xfrm>
          <a:prstGeom prst="rect">
            <a:avLst/>
          </a:prstGeom>
          <a:solidFill>
            <a:srgbClr val="00FF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5458" name="Rectangle 1058"/>
          <p:cNvSpPr>
            <a:spLocks noChangeArrowheads="1"/>
          </p:cNvSpPr>
          <p:nvPr/>
        </p:nvSpPr>
        <p:spPr bwMode="auto">
          <a:xfrm>
            <a:off x="1287463" y="1704975"/>
            <a:ext cx="76200" cy="1143000"/>
          </a:xfrm>
          <a:prstGeom prst="rect">
            <a:avLst/>
          </a:prstGeom>
          <a:solidFill>
            <a:srgbClr val="00FF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rgbClr val="FF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endParaRPr lang="en-US" sz="1800" b="1">
              <a:latin typeface="Helvetica" pitchFamily="34" charset="0"/>
            </a:endParaRPr>
          </a:p>
        </p:txBody>
      </p:sp>
      <p:sp>
        <p:nvSpPr>
          <p:cNvPr id="615459" name="Rectangle 1059"/>
          <p:cNvSpPr>
            <a:spLocks noChangeArrowheads="1"/>
          </p:cNvSpPr>
          <p:nvPr/>
        </p:nvSpPr>
        <p:spPr bwMode="auto">
          <a:xfrm>
            <a:off x="304800" y="228600"/>
            <a:ext cx="8153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7" tIns="44450" rIns="90487" bIns="44450" anchor="ctr"/>
          <a:lstStyle/>
          <a:p>
            <a:endParaRPr lang="en-US" sz="4400">
              <a:solidFill>
                <a:schemeClr val="tx2"/>
              </a:solidFill>
              <a:latin typeface="Tahoma" pitchFamily="34" charset="0"/>
            </a:endParaRPr>
          </a:p>
        </p:txBody>
      </p:sp>
      <p:sp>
        <p:nvSpPr>
          <p:cNvPr id="615460" name="Text Box 1060"/>
          <p:cNvSpPr txBox="1">
            <a:spLocks noChangeArrowheads="1"/>
          </p:cNvSpPr>
          <p:nvPr/>
        </p:nvSpPr>
        <p:spPr bwMode="auto">
          <a:xfrm>
            <a:off x="1143000" y="4905375"/>
            <a:ext cx="1473200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1400" b="1">
                <a:solidFill>
                  <a:srgbClr val="000099"/>
                </a:solidFill>
                <a:latin typeface="Helvetica" pitchFamily="34" charset="0"/>
              </a:rPr>
              <a:t>Control signals</a:t>
            </a:r>
          </a:p>
          <a:p>
            <a:pPr eaLnBrk="0" hangingPunct="0"/>
            <a:r>
              <a:rPr lang="en-US" sz="1400" b="1">
                <a:solidFill>
                  <a:srgbClr val="000099"/>
                </a:solidFill>
                <a:latin typeface="Helvetica" pitchFamily="34" charset="0"/>
              </a:rPr>
              <a:t>shown in blue</a:t>
            </a:r>
          </a:p>
        </p:txBody>
      </p:sp>
      <p:sp>
        <p:nvSpPr>
          <p:cNvPr id="615461" name="Text Box 1061"/>
          <p:cNvSpPr txBox="1">
            <a:spLocks noChangeArrowheads="1"/>
          </p:cNvSpPr>
          <p:nvPr/>
        </p:nvSpPr>
        <p:spPr bwMode="auto">
          <a:xfrm>
            <a:off x="5229225" y="3122612"/>
            <a:ext cx="2571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X</a:t>
            </a:r>
          </a:p>
        </p:txBody>
      </p:sp>
      <p:sp>
        <p:nvSpPr>
          <p:cNvPr id="615462" name="Text Box 1062"/>
          <p:cNvSpPr txBox="1">
            <a:spLocks noChangeArrowheads="1"/>
          </p:cNvSpPr>
          <p:nvPr/>
        </p:nvSpPr>
        <p:spPr bwMode="auto">
          <a:xfrm>
            <a:off x="5630863" y="2878137"/>
            <a:ext cx="609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010</a:t>
            </a:r>
          </a:p>
        </p:txBody>
      </p:sp>
      <p:sp>
        <p:nvSpPr>
          <p:cNvPr id="615463" name="Text Box 1063"/>
          <p:cNvSpPr txBox="1">
            <a:spLocks noChangeArrowheads="1"/>
          </p:cNvSpPr>
          <p:nvPr/>
        </p:nvSpPr>
        <p:spPr bwMode="auto">
          <a:xfrm>
            <a:off x="5334000" y="4799012"/>
            <a:ext cx="2571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1</a:t>
            </a:r>
          </a:p>
        </p:txBody>
      </p:sp>
      <p:sp>
        <p:nvSpPr>
          <p:cNvPr id="615464" name="Text Box 1064"/>
          <p:cNvSpPr txBox="1">
            <a:spLocks noChangeArrowheads="1"/>
          </p:cNvSpPr>
          <p:nvPr/>
        </p:nvSpPr>
        <p:spPr bwMode="auto">
          <a:xfrm>
            <a:off x="8045450" y="3884612"/>
            <a:ext cx="2571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X</a:t>
            </a:r>
          </a:p>
        </p:txBody>
      </p:sp>
      <p:sp>
        <p:nvSpPr>
          <p:cNvPr id="615465" name="Text Box 1065"/>
          <p:cNvSpPr txBox="1">
            <a:spLocks noChangeArrowheads="1"/>
          </p:cNvSpPr>
          <p:nvPr/>
        </p:nvSpPr>
        <p:spPr bwMode="auto">
          <a:xfrm>
            <a:off x="3938588" y="4570412"/>
            <a:ext cx="2571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0</a:t>
            </a:r>
          </a:p>
        </p:txBody>
      </p:sp>
      <p:sp>
        <p:nvSpPr>
          <p:cNvPr id="615466" name="Text Box 1066"/>
          <p:cNvSpPr txBox="1">
            <a:spLocks noChangeArrowheads="1"/>
          </p:cNvSpPr>
          <p:nvPr/>
        </p:nvSpPr>
        <p:spPr bwMode="auto">
          <a:xfrm>
            <a:off x="7162800" y="3503612"/>
            <a:ext cx="2571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1</a:t>
            </a:r>
          </a:p>
        </p:txBody>
      </p:sp>
      <p:sp>
        <p:nvSpPr>
          <p:cNvPr id="615467" name="Text Box 1067"/>
          <p:cNvSpPr txBox="1">
            <a:spLocks noChangeArrowheads="1"/>
          </p:cNvSpPr>
          <p:nvPr/>
        </p:nvSpPr>
        <p:spPr bwMode="auto">
          <a:xfrm>
            <a:off x="7315200" y="5027612"/>
            <a:ext cx="2571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0</a:t>
            </a:r>
          </a:p>
        </p:txBody>
      </p:sp>
      <p:sp>
        <p:nvSpPr>
          <p:cNvPr id="4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Mayank Pandey, MNNIT, Allahabad, India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561596044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54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54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54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154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154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154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154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154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154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154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154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154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154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154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154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154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5428" grpId="0" autoUpdateAnimBg="0"/>
      <p:bldP spid="615461" grpId="0" autoUpdateAnimBg="0"/>
      <p:bldP spid="615462" grpId="0" autoUpdateAnimBg="0"/>
      <p:bldP spid="615463" grpId="0" autoUpdateAnimBg="0"/>
      <p:bldP spid="615464" grpId="0" autoUpdateAnimBg="0"/>
      <p:bldP spid="615465" grpId="0" autoUpdateAnimBg="0"/>
      <p:bldP spid="615466" grpId="0" autoUpdateAnimBg="0"/>
      <p:bldP spid="615467" grpId="0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6494" name="Picture 209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395413"/>
            <a:ext cx="8077200" cy="4122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16450" name="Rectangle 205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</a:t>
            </a:r>
            <a:r>
              <a:rPr lang="en-US" dirty="0" smtClean="0"/>
              <a:t>Signals: </a:t>
            </a:r>
            <a:r>
              <a:rPr lang="en-US" dirty="0" err="1" smtClean="0">
                <a:latin typeface="Courier New" pitchFamily="49" charset="0"/>
              </a:rPr>
              <a:t>beq</a:t>
            </a:r>
            <a:r>
              <a:rPr lang="en-US" dirty="0" smtClean="0">
                <a:latin typeface="Courier New" pitchFamily="49" charset="0"/>
              </a:rPr>
              <a:t> </a:t>
            </a:r>
            <a:r>
              <a:rPr lang="en-US" dirty="0"/>
              <a:t>Instruction</a:t>
            </a:r>
          </a:p>
        </p:txBody>
      </p:sp>
      <p:sp>
        <p:nvSpPr>
          <p:cNvPr id="616452" name="Rectangle 2052"/>
          <p:cNvSpPr>
            <a:spLocks noChangeArrowheads="1"/>
          </p:cNvSpPr>
          <p:nvPr/>
        </p:nvSpPr>
        <p:spPr bwMode="auto">
          <a:xfrm>
            <a:off x="6116638" y="3686175"/>
            <a:ext cx="436562" cy="762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6453" name="Rectangle 2053"/>
          <p:cNvSpPr>
            <a:spLocks noChangeArrowheads="1"/>
          </p:cNvSpPr>
          <p:nvPr/>
        </p:nvSpPr>
        <p:spPr bwMode="auto">
          <a:xfrm>
            <a:off x="5446713" y="4227513"/>
            <a:ext cx="228600" cy="74612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6454" name="Rectangle 2054"/>
          <p:cNvSpPr>
            <a:spLocks noChangeArrowheads="1"/>
          </p:cNvSpPr>
          <p:nvPr/>
        </p:nvSpPr>
        <p:spPr bwMode="auto">
          <a:xfrm>
            <a:off x="4824413" y="4075113"/>
            <a:ext cx="457200" cy="74612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6455" name="Rectangle 2055"/>
          <p:cNvSpPr>
            <a:spLocks noChangeArrowheads="1"/>
          </p:cNvSpPr>
          <p:nvPr/>
        </p:nvSpPr>
        <p:spPr bwMode="auto">
          <a:xfrm>
            <a:off x="4816475" y="3594100"/>
            <a:ext cx="838200" cy="762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6456" name="Rectangle 2056"/>
          <p:cNvSpPr>
            <a:spLocks noChangeArrowheads="1"/>
          </p:cNvSpPr>
          <p:nvPr/>
        </p:nvSpPr>
        <p:spPr bwMode="auto">
          <a:xfrm>
            <a:off x="4138613" y="2795588"/>
            <a:ext cx="76200" cy="609600"/>
          </a:xfrm>
          <a:prstGeom prst="rect">
            <a:avLst/>
          </a:prstGeom>
          <a:solidFill>
            <a:srgbClr val="00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6457" name="Rectangle 2057"/>
          <p:cNvSpPr>
            <a:spLocks noChangeArrowheads="1"/>
          </p:cNvSpPr>
          <p:nvPr/>
        </p:nvSpPr>
        <p:spPr bwMode="auto">
          <a:xfrm>
            <a:off x="3765550" y="2816225"/>
            <a:ext cx="76200" cy="609600"/>
          </a:xfrm>
          <a:prstGeom prst="rect">
            <a:avLst/>
          </a:prstGeom>
          <a:solidFill>
            <a:srgbClr val="00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6458" name="Rectangle 2058"/>
          <p:cNvSpPr>
            <a:spLocks noChangeArrowheads="1"/>
          </p:cNvSpPr>
          <p:nvPr/>
        </p:nvSpPr>
        <p:spPr bwMode="auto">
          <a:xfrm>
            <a:off x="2530475" y="2787650"/>
            <a:ext cx="1660525" cy="74613"/>
          </a:xfrm>
          <a:prstGeom prst="rect">
            <a:avLst/>
          </a:prstGeom>
          <a:solidFill>
            <a:srgbClr val="00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6459" name="Rectangle 2059"/>
          <p:cNvSpPr>
            <a:spLocks noChangeArrowheads="1"/>
          </p:cNvSpPr>
          <p:nvPr/>
        </p:nvSpPr>
        <p:spPr bwMode="auto">
          <a:xfrm>
            <a:off x="4937125" y="2527300"/>
            <a:ext cx="609600" cy="76200"/>
          </a:xfrm>
          <a:prstGeom prst="rect">
            <a:avLst/>
          </a:prstGeom>
          <a:solidFill>
            <a:srgbClr val="00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6460" name="Rectangle 2060"/>
          <p:cNvSpPr>
            <a:spLocks noChangeArrowheads="1"/>
          </p:cNvSpPr>
          <p:nvPr/>
        </p:nvSpPr>
        <p:spPr bwMode="auto">
          <a:xfrm>
            <a:off x="4914900" y="2543175"/>
            <a:ext cx="74613" cy="2330450"/>
          </a:xfrm>
          <a:prstGeom prst="rect">
            <a:avLst/>
          </a:prstGeom>
          <a:solidFill>
            <a:srgbClr val="00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6461" name="Rectangle 2061"/>
          <p:cNvSpPr>
            <a:spLocks noChangeArrowheads="1"/>
          </p:cNvSpPr>
          <p:nvPr/>
        </p:nvSpPr>
        <p:spPr bwMode="auto">
          <a:xfrm>
            <a:off x="4686300" y="4822825"/>
            <a:ext cx="304800" cy="76200"/>
          </a:xfrm>
          <a:prstGeom prst="rect">
            <a:avLst/>
          </a:prstGeom>
          <a:solidFill>
            <a:srgbClr val="00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6462" name="Rectangle 2062"/>
          <p:cNvSpPr>
            <a:spLocks noChangeArrowheads="1"/>
          </p:cNvSpPr>
          <p:nvPr/>
        </p:nvSpPr>
        <p:spPr bwMode="auto">
          <a:xfrm>
            <a:off x="2914650" y="4822825"/>
            <a:ext cx="1524000" cy="76200"/>
          </a:xfrm>
          <a:prstGeom prst="rect">
            <a:avLst/>
          </a:prstGeom>
          <a:solidFill>
            <a:srgbClr val="00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6463" name="Rectangle 2063"/>
          <p:cNvSpPr>
            <a:spLocks noChangeArrowheads="1"/>
          </p:cNvSpPr>
          <p:nvPr/>
        </p:nvSpPr>
        <p:spPr bwMode="auto">
          <a:xfrm>
            <a:off x="2908300" y="2828925"/>
            <a:ext cx="76200" cy="2057400"/>
          </a:xfrm>
          <a:prstGeom prst="rect">
            <a:avLst/>
          </a:prstGeom>
          <a:solidFill>
            <a:srgbClr val="00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6464" name="Rectangle 2064"/>
          <p:cNvSpPr>
            <a:spLocks noChangeArrowheads="1"/>
          </p:cNvSpPr>
          <p:nvPr/>
        </p:nvSpPr>
        <p:spPr bwMode="auto">
          <a:xfrm>
            <a:off x="5927725" y="2509838"/>
            <a:ext cx="304800" cy="76200"/>
          </a:xfrm>
          <a:prstGeom prst="rect">
            <a:avLst/>
          </a:prstGeom>
          <a:solidFill>
            <a:srgbClr val="00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6465" name="Rectangle 2065"/>
          <p:cNvSpPr>
            <a:spLocks noChangeArrowheads="1"/>
          </p:cNvSpPr>
          <p:nvPr/>
        </p:nvSpPr>
        <p:spPr bwMode="auto">
          <a:xfrm>
            <a:off x="2362200" y="2001838"/>
            <a:ext cx="3392488" cy="76200"/>
          </a:xfrm>
          <a:prstGeom prst="rect">
            <a:avLst/>
          </a:prstGeom>
          <a:solidFill>
            <a:srgbClr val="00FF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6466" name="Rectangle 2066" descr="60%"/>
          <p:cNvSpPr>
            <a:spLocks noChangeArrowheads="1"/>
          </p:cNvSpPr>
          <p:nvPr/>
        </p:nvSpPr>
        <p:spPr bwMode="auto">
          <a:xfrm>
            <a:off x="6629400" y="2001838"/>
            <a:ext cx="280988" cy="84137"/>
          </a:xfrm>
          <a:prstGeom prst="rect">
            <a:avLst/>
          </a:prstGeom>
          <a:pattFill prst="pct60">
            <a:fgClr>
              <a:srgbClr val="00FF00"/>
            </a:fgClr>
            <a:bgClr>
              <a:srgbClr val="FFFFFF"/>
            </a:bgClr>
          </a:patt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6467" name="Rectangle 2067" descr="60%"/>
          <p:cNvSpPr>
            <a:spLocks noChangeArrowheads="1"/>
          </p:cNvSpPr>
          <p:nvPr/>
        </p:nvSpPr>
        <p:spPr bwMode="auto">
          <a:xfrm>
            <a:off x="6629400" y="1704975"/>
            <a:ext cx="90488" cy="304800"/>
          </a:xfrm>
          <a:prstGeom prst="rect">
            <a:avLst/>
          </a:prstGeom>
          <a:pattFill prst="pct60">
            <a:fgClr>
              <a:srgbClr val="00FF00"/>
            </a:fgClr>
            <a:bgClr>
              <a:srgbClr val="FFFFFF"/>
            </a:bgClr>
          </a:patt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6468" name="Rectangle 2068" descr="60%"/>
          <p:cNvSpPr>
            <a:spLocks noChangeArrowheads="1"/>
          </p:cNvSpPr>
          <p:nvPr/>
        </p:nvSpPr>
        <p:spPr bwMode="auto">
          <a:xfrm>
            <a:off x="5715000" y="1704975"/>
            <a:ext cx="990600" cy="76200"/>
          </a:xfrm>
          <a:prstGeom prst="rect">
            <a:avLst/>
          </a:prstGeom>
          <a:pattFill prst="pct60">
            <a:fgClr>
              <a:srgbClr val="00FF00"/>
            </a:fgClr>
            <a:bgClr>
              <a:srgbClr val="FFFFFF"/>
            </a:bgClr>
          </a:patt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6469" name="Rectangle 2069" descr="60%"/>
          <p:cNvSpPr>
            <a:spLocks noChangeArrowheads="1"/>
          </p:cNvSpPr>
          <p:nvPr/>
        </p:nvSpPr>
        <p:spPr bwMode="auto">
          <a:xfrm>
            <a:off x="5678488" y="1704975"/>
            <a:ext cx="90487" cy="304800"/>
          </a:xfrm>
          <a:prstGeom prst="rect">
            <a:avLst/>
          </a:prstGeom>
          <a:pattFill prst="pct60">
            <a:fgClr>
              <a:srgbClr val="00FF00"/>
            </a:fgClr>
            <a:bgClr>
              <a:srgbClr val="FFFFFF"/>
            </a:bgClr>
          </a:patt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6470" name="Rectangle 2070"/>
          <p:cNvSpPr>
            <a:spLocks noChangeArrowheads="1"/>
          </p:cNvSpPr>
          <p:nvPr/>
        </p:nvSpPr>
        <p:spPr bwMode="auto">
          <a:xfrm>
            <a:off x="6994525" y="2122488"/>
            <a:ext cx="228600" cy="76200"/>
          </a:xfrm>
          <a:prstGeom prst="rect">
            <a:avLst/>
          </a:prstGeom>
          <a:solidFill>
            <a:srgbClr val="00FF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6471" name="Rectangle 2071"/>
          <p:cNvSpPr>
            <a:spLocks noChangeArrowheads="1"/>
          </p:cNvSpPr>
          <p:nvPr/>
        </p:nvSpPr>
        <p:spPr bwMode="auto">
          <a:xfrm>
            <a:off x="7146925" y="1400175"/>
            <a:ext cx="76200" cy="762000"/>
          </a:xfrm>
          <a:prstGeom prst="rect">
            <a:avLst/>
          </a:prstGeom>
          <a:solidFill>
            <a:srgbClr val="00FF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6472" name="Rectangle 2072"/>
          <p:cNvSpPr>
            <a:spLocks noChangeArrowheads="1"/>
          </p:cNvSpPr>
          <p:nvPr/>
        </p:nvSpPr>
        <p:spPr bwMode="auto">
          <a:xfrm>
            <a:off x="517525" y="1371600"/>
            <a:ext cx="6705600" cy="76200"/>
          </a:xfrm>
          <a:prstGeom prst="rect">
            <a:avLst/>
          </a:prstGeom>
          <a:solidFill>
            <a:srgbClr val="00FF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6473" name="Rectangle 2073"/>
          <p:cNvSpPr>
            <a:spLocks noChangeArrowheads="1"/>
          </p:cNvSpPr>
          <p:nvPr/>
        </p:nvSpPr>
        <p:spPr bwMode="auto">
          <a:xfrm>
            <a:off x="504825" y="1400175"/>
            <a:ext cx="76200" cy="1447800"/>
          </a:xfrm>
          <a:prstGeom prst="rect">
            <a:avLst/>
          </a:prstGeom>
          <a:solidFill>
            <a:srgbClr val="00FF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endParaRPr lang="en-US" sz="1800" b="1">
              <a:latin typeface="Helvetica" pitchFamily="34" charset="0"/>
            </a:endParaRPr>
          </a:p>
        </p:txBody>
      </p:sp>
      <p:sp>
        <p:nvSpPr>
          <p:cNvPr id="616474" name="Rectangle 2074"/>
          <p:cNvSpPr>
            <a:spLocks noChangeArrowheads="1"/>
          </p:cNvSpPr>
          <p:nvPr/>
        </p:nvSpPr>
        <p:spPr bwMode="auto">
          <a:xfrm>
            <a:off x="533400" y="2776538"/>
            <a:ext cx="228600" cy="76200"/>
          </a:xfrm>
          <a:prstGeom prst="rect">
            <a:avLst/>
          </a:prstGeom>
          <a:solidFill>
            <a:srgbClr val="00FF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6475" name="Rectangle 2075"/>
          <p:cNvSpPr>
            <a:spLocks noChangeArrowheads="1"/>
          </p:cNvSpPr>
          <p:nvPr/>
        </p:nvSpPr>
        <p:spPr bwMode="auto">
          <a:xfrm>
            <a:off x="1035050" y="2787650"/>
            <a:ext cx="457200" cy="76200"/>
          </a:xfrm>
          <a:prstGeom prst="rect">
            <a:avLst/>
          </a:prstGeom>
          <a:solidFill>
            <a:srgbClr val="00FF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6476" name="Rectangle 2076"/>
          <p:cNvSpPr>
            <a:spLocks noChangeArrowheads="1"/>
          </p:cNvSpPr>
          <p:nvPr/>
        </p:nvSpPr>
        <p:spPr bwMode="auto">
          <a:xfrm>
            <a:off x="1600200" y="2222500"/>
            <a:ext cx="381000" cy="76200"/>
          </a:xfrm>
          <a:prstGeom prst="rect">
            <a:avLst/>
          </a:prstGeom>
          <a:solidFill>
            <a:srgbClr val="00FF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6477" name="Rectangle 2077"/>
          <p:cNvSpPr>
            <a:spLocks noChangeArrowheads="1"/>
          </p:cNvSpPr>
          <p:nvPr/>
        </p:nvSpPr>
        <p:spPr bwMode="auto">
          <a:xfrm>
            <a:off x="1219200" y="1704975"/>
            <a:ext cx="762000" cy="76200"/>
          </a:xfrm>
          <a:prstGeom prst="rect">
            <a:avLst/>
          </a:prstGeom>
          <a:solidFill>
            <a:srgbClr val="00FF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6478" name="Rectangle 2078"/>
          <p:cNvSpPr>
            <a:spLocks noChangeArrowheads="1"/>
          </p:cNvSpPr>
          <p:nvPr/>
        </p:nvSpPr>
        <p:spPr bwMode="auto">
          <a:xfrm>
            <a:off x="1211263" y="1704975"/>
            <a:ext cx="76200" cy="1143000"/>
          </a:xfrm>
          <a:prstGeom prst="rect">
            <a:avLst/>
          </a:prstGeom>
          <a:solidFill>
            <a:srgbClr val="00FF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endParaRPr lang="en-US" sz="1800" b="1">
              <a:latin typeface="Helvetica" pitchFamily="34" charset="0"/>
            </a:endParaRPr>
          </a:p>
        </p:txBody>
      </p:sp>
      <p:sp>
        <p:nvSpPr>
          <p:cNvPr id="616479" name="Rectangle 2079"/>
          <p:cNvSpPr>
            <a:spLocks noChangeArrowheads="1"/>
          </p:cNvSpPr>
          <p:nvPr/>
        </p:nvSpPr>
        <p:spPr bwMode="auto">
          <a:xfrm>
            <a:off x="304800" y="228600"/>
            <a:ext cx="8153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7" tIns="44450" rIns="90487" bIns="44450" anchor="ctr"/>
          <a:lstStyle/>
          <a:p>
            <a:endParaRPr lang="en-US" sz="4400">
              <a:solidFill>
                <a:schemeClr val="tx2"/>
              </a:solidFill>
              <a:latin typeface="Tahoma" pitchFamily="34" charset="0"/>
            </a:endParaRPr>
          </a:p>
        </p:txBody>
      </p:sp>
      <p:sp>
        <p:nvSpPr>
          <p:cNvPr id="616480" name="Text Box 2080"/>
          <p:cNvSpPr txBox="1">
            <a:spLocks noChangeArrowheads="1"/>
          </p:cNvSpPr>
          <p:nvPr/>
        </p:nvSpPr>
        <p:spPr bwMode="auto">
          <a:xfrm>
            <a:off x="1066800" y="4905375"/>
            <a:ext cx="1473200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1400" b="1">
                <a:solidFill>
                  <a:srgbClr val="000099"/>
                </a:solidFill>
                <a:latin typeface="Helvetica" pitchFamily="34" charset="0"/>
              </a:rPr>
              <a:t>Control signals</a:t>
            </a:r>
          </a:p>
          <a:p>
            <a:pPr eaLnBrk="0" hangingPunct="0"/>
            <a:r>
              <a:rPr lang="en-US" sz="1400" b="1">
                <a:solidFill>
                  <a:srgbClr val="000099"/>
                </a:solidFill>
                <a:latin typeface="Helvetica" pitchFamily="34" charset="0"/>
              </a:rPr>
              <a:t>shown in blue</a:t>
            </a:r>
          </a:p>
        </p:txBody>
      </p:sp>
      <p:sp>
        <p:nvSpPr>
          <p:cNvPr id="616481" name="Text Box 2081"/>
          <p:cNvSpPr txBox="1">
            <a:spLocks noChangeArrowheads="1"/>
          </p:cNvSpPr>
          <p:nvPr/>
        </p:nvSpPr>
        <p:spPr bwMode="auto">
          <a:xfrm>
            <a:off x="5153025" y="3122613"/>
            <a:ext cx="2571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X</a:t>
            </a:r>
          </a:p>
        </p:txBody>
      </p:sp>
      <p:sp>
        <p:nvSpPr>
          <p:cNvPr id="616482" name="Text Box 2082"/>
          <p:cNvSpPr txBox="1">
            <a:spLocks noChangeArrowheads="1"/>
          </p:cNvSpPr>
          <p:nvPr/>
        </p:nvSpPr>
        <p:spPr bwMode="auto">
          <a:xfrm>
            <a:off x="5554663" y="2822575"/>
            <a:ext cx="609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110</a:t>
            </a:r>
          </a:p>
        </p:txBody>
      </p:sp>
      <p:sp>
        <p:nvSpPr>
          <p:cNvPr id="616483" name="Text Box 2083"/>
          <p:cNvSpPr txBox="1">
            <a:spLocks noChangeArrowheads="1"/>
          </p:cNvSpPr>
          <p:nvPr/>
        </p:nvSpPr>
        <p:spPr bwMode="auto">
          <a:xfrm>
            <a:off x="5257800" y="4772025"/>
            <a:ext cx="2571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0</a:t>
            </a:r>
          </a:p>
        </p:txBody>
      </p:sp>
      <p:sp>
        <p:nvSpPr>
          <p:cNvPr id="616484" name="Text Box 2084"/>
          <p:cNvSpPr txBox="1">
            <a:spLocks noChangeArrowheads="1"/>
          </p:cNvSpPr>
          <p:nvPr/>
        </p:nvSpPr>
        <p:spPr bwMode="auto">
          <a:xfrm>
            <a:off x="7969250" y="3884613"/>
            <a:ext cx="2571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X</a:t>
            </a:r>
          </a:p>
        </p:txBody>
      </p:sp>
      <p:sp>
        <p:nvSpPr>
          <p:cNvPr id="616485" name="Text Box 2085"/>
          <p:cNvSpPr txBox="1">
            <a:spLocks noChangeArrowheads="1"/>
          </p:cNvSpPr>
          <p:nvPr/>
        </p:nvSpPr>
        <p:spPr bwMode="auto">
          <a:xfrm>
            <a:off x="3862388" y="4570413"/>
            <a:ext cx="2571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0</a:t>
            </a:r>
          </a:p>
        </p:txBody>
      </p:sp>
      <p:sp>
        <p:nvSpPr>
          <p:cNvPr id="616486" name="Text Box 2086"/>
          <p:cNvSpPr txBox="1">
            <a:spLocks noChangeArrowheads="1"/>
          </p:cNvSpPr>
          <p:nvPr/>
        </p:nvSpPr>
        <p:spPr bwMode="auto">
          <a:xfrm>
            <a:off x="7086600" y="3503613"/>
            <a:ext cx="2571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0</a:t>
            </a:r>
          </a:p>
        </p:txBody>
      </p:sp>
      <p:sp>
        <p:nvSpPr>
          <p:cNvPr id="616487" name="Text Box 2087"/>
          <p:cNvSpPr txBox="1">
            <a:spLocks noChangeArrowheads="1"/>
          </p:cNvSpPr>
          <p:nvPr/>
        </p:nvSpPr>
        <p:spPr bwMode="auto">
          <a:xfrm>
            <a:off x="7239000" y="5027613"/>
            <a:ext cx="2571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0</a:t>
            </a:r>
          </a:p>
        </p:txBody>
      </p:sp>
      <p:sp>
        <p:nvSpPr>
          <p:cNvPr id="616488" name="Rectangle 2088" descr="60%"/>
          <p:cNvSpPr>
            <a:spLocks noChangeArrowheads="1"/>
          </p:cNvSpPr>
          <p:nvPr/>
        </p:nvSpPr>
        <p:spPr bwMode="auto">
          <a:xfrm>
            <a:off x="6604000" y="2255838"/>
            <a:ext cx="280988" cy="84137"/>
          </a:xfrm>
          <a:prstGeom prst="rect">
            <a:avLst/>
          </a:prstGeom>
          <a:pattFill prst="pct60">
            <a:fgClr>
              <a:srgbClr val="00FF00"/>
            </a:fgClr>
            <a:bgClr>
              <a:srgbClr val="FFFFFF"/>
            </a:bgClr>
          </a:patt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grpSp>
        <p:nvGrpSpPr>
          <p:cNvPr id="616489" name="Group 2089"/>
          <p:cNvGrpSpPr>
            <a:grpSpLocks/>
          </p:cNvGrpSpPr>
          <p:nvPr/>
        </p:nvGrpSpPr>
        <p:grpSpPr bwMode="auto">
          <a:xfrm>
            <a:off x="6629400" y="2611438"/>
            <a:ext cx="1752600" cy="998537"/>
            <a:chOff x="4128" y="1915"/>
            <a:chExt cx="1104" cy="629"/>
          </a:xfrm>
        </p:grpSpPr>
        <p:sp>
          <p:nvSpPr>
            <p:cNvPr id="616490" name="Text Box 2090"/>
            <p:cNvSpPr txBox="1">
              <a:spLocks noChangeArrowheads="1"/>
            </p:cNvSpPr>
            <p:nvPr/>
          </p:nvSpPr>
          <p:spPr bwMode="auto">
            <a:xfrm>
              <a:off x="4254" y="1915"/>
              <a:ext cx="642" cy="231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hangingPunct="0"/>
              <a:endParaRPr lang="en-US" sz="1800" b="1">
                <a:solidFill>
                  <a:srgbClr val="FF0000"/>
                </a:solidFill>
                <a:latin typeface="Helvetica" pitchFamily="34" charset="0"/>
              </a:endParaRPr>
            </a:p>
          </p:txBody>
        </p:sp>
        <p:sp>
          <p:nvSpPr>
            <p:cNvPr id="616491" name="Text Box 2091"/>
            <p:cNvSpPr txBox="1">
              <a:spLocks noChangeArrowheads="1"/>
            </p:cNvSpPr>
            <p:nvPr/>
          </p:nvSpPr>
          <p:spPr bwMode="auto">
            <a:xfrm>
              <a:off x="4272" y="1920"/>
              <a:ext cx="960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=""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0" hangingPunct="0"/>
              <a:r>
                <a:rPr lang="en-US" sz="1400" b="1">
                  <a:solidFill>
                    <a:srgbClr val="FF0000"/>
                  </a:solidFill>
                  <a:latin typeface="Helvetica" pitchFamily="34" charset="0"/>
                </a:rPr>
                <a:t>1 if Zero=1</a:t>
              </a:r>
              <a:endParaRPr lang="en-US" sz="1800" b="1">
                <a:solidFill>
                  <a:srgbClr val="FF0000"/>
                </a:solidFill>
                <a:latin typeface="Helvetica" pitchFamily="34" charset="0"/>
              </a:endParaRPr>
            </a:p>
          </p:txBody>
        </p:sp>
        <p:sp>
          <p:nvSpPr>
            <p:cNvPr id="616492" name="Line 2092"/>
            <p:cNvSpPr>
              <a:spLocks noChangeShapeType="1"/>
            </p:cNvSpPr>
            <p:nvPr/>
          </p:nvSpPr>
          <p:spPr bwMode="auto">
            <a:xfrm flipV="1">
              <a:off x="4128" y="2112"/>
              <a:ext cx="384" cy="432"/>
            </a:xfrm>
            <a:prstGeom prst="lin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91240B29-F687-4F45-9708-019B960494DF}">
                <a14:hiddenLine xmlns="" xmlns:a14="http://schemas.microsoft.com/office/drawing/2010/main" w="28575">
                  <a:solidFill>
                    <a:schemeClr val="tx1"/>
                  </a:solidFill>
                  <a:round/>
                  <a:headEnd/>
                  <a:tailEnd type="triangle" w="med" len="med"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16493" name="Line 2093"/>
            <p:cNvSpPr>
              <a:spLocks noChangeShapeType="1"/>
            </p:cNvSpPr>
            <p:nvPr/>
          </p:nvSpPr>
          <p:spPr bwMode="auto">
            <a:xfrm flipV="1">
              <a:off x="4128" y="2112"/>
              <a:ext cx="384" cy="43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4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Mayank Pandey, MNNIT, Allahabad, India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40678072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64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64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64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164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164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164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164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164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164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164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164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164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164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164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164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164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6481" grpId="0" autoUpdateAnimBg="0"/>
      <p:bldP spid="616482" grpId="0" autoUpdateAnimBg="0"/>
      <p:bldP spid="616483" grpId="0" autoUpdateAnimBg="0"/>
      <p:bldP spid="616484" grpId="0" autoUpdateAnimBg="0"/>
      <p:bldP spid="616485" grpId="0" autoUpdateAnimBg="0"/>
      <p:bldP spid="616486" grpId="0" autoUpdateAnimBg="0"/>
      <p:bldP spid="616487" grpId="0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82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04800"/>
            <a:ext cx="7793037" cy="1143000"/>
          </a:xfrm>
        </p:spPr>
        <p:txBody>
          <a:bodyPr/>
          <a:lstStyle/>
          <a:p>
            <a:r>
              <a:rPr lang="en-US" dirty="0" smtClean="0"/>
              <a:t>Data-path </a:t>
            </a:r>
            <a:r>
              <a:rPr lang="en-US" dirty="0"/>
              <a:t>with Control III</a:t>
            </a:r>
            <a:br>
              <a:rPr lang="en-US" dirty="0"/>
            </a:br>
            <a:endParaRPr lang="en-US" dirty="0"/>
          </a:p>
        </p:txBody>
      </p:sp>
      <p:pic>
        <p:nvPicPr>
          <p:cNvPr id="532484" name="Picture 4" descr="F0529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854200"/>
            <a:ext cx="7772400" cy="46228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2485" name="Rectangle 5"/>
          <p:cNvSpPr>
            <a:spLocks noChangeArrowheads="1"/>
          </p:cNvSpPr>
          <p:nvPr/>
        </p:nvSpPr>
        <p:spPr bwMode="auto">
          <a:xfrm>
            <a:off x="1447800" y="990600"/>
            <a:ext cx="71628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32486" name="Line 6"/>
          <p:cNvSpPr>
            <a:spLocks noChangeShapeType="1"/>
          </p:cNvSpPr>
          <p:nvPr/>
        </p:nvSpPr>
        <p:spPr bwMode="auto">
          <a:xfrm>
            <a:off x="2514600" y="9906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532489" name="Text Box 9"/>
          <p:cNvSpPr txBox="1">
            <a:spLocks noChangeArrowheads="1"/>
          </p:cNvSpPr>
          <p:nvPr/>
        </p:nvSpPr>
        <p:spPr bwMode="auto">
          <a:xfrm>
            <a:off x="1716088" y="1295400"/>
            <a:ext cx="569912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200">
                <a:latin typeface="Tahoma" pitchFamily="34" charset="0"/>
              </a:rPr>
              <a:t>31-26</a:t>
            </a:r>
          </a:p>
        </p:txBody>
      </p:sp>
      <p:sp>
        <p:nvSpPr>
          <p:cNvPr id="532492" name="Text Box 12"/>
          <p:cNvSpPr txBox="1">
            <a:spLocks noChangeArrowheads="1"/>
          </p:cNvSpPr>
          <p:nvPr/>
        </p:nvSpPr>
        <p:spPr bwMode="auto">
          <a:xfrm>
            <a:off x="4922838" y="1295400"/>
            <a:ext cx="487362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200">
                <a:latin typeface="Tahoma" pitchFamily="34" charset="0"/>
              </a:rPr>
              <a:t>25-0</a:t>
            </a:r>
          </a:p>
        </p:txBody>
      </p:sp>
      <p:sp>
        <p:nvSpPr>
          <p:cNvPr id="532493" name="Text Box 13"/>
          <p:cNvSpPr txBox="1">
            <a:spLocks noChangeArrowheads="1"/>
          </p:cNvSpPr>
          <p:nvPr/>
        </p:nvSpPr>
        <p:spPr bwMode="auto">
          <a:xfrm>
            <a:off x="1600200" y="1020763"/>
            <a:ext cx="668338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200">
                <a:latin typeface="Tahoma" pitchFamily="34" charset="0"/>
              </a:rPr>
              <a:t>opcode</a:t>
            </a:r>
          </a:p>
        </p:txBody>
      </p:sp>
      <p:sp>
        <p:nvSpPr>
          <p:cNvPr id="532496" name="Text Box 16"/>
          <p:cNvSpPr txBox="1">
            <a:spLocks noChangeArrowheads="1"/>
          </p:cNvSpPr>
          <p:nvPr/>
        </p:nvSpPr>
        <p:spPr bwMode="auto">
          <a:xfrm>
            <a:off x="4800600" y="1020763"/>
            <a:ext cx="70485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1200">
                <a:latin typeface="Tahoma" pitchFamily="34" charset="0"/>
              </a:rPr>
              <a:t>address</a:t>
            </a:r>
          </a:p>
        </p:txBody>
      </p:sp>
      <p:sp>
        <p:nvSpPr>
          <p:cNvPr id="532497" name="Text Box 17"/>
          <p:cNvSpPr txBox="1">
            <a:spLocks noChangeArrowheads="1"/>
          </p:cNvSpPr>
          <p:nvPr/>
        </p:nvSpPr>
        <p:spPr bwMode="auto">
          <a:xfrm>
            <a:off x="914400" y="990600"/>
            <a:ext cx="5461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200">
                <a:latin typeface="Tahoma" pitchFamily="34" charset="0"/>
              </a:rPr>
              <a:t>Jump</a:t>
            </a:r>
          </a:p>
        </p:txBody>
      </p:sp>
      <p:sp>
        <p:nvSpPr>
          <p:cNvPr id="532498" name="Text Box 18"/>
          <p:cNvSpPr txBox="1">
            <a:spLocks noChangeArrowheads="1"/>
          </p:cNvSpPr>
          <p:nvPr/>
        </p:nvSpPr>
        <p:spPr bwMode="auto">
          <a:xfrm>
            <a:off x="457200" y="6400800"/>
            <a:ext cx="8686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1600" b="1">
                <a:latin typeface="Tahoma" pitchFamily="34" charset="0"/>
              </a:rPr>
              <a:t>MIPS datapath extended to jumps: control unit generates new Jump control bit</a:t>
            </a:r>
          </a:p>
        </p:txBody>
      </p:sp>
      <p:sp>
        <p:nvSpPr>
          <p:cNvPr id="532499" name="Text Box 19"/>
          <p:cNvSpPr txBox="1">
            <a:spLocks noChangeArrowheads="1"/>
          </p:cNvSpPr>
          <p:nvPr/>
        </p:nvSpPr>
        <p:spPr bwMode="auto">
          <a:xfrm>
            <a:off x="6713538" y="1371600"/>
            <a:ext cx="23542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200">
                <a:solidFill>
                  <a:schemeClr val="hlink"/>
                </a:solidFill>
                <a:latin typeface="Tahoma" pitchFamily="34" charset="0"/>
              </a:rPr>
              <a:t>New multiplexor with additional </a:t>
            </a:r>
          </a:p>
          <a:p>
            <a:r>
              <a:rPr lang="en-US" sz="1200">
                <a:solidFill>
                  <a:schemeClr val="hlink"/>
                </a:solidFill>
                <a:latin typeface="Tahoma" pitchFamily="34" charset="0"/>
              </a:rPr>
              <a:t>control bit Jump</a:t>
            </a:r>
          </a:p>
        </p:txBody>
      </p:sp>
      <p:sp>
        <p:nvSpPr>
          <p:cNvPr id="532500" name="Line 20"/>
          <p:cNvSpPr>
            <a:spLocks noChangeShapeType="1"/>
          </p:cNvSpPr>
          <p:nvPr/>
        </p:nvSpPr>
        <p:spPr bwMode="auto">
          <a:xfrm flipH="1">
            <a:off x="8382000" y="1600200"/>
            <a:ext cx="381000" cy="1143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arrow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532501" name="Text Box 21"/>
          <p:cNvSpPr txBox="1">
            <a:spLocks noChangeArrowheads="1"/>
          </p:cNvSpPr>
          <p:nvPr/>
        </p:nvSpPr>
        <p:spPr bwMode="auto">
          <a:xfrm>
            <a:off x="3124200" y="1371600"/>
            <a:ext cx="13160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200">
                <a:solidFill>
                  <a:schemeClr val="hlink"/>
                </a:solidFill>
                <a:latin typeface="Tahoma" pitchFamily="34" charset="0"/>
              </a:rPr>
              <a:t>Composing jump</a:t>
            </a:r>
          </a:p>
          <a:p>
            <a:r>
              <a:rPr lang="en-US" sz="1200">
                <a:solidFill>
                  <a:schemeClr val="hlink"/>
                </a:solidFill>
                <a:latin typeface="Tahoma" pitchFamily="34" charset="0"/>
              </a:rPr>
              <a:t>target address</a:t>
            </a:r>
          </a:p>
        </p:txBody>
      </p:sp>
      <p:sp>
        <p:nvSpPr>
          <p:cNvPr id="532502" name="Line 22"/>
          <p:cNvSpPr>
            <a:spLocks noChangeShapeType="1"/>
          </p:cNvSpPr>
          <p:nvPr/>
        </p:nvSpPr>
        <p:spPr bwMode="auto">
          <a:xfrm>
            <a:off x="4191000" y="1600200"/>
            <a:ext cx="15240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arrow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965906110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474" name="Rectangle 1026"/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/>
          <a:lstStyle/>
          <a:p>
            <a:r>
              <a:rPr lang="en-US" dirty="0" err="1"/>
              <a:t>Datapath</a:t>
            </a:r>
            <a:r>
              <a:rPr lang="en-US" dirty="0"/>
              <a:t> Executing </a:t>
            </a:r>
            <a:r>
              <a:rPr lang="en-US" dirty="0">
                <a:latin typeface="Courier New" pitchFamily="49" charset="0"/>
              </a:rPr>
              <a:t>j</a:t>
            </a:r>
          </a:p>
        </p:txBody>
      </p:sp>
      <p:sp>
        <p:nvSpPr>
          <p:cNvPr id="617476" name="Rectangle 1028"/>
          <p:cNvSpPr>
            <a:spLocks noChangeArrowheads="1"/>
          </p:cNvSpPr>
          <p:nvPr/>
        </p:nvSpPr>
        <p:spPr bwMode="auto">
          <a:xfrm>
            <a:off x="2362200" y="2863850"/>
            <a:ext cx="228600" cy="74613"/>
          </a:xfrm>
          <a:prstGeom prst="rect">
            <a:avLst/>
          </a:prstGeom>
          <a:solidFill>
            <a:srgbClr val="00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endParaRPr lang="en-US" sz="1800" b="1">
              <a:latin typeface="Helvetica" pitchFamily="34" charset="0"/>
            </a:endParaRPr>
          </a:p>
        </p:txBody>
      </p:sp>
      <p:sp>
        <p:nvSpPr>
          <p:cNvPr id="617477" name="Rectangle 1029"/>
          <p:cNvSpPr>
            <a:spLocks noChangeArrowheads="1"/>
          </p:cNvSpPr>
          <p:nvPr/>
        </p:nvSpPr>
        <p:spPr bwMode="auto">
          <a:xfrm>
            <a:off x="2514600" y="1704975"/>
            <a:ext cx="76200" cy="1219200"/>
          </a:xfrm>
          <a:prstGeom prst="rect">
            <a:avLst/>
          </a:prstGeom>
          <a:solidFill>
            <a:srgbClr val="00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7478" name="Rectangle 1030"/>
          <p:cNvSpPr>
            <a:spLocks noChangeArrowheads="1"/>
          </p:cNvSpPr>
          <p:nvPr/>
        </p:nvSpPr>
        <p:spPr bwMode="auto">
          <a:xfrm>
            <a:off x="2514600" y="1654175"/>
            <a:ext cx="1219200" cy="88900"/>
          </a:xfrm>
          <a:prstGeom prst="rect">
            <a:avLst/>
          </a:prstGeom>
          <a:solidFill>
            <a:srgbClr val="00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7479" name="Rectangle 1031"/>
          <p:cNvSpPr>
            <a:spLocks noChangeArrowheads="1"/>
          </p:cNvSpPr>
          <p:nvPr/>
        </p:nvSpPr>
        <p:spPr bwMode="auto">
          <a:xfrm>
            <a:off x="2362200" y="2078038"/>
            <a:ext cx="2362200" cy="84137"/>
          </a:xfrm>
          <a:prstGeom prst="rect">
            <a:avLst/>
          </a:prstGeom>
          <a:solidFill>
            <a:srgbClr val="00FF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7480" name="Rectangle 1032"/>
          <p:cNvSpPr>
            <a:spLocks noChangeArrowheads="1"/>
          </p:cNvSpPr>
          <p:nvPr/>
        </p:nvSpPr>
        <p:spPr bwMode="auto">
          <a:xfrm>
            <a:off x="7315200" y="2009775"/>
            <a:ext cx="228600" cy="76200"/>
          </a:xfrm>
          <a:prstGeom prst="rect">
            <a:avLst/>
          </a:prstGeom>
          <a:solidFill>
            <a:srgbClr val="00FF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7481" name="Rectangle 1033"/>
          <p:cNvSpPr>
            <a:spLocks noChangeArrowheads="1"/>
          </p:cNvSpPr>
          <p:nvPr/>
        </p:nvSpPr>
        <p:spPr bwMode="auto">
          <a:xfrm>
            <a:off x="7467600" y="1476375"/>
            <a:ext cx="76200" cy="609600"/>
          </a:xfrm>
          <a:prstGeom prst="rect">
            <a:avLst/>
          </a:prstGeom>
          <a:solidFill>
            <a:srgbClr val="00FF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7482" name="Rectangle 1034"/>
          <p:cNvSpPr>
            <a:spLocks noChangeArrowheads="1"/>
          </p:cNvSpPr>
          <p:nvPr/>
        </p:nvSpPr>
        <p:spPr bwMode="auto">
          <a:xfrm>
            <a:off x="517525" y="1447800"/>
            <a:ext cx="7026275" cy="104775"/>
          </a:xfrm>
          <a:prstGeom prst="rect">
            <a:avLst/>
          </a:prstGeom>
          <a:solidFill>
            <a:srgbClr val="00FF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7483" name="Rectangle 1035"/>
          <p:cNvSpPr>
            <a:spLocks noChangeArrowheads="1"/>
          </p:cNvSpPr>
          <p:nvPr/>
        </p:nvSpPr>
        <p:spPr bwMode="auto">
          <a:xfrm>
            <a:off x="504825" y="1476375"/>
            <a:ext cx="76200" cy="1447800"/>
          </a:xfrm>
          <a:prstGeom prst="rect">
            <a:avLst/>
          </a:prstGeom>
          <a:solidFill>
            <a:srgbClr val="00FF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endParaRPr lang="en-US" sz="1800" b="1">
              <a:latin typeface="Helvetica" pitchFamily="34" charset="0"/>
            </a:endParaRPr>
          </a:p>
        </p:txBody>
      </p:sp>
      <p:sp>
        <p:nvSpPr>
          <p:cNvPr id="617484" name="Rectangle 1036"/>
          <p:cNvSpPr>
            <a:spLocks noChangeArrowheads="1"/>
          </p:cNvSpPr>
          <p:nvPr/>
        </p:nvSpPr>
        <p:spPr bwMode="auto">
          <a:xfrm>
            <a:off x="533400" y="2852738"/>
            <a:ext cx="228600" cy="76200"/>
          </a:xfrm>
          <a:prstGeom prst="rect">
            <a:avLst/>
          </a:prstGeom>
          <a:solidFill>
            <a:srgbClr val="00FF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7485" name="Rectangle 1037"/>
          <p:cNvSpPr>
            <a:spLocks noChangeArrowheads="1"/>
          </p:cNvSpPr>
          <p:nvPr/>
        </p:nvSpPr>
        <p:spPr bwMode="auto">
          <a:xfrm>
            <a:off x="1035050" y="2863850"/>
            <a:ext cx="457200" cy="76200"/>
          </a:xfrm>
          <a:prstGeom prst="rect">
            <a:avLst/>
          </a:prstGeom>
          <a:solidFill>
            <a:srgbClr val="00FF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7486" name="Rectangle 1038"/>
          <p:cNvSpPr>
            <a:spLocks noChangeArrowheads="1"/>
          </p:cNvSpPr>
          <p:nvPr/>
        </p:nvSpPr>
        <p:spPr bwMode="auto">
          <a:xfrm>
            <a:off x="1600200" y="2298700"/>
            <a:ext cx="381000" cy="76200"/>
          </a:xfrm>
          <a:prstGeom prst="rect">
            <a:avLst/>
          </a:prstGeom>
          <a:solidFill>
            <a:srgbClr val="00FF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7487" name="Rectangle 1039"/>
          <p:cNvSpPr>
            <a:spLocks noChangeArrowheads="1"/>
          </p:cNvSpPr>
          <p:nvPr/>
        </p:nvSpPr>
        <p:spPr bwMode="auto">
          <a:xfrm>
            <a:off x="1219200" y="1781175"/>
            <a:ext cx="762000" cy="76200"/>
          </a:xfrm>
          <a:prstGeom prst="rect">
            <a:avLst/>
          </a:prstGeom>
          <a:solidFill>
            <a:srgbClr val="00FF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7488" name="Rectangle 1040"/>
          <p:cNvSpPr>
            <a:spLocks noChangeArrowheads="1"/>
          </p:cNvSpPr>
          <p:nvPr/>
        </p:nvSpPr>
        <p:spPr bwMode="auto">
          <a:xfrm>
            <a:off x="1143000" y="1781175"/>
            <a:ext cx="76200" cy="1143000"/>
          </a:xfrm>
          <a:prstGeom prst="rect">
            <a:avLst/>
          </a:prstGeom>
          <a:solidFill>
            <a:srgbClr val="00FF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endParaRPr lang="en-US" sz="1800" b="1">
              <a:latin typeface="Helvetica" pitchFamily="34" charset="0"/>
            </a:endParaRPr>
          </a:p>
        </p:txBody>
      </p:sp>
      <p:sp>
        <p:nvSpPr>
          <p:cNvPr id="617489" name="Rectangle 1041"/>
          <p:cNvSpPr>
            <a:spLocks noChangeArrowheads="1"/>
          </p:cNvSpPr>
          <p:nvPr/>
        </p:nvSpPr>
        <p:spPr bwMode="auto">
          <a:xfrm>
            <a:off x="4648200" y="1857375"/>
            <a:ext cx="76200" cy="228600"/>
          </a:xfrm>
          <a:prstGeom prst="rect">
            <a:avLst/>
          </a:prstGeom>
          <a:solidFill>
            <a:srgbClr val="00FF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7490" name="Rectangle 1042"/>
          <p:cNvSpPr>
            <a:spLocks noChangeArrowheads="1"/>
          </p:cNvSpPr>
          <p:nvPr/>
        </p:nvSpPr>
        <p:spPr bwMode="auto">
          <a:xfrm>
            <a:off x="7048500" y="1857375"/>
            <a:ext cx="152400" cy="76200"/>
          </a:xfrm>
          <a:prstGeom prst="rect">
            <a:avLst/>
          </a:prstGeom>
          <a:solidFill>
            <a:srgbClr val="00FF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7491" name="Rectangle 1043"/>
          <p:cNvSpPr>
            <a:spLocks noChangeArrowheads="1"/>
          </p:cNvSpPr>
          <p:nvPr/>
        </p:nvSpPr>
        <p:spPr bwMode="auto">
          <a:xfrm>
            <a:off x="5041900" y="1666875"/>
            <a:ext cx="1981200" cy="76200"/>
          </a:xfrm>
          <a:prstGeom prst="rect">
            <a:avLst/>
          </a:prstGeom>
          <a:solidFill>
            <a:srgbClr val="00FF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7492" name="Rectangle 1044"/>
          <p:cNvSpPr>
            <a:spLocks noChangeArrowheads="1"/>
          </p:cNvSpPr>
          <p:nvPr/>
        </p:nvSpPr>
        <p:spPr bwMode="auto">
          <a:xfrm>
            <a:off x="6999288" y="1682750"/>
            <a:ext cx="76200" cy="228600"/>
          </a:xfrm>
          <a:prstGeom prst="rect">
            <a:avLst/>
          </a:prstGeom>
          <a:solidFill>
            <a:srgbClr val="00FF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7493" name="Rectangle 1045"/>
          <p:cNvSpPr>
            <a:spLocks noChangeArrowheads="1"/>
          </p:cNvSpPr>
          <p:nvPr/>
        </p:nvSpPr>
        <p:spPr bwMode="auto">
          <a:xfrm>
            <a:off x="4102100" y="1666875"/>
            <a:ext cx="304800" cy="76200"/>
          </a:xfrm>
          <a:prstGeom prst="rect">
            <a:avLst/>
          </a:prstGeom>
          <a:solidFill>
            <a:srgbClr val="00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endParaRPr lang="en-US" sz="1800" b="1">
              <a:latin typeface="Helvetica" pitchFamily="34" charset="0"/>
            </a:endParaRPr>
          </a:p>
        </p:txBody>
      </p:sp>
      <p:pic>
        <p:nvPicPr>
          <p:cNvPr id="617495" name="Picture 1047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66850"/>
            <a:ext cx="8077200" cy="413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=""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Mayank Pandey, MNNIT, Allahabad, India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319227682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730" name="Rectangle 1026"/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/>
          <a:lstStyle/>
          <a:p>
            <a:r>
              <a:rPr lang="en-US" dirty="0"/>
              <a:t>Single-cycle Implementation Notes</a:t>
            </a:r>
          </a:p>
        </p:txBody>
      </p:sp>
      <p:sp>
        <p:nvSpPr>
          <p:cNvPr id="585731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685800" y="1447800"/>
            <a:ext cx="7351712" cy="4114800"/>
          </a:xfrm>
        </p:spPr>
        <p:txBody>
          <a:bodyPr/>
          <a:lstStyle/>
          <a:p>
            <a:r>
              <a:rPr lang="en-US" sz="2400" i="1" dirty="0" smtClean="0"/>
              <a:t>The </a:t>
            </a:r>
            <a:r>
              <a:rPr lang="en-US" sz="2400" i="1" dirty="0"/>
              <a:t>operation of the </a:t>
            </a:r>
            <a:r>
              <a:rPr lang="en-US" sz="2400" i="1" dirty="0" err="1"/>
              <a:t>datapath</a:t>
            </a:r>
            <a:r>
              <a:rPr lang="en-US" sz="2400" i="1" dirty="0"/>
              <a:t> during a cycle is purely combinational</a:t>
            </a:r>
            <a:r>
              <a:rPr lang="en-US" sz="2400" dirty="0"/>
              <a:t> – nothing is stored during a clock cycle</a:t>
            </a:r>
          </a:p>
          <a:p>
            <a:r>
              <a:rPr lang="en-US" sz="2400" dirty="0"/>
              <a:t>Therefore, the machine is stable in a particular state at the start of a cycle and reaches a new stable state only at the end of the </a:t>
            </a:r>
            <a:r>
              <a:rPr lang="en-US" sz="2400" dirty="0" smtClean="0"/>
              <a:t>cycle.     </a:t>
            </a:r>
            <a:endParaRPr lang="en-US" sz="2400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Mayank Pandey, MNNIT, Allahabad, India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63713005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58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9144000" cy="1143000"/>
          </a:xfrm>
          <a:noFill/>
          <a:ln/>
          <a:extLs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/>
          <a:lstStyle/>
          <a:p>
            <a:r>
              <a:rPr lang="en-US" dirty="0"/>
              <a:t>Implementation: ALU Control Block </a:t>
            </a:r>
          </a:p>
        </p:txBody>
      </p:sp>
      <p:pic>
        <p:nvPicPr>
          <p:cNvPr id="451588" name="Picture 4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858962"/>
            <a:ext cx="6553200" cy="3246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51591" name="Text Box 7"/>
          <p:cNvSpPr txBox="1">
            <a:spLocks noChangeArrowheads="1"/>
          </p:cNvSpPr>
          <p:nvPr/>
        </p:nvSpPr>
        <p:spPr bwMode="auto">
          <a:xfrm>
            <a:off x="3565525" y="5181600"/>
            <a:ext cx="19208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600" b="1" dirty="0">
                <a:latin typeface="Tahoma" pitchFamily="34" charset="0"/>
              </a:rPr>
              <a:t>ALU control logic</a:t>
            </a:r>
          </a:p>
        </p:txBody>
      </p:sp>
      <p:sp>
        <p:nvSpPr>
          <p:cNvPr id="13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Mayank Pandey, MNNIT, Allahabad, India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555574024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15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/>
          <a:lstStyle/>
          <a:p>
            <a:r>
              <a:rPr lang="en-US" sz="4000" dirty="0"/>
              <a:t>Implementation: Main Control Block</a:t>
            </a:r>
          </a:p>
        </p:txBody>
      </p:sp>
      <p:pic>
        <p:nvPicPr>
          <p:cNvPr id="561156" name="Picture 4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1295400"/>
            <a:ext cx="3886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61157" name="Text Box 5"/>
          <p:cNvSpPr txBox="1">
            <a:spLocks noChangeArrowheads="1"/>
          </p:cNvSpPr>
          <p:nvPr/>
        </p:nvSpPr>
        <p:spPr bwMode="auto">
          <a:xfrm>
            <a:off x="568325" y="1905000"/>
            <a:ext cx="3851275" cy="430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b="1" dirty="0">
                <a:latin typeface="Tahoma" pitchFamily="34" charset="0"/>
              </a:rPr>
              <a:t>Signal    R-           </a:t>
            </a:r>
            <a:r>
              <a:rPr lang="en-US" sz="1800" b="1" dirty="0" err="1">
                <a:latin typeface="Tahoma" pitchFamily="34" charset="0"/>
              </a:rPr>
              <a:t>lw</a:t>
            </a:r>
            <a:r>
              <a:rPr lang="en-US" sz="1800" b="1" dirty="0">
                <a:latin typeface="Tahoma" pitchFamily="34" charset="0"/>
              </a:rPr>
              <a:t>     </a:t>
            </a:r>
            <a:r>
              <a:rPr lang="en-US" sz="1800" b="1" dirty="0" err="1">
                <a:latin typeface="Tahoma" pitchFamily="34" charset="0"/>
              </a:rPr>
              <a:t>sw</a:t>
            </a:r>
            <a:r>
              <a:rPr lang="en-US" sz="1800" b="1" dirty="0">
                <a:latin typeface="Tahoma" pitchFamily="34" charset="0"/>
              </a:rPr>
              <a:t>    </a:t>
            </a:r>
            <a:r>
              <a:rPr lang="en-US" sz="1800" b="1" dirty="0" err="1">
                <a:latin typeface="Tahoma" pitchFamily="34" charset="0"/>
              </a:rPr>
              <a:t>beq</a:t>
            </a:r>
            <a:endParaRPr lang="en-US" sz="1800" b="1" dirty="0">
              <a:latin typeface="Tahoma" pitchFamily="34" charset="0"/>
            </a:endParaRPr>
          </a:p>
          <a:p>
            <a:r>
              <a:rPr lang="en-US" sz="1800" b="1" dirty="0">
                <a:latin typeface="Tahoma" pitchFamily="34" charset="0"/>
              </a:rPr>
              <a:t>name     format</a:t>
            </a:r>
          </a:p>
          <a:p>
            <a:r>
              <a:rPr lang="en-US" sz="1600" dirty="0">
                <a:latin typeface="Courier New" pitchFamily="49" charset="0"/>
              </a:rPr>
              <a:t>Op5        0    1    1    0</a:t>
            </a:r>
          </a:p>
          <a:p>
            <a:r>
              <a:rPr lang="en-US" sz="1600" dirty="0">
                <a:latin typeface="Courier New" pitchFamily="49" charset="0"/>
              </a:rPr>
              <a:t>Op4        0    0    0    0</a:t>
            </a:r>
          </a:p>
          <a:p>
            <a:r>
              <a:rPr lang="en-US" sz="1600" dirty="0">
                <a:latin typeface="Courier New" pitchFamily="49" charset="0"/>
              </a:rPr>
              <a:t>Op3        0    0    1    0</a:t>
            </a:r>
          </a:p>
          <a:p>
            <a:r>
              <a:rPr lang="en-US" sz="1600" dirty="0">
                <a:latin typeface="Courier New" pitchFamily="49" charset="0"/>
              </a:rPr>
              <a:t>Op2        0    0    0    1</a:t>
            </a:r>
          </a:p>
          <a:p>
            <a:r>
              <a:rPr lang="en-US" sz="1600" dirty="0">
                <a:latin typeface="Courier New" pitchFamily="49" charset="0"/>
              </a:rPr>
              <a:t>Op1        0    1    1    0</a:t>
            </a:r>
          </a:p>
          <a:p>
            <a:r>
              <a:rPr lang="en-US" sz="1600" dirty="0">
                <a:latin typeface="Courier New" pitchFamily="49" charset="0"/>
              </a:rPr>
              <a:t>Op0        0    1    1    0</a:t>
            </a:r>
          </a:p>
          <a:p>
            <a:r>
              <a:rPr lang="en-US" sz="1600" dirty="0" err="1">
                <a:latin typeface="Courier New" pitchFamily="49" charset="0"/>
              </a:rPr>
              <a:t>RegDst</a:t>
            </a:r>
            <a:r>
              <a:rPr lang="en-US" sz="1600" dirty="0">
                <a:latin typeface="Courier New" pitchFamily="49" charset="0"/>
              </a:rPr>
              <a:t>     1    0    x    </a:t>
            </a:r>
            <a:r>
              <a:rPr lang="en-US" sz="1600" dirty="0" err="1">
                <a:latin typeface="Courier New" pitchFamily="49" charset="0"/>
              </a:rPr>
              <a:t>x</a:t>
            </a:r>
            <a:endParaRPr lang="en-US" sz="1600" dirty="0">
              <a:latin typeface="Courier New" pitchFamily="49" charset="0"/>
            </a:endParaRPr>
          </a:p>
          <a:p>
            <a:r>
              <a:rPr lang="en-US" sz="1600" dirty="0" err="1">
                <a:latin typeface="Courier New" pitchFamily="49" charset="0"/>
              </a:rPr>
              <a:t>ALUSrc</a:t>
            </a:r>
            <a:r>
              <a:rPr lang="en-US" sz="1600" dirty="0">
                <a:latin typeface="Courier New" pitchFamily="49" charset="0"/>
              </a:rPr>
              <a:t>     0    1    1    0</a:t>
            </a:r>
          </a:p>
          <a:p>
            <a:r>
              <a:rPr lang="en-US" sz="1600" dirty="0" err="1">
                <a:latin typeface="Courier New" pitchFamily="49" charset="0"/>
              </a:rPr>
              <a:t>MemtoReg</a:t>
            </a:r>
            <a:r>
              <a:rPr lang="en-US" sz="1600" dirty="0">
                <a:latin typeface="Courier New" pitchFamily="49" charset="0"/>
              </a:rPr>
              <a:t>   0    1    x    </a:t>
            </a:r>
            <a:r>
              <a:rPr lang="en-US" sz="1600" dirty="0" err="1">
                <a:latin typeface="Courier New" pitchFamily="49" charset="0"/>
              </a:rPr>
              <a:t>x</a:t>
            </a:r>
            <a:endParaRPr lang="en-US" sz="1600" dirty="0">
              <a:latin typeface="Courier New" pitchFamily="49" charset="0"/>
            </a:endParaRPr>
          </a:p>
          <a:p>
            <a:r>
              <a:rPr lang="en-US" sz="1600" dirty="0" err="1">
                <a:latin typeface="Courier New" pitchFamily="49" charset="0"/>
              </a:rPr>
              <a:t>RegWrite</a:t>
            </a:r>
            <a:r>
              <a:rPr lang="en-US" sz="1600" dirty="0">
                <a:latin typeface="Courier New" pitchFamily="49" charset="0"/>
              </a:rPr>
              <a:t>   1    1    0    0</a:t>
            </a:r>
          </a:p>
          <a:p>
            <a:r>
              <a:rPr lang="en-US" sz="1600" dirty="0" err="1">
                <a:latin typeface="Courier New" pitchFamily="49" charset="0"/>
              </a:rPr>
              <a:t>MemRead</a:t>
            </a:r>
            <a:r>
              <a:rPr lang="en-US" sz="1600" dirty="0">
                <a:latin typeface="Courier New" pitchFamily="49" charset="0"/>
              </a:rPr>
              <a:t>    0    1    0    0   </a:t>
            </a:r>
          </a:p>
          <a:p>
            <a:r>
              <a:rPr lang="en-US" sz="1600" dirty="0" err="1">
                <a:latin typeface="Courier New" pitchFamily="49" charset="0"/>
              </a:rPr>
              <a:t>MemWrite</a:t>
            </a:r>
            <a:r>
              <a:rPr lang="en-US" sz="1600" dirty="0">
                <a:latin typeface="Courier New" pitchFamily="49" charset="0"/>
              </a:rPr>
              <a:t>   0    0    1    0</a:t>
            </a:r>
          </a:p>
          <a:p>
            <a:r>
              <a:rPr lang="en-US" sz="1600" dirty="0">
                <a:latin typeface="Courier New" pitchFamily="49" charset="0"/>
              </a:rPr>
              <a:t>Branch     0    0    0    1</a:t>
            </a:r>
          </a:p>
          <a:p>
            <a:r>
              <a:rPr lang="en-US" sz="1600" dirty="0">
                <a:latin typeface="Courier New" pitchFamily="49" charset="0"/>
              </a:rPr>
              <a:t>ALUOp1     1    0    0    0</a:t>
            </a:r>
          </a:p>
          <a:p>
            <a:r>
              <a:rPr lang="en-US" sz="1600" dirty="0">
                <a:latin typeface="Courier New" pitchFamily="49" charset="0"/>
              </a:rPr>
              <a:t>ALUOP2     0    0    0    1</a:t>
            </a:r>
          </a:p>
        </p:txBody>
      </p:sp>
      <p:sp>
        <p:nvSpPr>
          <p:cNvPr id="561158" name="AutoShape 6"/>
          <p:cNvSpPr>
            <a:spLocks/>
          </p:cNvSpPr>
          <p:nvPr/>
        </p:nvSpPr>
        <p:spPr bwMode="auto">
          <a:xfrm>
            <a:off x="457200" y="2514600"/>
            <a:ext cx="76200" cy="1447800"/>
          </a:xfrm>
          <a:prstGeom prst="leftBrace">
            <a:avLst>
              <a:gd name="adj1" fmla="val 158333"/>
              <a:gd name="adj2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61159" name="AutoShape 7"/>
          <p:cNvSpPr>
            <a:spLocks/>
          </p:cNvSpPr>
          <p:nvPr/>
        </p:nvSpPr>
        <p:spPr bwMode="auto">
          <a:xfrm>
            <a:off x="381000" y="4038600"/>
            <a:ext cx="152400" cy="2133600"/>
          </a:xfrm>
          <a:prstGeom prst="leftBrace">
            <a:avLst>
              <a:gd name="adj1" fmla="val 116667"/>
              <a:gd name="adj2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61160" name="Text Box 8"/>
          <p:cNvSpPr txBox="1">
            <a:spLocks noChangeArrowheads="1"/>
          </p:cNvSpPr>
          <p:nvPr/>
        </p:nvSpPr>
        <p:spPr bwMode="auto">
          <a:xfrm rot="-5400000">
            <a:off x="-198437" y="3001963"/>
            <a:ext cx="94456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b="1">
                <a:latin typeface="Tahoma" pitchFamily="34" charset="0"/>
              </a:rPr>
              <a:t>Inputs</a:t>
            </a:r>
          </a:p>
        </p:txBody>
      </p:sp>
      <p:sp>
        <p:nvSpPr>
          <p:cNvPr id="561161" name="Text Box 9"/>
          <p:cNvSpPr txBox="1">
            <a:spLocks noChangeArrowheads="1"/>
          </p:cNvSpPr>
          <p:nvPr/>
        </p:nvSpPr>
        <p:spPr bwMode="auto">
          <a:xfrm rot="-5400000">
            <a:off x="-354806" y="4979194"/>
            <a:ext cx="11049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b="1">
                <a:latin typeface="Tahoma" pitchFamily="34" charset="0"/>
              </a:rPr>
              <a:t>Outputs</a:t>
            </a:r>
          </a:p>
        </p:txBody>
      </p:sp>
      <p:sp>
        <p:nvSpPr>
          <p:cNvPr id="561162" name="Text Box 10"/>
          <p:cNvSpPr txBox="1">
            <a:spLocks noChangeArrowheads="1"/>
          </p:cNvSpPr>
          <p:nvPr/>
        </p:nvSpPr>
        <p:spPr bwMode="auto">
          <a:xfrm>
            <a:off x="381000" y="6172200"/>
            <a:ext cx="37988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600" b="1">
                <a:latin typeface="Tahoma" pitchFamily="34" charset="0"/>
              </a:rPr>
              <a:t>Truth table for main control signals</a:t>
            </a:r>
          </a:p>
        </p:txBody>
      </p:sp>
      <p:sp>
        <p:nvSpPr>
          <p:cNvPr id="561164" name="AutoShape 12"/>
          <p:cNvSpPr>
            <a:spLocks noChangeArrowheads="1"/>
          </p:cNvSpPr>
          <p:nvPr/>
        </p:nvSpPr>
        <p:spPr bwMode="auto">
          <a:xfrm>
            <a:off x="4343400" y="3857625"/>
            <a:ext cx="304800" cy="485775"/>
          </a:xfrm>
          <a:prstGeom prst="rightArrow">
            <a:avLst>
              <a:gd name="adj1" fmla="val 50000"/>
              <a:gd name="adj2" fmla="val 25000"/>
            </a:avLst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61165" name="Text Box 13"/>
          <p:cNvSpPr txBox="1">
            <a:spLocks noChangeArrowheads="1"/>
          </p:cNvSpPr>
          <p:nvPr/>
        </p:nvSpPr>
        <p:spPr bwMode="auto">
          <a:xfrm>
            <a:off x="5118100" y="5410200"/>
            <a:ext cx="3900488" cy="1069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600" b="1">
                <a:latin typeface="Tahoma" pitchFamily="34" charset="0"/>
              </a:rPr>
              <a:t>Main control PLA (programmable</a:t>
            </a:r>
          </a:p>
          <a:p>
            <a:r>
              <a:rPr lang="en-US" sz="1600" b="1">
                <a:latin typeface="Tahoma" pitchFamily="34" charset="0"/>
              </a:rPr>
              <a:t>logic array): </a:t>
            </a:r>
            <a:r>
              <a:rPr lang="en-US" sz="1600" b="1">
                <a:solidFill>
                  <a:schemeClr val="hlink"/>
                </a:solidFill>
                <a:latin typeface="Tahoma" pitchFamily="34" charset="0"/>
              </a:rPr>
              <a:t>principle underlying</a:t>
            </a:r>
          </a:p>
          <a:p>
            <a:r>
              <a:rPr lang="en-US" sz="1600" b="1">
                <a:solidFill>
                  <a:schemeClr val="hlink"/>
                </a:solidFill>
                <a:latin typeface="Tahoma" pitchFamily="34" charset="0"/>
              </a:rPr>
              <a:t>PLAs is that any logical expression</a:t>
            </a:r>
          </a:p>
          <a:p>
            <a:r>
              <a:rPr lang="en-US" sz="1600" b="1">
                <a:solidFill>
                  <a:schemeClr val="hlink"/>
                </a:solidFill>
                <a:latin typeface="Tahoma" pitchFamily="34" charset="0"/>
              </a:rPr>
              <a:t>can be written as a sum-of-products</a:t>
            </a:r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92875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Mayank Pandey, MNNIT, Allahabad, India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14177124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634" name="Rectangle 2"/>
          <p:cNvSpPr>
            <a:spLocks noChangeArrowheads="1"/>
          </p:cNvSpPr>
          <p:nvPr/>
        </p:nvSpPr>
        <p:spPr bwMode="auto">
          <a:xfrm>
            <a:off x="225425" y="312738"/>
            <a:ext cx="4371975" cy="477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50" tIns="26988" rIns="19050" bIns="26988"/>
          <a:lstStyle/>
          <a:p>
            <a:pPr defTabSz="904875" eaLnBrk="0" hangingPunct="0">
              <a:lnSpc>
                <a:spcPts val="2800"/>
              </a:lnSpc>
              <a:tabLst>
                <a:tab pos="904875" algn="l"/>
                <a:tab pos="1809750" algn="l"/>
                <a:tab pos="2716213" algn="l"/>
                <a:tab pos="3621088" algn="l"/>
                <a:tab pos="4525963" algn="l"/>
                <a:tab pos="5430838" algn="l"/>
                <a:tab pos="6337300" algn="l"/>
              </a:tabLst>
            </a:pPr>
            <a:r>
              <a:rPr lang="en-US" sz="2400" b="1">
                <a:solidFill>
                  <a:srgbClr val="000000"/>
                </a:solidFill>
                <a:latin typeface="Arial" charset="0"/>
              </a:rPr>
              <a:t> </a:t>
            </a:r>
          </a:p>
        </p:txBody>
      </p:sp>
      <p:sp>
        <p:nvSpPr>
          <p:cNvPr id="4536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305800" cy="3810000"/>
          </a:xfrm>
          <a:noFill/>
          <a:ln/>
          <a:extLs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>
              <a:lnSpc>
                <a:spcPct val="120000"/>
              </a:lnSpc>
            </a:pPr>
            <a:r>
              <a:rPr lang="en-US" sz="2400" dirty="0" smtClean="0"/>
              <a:t>Assuming </a:t>
            </a:r>
            <a:r>
              <a:rPr lang="en-US" sz="2400" dirty="0"/>
              <a:t>fixed-period clock every instruction </a:t>
            </a:r>
            <a:r>
              <a:rPr lang="en-US" sz="2400" dirty="0" err="1"/>
              <a:t>datapath</a:t>
            </a:r>
            <a:r>
              <a:rPr lang="en-US" sz="2400" dirty="0"/>
              <a:t> uses one clock cycle implies: </a:t>
            </a:r>
          </a:p>
          <a:p>
            <a:pPr lvl="1">
              <a:lnSpc>
                <a:spcPct val="120000"/>
              </a:lnSpc>
            </a:pPr>
            <a:r>
              <a:rPr lang="en-US" sz="2000" dirty="0"/>
              <a:t>CPI = 1</a:t>
            </a:r>
          </a:p>
          <a:p>
            <a:pPr lvl="1">
              <a:lnSpc>
                <a:spcPct val="120000"/>
              </a:lnSpc>
            </a:pPr>
            <a:r>
              <a:rPr lang="en-US" sz="2000" dirty="0"/>
              <a:t>cycle time determined by length of the longest instruction path (load)</a:t>
            </a:r>
          </a:p>
          <a:p>
            <a:pPr lvl="2">
              <a:lnSpc>
                <a:spcPct val="120000"/>
              </a:lnSpc>
            </a:pPr>
            <a:r>
              <a:rPr lang="en-US" sz="1800" dirty="0"/>
              <a:t>but several instructions could run in a shorter clock cycle: </a:t>
            </a:r>
            <a:r>
              <a:rPr lang="en-US" sz="1800" i="1" dirty="0"/>
              <a:t>waste of time</a:t>
            </a:r>
          </a:p>
          <a:p>
            <a:pPr lvl="2">
              <a:lnSpc>
                <a:spcPct val="120000"/>
              </a:lnSpc>
            </a:pPr>
            <a:r>
              <a:rPr lang="en-US" sz="1800" dirty="0"/>
              <a:t>consider if we have more complicated instructions like floating point!</a:t>
            </a:r>
          </a:p>
          <a:p>
            <a:pPr lvl="1">
              <a:lnSpc>
                <a:spcPct val="120000"/>
              </a:lnSpc>
            </a:pPr>
            <a:r>
              <a:rPr lang="en-US" sz="2000" dirty="0"/>
              <a:t>resources used more than once in the same cycle need to be duplicated</a:t>
            </a:r>
          </a:p>
          <a:p>
            <a:pPr lvl="2">
              <a:lnSpc>
                <a:spcPct val="120000"/>
              </a:lnSpc>
            </a:pPr>
            <a:r>
              <a:rPr lang="en-US" sz="1800" i="1" dirty="0"/>
              <a:t>waste of hardware and chip area</a:t>
            </a:r>
          </a:p>
          <a:p>
            <a:pPr lvl="1">
              <a:lnSpc>
                <a:spcPct val="120000"/>
              </a:lnSpc>
            </a:pPr>
            <a:endParaRPr lang="en-US" sz="1800" dirty="0"/>
          </a:p>
        </p:txBody>
      </p:sp>
      <p:sp>
        <p:nvSpPr>
          <p:cNvPr id="453636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1143000"/>
          </a:xfrm>
          <a:noFill/>
          <a:ln/>
          <a:extLs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/>
          <a:lstStyle/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Single-Cycle Design Problems</a:t>
            </a:r>
            <a:br>
              <a:rPr lang="en-US" dirty="0"/>
            </a:b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Mayank Pandey, MNNIT, Allahabad, India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81286217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73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838200"/>
            <a:ext cx="8991600" cy="838200"/>
          </a:xfrm>
          <a:noFill/>
          <a:ln/>
          <a:extLs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/>
          <a:lstStyle/>
          <a:p>
            <a:r>
              <a:rPr lang="en-US" dirty="0"/>
              <a:t/>
            </a:r>
            <a:br>
              <a:rPr lang="en-US" dirty="0"/>
            </a:br>
            <a:r>
              <a:rPr lang="en-US" sz="3600" dirty="0"/>
              <a:t>Fixing the problem with single-cycle designs</a:t>
            </a:r>
            <a:br>
              <a:rPr lang="en-US" sz="3600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457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8382000" cy="3962400"/>
          </a:xfrm>
          <a:noFill/>
          <a:ln/>
          <a:extLs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r>
              <a:rPr lang="en-US" sz="2400" dirty="0"/>
              <a:t>   </a:t>
            </a:r>
            <a:r>
              <a:rPr lang="en-US" sz="2400" dirty="0" smtClean="0"/>
              <a:t>One </a:t>
            </a:r>
            <a:r>
              <a:rPr lang="en-US" sz="2400" dirty="0"/>
              <a:t>solution: a variable-period clock with different cycle times for each instruction class</a:t>
            </a:r>
          </a:p>
          <a:p>
            <a:pPr lvl="1"/>
            <a:r>
              <a:rPr lang="en-US" sz="2000" i="1" dirty="0"/>
              <a:t>unfeasible</a:t>
            </a:r>
            <a:r>
              <a:rPr lang="en-US" sz="2000" dirty="0"/>
              <a:t>, as implementing a variable-speed clock is technically difficult</a:t>
            </a:r>
          </a:p>
          <a:p>
            <a:r>
              <a:rPr lang="en-US" sz="2400" dirty="0"/>
              <a:t>Another solution:</a:t>
            </a:r>
          </a:p>
          <a:p>
            <a:pPr lvl="1"/>
            <a:r>
              <a:rPr lang="en-US" sz="2000" dirty="0"/>
              <a:t>use a smaller cycle time…</a:t>
            </a:r>
          </a:p>
          <a:p>
            <a:pPr lvl="1"/>
            <a:r>
              <a:rPr lang="en-US" sz="2000" dirty="0"/>
              <a:t>…have different instructions take different numbers of cycles</a:t>
            </a:r>
          </a:p>
          <a:p>
            <a:pPr lvl="1">
              <a:buFont typeface="Wingdings" pitchFamily="2" charset="2"/>
              <a:buNone/>
            </a:pPr>
            <a:r>
              <a:rPr lang="en-US" sz="2000" dirty="0"/>
              <a:t>    by breaking instructions into steps and fitting each step into one cycle</a:t>
            </a:r>
          </a:p>
          <a:p>
            <a:pPr lvl="1"/>
            <a:r>
              <a:rPr lang="en-US" sz="2000" i="1" dirty="0"/>
              <a:t>feasible: </a:t>
            </a:r>
            <a:r>
              <a:rPr lang="en-US" sz="2000" i="1" dirty="0" err="1"/>
              <a:t>multicyle</a:t>
            </a:r>
            <a:r>
              <a:rPr lang="en-US" sz="2000" i="1" dirty="0"/>
              <a:t> approach</a:t>
            </a:r>
            <a:r>
              <a:rPr lang="en-US" sz="2000" dirty="0"/>
              <a:t>!</a:t>
            </a:r>
            <a:endParaRPr lang="en-US" sz="2000" i="1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Mayank Pandey, MNNIT, Allahabad, India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94136037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922" name="Rectangle 2"/>
          <p:cNvSpPr>
            <a:spLocks noChangeArrowheads="1"/>
          </p:cNvSpPr>
          <p:nvPr/>
        </p:nvSpPr>
        <p:spPr bwMode="auto">
          <a:xfrm>
            <a:off x="225425" y="312738"/>
            <a:ext cx="4308475" cy="477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65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371600"/>
            <a:ext cx="7772400" cy="4114800"/>
          </a:xfrm>
          <a:noFill/>
          <a:ln/>
          <a:extLs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>
              <a:lnSpc>
                <a:spcPct val="90000"/>
              </a:lnSpc>
            </a:pPr>
            <a:r>
              <a:rPr lang="en-US" sz="2000" dirty="0"/>
              <a:t>Break up the instructions into </a:t>
            </a:r>
            <a:r>
              <a:rPr lang="en-US" sz="2000" i="1" dirty="0"/>
              <a:t>steps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each step takes one clock cycle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balance the amount of work to be done in each step/cycle so that they are about equal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restrict each cycle to use at most once each major functional unit so that such units do not have to be replicated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functional units can be shared between different cycles within one instruction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Between steps/cycles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At the end of one cycle store data to be used in </a:t>
            </a:r>
            <a:r>
              <a:rPr lang="en-US" sz="1800" i="1" dirty="0"/>
              <a:t>later cycles of the</a:t>
            </a:r>
            <a:r>
              <a:rPr lang="en-US" sz="1800" dirty="0"/>
              <a:t> </a:t>
            </a:r>
            <a:r>
              <a:rPr lang="en-US" sz="1800" i="1" dirty="0"/>
              <a:t>same</a:t>
            </a:r>
            <a:r>
              <a:rPr lang="en-US" sz="1800" dirty="0"/>
              <a:t> instruction</a:t>
            </a:r>
          </a:p>
          <a:p>
            <a:pPr lvl="2">
              <a:lnSpc>
                <a:spcPct val="90000"/>
              </a:lnSpc>
            </a:pPr>
            <a:r>
              <a:rPr lang="en-US" sz="1600" dirty="0"/>
              <a:t>need to introduce additional </a:t>
            </a:r>
            <a:r>
              <a:rPr lang="en-US" sz="1600" i="1" dirty="0"/>
              <a:t>internal</a:t>
            </a:r>
            <a:r>
              <a:rPr lang="en-US" sz="1600" dirty="0"/>
              <a:t> (programmer-invisible) registers for this purpose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Data to be used in </a:t>
            </a:r>
            <a:r>
              <a:rPr lang="en-US" sz="1800" i="1" dirty="0"/>
              <a:t>later instructions </a:t>
            </a:r>
            <a:r>
              <a:rPr lang="en-US" sz="1800" dirty="0"/>
              <a:t>are stored in programmer-visible state elements: the register file, PC, memory</a:t>
            </a:r>
            <a:endParaRPr lang="en-US" sz="1800" i="1" dirty="0"/>
          </a:p>
          <a:p>
            <a:pPr lvl="2">
              <a:lnSpc>
                <a:spcPct val="90000"/>
              </a:lnSpc>
              <a:buFont typeface="Wingdings" pitchFamily="2" charset="2"/>
              <a:buNone/>
            </a:pPr>
            <a:r>
              <a:rPr lang="en-US" sz="1600" dirty="0"/>
              <a:t> </a:t>
            </a:r>
          </a:p>
          <a:p>
            <a:pPr lvl="2">
              <a:lnSpc>
                <a:spcPct val="90000"/>
              </a:lnSpc>
              <a:buFont typeface="Wingdings" pitchFamily="2" charset="2"/>
              <a:buNone/>
            </a:pPr>
            <a:endParaRPr lang="en-US" sz="1600" dirty="0"/>
          </a:p>
        </p:txBody>
      </p:sp>
      <p:sp>
        <p:nvSpPr>
          <p:cNvPr id="465924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8229600" cy="1143000"/>
          </a:xfrm>
          <a:noFill/>
          <a:ln/>
          <a:extLs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/>
          <a:lstStyle/>
          <a:p>
            <a:r>
              <a:rPr lang="en-US" dirty="0" smtClean="0"/>
              <a:t>Multi-cycle </a:t>
            </a:r>
            <a:r>
              <a:rPr lang="en-US" dirty="0"/>
              <a:t>Approach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Mayank Pandey, MNNIT, Allahabad, India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676709588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Single Vs Multi Cycle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0C72227-FECD-4039-A327-B8D82E75A27D}" type="datetime1">
              <a:rPr lang="en-US" smtClean="0"/>
              <a:pPr>
                <a:defRPr/>
              </a:pPr>
              <a:t>3/31/2015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Mayank Pandey, MNNIT, Allahabad, India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B326667-E6E6-4DE2-8E19-42096EDF6697}" type="slidenum">
              <a:rPr lang="en-US" smtClean="0"/>
              <a:pPr>
                <a:defRPr/>
              </a:pPr>
              <a:t>49</a:t>
            </a:fld>
            <a:endParaRPr lang="en-US" dirty="0"/>
          </a:p>
        </p:txBody>
      </p:sp>
      <p:pic>
        <p:nvPicPr>
          <p:cNvPr id="6" name="Picture 5" descr="F051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62401" y="1415069"/>
            <a:ext cx="5029200" cy="2623531"/>
          </a:xfrm>
          <a:prstGeom prst="rect">
            <a:avLst/>
          </a:prstGeom>
          <a:noFill/>
        </p:spPr>
      </p:pic>
      <p:pic>
        <p:nvPicPr>
          <p:cNvPr id="7" name="Picture 6" descr="F053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75645" y="4114800"/>
            <a:ext cx="5439755" cy="2209800"/>
          </a:xfrm>
          <a:prstGeom prst="rect">
            <a:avLst/>
          </a:prstGeom>
          <a:noFill/>
        </p:spPr>
      </p:pic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76200" y="1676400"/>
            <a:ext cx="2971800" cy="3733800"/>
          </a:xfrm>
          <a:prstGeom prst="rect">
            <a:avLst/>
          </a:prstGeom>
          <a:noFill/>
          <a:ln/>
        </p:spPr>
        <p:txBody>
          <a:bodyPr lIns="90488" tIns="44450" rIns="90488" bIns="44450"/>
          <a:lstStyle/>
          <a:p>
            <a:pPr marL="285750" indent="-285750" eaLnBrk="0" hangingPunct="0">
              <a:lnSpc>
                <a:spcPct val="90000"/>
              </a:lnSpc>
              <a:spcBef>
                <a:spcPct val="20000"/>
              </a:spcBef>
              <a:buFont typeface="Arial" charset="0"/>
              <a:buChar char="–"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single memory for data and instructions</a:t>
            </a:r>
          </a:p>
          <a:p>
            <a:pPr marL="285750" indent="-285750" eaLnBrk="0" hangingPunct="0">
              <a:lnSpc>
                <a:spcPct val="90000"/>
              </a:lnSpc>
              <a:spcBef>
                <a:spcPct val="20000"/>
              </a:spcBef>
              <a:buFont typeface="Arial" charset="0"/>
              <a:buChar char="–"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single ALU, no extra adders</a:t>
            </a:r>
          </a:p>
          <a:p>
            <a:pPr marL="285750" indent="-285750" eaLnBrk="0" hangingPunct="0">
              <a:lnSpc>
                <a:spcPct val="90000"/>
              </a:lnSpc>
              <a:spcBef>
                <a:spcPct val="20000"/>
              </a:spcBef>
              <a:buFont typeface="Arial" charset="0"/>
              <a:buChar char="–"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extra registers to hold data between clock cycles</a:t>
            </a:r>
          </a:p>
          <a:p>
            <a:pPr marL="1143000" marR="0" lvl="2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</a:p>
          <a:p>
            <a:pPr marL="742950" marR="0" lvl="1" indent="-28575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53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533400"/>
            <a:ext cx="7793037" cy="762000"/>
          </a:xfrm>
        </p:spPr>
        <p:txBody>
          <a:bodyPr/>
          <a:lstStyle/>
          <a:p>
            <a:r>
              <a:rPr lang="en-US" dirty="0" smtClean="0"/>
              <a:t>Multi-cycle Data-path</a:t>
            </a:r>
            <a:endParaRPr lang="en-US" dirty="0"/>
          </a:p>
        </p:txBody>
      </p:sp>
      <p:pic>
        <p:nvPicPr>
          <p:cNvPr id="534532" name="Picture 4" descr="F053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1524000"/>
            <a:ext cx="8610600" cy="3305175"/>
          </a:xfrm>
          <a:prstGeom prst="rect">
            <a:avLst/>
          </a:prstGeom>
          <a:noFill/>
        </p:spPr>
      </p:pic>
      <p:sp>
        <p:nvSpPr>
          <p:cNvPr id="534533" name="Text Box 5"/>
          <p:cNvSpPr txBox="1">
            <a:spLocks noChangeArrowheads="1"/>
          </p:cNvSpPr>
          <p:nvPr/>
        </p:nvSpPr>
        <p:spPr bwMode="auto">
          <a:xfrm>
            <a:off x="708025" y="4997450"/>
            <a:ext cx="830708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b="1" dirty="0">
                <a:latin typeface="Tahoma" pitchFamily="34" charset="0"/>
              </a:rPr>
              <a:t>Basic </a:t>
            </a:r>
            <a:r>
              <a:rPr lang="en-US" sz="1600" b="1" dirty="0" smtClean="0">
                <a:latin typeface="Tahoma" pitchFamily="34" charset="0"/>
              </a:rPr>
              <a:t>multi-cycle </a:t>
            </a:r>
            <a:r>
              <a:rPr lang="en-US" sz="1600" b="1" dirty="0">
                <a:latin typeface="Tahoma" pitchFamily="34" charset="0"/>
              </a:rPr>
              <a:t>MIPS </a:t>
            </a:r>
            <a:r>
              <a:rPr lang="en-US" sz="1600" b="1" dirty="0" smtClean="0">
                <a:latin typeface="Tahoma" pitchFamily="34" charset="0"/>
              </a:rPr>
              <a:t>data-path </a:t>
            </a:r>
            <a:r>
              <a:rPr lang="en-US" sz="1600" b="1" dirty="0">
                <a:latin typeface="Tahoma" pitchFamily="34" charset="0"/>
              </a:rPr>
              <a:t>handles R-type instructions and load/stores:</a:t>
            </a:r>
          </a:p>
          <a:p>
            <a:r>
              <a:rPr lang="en-US" sz="1600" b="1" dirty="0">
                <a:latin typeface="Tahoma" pitchFamily="34" charset="0"/>
              </a:rPr>
              <a:t>new internal register in </a:t>
            </a:r>
            <a:r>
              <a:rPr lang="en-US" sz="1600" b="1" dirty="0" smtClean="0">
                <a:solidFill>
                  <a:schemeClr val="hlink"/>
                </a:solidFill>
                <a:latin typeface="Tahoma" pitchFamily="34" charset="0"/>
              </a:rPr>
              <a:t>blue </a:t>
            </a:r>
            <a:r>
              <a:rPr lang="en-US" sz="1600" b="1" dirty="0">
                <a:solidFill>
                  <a:schemeClr val="hlink"/>
                </a:solidFill>
                <a:latin typeface="Tahoma" pitchFamily="34" charset="0"/>
              </a:rPr>
              <a:t>ovals</a:t>
            </a:r>
            <a:r>
              <a:rPr lang="en-US" sz="1600" b="1" dirty="0">
                <a:latin typeface="Tahoma" pitchFamily="34" charset="0"/>
              </a:rPr>
              <a:t>, new multiplexors in </a:t>
            </a:r>
            <a:r>
              <a:rPr lang="en-US" sz="1600" b="1" dirty="0" smtClean="0">
                <a:solidFill>
                  <a:schemeClr val="folHlink"/>
                </a:solidFill>
                <a:latin typeface="Tahoma" pitchFamily="34" charset="0"/>
              </a:rPr>
              <a:t>violet </a:t>
            </a:r>
            <a:r>
              <a:rPr lang="en-US" sz="1600" b="1" dirty="0">
                <a:solidFill>
                  <a:schemeClr val="folHlink"/>
                </a:solidFill>
                <a:latin typeface="Tahoma" pitchFamily="34" charset="0"/>
              </a:rPr>
              <a:t>ovals</a:t>
            </a:r>
          </a:p>
        </p:txBody>
      </p:sp>
      <p:sp>
        <p:nvSpPr>
          <p:cNvPr id="534534" name="Oval 6"/>
          <p:cNvSpPr>
            <a:spLocks noChangeArrowheads="1"/>
          </p:cNvSpPr>
          <p:nvPr/>
        </p:nvSpPr>
        <p:spPr bwMode="auto">
          <a:xfrm>
            <a:off x="2667000" y="1752600"/>
            <a:ext cx="1143000" cy="1676400"/>
          </a:xfrm>
          <a:prstGeom prst="ellipse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534535" name="Oval 7"/>
          <p:cNvSpPr>
            <a:spLocks noChangeArrowheads="1"/>
          </p:cNvSpPr>
          <p:nvPr/>
        </p:nvSpPr>
        <p:spPr bwMode="auto">
          <a:xfrm>
            <a:off x="2743200" y="3429000"/>
            <a:ext cx="838200" cy="990600"/>
          </a:xfrm>
          <a:prstGeom prst="ellipse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534536" name="Oval 8"/>
          <p:cNvSpPr>
            <a:spLocks noChangeArrowheads="1"/>
          </p:cNvSpPr>
          <p:nvPr/>
        </p:nvSpPr>
        <p:spPr bwMode="auto">
          <a:xfrm>
            <a:off x="5867400" y="2057400"/>
            <a:ext cx="381000" cy="533400"/>
          </a:xfrm>
          <a:prstGeom prst="ellipse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534537" name="Oval 9"/>
          <p:cNvSpPr>
            <a:spLocks noChangeArrowheads="1"/>
          </p:cNvSpPr>
          <p:nvPr/>
        </p:nvSpPr>
        <p:spPr bwMode="auto">
          <a:xfrm>
            <a:off x="5867400" y="2590800"/>
            <a:ext cx="381000" cy="457200"/>
          </a:xfrm>
          <a:prstGeom prst="ellipse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534538" name="Oval 10"/>
          <p:cNvSpPr>
            <a:spLocks noChangeArrowheads="1"/>
          </p:cNvSpPr>
          <p:nvPr/>
        </p:nvSpPr>
        <p:spPr bwMode="auto">
          <a:xfrm>
            <a:off x="8153400" y="2286000"/>
            <a:ext cx="609600" cy="609600"/>
          </a:xfrm>
          <a:prstGeom prst="ellipse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534539" name="Oval 11"/>
          <p:cNvSpPr>
            <a:spLocks noChangeArrowheads="1"/>
          </p:cNvSpPr>
          <p:nvPr/>
        </p:nvSpPr>
        <p:spPr bwMode="auto">
          <a:xfrm>
            <a:off x="838200" y="1600200"/>
            <a:ext cx="457200" cy="1143000"/>
          </a:xfrm>
          <a:prstGeom prst="ellipse">
            <a:avLst/>
          </a:prstGeom>
          <a:noFill/>
          <a:ln w="9525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534540" name="Oval 12"/>
          <p:cNvSpPr>
            <a:spLocks noChangeArrowheads="1"/>
          </p:cNvSpPr>
          <p:nvPr/>
        </p:nvSpPr>
        <p:spPr bwMode="auto">
          <a:xfrm>
            <a:off x="6629400" y="1676400"/>
            <a:ext cx="381000" cy="990600"/>
          </a:xfrm>
          <a:prstGeom prst="ellipse">
            <a:avLst/>
          </a:prstGeom>
          <a:noFill/>
          <a:ln w="9525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534541" name="Oval 13"/>
          <p:cNvSpPr>
            <a:spLocks noChangeArrowheads="1"/>
          </p:cNvSpPr>
          <p:nvPr/>
        </p:nvSpPr>
        <p:spPr bwMode="auto">
          <a:xfrm>
            <a:off x="6553200" y="2590800"/>
            <a:ext cx="457200" cy="990600"/>
          </a:xfrm>
          <a:prstGeom prst="ellipse">
            <a:avLst/>
          </a:prstGeom>
          <a:noFill/>
          <a:ln w="9525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Mayank Pandey, MNNIT, Allahabad, India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970" name="Rectangle 1026"/>
          <p:cNvSpPr>
            <a:spLocks noChangeArrowheads="1"/>
          </p:cNvSpPr>
          <p:nvPr/>
        </p:nvSpPr>
        <p:spPr bwMode="auto">
          <a:xfrm>
            <a:off x="225425" y="312738"/>
            <a:ext cx="3144838" cy="4778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467971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685800" y="1371600"/>
            <a:ext cx="7772400" cy="4114800"/>
          </a:xfrm>
          <a:noFill/>
          <a:ln/>
        </p:spPr>
        <p:txBody>
          <a:bodyPr lIns="90488" tIns="44450" rIns="90488" bIns="44450"/>
          <a:lstStyle/>
          <a:p>
            <a:pPr marL="533400" indent="-533400"/>
            <a:r>
              <a:rPr lang="en-US" sz="2400" dirty="0"/>
              <a:t>Our goal is to break up the instructions into </a:t>
            </a:r>
            <a:r>
              <a:rPr lang="en-US" sz="2400" i="1" dirty="0"/>
              <a:t>steps </a:t>
            </a:r>
            <a:r>
              <a:rPr lang="en-US" sz="2400" dirty="0"/>
              <a:t>so that</a:t>
            </a:r>
            <a:endParaRPr lang="en-US" sz="2400" i="1" dirty="0"/>
          </a:p>
          <a:p>
            <a:pPr marL="914400" lvl="1" indent="-457200"/>
            <a:r>
              <a:rPr lang="en-US" sz="2000" dirty="0"/>
              <a:t>each step takes one clock cycle</a:t>
            </a:r>
          </a:p>
          <a:p>
            <a:pPr marL="914400" lvl="1" indent="-457200"/>
            <a:r>
              <a:rPr lang="en-US" sz="2000" dirty="0"/>
              <a:t>the amount of work to be done in each step/cycle is about equal</a:t>
            </a:r>
          </a:p>
          <a:p>
            <a:pPr marL="914400" lvl="1" indent="-457200"/>
            <a:r>
              <a:rPr lang="en-US" sz="2000" dirty="0"/>
              <a:t>each cycle uses at most once each major functional unit so that such units do not have to be replicated</a:t>
            </a:r>
          </a:p>
          <a:p>
            <a:pPr marL="914400" lvl="1" indent="-457200"/>
            <a:r>
              <a:rPr lang="en-US" sz="2000" dirty="0"/>
              <a:t>functional units can be shared between different cycles within one instruction</a:t>
            </a:r>
          </a:p>
          <a:p>
            <a:pPr marL="533400" indent="-533400"/>
            <a:r>
              <a:rPr lang="en-US" sz="2400" dirty="0"/>
              <a:t>Data at end of one cycle to be used in next </a:t>
            </a:r>
            <a:r>
              <a:rPr lang="en-US" sz="2400" i="1" dirty="0"/>
              <a:t>must be stored</a:t>
            </a:r>
            <a:r>
              <a:rPr lang="en-US" sz="2400" dirty="0"/>
              <a:t> !!</a:t>
            </a:r>
            <a:endParaRPr lang="en-US" sz="2400" i="1" dirty="0"/>
          </a:p>
          <a:p>
            <a:pPr marL="533400" indent="-533400"/>
            <a:endParaRPr lang="en-US" sz="2800" dirty="0"/>
          </a:p>
        </p:txBody>
      </p:sp>
      <p:sp>
        <p:nvSpPr>
          <p:cNvPr id="467972" name="Rectangle 1028"/>
          <p:cNvSpPr>
            <a:spLocks noGrp="1" noChangeArrowheads="1"/>
          </p:cNvSpPr>
          <p:nvPr>
            <p:ph type="title"/>
          </p:nvPr>
        </p:nvSpPr>
        <p:spPr>
          <a:xfrm>
            <a:off x="504825" y="381000"/>
            <a:ext cx="8181975" cy="1143000"/>
          </a:xfrm>
          <a:noFill/>
          <a:ln/>
        </p:spPr>
        <p:txBody>
          <a:bodyPr lIns="90488" tIns="44450" rIns="90488" bIns="44450" anchor="ctr"/>
          <a:lstStyle/>
          <a:p>
            <a:r>
              <a:rPr lang="en-US" dirty="0"/>
              <a:t>Breaking instructions into steps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Mayank Pandey, MNNIT, Allahabad, India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498" name="Rectangle 1026"/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8029575" cy="1143000"/>
          </a:xfrm>
        </p:spPr>
        <p:txBody>
          <a:bodyPr/>
          <a:lstStyle/>
          <a:p>
            <a:r>
              <a:rPr lang="en-US" dirty="0"/>
              <a:t>Breaking instructions into steps</a:t>
            </a:r>
          </a:p>
        </p:txBody>
      </p:sp>
      <p:sp>
        <p:nvSpPr>
          <p:cNvPr id="618499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001000" cy="4114800"/>
          </a:xfrm>
        </p:spPr>
        <p:txBody>
          <a:bodyPr/>
          <a:lstStyle/>
          <a:p>
            <a:r>
              <a:rPr lang="en-US" sz="2000" dirty="0"/>
              <a:t>We break instructions into the following </a:t>
            </a:r>
            <a:r>
              <a:rPr lang="en-US" sz="2000" i="1" dirty="0"/>
              <a:t>potential</a:t>
            </a:r>
            <a:r>
              <a:rPr lang="en-US" sz="2000" dirty="0"/>
              <a:t> execution steps – not all instructions require all the steps – each step takes one clock cycle</a:t>
            </a:r>
          </a:p>
          <a:p>
            <a:pPr lvl="1">
              <a:buFont typeface="Wingdings" pitchFamily="2" charset="2"/>
              <a:buAutoNum type="arabicPeriod"/>
            </a:pPr>
            <a:r>
              <a:rPr lang="en-US" sz="1800" dirty="0"/>
              <a:t>Instruction fetch and PC increment (</a:t>
            </a:r>
            <a:r>
              <a:rPr lang="en-US" sz="1800" b="1" dirty="0"/>
              <a:t>IF</a:t>
            </a:r>
            <a:r>
              <a:rPr lang="en-US" sz="1800" dirty="0"/>
              <a:t>)</a:t>
            </a:r>
          </a:p>
          <a:p>
            <a:pPr lvl="1">
              <a:buFont typeface="Wingdings" pitchFamily="2" charset="2"/>
              <a:buAutoNum type="arabicPeriod"/>
            </a:pPr>
            <a:r>
              <a:rPr lang="en-US" sz="1800" dirty="0"/>
              <a:t>Instruction decode and register fetch (</a:t>
            </a:r>
            <a:r>
              <a:rPr lang="en-US" sz="1800" b="1" dirty="0"/>
              <a:t>ID</a:t>
            </a:r>
            <a:r>
              <a:rPr lang="en-US" sz="1800" dirty="0"/>
              <a:t>)</a:t>
            </a:r>
          </a:p>
          <a:p>
            <a:pPr lvl="1">
              <a:buFont typeface="Wingdings" pitchFamily="2" charset="2"/>
              <a:buAutoNum type="arabicPeriod"/>
            </a:pPr>
            <a:r>
              <a:rPr lang="en-US" sz="1800" dirty="0"/>
              <a:t>Execution, memory address computation, or branch completion (</a:t>
            </a:r>
            <a:r>
              <a:rPr lang="en-US" sz="1800" b="1" dirty="0"/>
              <a:t>EX</a:t>
            </a:r>
            <a:r>
              <a:rPr lang="en-US" sz="1800" dirty="0"/>
              <a:t>)</a:t>
            </a:r>
          </a:p>
          <a:p>
            <a:pPr lvl="1">
              <a:buFont typeface="Wingdings" pitchFamily="2" charset="2"/>
              <a:buAutoNum type="arabicPeriod"/>
            </a:pPr>
            <a:r>
              <a:rPr lang="en-US" sz="1800" dirty="0"/>
              <a:t>Memory access or R-type instruction completion (</a:t>
            </a:r>
            <a:r>
              <a:rPr lang="en-US" sz="1800" b="1" dirty="0"/>
              <a:t>MEM</a:t>
            </a:r>
            <a:r>
              <a:rPr lang="en-US" sz="1800" dirty="0"/>
              <a:t>)</a:t>
            </a:r>
          </a:p>
          <a:p>
            <a:pPr lvl="1">
              <a:buFont typeface="Wingdings" pitchFamily="2" charset="2"/>
              <a:buAutoNum type="arabicPeriod"/>
            </a:pPr>
            <a:r>
              <a:rPr lang="en-US" sz="1800" dirty="0"/>
              <a:t>Memory read completion (</a:t>
            </a:r>
            <a:r>
              <a:rPr lang="en-US" sz="1800" b="1" dirty="0"/>
              <a:t>WB</a:t>
            </a:r>
            <a:r>
              <a:rPr lang="en-US" sz="1800" dirty="0"/>
              <a:t>)</a:t>
            </a:r>
          </a:p>
          <a:p>
            <a:endParaRPr lang="en-US" sz="1800" dirty="0"/>
          </a:p>
          <a:p>
            <a:r>
              <a:rPr lang="en-US" sz="2000" dirty="0"/>
              <a:t>Each MIPS instruction takes from 3 – 5 cycles (steps)</a:t>
            </a: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Mayank Pandey, MNNIT, Allahabad, India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018" name="Rectangle 2"/>
          <p:cNvSpPr>
            <a:spLocks noChangeArrowheads="1"/>
          </p:cNvSpPr>
          <p:nvPr/>
        </p:nvSpPr>
        <p:spPr bwMode="auto">
          <a:xfrm>
            <a:off x="225425" y="312738"/>
            <a:ext cx="4046538" cy="4778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4700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447800"/>
            <a:ext cx="9067800" cy="4114800"/>
          </a:xfrm>
          <a:noFill/>
          <a:ln/>
        </p:spPr>
        <p:txBody>
          <a:bodyPr lIns="90488" tIns="44450" rIns="90488" bIns="44450"/>
          <a:lstStyle/>
          <a:p>
            <a:pPr>
              <a:buNone/>
            </a:pPr>
            <a:r>
              <a:rPr lang="en-US" sz="2400" b="1" dirty="0" smtClean="0"/>
              <a:t>Instruction Fetch &amp; PC Increment (IF)</a:t>
            </a:r>
          </a:p>
          <a:p>
            <a:r>
              <a:rPr lang="en-US" sz="2400" dirty="0" smtClean="0"/>
              <a:t>Use </a:t>
            </a:r>
            <a:r>
              <a:rPr lang="en-US" sz="2400" dirty="0"/>
              <a:t>PC to get instruction and put it in the instruction register.</a:t>
            </a:r>
          </a:p>
          <a:p>
            <a:pPr>
              <a:buFont typeface="Wingdings" pitchFamily="2" charset="2"/>
              <a:buNone/>
            </a:pPr>
            <a:r>
              <a:rPr lang="en-US" sz="2400" dirty="0"/>
              <a:t>    Increment the PC by 4 and put the result back in the PC</a:t>
            </a:r>
            <a:r>
              <a:rPr lang="en-US" sz="2400" dirty="0" smtClean="0"/>
              <a:t>.</a:t>
            </a:r>
            <a:endParaRPr lang="en-US" sz="2800" dirty="0"/>
          </a:p>
          <a:p>
            <a:r>
              <a:rPr lang="en-US" sz="2400" dirty="0"/>
              <a:t>Can be described succinctly using </a:t>
            </a:r>
            <a:r>
              <a:rPr lang="en-US" sz="2400" i="1" dirty="0"/>
              <a:t>RTL</a:t>
            </a:r>
            <a:r>
              <a:rPr lang="en-US" sz="2400" dirty="0"/>
              <a:t> (</a:t>
            </a:r>
            <a:r>
              <a:rPr lang="en-US" sz="2400" i="1" dirty="0"/>
              <a:t>Register-Transfer Language</a:t>
            </a:r>
            <a:r>
              <a:rPr lang="en-US" sz="2400" dirty="0"/>
              <a:t>):</a:t>
            </a:r>
          </a:p>
          <a:p>
            <a:pPr>
              <a:buFont typeface="Wingdings" pitchFamily="2" charset="2"/>
              <a:buNone/>
            </a:pPr>
            <a:r>
              <a:rPr lang="en-US" dirty="0">
                <a:latin typeface="Courier New" pitchFamily="49" charset="0"/>
              </a:rPr>
              <a:t>  </a:t>
            </a:r>
            <a:r>
              <a:rPr lang="en-US" sz="2400" dirty="0">
                <a:latin typeface="Courier New" pitchFamily="49" charset="0"/>
              </a:rPr>
              <a:t>IR = Memory[PC];</a:t>
            </a:r>
            <a:br>
              <a:rPr lang="en-US" sz="2400" dirty="0">
                <a:latin typeface="Courier New" pitchFamily="49" charset="0"/>
              </a:rPr>
            </a:br>
            <a:r>
              <a:rPr lang="en-US" sz="2400" dirty="0">
                <a:latin typeface="Courier New" pitchFamily="49" charset="0"/>
              </a:rPr>
              <a:t> PC = PC + 4;</a:t>
            </a:r>
          </a:p>
          <a:p>
            <a:pPr>
              <a:buFont typeface="Wingdings" pitchFamily="2" charset="2"/>
              <a:buNone/>
            </a:pPr>
            <a:endParaRPr lang="en-US" sz="2000" i="1" dirty="0">
              <a:latin typeface="Times New Roman" pitchFamily="18" charset="0"/>
            </a:endParaRPr>
          </a:p>
          <a:p>
            <a:pPr>
              <a:buFont typeface="Wingdings" pitchFamily="2" charset="2"/>
              <a:buNone/>
            </a:pPr>
            <a:endParaRPr lang="en-US" sz="2000" i="1" dirty="0">
              <a:latin typeface="Times New Roman" pitchFamily="18" charset="0"/>
            </a:endParaRPr>
          </a:p>
        </p:txBody>
      </p:sp>
      <p:sp>
        <p:nvSpPr>
          <p:cNvPr id="470020" name="Rectangle 4"/>
          <p:cNvSpPr>
            <a:spLocks noGrp="1" noChangeArrowheads="1"/>
          </p:cNvSpPr>
          <p:nvPr>
            <p:ph type="title"/>
          </p:nvPr>
        </p:nvSpPr>
        <p:spPr>
          <a:xfrm>
            <a:off x="304800" y="457200"/>
            <a:ext cx="8610600" cy="1066800"/>
          </a:xfrm>
          <a:noFill/>
          <a:ln/>
        </p:spPr>
        <p:txBody>
          <a:bodyPr lIns="90488" tIns="44450" rIns="90488" bIns="44450" anchor="ctr"/>
          <a:lstStyle/>
          <a:p>
            <a:r>
              <a:rPr lang="en-US" sz="3200" dirty="0"/>
              <a:t>Step 1</a:t>
            </a:r>
            <a:r>
              <a:rPr lang="en-US" sz="3200" dirty="0" smtClean="0"/>
              <a:t>:</a:t>
            </a:r>
            <a:endParaRPr lang="en-US" sz="32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Mayank Pandey, MNNIT, Allahabad, India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066" name="Rectangle 2"/>
          <p:cNvSpPr>
            <a:spLocks noChangeArrowheads="1"/>
          </p:cNvSpPr>
          <p:nvPr/>
        </p:nvSpPr>
        <p:spPr bwMode="auto">
          <a:xfrm>
            <a:off x="225425" y="312738"/>
            <a:ext cx="7115175" cy="4778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472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382000" cy="4114800"/>
          </a:xfrm>
          <a:noFill/>
          <a:ln/>
        </p:spPr>
        <p:txBody>
          <a:bodyPr lIns="90488" tIns="44450" rIns="90488" bIns="44450"/>
          <a:lstStyle/>
          <a:p>
            <a:pPr>
              <a:buNone/>
            </a:pPr>
            <a:r>
              <a:rPr lang="en-US" sz="2400" b="1" dirty="0" smtClean="0"/>
              <a:t>Instruction Decode and Register Fetch (ID)</a:t>
            </a:r>
          </a:p>
          <a:p>
            <a:r>
              <a:rPr lang="en-US" sz="2400" dirty="0" smtClean="0"/>
              <a:t>Read </a:t>
            </a:r>
            <a:r>
              <a:rPr lang="en-US" sz="2400" dirty="0"/>
              <a:t>registers </a:t>
            </a:r>
            <a:r>
              <a:rPr lang="en-US" sz="2400" dirty="0" err="1"/>
              <a:t>rs</a:t>
            </a:r>
            <a:r>
              <a:rPr lang="en-US" sz="2400" dirty="0"/>
              <a:t> and </a:t>
            </a:r>
            <a:r>
              <a:rPr lang="en-US" sz="2400" dirty="0" err="1"/>
              <a:t>rt</a:t>
            </a:r>
            <a:r>
              <a:rPr lang="en-US" sz="2400" dirty="0"/>
              <a:t> in case we need them.</a:t>
            </a:r>
          </a:p>
          <a:p>
            <a:pPr>
              <a:buFont typeface="Wingdings" pitchFamily="2" charset="2"/>
              <a:buNone/>
            </a:pPr>
            <a:r>
              <a:rPr lang="en-US" sz="2400" dirty="0"/>
              <a:t>    Compute the branch address in case the instruction is a branch</a:t>
            </a:r>
            <a:r>
              <a:rPr lang="en-US" sz="2400" dirty="0" smtClean="0"/>
              <a:t>.</a:t>
            </a:r>
            <a:endParaRPr lang="en-US" sz="2400" dirty="0"/>
          </a:p>
          <a:p>
            <a:r>
              <a:rPr lang="en-US" sz="2400" dirty="0"/>
              <a:t>RTL:</a:t>
            </a:r>
            <a:br>
              <a:rPr lang="en-US" sz="2400" dirty="0"/>
            </a:br>
            <a:r>
              <a:rPr lang="en-US" sz="2400" dirty="0">
                <a:latin typeface="Courier New" pitchFamily="49" charset="0"/>
              </a:rPr>
              <a:t>A = </a:t>
            </a:r>
            <a:r>
              <a:rPr lang="en-US" sz="2400" dirty="0" err="1">
                <a:latin typeface="Courier New" pitchFamily="49" charset="0"/>
              </a:rPr>
              <a:t>Reg</a:t>
            </a:r>
            <a:r>
              <a:rPr lang="en-US" sz="2400" dirty="0">
                <a:latin typeface="Courier New" pitchFamily="49" charset="0"/>
              </a:rPr>
              <a:t>[IR[25-21]];</a:t>
            </a:r>
            <a:br>
              <a:rPr lang="en-US" sz="2400" dirty="0">
                <a:latin typeface="Courier New" pitchFamily="49" charset="0"/>
              </a:rPr>
            </a:br>
            <a:r>
              <a:rPr lang="en-US" sz="2400" dirty="0">
                <a:latin typeface="Courier New" pitchFamily="49" charset="0"/>
              </a:rPr>
              <a:t>B = </a:t>
            </a:r>
            <a:r>
              <a:rPr lang="en-US" sz="2400" dirty="0" err="1">
                <a:latin typeface="Courier New" pitchFamily="49" charset="0"/>
              </a:rPr>
              <a:t>Reg</a:t>
            </a:r>
            <a:r>
              <a:rPr lang="en-US" sz="2400" dirty="0">
                <a:latin typeface="Courier New" pitchFamily="49" charset="0"/>
              </a:rPr>
              <a:t>[IR[20-16]];</a:t>
            </a:r>
            <a:br>
              <a:rPr lang="en-US" sz="2400" dirty="0">
                <a:latin typeface="Courier New" pitchFamily="49" charset="0"/>
              </a:rPr>
            </a:br>
            <a:r>
              <a:rPr lang="en-US" sz="2400" dirty="0" err="1">
                <a:latin typeface="Courier New" pitchFamily="49" charset="0"/>
              </a:rPr>
              <a:t>ALUOut</a:t>
            </a:r>
            <a:r>
              <a:rPr lang="en-US" sz="2400" dirty="0">
                <a:latin typeface="Courier New" pitchFamily="49" charset="0"/>
              </a:rPr>
              <a:t> = PC + (sign-extend(IR[15-0]) &lt;&lt; 2);</a:t>
            </a:r>
            <a:r>
              <a:rPr lang="en-US" sz="2400" dirty="0"/>
              <a:t/>
            </a:r>
            <a:br>
              <a:rPr lang="en-US" sz="2400" dirty="0"/>
            </a:br>
            <a:endParaRPr lang="en-US" sz="2400" dirty="0"/>
          </a:p>
          <a:p>
            <a:pPr>
              <a:buFont typeface="Wingdings" pitchFamily="2" charset="2"/>
              <a:buNone/>
            </a:pPr>
            <a:endParaRPr lang="en-US" sz="2000" i="1" dirty="0">
              <a:latin typeface="Times New Roman" pitchFamily="18" charset="0"/>
            </a:endParaRPr>
          </a:p>
        </p:txBody>
      </p:sp>
      <p:sp>
        <p:nvSpPr>
          <p:cNvPr id="472068" name="Rectangle 4"/>
          <p:cNvSpPr>
            <a:spLocks noGrp="1" noChangeArrowheads="1"/>
          </p:cNvSpPr>
          <p:nvPr>
            <p:ph type="title"/>
          </p:nvPr>
        </p:nvSpPr>
        <p:spPr>
          <a:xfrm>
            <a:off x="533400" y="685800"/>
            <a:ext cx="8610600" cy="609600"/>
          </a:xfrm>
          <a:noFill/>
          <a:ln/>
        </p:spPr>
        <p:txBody>
          <a:bodyPr lIns="90488" tIns="44450" rIns="90488" bIns="44450" anchor="ctr"/>
          <a:lstStyle/>
          <a:p>
            <a:r>
              <a:rPr lang="en-US" sz="3200" dirty="0"/>
              <a:t>Step 2</a:t>
            </a:r>
            <a:r>
              <a:rPr lang="en-US" sz="3200" dirty="0" smtClean="0"/>
              <a:t>:</a:t>
            </a:r>
            <a:endParaRPr lang="en-US" sz="32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Mayank Pandey, MNNIT, Allahabad, India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114" name="Rectangle 2"/>
          <p:cNvSpPr>
            <a:spLocks noChangeArrowheads="1"/>
          </p:cNvSpPr>
          <p:nvPr/>
        </p:nvSpPr>
        <p:spPr bwMode="auto">
          <a:xfrm>
            <a:off x="225425" y="312738"/>
            <a:ext cx="4772025" cy="4778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474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447800"/>
            <a:ext cx="7772400" cy="4114800"/>
          </a:xfrm>
          <a:noFill/>
          <a:ln/>
        </p:spPr>
        <p:txBody>
          <a:bodyPr lIns="90488" tIns="44450" rIns="90488" bIns="44450"/>
          <a:lstStyle/>
          <a:p>
            <a:pPr>
              <a:lnSpc>
                <a:spcPct val="90000"/>
              </a:lnSpc>
              <a:buNone/>
            </a:pPr>
            <a:r>
              <a:rPr lang="en-US" sz="2400" b="1" dirty="0" smtClean="0"/>
              <a:t>Execution, Address Computation or Branch Completion (EX)</a:t>
            </a:r>
          </a:p>
          <a:p>
            <a:pPr>
              <a:lnSpc>
                <a:spcPct val="90000"/>
              </a:lnSpc>
            </a:pPr>
            <a:r>
              <a:rPr lang="en-US" sz="2400" dirty="0" smtClean="0"/>
              <a:t>ALU </a:t>
            </a:r>
            <a:r>
              <a:rPr lang="en-US" sz="2400" dirty="0"/>
              <a:t>performs one of four functions </a:t>
            </a:r>
            <a:r>
              <a:rPr lang="en-US" sz="2400" i="1" u="sng" dirty="0"/>
              <a:t>depending</a:t>
            </a:r>
            <a:r>
              <a:rPr lang="en-US" sz="2400" dirty="0"/>
              <a:t> on instruction type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memory reference:</a:t>
            </a:r>
            <a:br>
              <a:rPr lang="en-US" sz="2000" dirty="0"/>
            </a:br>
            <a:r>
              <a:rPr lang="en-US" sz="2000" dirty="0" err="1">
                <a:latin typeface="Courier New" pitchFamily="49" charset="0"/>
              </a:rPr>
              <a:t>ALUOut</a:t>
            </a:r>
            <a:r>
              <a:rPr lang="en-US" sz="2000" dirty="0">
                <a:latin typeface="Courier New" pitchFamily="49" charset="0"/>
              </a:rPr>
              <a:t> = A + sign-extend(IR[15-0]);</a:t>
            </a:r>
            <a:endParaRPr lang="en-US" sz="2400" dirty="0"/>
          </a:p>
          <a:p>
            <a:pPr lvl="1">
              <a:lnSpc>
                <a:spcPct val="90000"/>
              </a:lnSpc>
            </a:pPr>
            <a:r>
              <a:rPr lang="en-US" sz="2000" dirty="0"/>
              <a:t>R-type:</a:t>
            </a:r>
            <a:br>
              <a:rPr lang="en-US" sz="2000" dirty="0"/>
            </a:br>
            <a:r>
              <a:rPr lang="en-US" sz="2000" dirty="0" err="1">
                <a:latin typeface="Courier New" pitchFamily="49" charset="0"/>
              </a:rPr>
              <a:t>ALUOut</a:t>
            </a:r>
            <a:r>
              <a:rPr lang="en-US" sz="2000" dirty="0">
                <a:latin typeface="Courier New" pitchFamily="49" charset="0"/>
              </a:rPr>
              <a:t> = A op B;</a:t>
            </a:r>
            <a:endParaRPr lang="en-US" sz="2000" dirty="0"/>
          </a:p>
          <a:p>
            <a:pPr lvl="1">
              <a:lnSpc>
                <a:spcPct val="90000"/>
              </a:lnSpc>
            </a:pPr>
            <a:r>
              <a:rPr lang="en-US" sz="2000" dirty="0"/>
              <a:t>branch (instruction </a:t>
            </a:r>
            <a:r>
              <a:rPr lang="en-US" sz="2000" i="1" dirty="0"/>
              <a:t>completes</a:t>
            </a:r>
            <a:r>
              <a:rPr lang="en-US" sz="2000" dirty="0"/>
              <a:t>):</a:t>
            </a:r>
            <a:br>
              <a:rPr lang="en-US" sz="2000" dirty="0"/>
            </a:br>
            <a:r>
              <a:rPr lang="en-US" sz="2000" dirty="0">
                <a:latin typeface="Courier New" pitchFamily="49" charset="0"/>
              </a:rPr>
              <a:t>if (A==B) PC = </a:t>
            </a:r>
            <a:r>
              <a:rPr lang="en-US" sz="2000" dirty="0" err="1">
                <a:latin typeface="Courier New" pitchFamily="49" charset="0"/>
              </a:rPr>
              <a:t>ALUOut</a:t>
            </a:r>
            <a:r>
              <a:rPr lang="en-US" sz="2000" dirty="0">
                <a:latin typeface="Courier New" pitchFamily="49" charset="0"/>
              </a:rPr>
              <a:t>;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jump (instruction </a:t>
            </a:r>
            <a:r>
              <a:rPr lang="en-US" sz="2000" i="1" dirty="0"/>
              <a:t>completes</a:t>
            </a:r>
            <a:r>
              <a:rPr lang="en-US" sz="2000" dirty="0"/>
              <a:t>):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/>
              <a:t>   </a:t>
            </a:r>
            <a:r>
              <a:rPr lang="en-US" sz="2000" dirty="0">
                <a:latin typeface="Courier New" pitchFamily="49" charset="0"/>
              </a:rPr>
              <a:t>PC = PC[31-28] || (IR(25-0) &lt;&lt; 2)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endParaRPr lang="en-US" sz="2000" dirty="0">
              <a:latin typeface="Courier New" pitchFamily="49" charset="0"/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sz="2000" dirty="0"/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sz="1800" dirty="0">
                <a:latin typeface="Courier New" pitchFamily="49" charset="0"/>
              </a:rPr>
              <a:t>				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sz="1800" dirty="0">
                <a:latin typeface="Courier New" pitchFamily="49" charset="0"/>
              </a:rPr>
              <a:t>	</a:t>
            </a:r>
          </a:p>
        </p:txBody>
      </p:sp>
      <p:sp>
        <p:nvSpPr>
          <p:cNvPr id="474116" name="Rectangle 4"/>
          <p:cNvSpPr>
            <a:spLocks noGrp="1" noChangeArrowheads="1"/>
          </p:cNvSpPr>
          <p:nvPr>
            <p:ph type="title"/>
          </p:nvPr>
        </p:nvSpPr>
        <p:spPr>
          <a:xfrm>
            <a:off x="381000" y="533400"/>
            <a:ext cx="8915400" cy="838200"/>
          </a:xfrm>
          <a:noFill/>
          <a:ln/>
        </p:spPr>
        <p:txBody>
          <a:bodyPr lIns="90488" tIns="44450" rIns="90488" bIns="44450" anchor="ctr"/>
          <a:lstStyle/>
          <a:p>
            <a:r>
              <a:rPr lang="en-US" sz="3200" dirty="0"/>
              <a:t>Step 3</a:t>
            </a:r>
            <a:r>
              <a:rPr lang="en-US" sz="3200" dirty="0" smtClean="0"/>
              <a:t>:</a:t>
            </a:r>
            <a:endParaRPr lang="en-US" sz="32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Mayank Pandey, MNNIT, Allahabad, India</a:t>
            </a:r>
            <a:endParaRPr lang="en-US" dirty="0"/>
          </a:p>
        </p:txBody>
      </p:sp>
    </p:spTree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162" name="Rectangle 2"/>
          <p:cNvSpPr>
            <a:spLocks noChangeArrowheads="1"/>
          </p:cNvSpPr>
          <p:nvPr/>
        </p:nvSpPr>
        <p:spPr bwMode="auto">
          <a:xfrm>
            <a:off x="225425" y="312738"/>
            <a:ext cx="5299075" cy="4778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4761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7772400" cy="4114800"/>
          </a:xfrm>
          <a:noFill/>
          <a:ln/>
        </p:spPr>
        <p:txBody>
          <a:bodyPr lIns="90488" tIns="44450" rIns="90488" bIns="44450"/>
          <a:lstStyle/>
          <a:p>
            <a:pPr>
              <a:lnSpc>
                <a:spcPct val="90000"/>
              </a:lnSpc>
              <a:buNone/>
            </a:pPr>
            <a:r>
              <a:rPr lang="en-US" sz="2400" b="1" dirty="0" smtClean="0"/>
              <a:t>Memory access or R-type Instruction Completion (MEM)</a:t>
            </a:r>
          </a:p>
          <a:p>
            <a:pPr>
              <a:lnSpc>
                <a:spcPct val="90000"/>
              </a:lnSpc>
            </a:pPr>
            <a:r>
              <a:rPr lang="en-US" sz="2400" dirty="0" smtClean="0"/>
              <a:t>Again </a:t>
            </a:r>
            <a:r>
              <a:rPr lang="en-US" sz="2400" i="1" u="sng" dirty="0"/>
              <a:t>depending</a:t>
            </a:r>
            <a:r>
              <a:rPr lang="en-US" sz="2400" dirty="0"/>
              <a:t> on instruction type: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Loads and stores access memory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load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>
                <a:latin typeface="Courier New" pitchFamily="49" charset="0"/>
              </a:rPr>
              <a:t>  MDR = Memory[</a:t>
            </a:r>
            <a:r>
              <a:rPr lang="en-US" sz="2000" dirty="0" err="1">
                <a:latin typeface="Courier New" pitchFamily="49" charset="0"/>
              </a:rPr>
              <a:t>ALUOut</a:t>
            </a:r>
            <a:r>
              <a:rPr lang="en-US" sz="2000" dirty="0">
                <a:latin typeface="Courier New" pitchFamily="49" charset="0"/>
              </a:rPr>
              <a:t>];</a:t>
            </a:r>
            <a:endParaRPr lang="en-US" sz="2000" dirty="0"/>
          </a:p>
          <a:p>
            <a:pPr lvl="1">
              <a:lnSpc>
                <a:spcPct val="90000"/>
              </a:lnSpc>
            </a:pPr>
            <a:r>
              <a:rPr lang="en-US" sz="2000" dirty="0"/>
              <a:t>store (instruction </a:t>
            </a:r>
            <a:r>
              <a:rPr lang="en-US" sz="2000" i="1" dirty="0"/>
              <a:t>completes</a:t>
            </a:r>
            <a:r>
              <a:rPr lang="en-US" sz="2000" dirty="0"/>
              <a:t>)</a:t>
            </a:r>
            <a:r>
              <a:rPr lang="en-US" sz="2000" dirty="0">
                <a:latin typeface="Courier New" pitchFamily="49" charset="0"/>
              </a:rPr>
              <a:t> 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>
                <a:latin typeface="Courier New" pitchFamily="49" charset="0"/>
              </a:rPr>
              <a:t>  Memory[</a:t>
            </a:r>
            <a:r>
              <a:rPr lang="en-US" sz="2000" dirty="0" err="1">
                <a:latin typeface="Courier New" pitchFamily="49" charset="0"/>
              </a:rPr>
              <a:t>ALUOut</a:t>
            </a:r>
            <a:r>
              <a:rPr lang="en-US" sz="2000" dirty="0">
                <a:latin typeface="Courier New" pitchFamily="49" charset="0"/>
              </a:rPr>
              <a:t>] = B;</a:t>
            </a:r>
            <a:r>
              <a:rPr lang="en-US" sz="2000" dirty="0"/>
              <a:t/>
            </a:r>
            <a:br>
              <a:rPr lang="en-US" sz="2000" dirty="0"/>
            </a:br>
            <a:endParaRPr lang="en-US" sz="2000" dirty="0"/>
          </a:p>
          <a:p>
            <a:pPr>
              <a:lnSpc>
                <a:spcPct val="90000"/>
              </a:lnSpc>
            </a:pPr>
            <a:r>
              <a:rPr lang="en-US" sz="2400" dirty="0"/>
              <a:t>R-type (instructions </a:t>
            </a:r>
            <a:r>
              <a:rPr lang="en-US" sz="2400" i="1" dirty="0"/>
              <a:t>completes</a:t>
            </a:r>
            <a:r>
              <a:rPr lang="en-US" sz="2400" dirty="0"/>
              <a:t>)</a:t>
            </a:r>
            <a:br>
              <a:rPr lang="en-US" sz="2400" dirty="0"/>
            </a:br>
            <a:r>
              <a:rPr lang="en-US" sz="2400" dirty="0" err="1">
                <a:latin typeface="Courier New" pitchFamily="49" charset="0"/>
              </a:rPr>
              <a:t>Reg</a:t>
            </a:r>
            <a:r>
              <a:rPr lang="en-US" sz="2400" dirty="0">
                <a:latin typeface="Courier New" pitchFamily="49" charset="0"/>
              </a:rPr>
              <a:t>[IR[15-11]] = </a:t>
            </a:r>
            <a:r>
              <a:rPr lang="en-US" sz="2400" dirty="0" err="1">
                <a:latin typeface="Courier New" pitchFamily="49" charset="0"/>
              </a:rPr>
              <a:t>ALUOut</a:t>
            </a:r>
            <a:r>
              <a:rPr lang="en-US" sz="2400" dirty="0">
                <a:latin typeface="Courier New" pitchFamily="49" charset="0"/>
              </a:rPr>
              <a:t>;</a:t>
            </a:r>
            <a:r>
              <a:rPr lang="en-US" sz="2000" dirty="0"/>
              <a:t/>
            </a:r>
            <a:br>
              <a:rPr lang="en-US" sz="2000" dirty="0"/>
            </a:br>
            <a:endParaRPr lang="en-US" sz="2000" dirty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sz="2000" dirty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476164" name="Rectangle 4"/>
          <p:cNvSpPr>
            <a:spLocks noGrp="1" noChangeArrowheads="1"/>
          </p:cNvSpPr>
          <p:nvPr>
            <p:ph type="title"/>
          </p:nvPr>
        </p:nvSpPr>
        <p:spPr>
          <a:xfrm>
            <a:off x="533400" y="609600"/>
            <a:ext cx="5105400" cy="762000"/>
          </a:xfrm>
          <a:noFill/>
          <a:ln/>
        </p:spPr>
        <p:txBody>
          <a:bodyPr lIns="90488" tIns="44450" rIns="90488" bIns="44450" anchor="ctr"/>
          <a:lstStyle/>
          <a:p>
            <a:r>
              <a:rPr lang="en-US" sz="3200" dirty="0"/>
              <a:t>Step 4</a:t>
            </a:r>
            <a:r>
              <a:rPr lang="en-US" sz="3200" dirty="0" smtClean="0"/>
              <a:t>:</a:t>
            </a:r>
            <a:endParaRPr lang="en-US" sz="3200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Mayank Pandey, MNNIT, Allahabad, India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210" name="Rectangle 2"/>
          <p:cNvSpPr>
            <a:spLocks noChangeArrowheads="1"/>
          </p:cNvSpPr>
          <p:nvPr/>
        </p:nvSpPr>
        <p:spPr bwMode="auto">
          <a:xfrm>
            <a:off x="225425" y="312738"/>
            <a:ext cx="2354263" cy="4778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4782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73088" y="1447800"/>
            <a:ext cx="8113712" cy="4191000"/>
          </a:xfrm>
          <a:noFill/>
          <a:ln/>
        </p:spPr>
        <p:txBody>
          <a:bodyPr lIns="90488" tIns="44450" rIns="90488" bIns="44450"/>
          <a:lstStyle/>
          <a:p>
            <a:pPr>
              <a:lnSpc>
                <a:spcPct val="80000"/>
              </a:lnSpc>
              <a:buNone/>
            </a:pPr>
            <a:r>
              <a:rPr lang="en-US" sz="2400" b="1" dirty="0" smtClean="0"/>
              <a:t>Memory Read Completion (WB)</a:t>
            </a:r>
          </a:p>
          <a:p>
            <a:pPr>
              <a:lnSpc>
                <a:spcPct val="80000"/>
              </a:lnSpc>
            </a:pPr>
            <a:r>
              <a:rPr lang="en-US" sz="2000" dirty="0" smtClean="0"/>
              <a:t>Again </a:t>
            </a:r>
            <a:r>
              <a:rPr lang="en-US" sz="2000" i="1" u="sng" dirty="0"/>
              <a:t>depending</a:t>
            </a:r>
            <a:r>
              <a:rPr lang="en-US" sz="2000" dirty="0"/>
              <a:t> on instruction type:</a:t>
            </a:r>
            <a:endParaRPr lang="en-US" sz="2000" i="1" dirty="0"/>
          </a:p>
          <a:p>
            <a:pPr>
              <a:lnSpc>
                <a:spcPct val="80000"/>
              </a:lnSpc>
            </a:pPr>
            <a:r>
              <a:rPr lang="en-US" sz="2000" dirty="0"/>
              <a:t>Load writes back (instruction </a:t>
            </a:r>
            <a:r>
              <a:rPr lang="en-US" sz="2000" i="1" dirty="0"/>
              <a:t>completes</a:t>
            </a:r>
            <a:r>
              <a:rPr lang="en-US" sz="2000" dirty="0"/>
              <a:t>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>
                <a:latin typeface="Courier New" pitchFamily="49" charset="0"/>
              </a:rPr>
              <a:t>  </a:t>
            </a:r>
            <a:r>
              <a:rPr lang="en-US" sz="2000" dirty="0" err="1">
                <a:latin typeface="Courier New" pitchFamily="49" charset="0"/>
              </a:rPr>
              <a:t>Reg</a:t>
            </a:r>
            <a:r>
              <a:rPr lang="en-US" sz="2000" dirty="0">
                <a:latin typeface="Courier New" pitchFamily="49" charset="0"/>
              </a:rPr>
              <a:t>[IR[20-16]]= MDR;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endParaRPr lang="en-US" sz="2000" dirty="0">
              <a:latin typeface="Courier New" pitchFamily="49" charset="0"/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>
                <a:solidFill>
                  <a:schemeClr val="hlink"/>
                </a:solidFill>
              </a:rPr>
              <a:t>Important:</a:t>
            </a:r>
            <a:r>
              <a:rPr lang="en-US" sz="2000" dirty="0"/>
              <a:t> There is no reason from a </a:t>
            </a:r>
            <a:r>
              <a:rPr lang="en-US" sz="2000" dirty="0" smtClean="0"/>
              <a:t>data-path </a:t>
            </a:r>
            <a:r>
              <a:rPr lang="en-US" sz="2000" dirty="0"/>
              <a:t>(or control) point of view that Step 5 cannot be eliminated by performing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>
                <a:latin typeface="Courier New" pitchFamily="49" charset="0"/>
              </a:rPr>
              <a:t>   </a:t>
            </a:r>
            <a:r>
              <a:rPr lang="en-US" sz="2000" dirty="0" err="1">
                <a:latin typeface="Courier New" pitchFamily="49" charset="0"/>
              </a:rPr>
              <a:t>Reg</a:t>
            </a:r>
            <a:r>
              <a:rPr lang="en-US" sz="2000" dirty="0">
                <a:latin typeface="Courier New" pitchFamily="49" charset="0"/>
              </a:rPr>
              <a:t>[IR[20-16]]= Memory[</a:t>
            </a:r>
            <a:r>
              <a:rPr lang="en-US" sz="2000" dirty="0" err="1">
                <a:latin typeface="Courier New" pitchFamily="49" charset="0"/>
              </a:rPr>
              <a:t>ALUOut</a:t>
            </a:r>
            <a:r>
              <a:rPr lang="en-US" sz="2000" dirty="0">
                <a:latin typeface="Courier New" pitchFamily="49" charset="0"/>
              </a:rPr>
              <a:t>];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/>
              <a:t>    for loads in Step 4. This would eliminate the MDR as well.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endParaRPr lang="en-US" sz="2000" dirty="0"/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/>
              <a:t>The reason this is not done is that, to keep steps balanced in length, the design restriction is to allow each step to contain </a:t>
            </a:r>
            <a:r>
              <a:rPr lang="en-US" sz="2000" i="1" dirty="0"/>
              <a:t>at most </a:t>
            </a:r>
            <a:r>
              <a:rPr lang="en-US" sz="2000" dirty="0"/>
              <a:t>one ALU operation, or one register access, or one memory access.</a:t>
            </a:r>
            <a:endParaRPr lang="en-US" sz="2000" i="1" dirty="0"/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endParaRPr lang="en-US" sz="2000" i="1" dirty="0">
              <a:latin typeface="Times New Roman" pitchFamily="18" charset="0"/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dirty="0">
                <a:latin typeface="Courier New" pitchFamily="49" charset="0"/>
              </a:rPr>
              <a:t> </a:t>
            </a:r>
          </a:p>
        </p:txBody>
      </p:sp>
      <p:sp>
        <p:nvSpPr>
          <p:cNvPr id="478212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915400" cy="990600"/>
          </a:xfrm>
          <a:noFill/>
          <a:ln/>
        </p:spPr>
        <p:txBody>
          <a:bodyPr lIns="90488" tIns="44450" rIns="90488" bIns="44450" anchor="ctr"/>
          <a:lstStyle/>
          <a:p>
            <a:r>
              <a:rPr lang="en-US" sz="3200" dirty="0"/>
              <a:t>Step 5</a:t>
            </a:r>
            <a:r>
              <a:rPr lang="en-US" sz="3200" dirty="0" smtClean="0"/>
              <a:t>:</a:t>
            </a:r>
            <a:endParaRPr lang="en-US" sz="32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Mayank Pandey, MNNIT, Allahabad, India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990600"/>
          </a:xfrm>
        </p:spPr>
        <p:txBody>
          <a:bodyPr/>
          <a:lstStyle/>
          <a:p>
            <a:r>
              <a:rPr lang="en-IN" dirty="0" smtClean="0"/>
              <a:t>Instruction Execution: Summary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0C72227-FECD-4039-A327-B8D82E75A27D}" type="datetime1">
              <a:rPr lang="en-US" smtClean="0"/>
              <a:pPr>
                <a:defRPr/>
              </a:pPr>
              <a:t>3/31/2015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Mayank Pandey, MNNIT, Allahabad, India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B326667-E6E6-4DE2-8E19-42096EDF6697}" type="slidenum">
              <a:rPr lang="en-US" smtClean="0"/>
              <a:pPr>
                <a:defRPr/>
              </a:pPr>
              <a:t>58</a:t>
            </a:fld>
            <a:endParaRPr lang="en-US" dirty="0"/>
          </a:p>
        </p:txBody>
      </p:sp>
      <p:graphicFrame>
        <p:nvGraphicFramePr>
          <p:cNvPr id="6" name="Object 0">
            <a:hlinkClick r:id="" action="ppaction://ole?verb=0"/>
          </p:cNvPr>
          <p:cNvGraphicFramePr>
            <a:graphicFrameLocks/>
          </p:cNvGraphicFramePr>
          <p:nvPr/>
        </p:nvGraphicFramePr>
        <p:xfrm>
          <a:off x="381000" y="1752600"/>
          <a:ext cx="8610600" cy="3276600"/>
        </p:xfrm>
        <a:graphic>
          <a:graphicData uri="http://schemas.openxmlformats.org/presentationml/2006/ole">
            <p:oleObj spid="_x0000_s57346" name="Worksheet" r:id="rId3" imgW="8334360" imgH="2960640" progId="Excel.Sheet.8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522" name="Rectangle 1026"/>
          <p:cNvSpPr>
            <a:spLocks noChangeArrowheads="1"/>
          </p:cNvSpPr>
          <p:nvPr/>
        </p:nvSpPr>
        <p:spPr bwMode="auto">
          <a:xfrm>
            <a:off x="1587500" y="3517900"/>
            <a:ext cx="1447800" cy="1295400"/>
          </a:xfrm>
          <a:prstGeom prst="rect">
            <a:avLst/>
          </a:prstGeom>
          <a:solidFill>
            <a:srgbClr val="00FF00"/>
          </a:solidFill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grpSp>
        <p:nvGrpSpPr>
          <p:cNvPr id="2" name="Group 1027"/>
          <p:cNvGrpSpPr>
            <a:grpSpLocks/>
          </p:cNvGrpSpPr>
          <p:nvPr/>
        </p:nvGrpSpPr>
        <p:grpSpPr bwMode="auto">
          <a:xfrm>
            <a:off x="2933700" y="2743200"/>
            <a:ext cx="762000" cy="1524000"/>
            <a:chOff x="1848" y="2064"/>
            <a:chExt cx="480" cy="960"/>
          </a:xfrm>
        </p:grpSpPr>
        <p:sp>
          <p:nvSpPr>
            <p:cNvPr id="619524" name="Rectangle 1028"/>
            <p:cNvSpPr>
              <a:spLocks noChangeArrowheads="1"/>
            </p:cNvSpPr>
            <p:nvPr/>
          </p:nvSpPr>
          <p:spPr bwMode="auto">
            <a:xfrm>
              <a:off x="2040" y="2064"/>
              <a:ext cx="288" cy="624"/>
            </a:xfrm>
            <a:prstGeom prst="rect">
              <a:avLst/>
            </a:prstGeom>
            <a:solidFill>
              <a:srgbClr val="00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19525" name="Rectangle 1029"/>
            <p:cNvSpPr>
              <a:spLocks noChangeArrowheads="1"/>
            </p:cNvSpPr>
            <p:nvPr/>
          </p:nvSpPr>
          <p:spPr bwMode="auto">
            <a:xfrm>
              <a:off x="1848" y="2928"/>
              <a:ext cx="144" cy="96"/>
            </a:xfrm>
            <a:prstGeom prst="rect">
              <a:avLst/>
            </a:prstGeom>
            <a:solidFill>
              <a:srgbClr val="00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19526" name="Rectangle 1030"/>
            <p:cNvSpPr>
              <a:spLocks noChangeArrowheads="1"/>
            </p:cNvSpPr>
            <p:nvPr/>
          </p:nvSpPr>
          <p:spPr bwMode="auto">
            <a:xfrm>
              <a:off x="1896" y="2352"/>
              <a:ext cx="96" cy="656"/>
            </a:xfrm>
            <a:prstGeom prst="rect">
              <a:avLst/>
            </a:prstGeom>
            <a:solidFill>
              <a:srgbClr val="00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19527" name="Rectangle 1031"/>
            <p:cNvSpPr>
              <a:spLocks noChangeArrowheads="1"/>
            </p:cNvSpPr>
            <p:nvPr/>
          </p:nvSpPr>
          <p:spPr bwMode="auto">
            <a:xfrm>
              <a:off x="1944" y="2352"/>
              <a:ext cx="144" cy="96"/>
            </a:xfrm>
            <a:prstGeom prst="rect">
              <a:avLst/>
            </a:prstGeom>
            <a:solidFill>
              <a:srgbClr val="00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619528" name="Rectangle 1032"/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/>
          <a:lstStyle/>
          <a:p>
            <a:r>
              <a:rPr lang="en-US" sz="3200" dirty="0" smtClean="0"/>
              <a:t>Multi=cycle </a:t>
            </a:r>
            <a:r>
              <a:rPr lang="en-US" sz="3200" dirty="0"/>
              <a:t>Execution Step (1</a:t>
            </a:r>
            <a:r>
              <a:rPr lang="en-US" sz="3200" dirty="0" smtClean="0"/>
              <a:t>): Instruction </a:t>
            </a:r>
            <a:r>
              <a:rPr lang="en-US" sz="3200" dirty="0"/>
              <a:t>Fetch</a:t>
            </a:r>
          </a:p>
        </p:txBody>
      </p:sp>
      <p:sp>
        <p:nvSpPr>
          <p:cNvPr id="619529" name="Rectangle 1033"/>
          <p:cNvSpPr>
            <a:spLocks noGrp="1" noChangeArrowheads="1"/>
          </p:cNvSpPr>
          <p:nvPr>
            <p:ph type="body" idx="1"/>
          </p:nvPr>
        </p:nvSpPr>
        <p:spPr>
          <a:xfrm>
            <a:off x="1182688" y="1295400"/>
            <a:ext cx="7772400" cy="4114800"/>
          </a:xfrm>
        </p:spPr>
        <p:txBody>
          <a:bodyPr/>
          <a:lstStyle/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sz="2000">
                <a:latin typeface="Courier New" pitchFamily="49" charset="0"/>
              </a:rPr>
              <a:t>IR = Memory[PC];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sz="2000">
                <a:latin typeface="Courier New" pitchFamily="49" charset="0"/>
              </a:rPr>
              <a:t>PC = PC + 4;</a:t>
            </a:r>
            <a:endParaRPr lang="en-US" sz="2000"/>
          </a:p>
        </p:txBody>
      </p:sp>
      <p:sp>
        <p:nvSpPr>
          <p:cNvPr id="619530" name="Rectangle 1034"/>
          <p:cNvSpPr>
            <a:spLocks noChangeArrowheads="1"/>
          </p:cNvSpPr>
          <p:nvPr/>
        </p:nvSpPr>
        <p:spPr bwMode="auto">
          <a:xfrm>
            <a:off x="457200" y="2133600"/>
            <a:ext cx="7162800" cy="152400"/>
          </a:xfrm>
          <a:prstGeom prst="rect">
            <a:avLst/>
          </a:prstGeom>
          <a:solidFill>
            <a:srgbClr val="009900"/>
          </a:solidFill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619531" name="Rectangle 1035"/>
          <p:cNvSpPr>
            <a:spLocks noChangeArrowheads="1"/>
          </p:cNvSpPr>
          <p:nvPr/>
        </p:nvSpPr>
        <p:spPr bwMode="auto">
          <a:xfrm>
            <a:off x="381000" y="2133600"/>
            <a:ext cx="152400" cy="1752600"/>
          </a:xfrm>
          <a:prstGeom prst="rect">
            <a:avLst/>
          </a:prstGeom>
          <a:solidFill>
            <a:srgbClr val="009900"/>
          </a:solidFill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619532" name="Rectangle 1036"/>
          <p:cNvSpPr>
            <a:spLocks noChangeArrowheads="1"/>
          </p:cNvSpPr>
          <p:nvPr/>
        </p:nvSpPr>
        <p:spPr bwMode="auto">
          <a:xfrm>
            <a:off x="7543800" y="2133600"/>
            <a:ext cx="152400" cy="2209800"/>
          </a:xfrm>
          <a:prstGeom prst="rect">
            <a:avLst/>
          </a:prstGeom>
          <a:solidFill>
            <a:srgbClr val="009900"/>
          </a:solidFill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grpSp>
        <p:nvGrpSpPr>
          <p:cNvPr id="3" name="Group 1037"/>
          <p:cNvGrpSpPr>
            <a:grpSpLocks/>
          </p:cNvGrpSpPr>
          <p:nvPr/>
        </p:nvGrpSpPr>
        <p:grpSpPr bwMode="auto">
          <a:xfrm>
            <a:off x="6394450" y="3492500"/>
            <a:ext cx="1149350" cy="1447800"/>
            <a:chOff x="4028" y="2536"/>
            <a:chExt cx="724" cy="912"/>
          </a:xfrm>
        </p:grpSpPr>
        <p:sp>
          <p:nvSpPr>
            <p:cNvPr id="619534" name="AutoShape 1038"/>
            <p:cNvSpPr>
              <a:spLocks noChangeArrowheads="1"/>
            </p:cNvSpPr>
            <p:nvPr/>
          </p:nvSpPr>
          <p:spPr bwMode="auto">
            <a:xfrm rot="-5400000">
              <a:off x="3968" y="2776"/>
              <a:ext cx="912" cy="432"/>
            </a:xfrm>
            <a:custGeom>
              <a:avLst/>
              <a:gdLst>
                <a:gd name="G0" fmla="+- 5660 0 0"/>
                <a:gd name="G1" fmla="+- 21600 0 5660"/>
                <a:gd name="G2" fmla="*/ 5660 1 2"/>
                <a:gd name="G3" fmla="+- 21600 0 G2"/>
                <a:gd name="G4" fmla="+/ 5660 21600 2"/>
                <a:gd name="G5" fmla="+/ G1 0 2"/>
                <a:gd name="G6" fmla="*/ 21600 21600 5660"/>
                <a:gd name="G7" fmla="*/ G6 1 2"/>
                <a:gd name="G8" fmla="+- 21600 0 G7"/>
                <a:gd name="G9" fmla="*/ 21600 1 2"/>
                <a:gd name="G10" fmla="+- 5660 0 G9"/>
                <a:gd name="G11" fmla="?: G10 G8 0"/>
                <a:gd name="G12" fmla="?: G10 G7 21600"/>
                <a:gd name="T0" fmla="*/ 18770 w 21600"/>
                <a:gd name="T1" fmla="*/ 10800 h 21600"/>
                <a:gd name="T2" fmla="*/ 10800 w 21600"/>
                <a:gd name="T3" fmla="*/ 21600 h 21600"/>
                <a:gd name="T4" fmla="*/ 2830 w 21600"/>
                <a:gd name="T5" fmla="*/ 10800 h 21600"/>
                <a:gd name="T6" fmla="*/ 10800 w 21600"/>
                <a:gd name="T7" fmla="*/ 0 h 21600"/>
                <a:gd name="T8" fmla="*/ 4630 w 21600"/>
                <a:gd name="T9" fmla="*/ 4630 h 21600"/>
                <a:gd name="T10" fmla="*/ 16970 w 21600"/>
                <a:gd name="T11" fmla="*/ 1697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660" y="21600"/>
                  </a:lnTo>
                  <a:lnTo>
                    <a:pt x="1594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19535" name="Text Box 1039"/>
            <p:cNvSpPr txBox="1">
              <a:spLocks noChangeArrowheads="1"/>
            </p:cNvSpPr>
            <p:nvPr/>
          </p:nvSpPr>
          <p:spPr bwMode="auto">
            <a:xfrm>
              <a:off x="4028" y="2976"/>
              <a:ext cx="196" cy="231"/>
            </a:xfrm>
            <a:prstGeom prst="rect">
              <a:avLst/>
            </a:pr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sz="1800" b="1">
                  <a:latin typeface="Helvetica" pitchFamily="34" charset="0"/>
                </a:rPr>
                <a:t>4</a:t>
              </a:r>
            </a:p>
          </p:txBody>
        </p:sp>
        <p:sp>
          <p:nvSpPr>
            <p:cNvPr id="619536" name="Rectangle 1040"/>
            <p:cNvSpPr>
              <a:spLocks noChangeArrowheads="1"/>
            </p:cNvSpPr>
            <p:nvPr/>
          </p:nvSpPr>
          <p:spPr bwMode="auto">
            <a:xfrm>
              <a:off x="4560" y="2976"/>
              <a:ext cx="192" cy="96"/>
            </a:xfrm>
            <a:prstGeom prst="rect">
              <a:avLst/>
            </a:prstGeom>
            <a:solidFill>
              <a:srgbClr val="00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619537" name="Rectangle 1041"/>
          <p:cNvSpPr>
            <a:spLocks noChangeArrowheads="1"/>
          </p:cNvSpPr>
          <p:nvPr/>
        </p:nvSpPr>
        <p:spPr bwMode="auto">
          <a:xfrm>
            <a:off x="990600" y="3759200"/>
            <a:ext cx="685800" cy="152400"/>
          </a:xfrm>
          <a:prstGeom prst="rect">
            <a:avLst/>
          </a:prstGeom>
          <a:solidFill>
            <a:srgbClr val="00FF00"/>
          </a:solidFill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grpSp>
        <p:nvGrpSpPr>
          <p:cNvPr id="4" name="Group 1042"/>
          <p:cNvGrpSpPr>
            <a:grpSpLocks/>
          </p:cNvGrpSpPr>
          <p:nvPr/>
        </p:nvGrpSpPr>
        <p:grpSpPr bwMode="auto">
          <a:xfrm>
            <a:off x="1346200" y="2565400"/>
            <a:ext cx="5359400" cy="1397000"/>
            <a:chOff x="848" y="1952"/>
            <a:chExt cx="3376" cy="880"/>
          </a:xfrm>
        </p:grpSpPr>
        <p:sp>
          <p:nvSpPr>
            <p:cNvPr id="619539" name="Rectangle 1043"/>
            <p:cNvSpPr>
              <a:spLocks noChangeArrowheads="1"/>
            </p:cNvSpPr>
            <p:nvPr/>
          </p:nvSpPr>
          <p:spPr bwMode="auto">
            <a:xfrm>
              <a:off x="848" y="1968"/>
              <a:ext cx="96" cy="816"/>
            </a:xfrm>
            <a:prstGeom prst="rect">
              <a:avLst/>
            </a:pr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19540" name="Rectangle 1044"/>
            <p:cNvSpPr>
              <a:spLocks noChangeArrowheads="1"/>
            </p:cNvSpPr>
            <p:nvPr/>
          </p:nvSpPr>
          <p:spPr bwMode="auto">
            <a:xfrm>
              <a:off x="864" y="1952"/>
              <a:ext cx="3168" cy="96"/>
            </a:xfrm>
            <a:prstGeom prst="rect">
              <a:avLst/>
            </a:pr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19541" name="Rectangle 1045"/>
            <p:cNvSpPr>
              <a:spLocks noChangeArrowheads="1"/>
            </p:cNvSpPr>
            <p:nvPr/>
          </p:nvSpPr>
          <p:spPr bwMode="auto">
            <a:xfrm>
              <a:off x="3936" y="2016"/>
              <a:ext cx="96" cy="816"/>
            </a:xfrm>
            <a:prstGeom prst="rect">
              <a:avLst/>
            </a:pr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19542" name="Rectangle 1046"/>
            <p:cNvSpPr>
              <a:spLocks noChangeArrowheads="1"/>
            </p:cNvSpPr>
            <p:nvPr/>
          </p:nvSpPr>
          <p:spPr bwMode="auto">
            <a:xfrm>
              <a:off x="3936" y="2736"/>
              <a:ext cx="288" cy="96"/>
            </a:xfrm>
            <a:prstGeom prst="rect">
              <a:avLst/>
            </a:pr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619543" name="Text Box 1047"/>
          <p:cNvSpPr txBox="1">
            <a:spLocks noChangeArrowheads="1"/>
          </p:cNvSpPr>
          <p:nvPr/>
        </p:nvSpPr>
        <p:spPr bwMode="auto">
          <a:xfrm>
            <a:off x="457200" y="4343400"/>
            <a:ext cx="700088" cy="3048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400" b="1"/>
              <a:t>PC + 4</a:t>
            </a:r>
          </a:p>
        </p:txBody>
      </p:sp>
      <p:grpSp>
        <p:nvGrpSpPr>
          <p:cNvPr id="5" name="Group 1048"/>
          <p:cNvGrpSpPr>
            <a:grpSpLocks/>
          </p:cNvGrpSpPr>
          <p:nvPr/>
        </p:nvGrpSpPr>
        <p:grpSpPr bwMode="auto">
          <a:xfrm>
            <a:off x="381000" y="3429000"/>
            <a:ext cx="685800" cy="838200"/>
            <a:chOff x="240" y="3648"/>
            <a:chExt cx="432" cy="528"/>
          </a:xfrm>
        </p:grpSpPr>
        <p:sp>
          <p:nvSpPr>
            <p:cNvPr id="619545" name="Rectangle 1049"/>
            <p:cNvSpPr>
              <a:spLocks noChangeArrowheads="1"/>
            </p:cNvSpPr>
            <p:nvPr/>
          </p:nvSpPr>
          <p:spPr bwMode="auto">
            <a:xfrm>
              <a:off x="240" y="3856"/>
              <a:ext cx="192" cy="96"/>
            </a:xfrm>
            <a:prstGeom prst="rect">
              <a:avLst/>
            </a:prstGeom>
            <a:solidFill>
              <a:srgbClr val="00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19546" name="Rectangle 1050"/>
            <p:cNvSpPr>
              <a:spLocks noChangeArrowheads="1"/>
            </p:cNvSpPr>
            <p:nvPr/>
          </p:nvSpPr>
          <p:spPr bwMode="auto">
            <a:xfrm>
              <a:off x="384" y="3648"/>
              <a:ext cx="288" cy="528"/>
            </a:xfrm>
            <a:prstGeom prst="rect">
              <a:avLst/>
            </a:prstGeom>
            <a:solidFill>
              <a:srgbClr val="00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619547" name="Rectangle 1051"/>
          <p:cNvSpPr>
            <a:spLocks noChangeArrowheads="1"/>
          </p:cNvSpPr>
          <p:nvPr/>
        </p:nvSpPr>
        <p:spPr bwMode="auto">
          <a:xfrm>
            <a:off x="609600" y="3429000"/>
            <a:ext cx="457200" cy="838200"/>
          </a:xfrm>
          <a:prstGeom prst="rect">
            <a:avLst/>
          </a:prstGeom>
          <a:solidFill>
            <a:srgbClr val="00FF00"/>
          </a:solidFill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pic>
        <p:nvPicPr>
          <p:cNvPr id="619548" name="Picture 105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68300" y="2195513"/>
            <a:ext cx="8108950" cy="3341687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</p:pic>
      <p:sp>
        <p:nvSpPr>
          <p:cNvPr id="29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Mayank Pandey, MNNIT, Allahabad, India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9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19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19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619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619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619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9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9522" grpId="0" animBg="1"/>
      <p:bldP spid="619530" grpId="0" animBg="1"/>
      <p:bldP spid="619531" grpId="0" animBg="1"/>
      <p:bldP spid="619532" grpId="0" animBg="1"/>
      <p:bldP spid="619537" grpId="0" animBg="1"/>
      <p:bldP spid="619543" grpId="0" autoUpdateAnimBg="0"/>
      <p:bldP spid="619547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546" name="AutoShape 2"/>
          <p:cNvSpPr>
            <a:spLocks noChangeArrowheads="1"/>
          </p:cNvSpPr>
          <p:nvPr/>
        </p:nvSpPr>
        <p:spPr bwMode="auto">
          <a:xfrm rot="-5400000">
            <a:off x="6299200" y="4189413"/>
            <a:ext cx="1447800" cy="685800"/>
          </a:xfrm>
          <a:custGeom>
            <a:avLst/>
            <a:gdLst>
              <a:gd name="G0" fmla="+- 5660 0 0"/>
              <a:gd name="G1" fmla="+- 21600 0 5660"/>
              <a:gd name="G2" fmla="*/ 5660 1 2"/>
              <a:gd name="G3" fmla="+- 21600 0 G2"/>
              <a:gd name="G4" fmla="+/ 5660 21600 2"/>
              <a:gd name="G5" fmla="+/ G1 0 2"/>
              <a:gd name="G6" fmla="*/ 21600 21600 5660"/>
              <a:gd name="G7" fmla="*/ G6 1 2"/>
              <a:gd name="G8" fmla="+- 21600 0 G7"/>
              <a:gd name="G9" fmla="*/ 21600 1 2"/>
              <a:gd name="G10" fmla="+- 5660 0 G9"/>
              <a:gd name="G11" fmla="?: G10 G8 0"/>
              <a:gd name="G12" fmla="?: G10 G7 21600"/>
              <a:gd name="T0" fmla="*/ 18770 w 21600"/>
              <a:gd name="T1" fmla="*/ 10800 h 21600"/>
              <a:gd name="T2" fmla="*/ 10800 w 21600"/>
              <a:gd name="T3" fmla="*/ 21600 h 21600"/>
              <a:gd name="T4" fmla="*/ 2830 w 21600"/>
              <a:gd name="T5" fmla="*/ 10800 h 21600"/>
              <a:gd name="T6" fmla="*/ 10800 w 21600"/>
              <a:gd name="T7" fmla="*/ 0 h 21600"/>
              <a:gd name="T8" fmla="*/ 4630 w 21600"/>
              <a:gd name="T9" fmla="*/ 4630 h 21600"/>
              <a:gd name="T10" fmla="*/ 16970 w 21600"/>
              <a:gd name="T11" fmla="*/ 1697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660" y="21600"/>
                </a:lnTo>
                <a:lnTo>
                  <a:pt x="1594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00FF00"/>
          </a:solidFill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620547" name="Rectangle 3"/>
          <p:cNvSpPr>
            <a:spLocks noChangeArrowheads="1"/>
          </p:cNvSpPr>
          <p:nvPr/>
        </p:nvSpPr>
        <p:spPr bwMode="auto">
          <a:xfrm>
            <a:off x="7708900" y="4176713"/>
            <a:ext cx="533400" cy="762000"/>
          </a:xfrm>
          <a:prstGeom prst="rect">
            <a:avLst/>
          </a:prstGeom>
          <a:solidFill>
            <a:srgbClr val="00FF00"/>
          </a:solidFill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3657600" y="3516313"/>
            <a:ext cx="3124200" cy="1981200"/>
            <a:chOff x="2304" y="2352"/>
            <a:chExt cx="1968" cy="1248"/>
          </a:xfrm>
        </p:grpSpPr>
        <p:sp>
          <p:nvSpPr>
            <p:cNvPr id="620549" name="Rectangle 5"/>
            <p:cNvSpPr>
              <a:spLocks noChangeArrowheads="1"/>
            </p:cNvSpPr>
            <p:nvPr/>
          </p:nvSpPr>
          <p:spPr bwMode="auto">
            <a:xfrm>
              <a:off x="3936" y="3120"/>
              <a:ext cx="336" cy="96"/>
            </a:xfrm>
            <a:prstGeom prst="rect">
              <a:avLst/>
            </a:prstGeom>
            <a:solidFill>
              <a:srgbClr val="00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20550" name="Rectangle 6"/>
            <p:cNvSpPr>
              <a:spLocks noChangeArrowheads="1"/>
            </p:cNvSpPr>
            <p:nvPr/>
          </p:nvSpPr>
          <p:spPr bwMode="auto">
            <a:xfrm>
              <a:off x="3920" y="3120"/>
              <a:ext cx="112" cy="480"/>
            </a:xfrm>
            <a:prstGeom prst="rect">
              <a:avLst/>
            </a:prstGeom>
            <a:solidFill>
              <a:srgbClr val="00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20551" name="Rectangle 7"/>
            <p:cNvSpPr>
              <a:spLocks noChangeArrowheads="1"/>
            </p:cNvSpPr>
            <p:nvPr/>
          </p:nvSpPr>
          <p:spPr bwMode="auto">
            <a:xfrm>
              <a:off x="2336" y="2352"/>
              <a:ext cx="112" cy="1248"/>
            </a:xfrm>
            <a:prstGeom prst="rect">
              <a:avLst/>
            </a:prstGeom>
            <a:solidFill>
              <a:srgbClr val="00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20552" name="Rectangle 8"/>
            <p:cNvSpPr>
              <a:spLocks noChangeArrowheads="1"/>
            </p:cNvSpPr>
            <p:nvPr/>
          </p:nvSpPr>
          <p:spPr bwMode="auto">
            <a:xfrm>
              <a:off x="3080" y="2352"/>
              <a:ext cx="112" cy="288"/>
            </a:xfrm>
            <a:prstGeom prst="rect">
              <a:avLst/>
            </a:prstGeom>
            <a:solidFill>
              <a:srgbClr val="00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20553" name="Rectangle 9"/>
            <p:cNvSpPr>
              <a:spLocks noChangeArrowheads="1"/>
            </p:cNvSpPr>
            <p:nvPr/>
          </p:nvSpPr>
          <p:spPr bwMode="auto">
            <a:xfrm>
              <a:off x="2304" y="2352"/>
              <a:ext cx="864" cy="96"/>
            </a:xfrm>
            <a:prstGeom prst="rect">
              <a:avLst/>
            </a:prstGeom>
            <a:solidFill>
              <a:srgbClr val="00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20554" name="Rectangle 10"/>
            <p:cNvSpPr>
              <a:spLocks noChangeArrowheads="1"/>
            </p:cNvSpPr>
            <p:nvPr/>
          </p:nvSpPr>
          <p:spPr bwMode="auto">
            <a:xfrm>
              <a:off x="2816" y="2352"/>
              <a:ext cx="112" cy="288"/>
            </a:xfrm>
            <a:prstGeom prst="rect">
              <a:avLst/>
            </a:prstGeom>
            <a:solidFill>
              <a:srgbClr val="00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20555" name="Rectangle 11"/>
            <p:cNvSpPr>
              <a:spLocks noChangeArrowheads="1"/>
            </p:cNvSpPr>
            <p:nvPr/>
          </p:nvSpPr>
          <p:spPr bwMode="auto">
            <a:xfrm>
              <a:off x="2352" y="3504"/>
              <a:ext cx="1680" cy="96"/>
            </a:xfrm>
            <a:prstGeom prst="rect">
              <a:avLst/>
            </a:prstGeom>
            <a:solidFill>
              <a:srgbClr val="00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620556" name="Rectangle 12"/>
          <p:cNvSpPr>
            <a:spLocks noGrp="1" noChangeArrowheads="1"/>
          </p:cNvSpPr>
          <p:nvPr>
            <p:ph type="title"/>
          </p:nvPr>
        </p:nvSpPr>
        <p:spPr>
          <a:xfrm>
            <a:off x="76200" y="617538"/>
            <a:ext cx="9144000" cy="754062"/>
          </a:xfrm>
        </p:spPr>
        <p:txBody>
          <a:bodyPr/>
          <a:lstStyle/>
          <a:p>
            <a:r>
              <a:rPr lang="en-US" sz="3600" dirty="0" smtClean="0"/>
              <a:t>Step </a:t>
            </a:r>
            <a:r>
              <a:rPr lang="en-US" sz="3600" dirty="0"/>
              <a:t>(2</a:t>
            </a:r>
            <a:r>
              <a:rPr lang="en-US" sz="3600" dirty="0" smtClean="0"/>
              <a:t>): Instruction </a:t>
            </a:r>
            <a:r>
              <a:rPr lang="en-US" sz="3600" dirty="0"/>
              <a:t>Decode &amp; Register Fetch</a:t>
            </a:r>
          </a:p>
        </p:txBody>
      </p:sp>
      <p:sp>
        <p:nvSpPr>
          <p:cNvPr id="620557" name="Rectangle 1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114800"/>
          </a:xfrm>
        </p:spPr>
        <p:txBody>
          <a:bodyPr/>
          <a:lstStyle/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sz="2000" dirty="0">
                <a:latin typeface="Courier New" pitchFamily="49" charset="0"/>
              </a:rPr>
              <a:t>A = </a:t>
            </a:r>
            <a:r>
              <a:rPr lang="en-US" sz="2000" dirty="0" err="1">
                <a:latin typeface="Courier New" pitchFamily="49" charset="0"/>
              </a:rPr>
              <a:t>Reg</a:t>
            </a:r>
            <a:r>
              <a:rPr lang="en-US" sz="2000" dirty="0">
                <a:latin typeface="Courier New" pitchFamily="49" charset="0"/>
              </a:rPr>
              <a:t>[IR[25-21]];		(A = </a:t>
            </a:r>
            <a:r>
              <a:rPr lang="en-US" sz="2000" dirty="0" err="1">
                <a:latin typeface="Courier New" pitchFamily="49" charset="0"/>
              </a:rPr>
              <a:t>Reg</a:t>
            </a:r>
            <a:r>
              <a:rPr lang="en-US" sz="2000" dirty="0">
                <a:latin typeface="Courier New" pitchFamily="49" charset="0"/>
              </a:rPr>
              <a:t>[</a:t>
            </a:r>
            <a:r>
              <a:rPr lang="en-US" sz="2000" dirty="0" err="1">
                <a:latin typeface="Courier New" pitchFamily="49" charset="0"/>
              </a:rPr>
              <a:t>rs</a:t>
            </a:r>
            <a:r>
              <a:rPr lang="en-US" sz="2000" dirty="0">
                <a:latin typeface="Courier New" pitchFamily="49" charset="0"/>
              </a:rPr>
              <a:t>])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sz="2000" dirty="0">
                <a:latin typeface="Courier New" pitchFamily="49" charset="0"/>
              </a:rPr>
              <a:t>B = </a:t>
            </a:r>
            <a:r>
              <a:rPr lang="en-US" sz="2000" dirty="0" err="1">
                <a:latin typeface="Courier New" pitchFamily="49" charset="0"/>
              </a:rPr>
              <a:t>Reg</a:t>
            </a:r>
            <a:r>
              <a:rPr lang="en-US" sz="2000" dirty="0">
                <a:latin typeface="Courier New" pitchFamily="49" charset="0"/>
              </a:rPr>
              <a:t>[IR[20-15]];		(B = </a:t>
            </a:r>
            <a:r>
              <a:rPr lang="en-US" sz="2000" dirty="0" err="1">
                <a:latin typeface="Courier New" pitchFamily="49" charset="0"/>
              </a:rPr>
              <a:t>Reg</a:t>
            </a:r>
            <a:r>
              <a:rPr lang="en-US" sz="2000" dirty="0">
                <a:latin typeface="Courier New" pitchFamily="49" charset="0"/>
              </a:rPr>
              <a:t>[</a:t>
            </a:r>
            <a:r>
              <a:rPr lang="en-US" sz="2000" dirty="0" err="1">
                <a:latin typeface="Courier New" pitchFamily="49" charset="0"/>
              </a:rPr>
              <a:t>rt</a:t>
            </a:r>
            <a:r>
              <a:rPr lang="en-US" sz="2000" dirty="0">
                <a:latin typeface="Courier New" pitchFamily="49" charset="0"/>
              </a:rPr>
              <a:t>])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sz="2000" dirty="0" err="1">
                <a:latin typeface="Courier New" pitchFamily="49" charset="0"/>
              </a:rPr>
              <a:t>ALUOut</a:t>
            </a:r>
            <a:r>
              <a:rPr lang="en-US" sz="2000" dirty="0">
                <a:latin typeface="Courier New" pitchFamily="49" charset="0"/>
              </a:rPr>
              <a:t> = (PC + sign-extend(IR[15-0]) &lt;&lt; 2)</a:t>
            </a:r>
            <a:endParaRPr lang="en-US" sz="2000" dirty="0"/>
          </a:p>
        </p:txBody>
      </p:sp>
      <p:sp>
        <p:nvSpPr>
          <p:cNvPr id="620558" name="Rectangle 14"/>
          <p:cNvSpPr>
            <a:spLocks noChangeArrowheads="1"/>
          </p:cNvSpPr>
          <p:nvPr/>
        </p:nvSpPr>
        <p:spPr bwMode="auto">
          <a:xfrm>
            <a:off x="7239000" y="4494213"/>
            <a:ext cx="609600" cy="152400"/>
          </a:xfrm>
          <a:prstGeom prst="rect">
            <a:avLst/>
          </a:prstGeom>
          <a:solidFill>
            <a:srgbClr val="00FF00"/>
          </a:solidFill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620559" name="Text Box 15"/>
          <p:cNvSpPr txBox="1">
            <a:spLocks noChangeArrowheads="1"/>
          </p:cNvSpPr>
          <p:nvPr/>
        </p:nvSpPr>
        <p:spPr bwMode="auto">
          <a:xfrm>
            <a:off x="7573963" y="3471863"/>
            <a:ext cx="808037" cy="73025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400" b="1"/>
              <a:t>Branch</a:t>
            </a:r>
          </a:p>
          <a:p>
            <a:pPr algn="ctr" eaLnBrk="0" hangingPunct="0"/>
            <a:r>
              <a:rPr lang="en-US" sz="1400" b="1"/>
              <a:t>Target</a:t>
            </a:r>
          </a:p>
          <a:p>
            <a:pPr algn="ctr" eaLnBrk="0" hangingPunct="0"/>
            <a:r>
              <a:rPr lang="en-US" sz="1400" b="1"/>
              <a:t>Address</a:t>
            </a:r>
          </a:p>
        </p:txBody>
      </p:sp>
      <p:grpSp>
        <p:nvGrpSpPr>
          <p:cNvPr id="3" name="Group 16"/>
          <p:cNvGrpSpPr>
            <a:grpSpLocks/>
          </p:cNvGrpSpPr>
          <p:nvPr/>
        </p:nvGrpSpPr>
        <p:grpSpPr bwMode="auto">
          <a:xfrm>
            <a:off x="5576888" y="3592513"/>
            <a:ext cx="747712" cy="914400"/>
            <a:chOff x="3513" y="2400"/>
            <a:chExt cx="471" cy="576"/>
          </a:xfrm>
        </p:grpSpPr>
        <p:sp>
          <p:nvSpPr>
            <p:cNvPr id="620561" name="Rectangle 17"/>
            <p:cNvSpPr>
              <a:spLocks noChangeArrowheads="1"/>
            </p:cNvSpPr>
            <p:nvPr/>
          </p:nvSpPr>
          <p:spPr bwMode="auto">
            <a:xfrm>
              <a:off x="3600" y="2736"/>
              <a:ext cx="144" cy="96"/>
            </a:xfrm>
            <a:prstGeom prst="rect">
              <a:avLst/>
            </a:prstGeom>
            <a:solidFill>
              <a:srgbClr val="FF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20562" name="Rectangle 18"/>
            <p:cNvSpPr>
              <a:spLocks noChangeArrowheads="1"/>
            </p:cNvSpPr>
            <p:nvPr/>
          </p:nvSpPr>
          <p:spPr bwMode="auto">
            <a:xfrm>
              <a:off x="3656" y="2592"/>
              <a:ext cx="288" cy="384"/>
            </a:xfrm>
            <a:prstGeom prst="rect">
              <a:avLst/>
            </a:prstGeom>
            <a:solidFill>
              <a:srgbClr val="FF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20563" name="Text Box 19"/>
            <p:cNvSpPr txBox="1">
              <a:spLocks noChangeArrowheads="1"/>
            </p:cNvSpPr>
            <p:nvPr/>
          </p:nvSpPr>
          <p:spPr bwMode="auto">
            <a:xfrm>
              <a:off x="3513" y="2400"/>
              <a:ext cx="471" cy="19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sz="1400" b="1"/>
                <a:t>Reg[rs]</a:t>
              </a:r>
            </a:p>
          </p:txBody>
        </p:sp>
      </p:grpSp>
      <p:grpSp>
        <p:nvGrpSpPr>
          <p:cNvPr id="4" name="Group 20"/>
          <p:cNvGrpSpPr>
            <a:grpSpLocks/>
          </p:cNvGrpSpPr>
          <p:nvPr/>
        </p:nvGrpSpPr>
        <p:grpSpPr bwMode="auto">
          <a:xfrm>
            <a:off x="5568950" y="4506913"/>
            <a:ext cx="736600" cy="838200"/>
            <a:chOff x="3508" y="2976"/>
            <a:chExt cx="464" cy="528"/>
          </a:xfrm>
        </p:grpSpPr>
        <p:sp>
          <p:nvSpPr>
            <p:cNvPr id="620565" name="Rectangle 21"/>
            <p:cNvSpPr>
              <a:spLocks noChangeArrowheads="1"/>
            </p:cNvSpPr>
            <p:nvPr/>
          </p:nvSpPr>
          <p:spPr bwMode="auto">
            <a:xfrm>
              <a:off x="3600" y="3120"/>
              <a:ext cx="144" cy="96"/>
            </a:xfrm>
            <a:prstGeom prst="rect">
              <a:avLst/>
            </a:prstGeom>
            <a:solidFill>
              <a:srgbClr val="FF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20566" name="Rectangle 22"/>
            <p:cNvSpPr>
              <a:spLocks noChangeArrowheads="1"/>
            </p:cNvSpPr>
            <p:nvPr/>
          </p:nvSpPr>
          <p:spPr bwMode="auto">
            <a:xfrm>
              <a:off x="3656" y="2976"/>
              <a:ext cx="288" cy="384"/>
            </a:xfrm>
            <a:prstGeom prst="rect">
              <a:avLst/>
            </a:prstGeom>
            <a:solidFill>
              <a:srgbClr val="FF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20567" name="Text Box 23"/>
            <p:cNvSpPr txBox="1">
              <a:spLocks noChangeArrowheads="1"/>
            </p:cNvSpPr>
            <p:nvPr/>
          </p:nvSpPr>
          <p:spPr bwMode="auto">
            <a:xfrm>
              <a:off x="3508" y="3312"/>
              <a:ext cx="464" cy="19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sz="1400" b="1"/>
                <a:t>Reg[rt]</a:t>
              </a:r>
            </a:p>
          </p:txBody>
        </p:sp>
      </p:grpSp>
      <p:grpSp>
        <p:nvGrpSpPr>
          <p:cNvPr id="5" name="Group 24"/>
          <p:cNvGrpSpPr>
            <a:grpSpLocks/>
          </p:cNvGrpSpPr>
          <p:nvPr/>
        </p:nvGrpSpPr>
        <p:grpSpPr bwMode="auto">
          <a:xfrm>
            <a:off x="1016000" y="2881313"/>
            <a:ext cx="5689600" cy="1397000"/>
            <a:chOff x="640" y="1952"/>
            <a:chExt cx="3584" cy="880"/>
          </a:xfrm>
        </p:grpSpPr>
        <p:sp>
          <p:nvSpPr>
            <p:cNvPr id="620569" name="Rectangle 25"/>
            <p:cNvSpPr>
              <a:spLocks noChangeArrowheads="1"/>
            </p:cNvSpPr>
            <p:nvPr/>
          </p:nvSpPr>
          <p:spPr bwMode="auto">
            <a:xfrm>
              <a:off x="640" y="2720"/>
              <a:ext cx="288" cy="80"/>
            </a:xfrm>
            <a:prstGeom prst="rect">
              <a:avLst/>
            </a:pr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20570" name="Rectangle 26"/>
            <p:cNvSpPr>
              <a:spLocks noChangeArrowheads="1"/>
            </p:cNvSpPr>
            <p:nvPr/>
          </p:nvSpPr>
          <p:spPr bwMode="auto">
            <a:xfrm>
              <a:off x="848" y="1968"/>
              <a:ext cx="96" cy="816"/>
            </a:xfrm>
            <a:prstGeom prst="rect">
              <a:avLst/>
            </a:pr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20571" name="Rectangle 27"/>
            <p:cNvSpPr>
              <a:spLocks noChangeArrowheads="1"/>
            </p:cNvSpPr>
            <p:nvPr/>
          </p:nvSpPr>
          <p:spPr bwMode="auto">
            <a:xfrm>
              <a:off x="864" y="1952"/>
              <a:ext cx="3168" cy="96"/>
            </a:xfrm>
            <a:prstGeom prst="rect">
              <a:avLst/>
            </a:pr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20572" name="Rectangle 28"/>
            <p:cNvSpPr>
              <a:spLocks noChangeArrowheads="1"/>
            </p:cNvSpPr>
            <p:nvPr/>
          </p:nvSpPr>
          <p:spPr bwMode="auto">
            <a:xfrm>
              <a:off x="3936" y="2016"/>
              <a:ext cx="96" cy="816"/>
            </a:xfrm>
            <a:prstGeom prst="rect">
              <a:avLst/>
            </a:pr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20573" name="Rectangle 29"/>
            <p:cNvSpPr>
              <a:spLocks noChangeArrowheads="1"/>
            </p:cNvSpPr>
            <p:nvPr/>
          </p:nvSpPr>
          <p:spPr bwMode="auto">
            <a:xfrm>
              <a:off x="3936" y="2736"/>
              <a:ext cx="288" cy="96"/>
            </a:xfrm>
            <a:prstGeom prst="rect">
              <a:avLst/>
            </a:pr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6" name="Group 30"/>
          <p:cNvGrpSpPr>
            <a:grpSpLocks/>
          </p:cNvGrpSpPr>
          <p:nvPr/>
        </p:nvGrpSpPr>
        <p:grpSpPr bwMode="auto">
          <a:xfrm>
            <a:off x="355600" y="2525713"/>
            <a:ext cx="8108950" cy="3341687"/>
            <a:chOff x="224" y="1728"/>
            <a:chExt cx="5108" cy="2105"/>
          </a:xfrm>
        </p:grpSpPr>
        <p:sp>
          <p:nvSpPr>
            <p:cNvPr id="620575" name="Rectangle 31"/>
            <p:cNvSpPr>
              <a:spLocks noChangeArrowheads="1"/>
            </p:cNvSpPr>
            <p:nvPr/>
          </p:nvSpPr>
          <p:spPr bwMode="auto">
            <a:xfrm>
              <a:off x="2024" y="2064"/>
              <a:ext cx="288" cy="624"/>
            </a:xfrm>
            <a:prstGeom prst="rect">
              <a:avLst/>
            </a:prstGeom>
            <a:solidFill>
              <a:srgbClr val="00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20576" name="Rectangle 32"/>
            <p:cNvSpPr>
              <a:spLocks noChangeArrowheads="1"/>
            </p:cNvSpPr>
            <p:nvPr/>
          </p:nvSpPr>
          <p:spPr bwMode="auto">
            <a:xfrm>
              <a:off x="384" y="2496"/>
              <a:ext cx="288" cy="528"/>
            </a:xfrm>
            <a:prstGeom prst="rect">
              <a:avLst/>
            </a:pr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20577" name="Text Box 33"/>
            <p:cNvSpPr txBox="1">
              <a:spLocks noChangeArrowheads="1"/>
            </p:cNvSpPr>
            <p:nvPr/>
          </p:nvSpPr>
          <p:spPr bwMode="auto">
            <a:xfrm>
              <a:off x="323" y="3024"/>
              <a:ext cx="441" cy="19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sz="1400" b="1"/>
                <a:t>PC + 4</a:t>
              </a:r>
            </a:p>
          </p:txBody>
        </p:sp>
        <p:pic>
          <p:nvPicPr>
            <p:cNvPr id="620578" name="Picture 34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24" y="1728"/>
              <a:ext cx="5108" cy="210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</p:pic>
      </p:grpSp>
      <p:sp>
        <p:nvSpPr>
          <p:cNvPr id="35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Mayank Pandey, MNNIT, Allahabad, India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20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20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20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20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0546" grpId="0" animBg="1"/>
      <p:bldP spid="620547" grpId="0" animBg="1"/>
      <p:bldP spid="620558" grpId="0" animBg="1"/>
      <p:bldP spid="620559" grpId="0" autoUpdateAnimBg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570" name="Rectangle 2" descr="25%"/>
          <p:cNvSpPr>
            <a:spLocks noChangeArrowheads="1"/>
          </p:cNvSpPr>
          <p:nvPr/>
        </p:nvSpPr>
        <p:spPr bwMode="auto">
          <a:xfrm>
            <a:off x="7739063" y="4343400"/>
            <a:ext cx="533400" cy="762000"/>
          </a:xfrm>
          <a:prstGeom prst="rect">
            <a:avLst/>
          </a:prstGeom>
          <a:pattFill prst="pct25">
            <a:fgClr>
              <a:srgbClr val="00FF00"/>
            </a:fgClr>
            <a:bgClr>
              <a:srgbClr val="FFFFFF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3238500" y="3200400"/>
            <a:ext cx="3556000" cy="2438400"/>
            <a:chOff x="2040" y="2064"/>
            <a:chExt cx="2240" cy="1536"/>
          </a:xfrm>
        </p:grpSpPr>
        <p:sp>
          <p:nvSpPr>
            <p:cNvPr id="621572" name="Rectangle 4"/>
            <p:cNvSpPr>
              <a:spLocks noChangeArrowheads="1"/>
            </p:cNvSpPr>
            <p:nvPr/>
          </p:nvSpPr>
          <p:spPr bwMode="auto">
            <a:xfrm>
              <a:off x="3944" y="3120"/>
              <a:ext cx="336" cy="96"/>
            </a:xfrm>
            <a:prstGeom prst="rect">
              <a:avLst/>
            </a:prstGeom>
            <a:solidFill>
              <a:srgbClr val="00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21573" name="Rectangle 5"/>
            <p:cNvSpPr>
              <a:spLocks noChangeArrowheads="1"/>
            </p:cNvSpPr>
            <p:nvPr/>
          </p:nvSpPr>
          <p:spPr bwMode="auto">
            <a:xfrm>
              <a:off x="3928" y="3120"/>
              <a:ext cx="112" cy="480"/>
            </a:xfrm>
            <a:prstGeom prst="rect">
              <a:avLst/>
            </a:prstGeom>
            <a:solidFill>
              <a:srgbClr val="00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21574" name="Rectangle 6"/>
            <p:cNvSpPr>
              <a:spLocks noChangeArrowheads="1"/>
            </p:cNvSpPr>
            <p:nvPr/>
          </p:nvSpPr>
          <p:spPr bwMode="auto">
            <a:xfrm>
              <a:off x="2336" y="2352"/>
              <a:ext cx="112" cy="1248"/>
            </a:xfrm>
            <a:prstGeom prst="rect">
              <a:avLst/>
            </a:prstGeom>
            <a:solidFill>
              <a:srgbClr val="00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21575" name="Rectangle 7"/>
            <p:cNvSpPr>
              <a:spLocks noChangeArrowheads="1"/>
            </p:cNvSpPr>
            <p:nvPr/>
          </p:nvSpPr>
          <p:spPr bwMode="auto">
            <a:xfrm>
              <a:off x="2040" y="2064"/>
              <a:ext cx="288" cy="624"/>
            </a:xfrm>
            <a:prstGeom prst="rect">
              <a:avLst/>
            </a:prstGeom>
            <a:solidFill>
              <a:srgbClr val="00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21576" name="Rectangle 8"/>
            <p:cNvSpPr>
              <a:spLocks noChangeArrowheads="1"/>
            </p:cNvSpPr>
            <p:nvPr/>
          </p:nvSpPr>
          <p:spPr bwMode="auto">
            <a:xfrm>
              <a:off x="2304" y="2352"/>
              <a:ext cx="144" cy="96"/>
            </a:xfrm>
            <a:prstGeom prst="rect">
              <a:avLst/>
            </a:prstGeom>
            <a:solidFill>
              <a:srgbClr val="00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21577" name="Rectangle 9"/>
            <p:cNvSpPr>
              <a:spLocks noChangeArrowheads="1"/>
            </p:cNvSpPr>
            <p:nvPr/>
          </p:nvSpPr>
          <p:spPr bwMode="auto">
            <a:xfrm>
              <a:off x="2352" y="3504"/>
              <a:ext cx="1680" cy="96"/>
            </a:xfrm>
            <a:prstGeom prst="rect">
              <a:avLst/>
            </a:prstGeom>
            <a:solidFill>
              <a:srgbClr val="00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621578" name="Rectangle 10"/>
          <p:cNvSpPr>
            <a:spLocks noGrp="1" noChangeArrowheads="1"/>
          </p:cNvSpPr>
          <p:nvPr>
            <p:ph type="title"/>
          </p:nvPr>
        </p:nvSpPr>
        <p:spPr>
          <a:xfrm>
            <a:off x="304800" y="381000"/>
            <a:ext cx="8639175" cy="1143000"/>
          </a:xfrm>
        </p:spPr>
        <p:txBody>
          <a:bodyPr/>
          <a:lstStyle/>
          <a:p>
            <a:r>
              <a:rPr lang="en-US" sz="4000" dirty="0" smtClean="0"/>
              <a:t>Step </a:t>
            </a:r>
            <a:r>
              <a:rPr lang="en-US" sz="4000" dirty="0"/>
              <a:t>(3</a:t>
            </a:r>
            <a:r>
              <a:rPr lang="en-US" sz="4000" dirty="0" smtClean="0"/>
              <a:t>): Memory </a:t>
            </a:r>
            <a:r>
              <a:rPr lang="en-US" sz="4000" dirty="0"/>
              <a:t>Reference Instructions</a:t>
            </a:r>
          </a:p>
        </p:txBody>
      </p:sp>
      <p:sp>
        <p:nvSpPr>
          <p:cNvPr id="621579" name="Rectangle 11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4754563"/>
          </a:xfrm>
        </p:spPr>
        <p:txBody>
          <a:bodyPr/>
          <a:lstStyle/>
          <a:p>
            <a:pPr>
              <a:spcBef>
                <a:spcPct val="0"/>
              </a:spcBef>
              <a:buFont typeface="Wingdings" pitchFamily="2" charset="2"/>
              <a:buNone/>
            </a:pPr>
            <a:endParaRPr lang="en-US" sz="2000" dirty="0" smtClean="0">
              <a:latin typeface="Courier New" pitchFamily="49" charset="0"/>
            </a:endParaRP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endParaRPr lang="en-US" sz="2000" dirty="0" smtClean="0">
              <a:latin typeface="Courier New" pitchFamily="49" charset="0"/>
            </a:endParaRP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sz="2000" dirty="0" err="1" smtClean="0">
                <a:latin typeface="Courier New" pitchFamily="49" charset="0"/>
              </a:rPr>
              <a:t>ALUOut</a:t>
            </a:r>
            <a:r>
              <a:rPr lang="en-US" sz="2000" dirty="0" smtClean="0">
                <a:latin typeface="Courier New" pitchFamily="49" charset="0"/>
              </a:rPr>
              <a:t> </a:t>
            </a:r>
            <a:r>
              <a:rPr lang="en-US" sz="2000" dirty="0">
                <a:latin typeface="Courier New" pitchFamily="49" charset="0"/>
              </a:rPr>
              <a:t>= A + sign-extend(IR[15-0]);</a:t>
            </a:r>
            <a:endParaRPr lang="en-US" sz="2000" dirty="0"/>
          </a:p>
        </p:txBody>
      </p:sp>
      <p:grpSp>
        <p:nvGrpSpPr>
          <p:cNvPr id="3" name="Group 12"/>
          <p:cNvGrpSpPr>
            <a:grpSpLocks/>
          </p:cNvGrpSpPr>
          <p:nvPr/>
        </p:nvGrpSpPr>
        <p:grpSpPr bwMode="auto">
          <a:xfrm>
            <a:off x="6172200" y="3810000"/>
            <a:ext cx="2209800" cy="1587500"/>
            <a:chOff x="3888" y="2448"/>
            <a:chExt cx="1392" cy="1000"/>
          </a:xfrm>
        </p:grpSpPr>
        <p:sp>
          <p:nvSpPr>
            <p:cNvPr id="621581" name="AutoShape 13"/>
            <p:cNvSpPr>
              <a:spLocks noChangeArrowheads="1"/>
            </p:cNvSpPr>
            <p:nvPr/>
          </p:nvSpPr>
          <p:spPr bwMode="auto">
            <a:xfrm rot="-5400000">
              <a:off x="3968" y="2776"/>
              <a:ext cx="912" cy="432"/>
            </a:xfrm>
            <a:custGeom>
              <a:avLst/>
              <a:gdLst>
                <a:gd name="G0" fmla="+- 5660 0 0"/>
                <a:gd name="G1" fmla="+- 21600 0 5660"/>
                <a:gd name="G2" fmla="*/ 5660 1 2"/>
                <a:gd name="G3" fmla="+- 21600 0 G2"/>
                <a:gd name="G4" fmla="+/ 5660 21600 2"/>
                <a:gd name="G5" fmla="+/ G1 0 2"/>
                <a:gd name="G6" fmla="*/ 21600 21600 5660"/>
                <a:gd name="G7" fmla="*/ G6 1 2"/>
                <a:gd name="G8" fmla="+- 21600 0 G7"/>
                <a:gd name="G9" fmla="*/ 21600 1 2"/>
                <a:gd name="G10" fmla="+- 5660 0 G9"/>
                <a:gd name="G11" fmla="?: G10 G8 0"/>
                <a:gd name="G12" fmla="?: G10 G7 21600"/>
                <a:gd name="T0" fmla="*/ 18770 w 21600"/>
                <a:gd name="T1" fmla="*/ 10800 h 21600"/>
                <a:gd name="T2" fmla="*/ 10800 w 21600"/>
                <a:gd name="T3" fmla="*/ 21600 h 21600"/>
                <a:gd name="T4" fmla="*/ 2830 w 21600"/>
                <a:gd name="T5" fmla="*/ 10800 h 21600"/>
                <a:gd name="T6" fmla="*/ 10800 w 21600"/>
                <a:gd name="T7" fmla="*/ 0 h 21600"/>
                <a:gd name="T8" fmla="*/ 4630 w 21600"/>
                <a:gd name="T9" fmla="*/ 4630 h 21600"/>
                <a:gd name="T10" fmla="*/ 16970 w 21600"/>
                <a:gd name="T11" fmla="*/ 1697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660" y="21600"/>
                  </a:lnTo>
                  <a:lnTo>
                    <a:pt x="1594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FF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21582" name="Rectangle 14"/>
            <p:cNvSpPr>
              <a:spLocks noChangeArrowheads="1"/>
            </p:cNvSpPr>
            <p:nvPr/>
          </p:nvSpPr>
          <p:spPr bwMode="auto">
            <a:xfrm>
              <a:off x="3888" y="2736"/>
              <a:ext cx="360" cy="96"/>
            </a:xfrm>
            <a:prstGeom prst="rect">
              <a:avLst/>
            </a:prstGeom>
            <a:solidFill>
              <a:srgbClr val="FF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21583" name="Rectangle 15"/>
            <p:cNvSpPr>
              <a:spLocks noChangeArrowheads="1"/>
            </p:cNvSpPr>
            <p:nvPr/>
          </p:nvSpPr>
          <p:spPr bwMode="auto">
            <a:xfrm>
              <a:off x="4872" y="2784"/>
              <a:ext cx="336" cy="480"/>
            </a:xfrm>
            <a:prstGeom prst="rect">
              <a:avLst/>
            </a:prstGeom>
            <a:solidFill>
              <a:srgbClr val="FF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21584" name="Rectangle 16"/>
            <p:cNvSpPr>
              <a:spLocks noChangeArrowheads="1"/>
            </p:cNvSpPr>
            <p:nvPr/>
          </p:nvSpPr>
          <p:spPr bwMode="auto">
            <a:xfrm>
              <a:off x="4560" y="2968"/>
              <a:ext cx="384" cy="96"/>
            </a:xfrm>
            <a:prstGeom prst="rect">
              <a:avLst/>
            </a:prstGeom>
            <a:solidFill>
              <a:srgbClr val="FF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21585" name="Text Box 17"/>
            <p:cNvSpPr txBox="1">
              <a:spLocks noChangeArrowheads="1"/>
            </p:cNvSpPr>
            <p:nvPr/>
          </p:nvSpPr>
          <p:spPr bwMode="auto">
            <a:xfrm>
              <a:off x="4771" y="2448"/>
              <a:ext cx="509" cy="326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sz="1400" b="1"/>
                <a:t>Mem.</a:t>
              </a:r>
            </a:p>
            <a:p>
              <a:pPr algn="ctr" eaLnBrk="0" hangingPunct="0"/>
              <a:r>
                <a:rPr lang="en-US" sz="1400" b="1"/>
                <a:t>Address</a:t>
              </a:r>
            </a:p>
          </p:txBody>
        </p:sp>
      </p:grpSp>
      <p:grpSp>
        <p:nvGrpSpPr>
          <p:cNvPr id="4" name="Group 18"/>
          <p:cNvGrpSpPr>
            <a:grpSpLocks/>
          </p:cNvGrpSpPr>
          <p:nvPr/>
        </p:nvGrpSpPr>
        <p:grpSpPr bwMode="auto">
          <a:xfrm>
            <a:off x="368300" y="2678113"/>
            <a:ext cx="8108950" cy="3341687"/>
            <a:chOff x="232" y="1720"/>
            <a:chExt cx="5108" cy="2105"/>
          </a:xfrm>
        </p:grpSpPr>
        <p:sp>
          <p:nvSpPr>
            <p:cNvPr id="621587" name="Rectangle 19"/>
            <p:cNvSpPr>
              <a:spLocks noChangeArrowheads="1"/>
            </p:cNvSpPr>
            <p:nvPr/>
          </p:nvSpPr>
          <p:spPr bwMode="auto">
            <a:xfrm>
              <a:off x="3672" y="2976"/>
              <a:ext cx="288" cy="384"/>
            </a:xfrm>
            <a:prstGeom prst="rect">
              <a:avLst/>
            </a:prstGeom>
            <a:solidFill>
              <a:srgbClr val="FF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21588" name="Rectangle 20"/>
            <p:cNvSpPr>
              <a:spLocks noChangeArrowheads="1"/>
            </p:cNvSpPr>
            <p:nvPr/>
          </p:nvSpPr>
          <p:spPr bwMode="auto">
            <a:xfrm>
              <a:off x="384" y="2496"/>
              <a:ext cx="288" cy="528"/>
            </a:xfrm>
            <a:prstGeom prst="rect">
              <a:avLst/>
            </a:pr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21589" name="Rectangle 21"/>
            <p:cNvSpPr>
              <a:spLocks noChangeArrowheads="1"/>
            </p:cNvSpPr>
            <p:nvPr/>
          </p:nvSpPr>
          <p:spPr bwMode="auto">
            <a:xfrm>
              <a:off x="3672" y="2592"/>
              <a:ext cx="288" cy="384"/>
            </a:xfrm>
            <a:prstGeom prst="rect">
              <a:avLst/>
            </a:prstGeom>
            <a:solidFill>
              <a:srgbClr val="FF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21590" name="Text Box 22"/>
            <p:cNvSpPr txBox="1">
              <a:spLocks noChangeArrowheads="1"/>
            </p:cNvSpPr>
            <p:nvPr/>
          </p:nvSpPr>
          <p:spPr bwMode="auto">
            <a:xfrm>
              <a:off x="3513" y="2400"/>
              <a:ext cx="471" cy="19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sz="1400" b="1"/>
                <a:t>Reg[rs]</a:t>
              </a:r>
            </a:p>
          </p:txBody>
        </p:sp>
        <p:sp>
          <p:nvSpPr>
            <p:cNvPr id="621591" name="Text Box 23"/>
            <p:cNvSpPr txBox="1">
              <a:spLocks noChangeArrowheads="1"/>
            </p:cNvSpPr>
            <p:nvPr/>
          </p:nvSpPr>
          <p:spPr bwMode="auto">
            <a:xfrm>
              <a:off x="3508" y="3312"/>
              <a:ext cx="464" cy="19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sz="1400" b="1"/>
                <a:t>Reg[rt]</a:t>
              </a:r>
            </a:p>
          </p:txBody>
        </p:sp>
        <p:sp>
          <p:nvSpPr>
            <p:cNvPr id="621592" name="Text Box 24"/>
            <p:cNvSpPr txBox="1">
              <a:spLocks noChangeArrowheads="1"/>
            </p:cNvSpPr>
            <p:nvPr/>
          </p:nvSpPr>
          <p:spPr bwMode="auto">
            <a:xfrm>
              <a:off x="323" y="3024"/>
              <a:ext cx="441" cy="19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sz="1400" b="1"/>
                <a:t>PC + 4</a:t>
              </a:r>
            </a:p>
          </p:txBody>
        </p:sp>
        <p:pic>
          <p:nvPicPr>
            <p:cNvPr id="621593" name="Picture 25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32" y="1720"/>
              <a:ext cx="5108" cy="210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</p:pic>
      </p:grpSp>
      <p:sp>
        <p:nvSpPr>
          <p:cNvPr id="26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Mayank Pandey, MNNIT, Allahabad, India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1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1570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594" name="Rectangle 2" descr="30%"/>
          <p:cNvSpPr>
            <a:spLocks noChangeArrowheads="1"/>
          </p:cNvSpPr>
          <p:nvPr/>
        </p:nvSpPr>
        <p:spPr bwMode="auto">
          <a:xfrm>
            <a:off x="7761288" y="3962400"/>
            <a:ext cx="457200" cy="762000"/>
          </a:xfrm>
          <a:prstGeom prst="rect">
            <a:avLst/>
          </a:prstGeom>
          <a:pattFill prst="pct30">
            <a:fgClr>
              <a:srgbClr val="00FF00"/>
            </a:fgClr>
            <a:bgClr>
              <a:srgbClr val="FFFFFF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622595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914400"/>
          </a:xfrm>
        </p:spPr>
        <p:txBody>
          <a:bodyPr/>
          <a:lstStyle/>
          <a:p>
            <a:r>
              <a:rPr lang="en-US" sz="3600" dirty="0" smtClean="0"/>
              <a:t>Step </a:t>
            </a:r>
            <a:r>
              <a:rPr lang="en-US" sz="3600" dirty="0"/>
              <a:t>(3</a:t>
            </a:r>
            <a:r>
              <a:rPr lang="en-US" sz="3600" dirty="0" smtClean="0"/>
              <a:t>): ALU </a:t>
            </a:r>
            <a:r>
              <a:rPr lang="en-US" sz="3600" dirty="0"/>
              <a:t>Instruction (R-Type)</a:t>
            </a:r>
          </a:p>
        </p:txBody>
      </p:sp>
      <p:sp>
        <p:nvSpPr>
          <p:cNvPr id="622596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457200" y="914400"/>
            <a:ext cx="8229600" cy="4754563"/>
          </a:xfrm>
        </p:spPr>
        <p:txBody>
          <a:bodyPr/>
          <a:lstStyle/>
          <a:p>
            <a:pPr>
              <a:spcBef>
                <a:spcPct val="0"/>
              </a:spcBef>
              <a:buFont typeface="Wingdings" pitchFamily="2" charset="2"/>
              <a:buNone/>
            </a:pPr>
            <a:endParaRPr lang="en-US" sz="2000" dirty="0" smtClean="0">
              <a:latin typeface="Courier New" pitchFamily="49" charset="0"/>
            </a:endParaRP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endParaRPr lang="en-US" sz="2000" dirty="0" smtClean="0">
              <a:latin typeface="Courier New" pitchFamily="49" charset="0"/>
            </a:endParaRP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endParaRPr lang="en-US" sz="2000" dirty="0" smtClean="0">
              <a:latin typeface="Courier New" pitchFamily="49" charset="0"/>
            </a:endParaRP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sz="2000" dirty="0" err="1" smtClean="0">
                <a:latin typeface="Courier New" pitchFamily="49" charset="0"/>
              </a:rPr>
              <a:t>ALUOut</a:t>
            </a:r>
            <a:r>
              <a:rPr lang="en-US" sz="2000" dirty="0" smtClean="0">
                <a:latin typeface="Courier New" pitchFamily="49" charset="0"/>
              </a:rPr>
              <a:t> </a:t>
            </a:r>
            <a:r>
              <a:rPr lang="en-US" sz="2000" dirty="0">
                <a:latin typeface="Courier New" pitchFamily="49" charset="0"/>
              </a:rPr>
              <a:t>= A op B</a:t>
            </a:r>
            <a:endParaRPr lang="en-US" sz="2000" dirty="0"/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6248400" y="3444875"/>
            <a:ext cx="2109788" cy="1571625"/>
            <a:chOff x="3936" y="2458"/>
            <a:chExt cx="1329" cy="990"/>
          </a:xfrm>
        </p:grpSpPr>
        <p:sp>
          <p:nvSpPr>
            <p:cNvPr id="622598" name="AutoShape 6"/>
            <p:cNvSpPr>
              <a:spLocks noChangeArrowheads="1"/>
            </p:cNvSpPr>
            <p:nvPr/>
          </p:nvSpPr>
          <p:spPr bwMode="auto">
            <a:xfrm rot="-5400000">
              <a:off x="3968" y="2776"/>
              <a:ext cx="912" cy="432"/>
            </a:xfrm>
            <a:custGeom>
              <a:avLst/>
              <a:gdLst>
                <a:gd name="G0" fmla="+- 5660 0 0"/>
                <a:gd name="G1" fmla="+- 21600 0 5660"/>
                <a:gd name="G2" fmla="*/ 5660 1 2"/>
                <a:gd name="G3" fmla="+- 21600 0 G2"/>
                <a:gd name="G4" fmla="+/ 5660 21600 2"/>
                <a:gd name="G5" fmla="+/ G1 0 2"/>
                <a:gd name="G6" fmla="*/ 21600 21600 5660"/>
                <a:gd name="G7" fmla="*/ G6 1 2"/>
                <a:gd name="G8" fmla="+- 21600 0 G7"/>
                <a:gd name="G9" fmla="*/ 21600 1 2"/>
                <a:gd name="G10" fmla="+- 5660 0 G9"/>
                <a:gd name="G11" fmla="?: G10 G8 0"/>
                <a:gd name="G12" fmla="?: G10 G7 21600"/>
                <a:gd name="T0" fmla="*/ 18770 w 21600"/>
                <a:gd name="T1" fmla="*/ 10800 h 21600"/>
                <a:gd name="T2" fmla="*/ 10800 w 21600"/>
                <a:gd name="T3" fmla="*/ 21600 h 21600"/>
                <a:gd name="T4" fmla="*/ 2830 w 21600"/>
                <a:gd name="T5" fmla="*/ 10800 h 21600"/>
                <a:gd name="T6" fmla="*/ 10800 w 21600"/>
                <a:gd name="T7" fmla="*/ 0 h 21600"/>
                <a:gd name="T8" fmla="*/ 4630 w 21600"/>
                <a:gd name="T9" fmla="*/ 4630 h 21600"/>
                <a:gd name="T10" fmla="*/ 16970 w 21600"/>
                <a:gd name="T11" fmla="*/ 1697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660" y="21600"/>
                  </a:lnTo>
                  <a:lnTo>
                    <a:pt x="1594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FF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22599" name="Rectangle 7"/>
            <p:cNvSpPr>
              <a:spLocks noChangeArrowheads="1"/>
            </p:cNvSpPr>
            <p:nvPr/>
          </p:nvSpPr>
          <p:spPr bwMode="auto">
            <a:xfrm>
              <a:off x="4888" y="2784"/>
              <a:ext cx="296" cy="480"/>
            </a:xfrm>
            <a:prstGeom prst="rect">
              <a:avLst/>
            </a:prstGeom>
            <a:solidFill>
              <a:srgbClr val="FF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22600" name="Rectangle 8"/>
            <p:cNvSpPr>
              <a:spLocks noChangeArrowheads="1"/>
            </p:cNvSpPr>
            <p:nvPr/>
          </p:nvSpPr>
          <p:spPr bwMode="auto">
            <a:xfrm>
              <a:off x="3936" y="2736"/>
              <a:ext cx="336" cy="96"/>
            </a:xfrm>
            <a:prstGeom prst="rect">
              <a:avLst/>
            </a:prstGeom>
            <a:solidFill>
              <a:srgbClr val="FF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22601" name="Rectangle 9"/>
            <p:cNvSpPr>
              <a:spLocks noChangeArrowheads="1"/>
            </p:cNvSpPr>
            <p:nvPr/>
          </p:nvSpPr>
          <p:spPr bwMode="auto">
            <a:xfrm>
              <a:off x="3936" y="3120"/>
              <a:ext cx="336" cy="96"/>
            </a:xfrm>
            <a:prstGeom prst="rect">
              <a:avLst/>
            </a:prstGeom>
            <a:solidFill>
              <a:srgbClr val="FF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22602" name="Rectangle 10"/>
            <p:cNvSpPr>
              <a:spLocks noChangeArrowheads="1"/>
            </p:cNvSpPr>
            <p:nvPr/>
          </p:nvSpPr>
          <p:spPr bwMode="auto">
            <a:xfrm>
              <a:off x="4560" y="2968"/>
              <a:ext cx="384" cy="96"/>
            </a:xfrm>
            <a:prstGeom prst="rect">
              <a:avLst/>
            </a:prstGeom>
            <a:solidFill>
              <a:srgbClr val="FF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22603" name="Text Box 11"/>
            <p:cNvSpPr txBox="1">
              <a:spLocks noChangeArrowheads="1"/>
            </p:cNvSpPr>
            <p:nvPr/>
          </p:nvSpPr>
          <p:spPr bwMode="auto">
            <a:xfrm>
              <a:off x="4788" y="2458"/>
              <a:ext cx="477" cy="326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sz="1400" b="1"/>
                <a:t>R-Type</a:t>
              </a:r>
            </a:p>
            <a:p>
              <a:pPr algn="ctr" eaLnBrk="0" hangingPunct="0"/>
              <a:r>
                <a:rPr lang="en-US" sz="1400" b="1"/>
                <a:t>Result</a:t>
              </a:r>
            </a:p>
          </p:txBody>
        </p:sp>
      </p:grpSp>
      <p:grpSp>
        <p:nvGrpSpPr>
          <p:cNvPr id="3" name="Group 12"/>
          <p:cNvGrpSpPr>
            <a:grpSpLocks/>
          </p:cNvGrpSpPr>
          <p:nvPr/>
        </p:nvGrpSpPr>
        <p:grpSpPr bwMode="auto">
          <a:xfrm>
            <a:off x="368300" y="2273300"/>
            <a:ext cx="8108950" cy="3341688"/>
            <a:chOff x="232" y="1720"/>
            <a:chExt cx="5108" cy="2105"/>
          </a:xfrm>
        </p:grpSpPr>
        <p:sp>
          <p:nvSpPr>
            <p:cNvPr id="622605" name="Rectangle 13"/>
            <p:cNvSpPr>
              <a:spLocks noChangeArrowheads="1"/>
            </p:cNvSpPr>
            <p:nvPr/>
          </p:nvSpPr>
          <p:spPr bwMode="auto">
            <a:xfrm>
              <a:off x="3696" y="2592"/>
              <a:ext cx="248" cy="384"/>
            </a:xfrm>
            <a:prstGeom prst="rect">
              <a:avLst/>
            </a:prstGeom>
            <a:solidFill>
              <a:srgbClr val="FF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22606" name="Rectangle 14"/>
            <p:cNvSpPr>
              <a:spLocks noChangeArrowheads="1"/>
            </p:cNvSpPr>
            <p:nvPr/>
          </p:nvSpPr>
          <p:spPr bwMode="auto">
            <a:xfrm>
              <a:off x="3696" y="2976"/>
              <a:ext cx="248" cy="384"/>
            </a:xfrm>
            <a:prstGeom prst="rect">
              <a:avLst/>
            </a:prstGeom>
            <a:solidFill>
              <a:srgbClr val="FF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22607" name="Rectangle 15"/>
            <p:cNvSpPr>
              <a:spLocks noChangeArrowheads="1"/>
            </p:cNvSpPr>
            <p:nvPr/>
          </p:nvSpPr>
          <p:spPr bwMode="auto">
            <a:xfrm>
              <a:off x="2040" y="2064"/>
              <a:ext cx="288" cy="624"/>
            </a:xfrm>
            <a:prstGeom prst="rect">
              <a:avLst/>
            </a:prstGeom>
            <a:solidFill>
              <a:srgbClr val="00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22608" name="Rectangle 16"/>
            <p:cNvSpPr>
              <a:spLocks noChangeArrowheads="1"/>
            </p:cNvSpPr>
            <p:nvPr/>
          </p:nvSpPr>
          <p:spPr bwMode="auto">
            <a:xfrm>
              <a:off x="384" y="2496"/>
              <a:ext cx="288" cy="528"/>
            </a:xfrm>
            <a:prstGeom prst="rect">
              <a:avLst/>
            </a:pr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22609" name="Text Box 17"/>
            <p:cNvSpPr txBox="1">
              <a:spLocks noChangeArrowheads="1"/>
            </p:cNvSpPr>
            <p:nvPr/>
          </p:nvSpPr>
          <p:spPr bwMode="auto">
            <a:xfrm>
              <a:off x="3513" y="2400"/>
              <a:ext cx="471" cy="19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sz="1400" b="1"/>
                <a:t>Reg[rs]</a:t>
              </a:r>
            </a:p>
          </p:txBody>
        </p:sp>
        <p:sp>
          <p:nvSpPr>
            <p:cNvPr id="622610" name="Text Box 18"/>
            <p:cNvSpPr txBox="1">
              <a:spLocks noChangeArrowheads="1"/>
            </p:cNvSpPr>
            <p:nvPr/>
          </p:nvSpPr>
          <p:spPr bwMode="auto">
            <a:xfrm>
              <a:off x="3508" y="3312"/>
              <a:ext cx="464" cy="19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sz="1400" b="1"/>
                <a:t>Reg[rt]</a:t>
              </a:r>
            </a:p>
          </p:txBody>
        </p:sp>
        <p:sp>
          <p:nvSpPr>
            <p:cNvPr id="622611" name="Text Box 19"/>
            <p:cNvSpPr txBox="1">
              <a:spLocks noChangeArrowheads="1"/>
            </p:cNvSpPr>
            <p:nvPr/>
          </p:nvSpPr>
          <p:spPr bwMode="auto">
            <a:xfrm>
              <a:off x="323" y="3024"/>
              <a:ext cx="441" cy="19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sz="1400" b="1"/>
                <a:t>PC + 4</a:t>
              </a:r>
            </a:p>
          </p:txBody>
        </p:sp>
        <p:pic>
          <p:nvPicPr>
            <p:cNvPr id="622612" name="Picture 20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32" y="1720"/>
              <a:ext cx="5108" cy="210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</p:pic>
      </p:grpSp>
      <p:sp>
        <p:nvSpPr>
          <p:cNvPr id="21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Mayank Pandey, MNNIT, Allahabad, India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2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5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225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2594" grpId="0" animBg="1"/>
      <p:bldP spid="622596" grpId="0" build="p" autoUpdateAnimBg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6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914400"/>
          </a:xfrm>
        </p:spPr>
        <p:txBody>
          <a:bodyPr/>
          <a:lstStyle/>
          <a:p>
            <a:r>
              <a:rPr lang="en-US" dirty="0" smtClean="0"/>
              <a:t>Step </a:t>
            </a:r>
            <a:r>
              <a:rPr lang="en-US" dirty="0"/>
              <a:t>(3</a:t>
            </a:r>
            <a:r>
              <a:rPr lang="en-US" dirty="0" smtClean="0"/>
              <a:t>): Branch </a:t>
            </a:r>
            <a:r>
              <a:rPr lang="en-US" dirty="0"/>
              <a:t>Instructions</a:t>
            </a:r>
          </a:p>
        </p:txBody>
      </p:sp>
      <p:sp>
        <p:nvSpPr>
          <p:cNvPr id="6236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229600" cy="4754563"/>
          </a:xfrm>
        </p:spPr>
        <p:txBody>
          <a:bodyPr/>
          <a:lstStyle/>
          <a:p>
            <a:pPr>
              <a:spcBef>
                <a:spcPct val="0"/>
              </a:spcBef>
              <a:buFont typeface="Wingdings" pitchFamily="2" charset="2"/>
              <a:buNone/>
            </a:pPr>
            <a:endParaRPr lang="en-US" sz="2000" dirty="0" smtClean="0">
              <a:latin typeface="Courier New" pitchFamily="49" charset="0"/>
            </a:endParaRP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endParaRPr lang="en-US" sz="2000" dirty="0" smtClean="0">
              <a:latin typeface="Courier New" pitchFamily="49" charset="0"/>
            </a:endParaRP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</a:rPr>
              <a:t>if </a:t>
            </a:r>
            <a:r>
              <a:rPr lang="en-US" sz="2000" dirty="0">
                <a:latin typeface="Courier New" pitchFamily="49" charset="0"/>
              </a:rPr>
              <a:t>(A == B) PC = </a:t>
            </a:r>
            <a:r>
              <a:rPr lang="en-US" sz="2000" dirty="0" err="1">
                <a:latin typeface="Courier New" pitchFamily="49" charset="0"/>
              </a:rPr>
              <a:t>ALUOut</a:t>
            </a:r>
            <a:r>
              <a:rPr lang="en-US" sz="2000" dirty="0">
                <a:latin typeface="Courier New" pitchFamily="49" charset="0"/>
              </a:rPr>
              <a:t>;</a:t>
            </a:r>
            <a:endParaRPr lang="en-US" sz="2000" dirty="0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6248400" y="3644900"/>
            <a:ext cx="1320800" cy="1447800"/>
            <a:chOff x="3936" y="2536"/>
            <a:chExt cx="832" cy="912"/>
          </a:xfrm>
        </p:grpSpPr>
        <p:sp>
          <p:nvSpPr>
            <p:cNvPr id="623621" name="Rectangle 5"/>
            <p:cNvSpPr>
              <a:spLocks noChangeArrowheads="1"/>
            </p:cNvSpPr>
            <p:nvPr/>
          </p:nvSpPr>
          <p:spPr bwMode="auto">
            <a:xfrm>
              <a:off x="4576" y="2736"/>
              <a:ext cx="192" cy="192"/>
            </a:xfrm>
            <a:prstGeom prst="rect">
              <a:avLst/>
            </a:prstGeom>
            <a:solidFill>
              <a:srgbClr val="FF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23622" name="AutoShape 6"/>
            <p:cNvSpPr>
              <a:spLocks noChangeArrowheads="1"/>
            </p:cNvSpPr>
            <p:nvPr/>
          </p:nvSpPr>
          <p:spPr bwMode="auto">
            <a:xfrm rot="-5400000">
              <a:off x="3968" y="2776"/>
              <a:ext cx="912" cy="432"/>
            </a:xfrm>
            <a:custGeom>
              <a:avLst/>
              <a:gdLst>
                <a:gd name="G0" fmla="+- 5660 0 0"/>
                <a:gd name="G1" fmla="+- 21600 0 5660"/>
                <a:gd name="G2" fmla="*/ 5660 1 2"/>
                <a:gd name="G3" fmla="+- 21600 0 G2"/>
                <a:gd name="G4" fmla="+/ 5660 21600 2"/>
                <a:gd name="G5" fmla="+/ G1 0 2"/>
                <a:gd name="G6" fmla="*/ 21600 21600 5660"/>
                <a:gd name="G7" fmla="*/ G6 1 2"/>
                <a:gd name="G8" fmla="+- 21600 0 G7"/>
                <a:gd name="G9" fmla="*/ 21600 1 2"/>
                <a:gd name="G10" fmla="+- 5660 0 G9"/>
                <a:gd name="G11" fmla="?: G10 G8 0"/>
                <a:gd name="G12" fmla="?: G10 G7 21600"/>
                <a:gd name="T0" fmla="*/ 18770 w 21600"/>
                <a:gd name="T1" fmla="*/ 10800 h 21600"/>
                <a:gd name="T2" fmla="*/ 10800 w 21600"/>
                <a:gd name="T3" fmla="*/ 21600 h 21600"/>
                <a:gd name="T4" fmla="*/ 2830 w 21600"/>
                <a:gd name="T5" fmla="*/ 10800 h 21600"/>
                <a:gd name="T6" fmla="*/ 10800 w 21600"/>
                <a:gd name="T7" fmla="*/ 0 h 21600"/>
                <a:gd name="T8" fmla="*/ 4630 w 21600"/>
                <a:gd name="T9" fmla="*/ 4630 h 21600"/>
                <a:gd name="T10" fmla="*/ 16970 w 21600"/>
                <a:gd name="T11" fmla="*/ 1697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660" y="21600"/>
                  </a:lnTo>
                  <a:lnTo>
                    <a:pt x="1594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FF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23623" name="Rectangle 7"/>
            <p:cNvSpPr>
              <a:spLocks noChangeArrowheads="1"/>
            </p:cNvSpPr>
            <p:nvPr/>
          </p:nvSpPr>
          <p:spPr bwMode="auto">
            <a:xfrm>
              <a:off x="3936" y="3120"/>
              <a:ext cx="336" cy="96"/>
            </a:xfrm>
            <a:prstGeom prst="rect">
              <a:avLst/>
            </a:prstGeom>
            <a:solidFill>
              <a:srgbClr val="FF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23624" name="Rectangle 8"/>
            <p:cNvSpPr>
              <a:spLocks noChangeArrowheads="1"/>
            </p:cNvSpPr>
            <p:nvPr/>
          </p:nvSpPr>
          <p:spPr bwMode="auto">
            <a:xfrm>
              <a:off x="3936" y="2736"/>
              <a:ext cx="288" cy="96"/>
            </a:xfrm>
            <a:prstGeom prst="rect">
              <a:avLst/>
            </a:prstGeom>
            <a:solidFill>
              <a:srgbClr val="FF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381000" y="2286000"/>
            <a:ext cx="8077200" cy="2209800"/>
            <a:chOff x="240" y="1680"/>
            <a:chExt cx="5088" cy="1392"/>
          </a:xfrm>
        </p:grpSpPr>
        <p:sp>
          <p:nvSpPr>
            <p:cNvPr id="623626" name="Rectangle 10"/>
            <p:cNvSpPr>
              <a:spLocks noChangeArrowheads="1"/>
            </p:cNvSpPr>
            <p:nvPr/>
          </p:nvSpPr>
          <p:spPr bwMode="auto">
            <a:xfrm>
              <a:off x="384" y="2496"/>
              <a:ext cx="288" cy="528"/>
            </a:xfrm>
            <a:prstGeom prst="rect">
              <a:avLst/>
            </a:pr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23627" name="Rectangle 11"/>
            <p:cNvSpPr>
              <a:spLocks noChangeArrowheads="1"/>
            </p:cNvSpPr>
            <p:nvPr/>
          </p:nvSpPr>
          <p:spPr bwMode="auto">
            <a:xfrm>
              <a:off x="5184" y="2968"/>
              <a:ext cx="144" cy="104"/>
            </a:xfrm>
            <a:prstGeom prst="rect">
              <a:avLst/>
            </a:pr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23628" name="Rectangle 12"/>
            <p:cNvSpPr>
              <a:spLocks noChangeArrowheads="1"/>
            </p:cNvSpPr>
            <p:nvPr/>
          </p:nvSpPr>
          <p:spPr bwMode="auto">
            <a:xfrm>
              <a:off x="5232" y="1680"/>
              <a:ext cx="96" cy="1344"/>
            </a:xfrm>
            <a:prstGeom prst="rect">
              <a:avLst/>
            </a:pr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23629" name="Rectangle 13"/>
            <p:cNvSpPr>
              <a:spLocks noChangeArrowheads="1"/>
            </p:cNvSpPr>
            <p:nvPr/>
          </p:nvSpPr>
          <p:spPr bwMode="auto">
            <a:xfrm>
              <a:off x="240" y="1680"/>
              <a:ext cx="5088" cy="96"/>
            </a:xfrm>
            <a:prstGeom prst="rect">
              <a:avLst/>
            </a:pr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23630" name="Rectangle 14"/>
            <p:cNvSpPr>
              <a:spLocks noChangeArrowheads="1"/>
            </p:cNvSpPr>
            <p:nvPr/>
          </p:nvSpPr>
          <p:spPr bwMode="auto">
            <a:xfrm>
              <a:off x="240" y="2704"/>
              <a:ext cx="192" cy="96"/>
            </a:xfrm>
            <a:prstGeom prst="rect">
              <a:avLst/>
            </a:pr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23631" name="Rectangle 15"/>
            <p:cNvSpPr>
              <a:spLocks noChangeArrowheads="1"/>
            </p:cNvSpPr>
            <p:nvPr/>
          </p:nvSpPr>
          <p:spPr bwMode="auto">
            <a:xfrm>
              <a:off x="240" y="1680"/>
              <a:ext cx="96" cy="1104"/>
            </a:xfrm>
            <a:prstGeom prst="rect">
              <a:avLst/>
            </a:pr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623632" name="Text Box 16"/>
          <p:cNvSpPr txBox="1">
            <a:spLocks noChangeArrowheads="1"/>
          </p:cNvSpPr>
          <p:nvPr/>
        </p:nvSpPr>
        <p:spPr bwMode="auto">
          <a:xfrm>
            <a:off x="458788" y="4343400"/>
            <a:ext cx="808037" cy="73025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400" b="1"/>
              <a:t>Branch</a:t>
            </a:r>
          </a:p>
          <a:p>
            <a:pPr algn="ctr" eaLnBrk="0" hangingPunct="0"/>
            <a:r>
              <a:rPr lang="en-US" sz="1400" b="1"/>
              <a:t>Target</a:t>
            </a:r>
          </a:p>
          <a:p>
            <a:pPr algn="ctr" eaLnBrk="0" hangingPunct="0"/>
            <a:r>
              <a:rPr lang="en-US" sz="1400" b="1"/>
              <a:t>Address</a:t>
            </a:r>
          </a:p>
        </p:txBody>
      </p:sp>
      <p:grpSp>
        <p:nvGrpSpPr>
          <p:cNvPr id="4" name="Group 17"/>
          <p:cNvGrpSpPr>
            <a:grpSpLocks/>
          </p:cNvGrpSpPr>
          <p:nvPr/>
        </p:nvGrpSpPr>
        <p:grpSpPr bwMode="auto">
          <a:xfrm>
            <a:off x="368300" y="2373313"/>
            <a:ext cx="8108950" cy="3341687"/>
            <a:chOff x="232" y="1720"/>
            <a:chExt cx="5108" cy="2105"/>
          </a:xfrm>
        </p:grpSpPr>
        <p:sp>
          <p:nvSpPr>
            <p:cNvPr id="623634" name="Rectangle 18"/>
            <p:cNvSpPr>
              <a:spLocks noChangeArrowheads="1"/>
            </p:cNvSpPr>
            <p:nvPr/>
          </p:nvSpPr>
          <p:spPr bwMode="auto">
            <a:xfrm>
              <a:off x="384" y="2496"/>
              <a:ext cx="288" cy="528"/>
            </a:xfrm>
            <a:prstGeom prst="rect">
              <a:avLst/>
            </a:prstGeom>
            <a:solidFill>
              <a:srgbClr val="66FF66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23635" name="Rectangle 19"/>
            <p:cNvSpPr>
              <a:spLocks noChangeArrowheads="1"/>
            </p:cNvSpPr>
            <p:nvPr/>
          </p:nvSpPr>
          <p:spPr bwMode="auto">
            <a:xfrm>
              <a:off x="4872" y="2784"/>
              <a:ext cx="336" cy="480"/>
            </a:xfrm>
            <a:prstGeom prst="rect">
              <a:avLst/>
            </a:pr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23636" name="Rectangle 20"/>
            <p:cNvSpPr>
              <a:spLocks noChangeArrowheads="1"/>
            </p:cNvSpPr>
            <p:nvPr/>
          </p:nvSpPr>
          <p:spPr bwMode="auto">
            <a:xfrm>
              <a:off x="3664" y="2592"/>
              <a:ext cx="288" cy="384"/>
            </a:xfrm>
            <a:prstGeom prst="rect">
              <a:avLst/>
            </a:prstGeom>
            <a:solidFill>
              <a:srgbClr val="FF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23637" name="Rectangle 21"/>
            <p:cNvSpPr>
              <a:spLocks noChangeArrowheads="1"/>
            </p:cNvSpPr>
            <p:nvPr/>
          </p:nvSpPr>
          <p:spPr bwMode="auto">
            <a:xfrm>
              <a:off x="3664" y="2976"/>
              <a:ext cx="288" cy="384"/>
            </a:xfrm>
            <a:prstGeom prst="rect">
              <a:avLst/>
            </a:prstGeom>
            <a:solidFill>
              <a:srgbClr val="FF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23638" name="Rectangle 22"/>
            <p:cNvSpPr>
              <a:spLocks noChangeArrowheads="1"/>
            </p:cNvSpPr>
            <p:nvPr/>
          </p:nvSpPr>
          <p:spPr bwMode="auto">
            <a:xfrm>
              <a:off x="2040" y="2064"/>
              <a:ext cx="288" cy="624"/>
            </a:xfrm>
            <a:prstGeom prst="rect">
              <a:avLst/>
            </a:prstGeom>
            <a:solidFill>
              <a:srgbClr val="00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23639" name="Text Box 23"/>
            <p:cNvSpPr txBox="1">
              <a:spLocks noChangeArrowheads="1"/>
            </p:cNvSpPr>
            <p:nvPr/>
          </p:nvSpPr>
          <p:spPr bwMode="auto">
            <a:xfrm>
              <a:off x="3513" y="2400"/>
              <a:ext cx="471" cy="19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sz="1400" b="1"/>
                <a:t>Reg[rs]</a:t>
              </a:r>
            </a:p>
          </p:txBody>
        </p:sp>
        <p:sp>
          <p:nvSpPr>
            <p:cNvPr id="623640" name="Text Box 24"/>
            <p:cNvSpPr txBox="1">
              <a:spLocks noChangeArrowheads="1"/>
            </p:cNvSpPr>
            <p:nvPr/>
          </p:nvSpPr>
          <p:spPr bwMode="auto">
            <a:xfrm>
              <a:off x="3508" y="3312"/>
              <a:ext cx="464" cy="19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sz="1400" b="1"/>
                <a:t>Reg[rt]</a:t>
              </a:r>
            </a:p>
          </p:txBody>
        </p:sp>
        <p:sp>
          <p:nvSpPr>
            <p:cNvPr id="623641" name="Text Box 25"/>
            <p:cNvSpPr txBox="1">
              <a:spLocks noChangeArrowheads="1"/>
            </p:cNvSpPr>
            <p:nvPr/>
          </p:nvSpPr>
          <p:spPr bwMode="auto">
            <a:xfrm>
              <a:off x="4771" y="2324"/>
              <a:ext cx="509" cy="46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sz="1400" b="1"/>
                <a:t>Branch</a:t>
              </a:r>
            </a:p>
            <a:p>
              <a:pPr algn="ctr" eaLnBrk="0" hangingPunct="0"/>
              <a:r>
                <a:rPr lang="en-US" sz="1400" b="1"/>
                <a:t>Target</a:t>
              </a:r>
            </a:p>
            <a:p>
              <a:pPr algn="ctr" eaLnBrk="0" hangingPunct="0"/>
              <a:r>
                <a:rPr lang="en-US" sz="1400" b="1"/>
                <a:t>Address</a:t>
              </a:r>
            </a:p>
          </p:txBody>
        </p:sp>
        <p:pic>
          <p:nvPicPr>
            <p:cNvPr id="623642" name="Picture 26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32" y="1720"/>
              <a:ext cx="5108" cy="210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</p:pic>
      </p:grpSp>
      <p:sp>
        <p:nvSpPr>
          <p:cNvPr id="27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Mayank Pandey, MNNIT, Allahabad, India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23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3632" grpId="0" autoUpdateAnimBg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42" name="Rectangle 2"/>
          <p:cNvSpPr>
            <a:spLocks noChangeArrowheads="1"/>
          </p:cNvSpPr>
          <p:nvPr/>
        </p:nvSpPr>
        <p:spPr bwMode="auto">
          <a:xfrm>
            <a:off x="381000" y="3771900"/>
            <a:ext cx="304800" cy="152400"/>
          </a:xfrm>
          <a:prstGeom prst="rect">
            <a:avLst/>
          </a:prstGeom>
          <a:solidFill>
            <a:srgbClr val="00FF00"/>
          </a:solidFill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624643" name="Rectangle 3"/>
          <p:cNvSpPr>
            <a:spLocks noChangeArrowheads="1"/>
          </p:cNvSpPr>
          <p:nvPr/>
        </p:nvSpPr>
        <p:spPr bwMode="auto">
          <a:xfrm>
            <a:off x="381000" y="2209800"/>
            <a:ext cx="152400" cy="1676400"/>
          </a:xfrm>
          <a:prstGeom prst="rect">
            <a:avLst/>
          </a:prstGeom>
          <a:solidFill>
            <a:srgbClr val="00FF00"/>
          </a:solidFill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624644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914400"/>
          </a:xfrm>
        </p:spPr>
        <p:txBody>
          <a:bodyPr/>
          <a:lstStyle/>
          <a:p>
            <a:r>
              <a:rPr lang="en-US" dirty="0" smtClean="0"/>
              <a:t>Step </a:t>
            </a:r>
            <a:r>
              <a:rPr lang="en-US" dirty="0"/>
              <a:t>(3</a:t>
            </a:r>
            <a:r>
              <a:rPr lang="en-US" dirty="0" smtClean="0"/>
              <a:t>): Jump </a:t>
            </a:r>
            <a:r>
              <a:rPr lang="en-US" dirty="0"/>
              <a:t>Instruction</a:t>
            </a:r>
          </a:p>
        </p:txBody>
      </p:sp>
      <p:sp>
        <p:nvSpPr>
          <p:cNvPr id="62464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57200" y="838200"/>
            <a:ext cx="8229600" cy="4754563"/>
          </a:xfrm>
        </p:spPr>
        <p:txBody>
          <a:bodyPr/>
          <a:lstStyle/>
          <a:p>
            <a:pPr>
              <a:spcBef>
                <a:spcPct val="0"/>
              </a:spcBef>
              <a:buFont typeface="Wingdings" pitchFamily="2" charset="2"/>
              <a:buNone/>
            </a:pPr>
            <a:endParaRPr lang="en-US" sz="2000" dirty="0" smtClean="0">
              <a:latin typeface="Courier New" pitchFamily="49" charset="0"/>
            </a:endParaRP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endParaRPr lang="en-US" sz="2000" dirty="0" smtClean="0">
              <a:latin typeface="Courier New" pitchFamily="49" charset="0"/>
            </a:endParaRP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</a:rPr>
              <a:t>PC </a:t>
            </a:r>
            <a:r>
              <a:rPr lang="en-US" sz="2000" dirty="0">
                <a:latin typeface="Courier New" pitchFamily="49" charset="0"/>
              </a:rPr>
              <a:t>= PC[31-28] </a:t>
            </a:r>
            <a:r>
              <a:rPr lang="en-US" sz="2000" dirty="0" err="1">
                <a:latin typeface="Courier New" pitchFamily="49" charset="0"/>
              </a:rPr>
              <a:t>concat</a:t>
            </a:r>
            <a:r>
              <a:rPr lang="en-US" sz="2000" dirty="0">
                <a:latin typeface="Courier New" pitchFamily="49" charset="0"/>
              </a:rPr>
              <a:t> (IR[25-0] &lt;&lt; 2)</a:t>
            </a:r>
            <a:endParaRPr lang="en-US" sz="2000" dirty="0"/>
          </a:p>
        </p:txBody>
      </p:sp>
      <p:sp>
        <p:nvSpPr>
          <p:cNvPr id="624646" name="Rectangle 6"/>
          <p:cNvSpPr>
            <a:spLocks noChangeArrowheads="1"/>
          </p:cNvSpPr>
          <p:nvPr/>
        </p:nvSpPr>
        <p:spPr bwMode="auto">
          <a:xfrm>
            <a:off x="381000" y="2133600"/>
            <a:ext cx="7315200" cy="152400"/>
          </a:xfrm>
          <a:prstGeom prst="rect">
            <a:avLst/>
          </a:prstGeom>
          <a:solidFill>
            <a:srgbClr val="00FF00"/>
          </a:solidFill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624647" name="Rectangle 7"/>
          <p:cNvSpPr>
            <a:spLocks noChangeArrowheads="1"/>
          </p:cNvSpPr>
          <p:nvPr/>
        </p:nvSpPr>
        <p:spPr bwMode="auto">
          <a:xfrm>
            <a:off x="7543800" y="2133600"/>
            <a:ext cx="152400" cy="685800"/>
          </a:xfrm>
          <a:prstGeom prst="rect">
            <a:avLst/>
          </a:prstGeom>
          <a:solidFill>
            <a:srgbClr val="00FF00"/>
          </a:solidFill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624648" name="Text Box 8"/>
          <p:cNvSpPr txBox="1">
            <a:spLocks noChangeArrowheads="1"/>
          </p:cNvSpPr>
          <p:nvPr/>
        </p:nvSpPr>
        <p:spPr bwMode="auto">
          <a:xfrm>
            <a:off x="458788" y="4206875"/>
            <a:ext cx="808037" cy="51752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400" b="1"/>
              <a:t>Jump</a:t>
            </a:r>
          </a:p>
          <a:p>
            <a:pPr algn="ctr" eaLnBrk="0" hangingPunct="0"/>
            <a:r>
              <a:rPr lang="en-US" sz="1400" b="1"/>
              <a:t>Address</a:t>
            </a:r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1003300" y="2578100"/>
            <a:ext cx="6705600" cy="1333500"/>
            <a:chOff x="632" y="1968"/>
            <a:chExt cx="4224" cy="840"/>
          </a:xfrm>
        </p:grpSpPr>
        <p:sp>
          <p:nvSpPr>
            <p:cNvPr id="624650" name="Rectangle 10"/>
            <p:cNvSpPr>
              <a:spLocks noChangeArrowheads="1"/>
            </p:cNvSpPr>
            <p:nvPr/>
          </p:nvSpPr>
          <p:spPr bwMode="auto">
            <a:xfrm>
              <a:off x="2312" y="2376"/>
              <a:ext cx="2496" cy="96"/>
            </a:xfrm>
            <a:prstGeom prst="rect">
              <a:avLst/>
            </a:prstGeom>
            <a:solidFill>
              <a:srgbClr val="00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24651" name="Rectangle 11"/>
            <p:cNvSpPr>
              <a:spLocks noChangeArrowheads="1"/>
            </p:cNvSpPr>
            <p:nvPr/>
          </p:nvSpPr>
          <p:spPr bwMode="auto">
            <a:xfrm>
              <a:off x="632" y="2728"/>
              <a:ext cx="288" cy="80"/>
            </a:xfrm>
            <a:prstGeom prst="rect">
              <a:avLst/>
            </a:pr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24652" name="Rectangle 12"/>
            <p:cNvSpPr>
              <a:spLocks noChangeArrowheads="1"/>
            </p:cNvSpPr>
            <p:nvPr/>
          </p:nvSpPr>
          <p:spPr bwMode="auto">
            <a:xfrm>
              <a:off x="856" y="1992"/>
              <a:ext cx="96" cy="816"/>
            </a:xfrm>
            <a:prstGeom prst="rect">
              <a:avLst/>
            </a:pr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24653" name="Rectangle 13"/>
            <p:cNvSpPr>
              <a:spLocks noChangeArrowheads="1"/>
            </p:cNvSpPr>
            <p:nvPr/>
          </p:nvSpPr>
          <p:spPr bwMode="auto">
            <a:xfrm>
              <a:off x="872" y="1968"/>
              <a:ext cx="3888" cy="112"/>
            </a:xfrm>
            <a:prstGeom prst="rect">
              <a:avLst/>
            </a:pr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24654" name="Rectangle 14"/>
            <p:cNvSpPr>
              <a:spLocks noChangeArrowheads="1"/>
            </p:cNvSpPr>
            <p:nvPr/>
          </p:nvSpPr>
          <p:spPr bwMode="auto">
            <a:xfrm>
              <a:off x="4760" y="2088"/>
              <a:ext cx="96" cy="384"/>
            </a:xfrm>
            <a:prstGeom prst="rect">
              <a:avLst/>
            </a:prstGeom>
            <a:solidFill>
              <a:srgbClr val="00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3" name="Group 15"/>
          <p:cNvGrpSpPr>
            <a:grpSpLocks/>
          </p:cNvGrpSpPr>
          <p:nvPr/>
        </p:nvGrpSpPr>
        <p:grpSpPr bwMode="auto">
          <a:xfrm>
            <a:off x="381000" y="2220913"/>
            <a:ext cx="8108950" cy="3341687"/>
            <a:chOff x="232" y="1720"/>
            <a:chExt cx="5108" cy="2105"/>
          </a:xfrm>
        </p:grpSpPr>
        <p:sp>
          <p:nvSpPr>
            <p:cNvPr id="624656" name="Rectangle 16" descr="50%"/>
            <p:cNvSpPr>
              <a:spLocks noChangeArrowheads="1"/>
            </p:cNvSpPr>
            <p:nvPr/>
          </p:nvSpPr>
          <p:spPr bwMode="auto">
            <a:xfrm>
              <a:off x="4872" y="2792"/>
              <a:ext cx="336" cy="480"/>
            </a:xfrm>
            <a:prstGeom prst="rect">
              <a:avLst/>
            </a:prstGeom>
            <a:pattFill prst="pct50">
              <a:fgClr>
                <a:srgbClr val="00FF00"/>
              </a:fgClr>
              <a:bgClr>
                <a:srgbClr val="FFFFFF"/>
              </a:bgClr>
            </a:patt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24657" name="Rectangle 17" descr="50%"/>
            <p:cNvSpPr>
              <a:spLocks noChangeArrowheads="1"/>
            </p:cNvSpPr>
            <p:nvPr/>
          </p:nvSpPr>
          <p:spPr bwMode="auto">
            <a:xfrm>
              <a:off x="3664" y="2592"/>
              <a:ext cx="288" cy="384"/>
            </a:xfrm>
            <a:prstGeom prst="rect">
              <a:avLst/>
            </a:prstGeom>
            <a:pattFill prst="pct50">
              <a:fgClr>
                <a:srgbClr val="FF9900"/>
              </a:fgClr>
              <a:bgClr>
                <a:srgbClr val="FFFFFF"/>
              </a:bgClr>
            </a:patt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24658" name="Rectangle 18" descr="50%"/>
            <p:cNvSpPr>
              <a:spLocks noChangeArrowheads="1"/>
            </p:cNvSpPr>
            <p:nvPr/>
          </p:nvSpPr>
          <p:spPr bwMode="auto">
            <a:xfrm>
              <a:off x="3664" y="2976"/>
              <a:ext cx="288" cy="384"/>
            </a:xfrm>
            <a:prstGeom prst="rect">
              <a:avLst/>
            </a:prstGeom>
            <a:pattFill prst="pct50">
              <a:fgClr>
                <a:srgbClr val="FF9900"/>
              </a:fgClr>
              <a:bgClr>
                <a:srgbClr val="FFFFFF"/>
              </a:bgClr>
            </a:patt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24659" name="Rectangle 19"/>
            <p:cNvSpPr>
              <a:spLocks noChangeArrowheads="1"/>
            </p:cNvSpPr>
            <p:nvPr/>
          </p:nvSpPr>
          <p:spPr bwMode="auto">
            <a:xfrm>
              <a:off x="2040" y="2064"/>
              <a:ext cx="288" cy="624"/>
            </a:xfrm>
            <a:prstGeom prst="rect">
              <a:avLst/>
            </a:prstGeom>
            <a:solidFill>
              <a:srgbClr val="00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24660" name="Rectangle 20"/>
            <p:cNvSpPr>
              <a:spLocks noChangeArrowheads="1"/>
            </p:cNvSpPr>
            <p:nvPr/>
          </p:nvSpPr>
          <p:spPr bwMode="auto">
            <a:xfrm>
              <a:off x="384" y="2496"/>
              <a:ext cx="288" cy="528"/>
            </a:xfrm>
            <a:prstGeom prst="rect">
              <a:avLst/>
            </a:pr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24661" name="Text Box 21"/>
            <p:cNvSpPr txBox="1">
              <a:spLocks noChangeArrowheads="1"/>
            </p:cNvSpPr>
            <p:nvPr/>
          </p:nvSpPr>
          <p:spPr bwMode="auto">
            <a:xfrm>
              <a:off x="3600" y="2408"/>
              <a:ext cx="471" cy="19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sz="1400" b="1">
                  <a:solidFill>
                    <a:schemeClr val="bg2"/>
                  </a:solidFill>
                </a:rPr>
                <a:t>Reg[rs]</a:t>
              </a:r>
            </a:p>
          </p:txBody>
        </p:sp>
        <p:sp>
          <p:nvSpPr>
            <p:cNvPr id="624662" name="Text Box 22"/>
            <p:cNvSpPr txBox="1">
              <a:spLocks noChangeArrowheads="1"/>
            </p:cNvSpPr>
            <p:nvPr/>
          </p:nvSpPr>
          <p:spPr bwMode="auto">
            <a:xfrm>
              <a:off x="3568" y="3312"/>
              <a:ext cx="464" cy="19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sz="1400" b="1">
                  <a:solidFill>
                    <a:schemeClr val="bg2"/>
                  </a:solidFill>
                </a:rPr>
                <a:t>Reg[rt]</a:t>
              </a:r>
            </a:p>
          </p:txBody>
        </p:sp>
        <p:sp>
          <p:nvSpPr>
            <p:cNvPr id="624663" name="Text Box 23"/>
            <p:cNvSpPr txBox="1">
              <a:spLocks noChangeArrowheads="1"/>
            </p:cNvSpPr>
            <p:nvPr/>
          </p:nvSpPr>
          <p:spPr bwMode="auto">
            <a:xfrm>
              <a:off x="4787" y="2332"/>
              <a:ext cx="509" cy="46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sz="1400" b="1">
                  <a:solidFill>
                    <a:schemeClr val="bg2"/>
                  </a:solidFill>
                </a:rPr>
                <a:t>Branch</a:t>
              </a:r>
            </a:p>
            <a:p>
              <a:pPr algn="ctr" eaLnBrk="0" hangingPunct="0"/>
              <a:r>
                <a:rPr lang="en-US" sz="1400" b="1">
                  <a:solidFill>
                    <a:schemeClr val="bg2"/>
                  </a:solidFill>
                </a:rPr>
                <a:t>Target</a:t>
              </a:r>
            </a:p>
            <a:p>
              <a:pPr algn="ctr" eaLnBrk="0" hangingPunct="0"/>
              <a:r>
                <a:rPr lang="en-US" sz="1400" b="1">
                  <a:solidFill>
                    <a:schemeClr val="bg2"/>
                  </a:solidFill>
                </a:rPr>
                <a:t>Address</a:t>
              </a:r>
            </a:p>
          </p:txBody>
        </p:sp>
        <p:pic>
          <p:nvPicPr>
            <p:cNvPr id="624664" name="Picture 24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32" y="1720"/>
              <a:ext cx="5108" cy="210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</p:pic>
      </p:grpSp>
      <p:sp>
        <p:nvSpPr>
          <p:cNvPr id="25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Mayank Pandey, MNNIT, Allahabad, India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24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624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24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24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24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642" grpId="0" animBg="1"/>
      <p:bldP spid="624643" grpId="0" animBg="1"/>
      <p:bldP spid="624646" grpId="0" animBg="1"/>
      <p:bldP spid="624647" grpId="0" animBg="1"/>
      <p:bldP spid="624648" grpId="0" autoUpdateAnimBg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666" name="Rectangle 2"/>
          <p:cNvSpPr>
            <a:spLocks noChangeArrowheads="1"/>
          </p:cNvSpPr>
          <p:nvPr/>
        </p:nvSpPr>
        <p:spPr bwMode="auto">
          <a:xfrm>
            <a:off x="1612900" y="3606800"/>
            <a:ext cx="1371600" cy="1295400"/>
          </a:xfrm>
          <a:prstGeom prst="rect">
            <a:avLst/>
          </a:prstGeom>
          <a:solidFill>
            <a:srgbClr val="FF9900"/>
          </a:solidFill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 sz="2800"/>
          </a:p>
        </p:txBody>
      </p:sp>
      <p:sp>
        <p:nvSpPr>
          <p:cNvPr id="625667" name="Rectangle 3"/>
          <p:cNvSpPr>
            <a:spLocks noChangeArrowheads="1"/>
          </p:cNvSpPr>
          <p:nvPr/>
        </p:nvSpPr>
        <p:spPr bwMode="auto">
          <a:xfrm flipV="1">
            <a:off x="3238500" y="3810000"/>
            <a:ext cx="457200" cy="990600"/>
          </a:xfrm>
          <a:prstGeom prst="rect">
            <a:avLst/>
          </a:prstGeom>
          <a:solidFill>
            <a:srgbClr val="FF3300"/>
          </a:solidFill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625668" name="Rectangle 4"/>
          <p:cNvSpPr>
            <a:spLocks noChangeArrowheads="1"/>
          </p:cNvSpPr>
          <p:nvPr/>
        </p:nvSpPr>
        <p:spPr bwMode="auto">
          <a:xfrm>
            <a:off x="2832100" y="4203700"/>
            <a:ext cx="533400" cy="152400"/>
          </a:xfrm>
          <a:prstGeom prst="rect">
            <a:avLst/>
          </a:prstGeom>
          <a:solidFill>
            <a:srgbClr val="FF3300"/>
          </a:solidFill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625669" name="Rectangle 5"/>
          <p:cNvSpPr>
            <a:spLocks noChangeArrowheads="1"/>
          </p:cNvSpPr>
          <p:nvPr/>
        </p:nvSpPr>
        <p:spPr bwMode="auto">
          <a:xfrm>
            <a:off x="1143000" y="2413000"/>
            <a:ext cx="7264400" cy="177800"/>
          </a:xfrm>
          <a:prstGeom prst="rect">
            <a:avLst/>
          </a:prstGeom>
          <a:solidFill>
            <a:srgbClr val="FF9900"/>
          </a:solidFill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625670" name="Rectangle 6"/>
          <p:cNvSpPr>
            <a:spLocks noChangeArrowheads="1"/>
          </p:cNvSpPr>
          <p:nvPr/>
        </p:nvSpPr>
        <p:spPr bwMode="auto">
          <a:xfrm flipH="1">
            <a:off x="1130300" y="2413000"/>
            <a:ext cx="165100" cy="1549400"/>
          </a:xfrm>
          <a:prstGeom prst="rect">
            <a:avLst/>
          </a:prstGeom>
          <a:solidFill>
            <a:srgbClr val="FF9900"/>
          </a:solidFill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625671" name="Rectangle 7"/>
          <p:cNvSpPr>
            <a:spLocks noChangeArrowheads="1"/>
          </p:cNvSpPr>
          <p:nvPr/>
        </p:nvSpPr>
        <p:spPr bwMode="auto">
          <a:xfrm>
            <a:off x="1143000" y="3860800"/>
            <a:ext cx="533400" cy="152400"/>
          </a:xfrm>
          <a:prstGeom prst="rect">
            <a:avLst/>
          </a:prstGeom>
          <a:solidFill>
            <a:srgbClr val="FF9900"/>
          </a:solidFill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625672" name="Rectangle 8"/>
          <p:cNvSpPr>
            <a:spLocks noChangeArrowheads="1"/>
          </p:cNvSpPr>
          <p:nvPr/>
        </p:nvSpPr>
        <p:spPr bwMode="auto">
          <a:xfrm flipH="1">
            <a:off x="8318500" y="2413000"/>
            <a:ext cx="139700" cy="1955800"/>
          </a:xfrm>
          <a:prstGeom prst="rect">
            <a:avLst/>
          </a:prstGeom>
          <a:solidFill>
            <a:srgbClr val="FF9900"/>
          </a:solidFill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625673" name="Rectangle 9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914400"/>
          </a:xfrm>
        </p:spPr>
        <p:txBody>
          <a:bodyPr/>
          <a:lstStyle/>
          <a:p>
            <a:r>
              <a:rPr lang="en-US" sz="4000" dirty="0" smtClean="0"/>
              <a:t>Step </a:t>
            </a:r>
            <a:r>
              <a:rPr lang="en-US" sz="4000" dirty="0"/>
              <a:t>(4</a:t>
            </a:r>
            <a:r>
              <a:rPr lang="en-US" sz="4000" dirty="0" smtClean="0"/>
              <a:t>): Memory </a:t>
            </a:r>
            <a:r>
              <a:rPr lang="en-US" sz="4000" dirty="0"/>
              <a:t>Access - Read (</a:t>
            </a:r>
            <a:r>
              <a:rPr lang="en-US" sz="4000" dirty="0" err="1">
                <a:latin typeface="Courier New" pitchFamily="49" charset="0"/>
              </a:rPr>
              <a:t>lw</a:t>
            </a:r>
            <a:r>
              <a:rPr lang="en-US" sz="4000" dirty="0"/>
              <a:t>)</a:t>
            </a:r>
          </a:p>
        </p:txBody>
      </p:sp>
      <p:sp>
        <p:nvSpPr>
          <p:cNvPr id="625674" name="Rectangle 10"/>
          <p:cNvSpPr>
            <a:spLocks noGrp="1" noChangeArrowheads="1"/>
          </p:cNvSpPr>
          <p:nvPr>
            <p:ph type="body" idx="1"/>
          </p:nvPr>
        </p:nvSpPr>
        <p:spPr>
          <a:xfrm>
            <a:off x="457200" y="914400"/>
            <a:ext cx="8229600" cy="4754563"/>
          </a:xfrm>
        </p:spPr>
        <p:txBody>
          <a:bodyPr/>
          <a:lstStyle/>
          <a:p>
            <a:pPr>
              <a:spcBef>
                <a:spcPct val="0"/>
              </a:spcBef>
              <a:buFont typeface="Wingdings" pitchFamily="2" charset="2"/>
              <a:buNone/>
            </a:pPr>
            <a:endParaRPr lang="en-US" sz="2000" dirty="0" smtClean="0">
              <a:latin typeface="Courier New" pitchFamily="49" charset="0"/>
            </a:endParaRP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endParaRPr lang="en-US" sz="2000" dirty="0" smtClean="0">
              <a:latin typeface="Courier New" pitchFamily="49" charset="0"/>
            </a:endParaRP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</a:rPr>
              <a:t>MDR </a:t>
            </a:r>
            <a:r>
              <a:rPr lang="en-US" sz="2000" dirty="0">
                <a:latin typeface="Courier New" pitchFamily="49" charset="0"/>
              </a:rPr>
              <a:t>= Memory[</a:t>
            </a:r>
            <a:r>
              <a:rPr lang="en-US" sz="2000" dirty="0" err="1">
                <a:latin typeface="Courier New" pitchFamily="49" charset="0"/>
              </a:rPr>
              <a:t>ALUOut</a:t>
            </a:r>
            <a:r>
              <a:rPr lang="en-US" sz="2000" dirty="0">
                <a:latin typeface="Courier New" pitchFamily="49" charset="0"/>
              </a:rPr>
              <a:t>];</a:t>
            </a:r>
            <a:endParaRPr lang="en-US" sz="2000" dirty="0"/>
          </a:p>
        </p:txBody>
      </p:sp>
      <p:sp>
        <p:nvSpPr>
          <p:cNvPr id="625675" name="Rectangle 11"/>
          <p:cNvSpPr>
            <a:spLocks noChangeArrowheads="1"/>
          </p:cNvSpPr>
          <p:nvPr/>
        </p:nvSpPr>
        <p:spPr bwMode="auto">
          <a:xfrm>
            <a:off x="8229600" y="4267200"/>
            <a:ext cx="228600" cy="152400"/>
          </a:xfrm>
          <a:prstGeom prst="rect">
            <a:avLst/>
          </a:prstGeom>
          <a:solidFill>
            <a:srgbClr val="FF9900"/>
          </a:solidFill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625676" name="Text Box 12"/>
          <p:cNvSpPr txBox="1">
            <a:spLocks noChangeArrowheads="1"/>
          </p:cNvSpPr>
          <p:nvPr/>
        </p:nvSpPr>
        <p:spPr bwMode="auto">
          <a:xfrm>
            <a:off x="3170238" y="4740275"/>
            <a:ext cx="623887" cy="51752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400" b="1"/>
              <a:t>Mem.</a:t>
            </a:r>
          </a:p>
          <a:p>
            <a:pPr algn="ctr" eaLnBrk="0" hangingPunct="0"/>
            <a:r>
              <a:rPr lang="en-US" sz="1400" b="1"/>
              <a:t>Data</a:t>
            </a:r>
          </a:p>
        </p:txBody>
      </p:sp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368300" y="2273300"/>
            <a:ext cx="8108950" cy="3341688"/>
            <a:chOff x="232" y="1720"/>
            <a:chExt cx="5108" cy="2105"/>
          </a:xfrm>
        </p:grpSpPr>
        <p:sp>
          <p:nvSpPr>
            <p:cNvPr id="625678" name="Rectangle 14"/>
            <p:cNvSpPr>
              <a:spLocks noChangeArrowheads="1"/>
            </p:cNvSpPr>
            <p:nvPr/>
          </p:nvSpPr>
          <p:spPr bwMode="auto">
            <a:xfrm>
              <a:off x="384" y="2496"/>
              <a:ext cx="288" cy="528"/>
            </a:xfrm>
            <a:prstGeom prst="rect">
              <a:avLst/>
            </a:pr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25679" name="Text Box 15"/>
            <p:cNvSpPr txBox="1">
              <a:spLocks noChangeArrowheads="1"/>
            </p:cNvSpPr>
            <p:nvPr/>
          </p:nvSpPr>
          <p:spPr bwMode="auto">
            <a:xfrm>
              <a:off x="323" y="3024"/>
              <a:ext cx="441" cy="19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sz="1400" b="1"/>
                <a:t>PC + 4</a:t>
              </a:r>
            </a:p>
          </p:txBody>
        </p:sp>
        <p:sp>
          <p:nvSpPr>
            <p:cNvPr id="625680" name="Rectangle 16"/>
            <p:cNvSpPr>
              <a:spLocks noChangeArrowheads="1"/>
            </p:cNvSpPr>
            <p:nvPr/>
          </p:nvSpPr>
          <p:spPr bwMode="auto">
            <a:xfrm>
              <a:off x="4872" y="2776"/>
              <a:ext cx="336" cy="480"/>
            </a:xfrm>
            <a:prstGeom prst="rect">
              <a:avLst/>
            </a:prstGeom>
            <a:solidFill>
              <a:srgbClr val="FF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25681" name="Rectangle 17" descr="50%"/>
            <p:cNvSpPr>
              <a:spLocks noChangeArrowheads="1"/>
            </p:cNvSpPr>
            <p:nvPr/>
          </p:nvSpPr>
          <p:spPr bwMode="auto">
            <a:xfrm>
              <a:off x="3664" y="2592"/>
              <a:ext cx="288" cy="384"/>
            </a:xfrm>
            <a:prstGeom prst="rect">
              <a:avLst/>
            </a:prstGeom>
            <a:pattFill prst="pct50">
              <a:fgClr>
                <a:srgbClr val="FF9900"/>
              </a:fgClr>
              <a:bgClr>
                <a:srgbClr val="FFFFFF"/>
              </a:bgClr>
            </a:patt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25682" name="Rectangle 18" descr="50%"/>
            <p:cNvSpPr>
              <a:spLocks noChangeArrowheads="1"/>
            </p:cNvSpPr>
            <p:nvPr/>
          </p:nvSpPr>
          <p:spPr bwMode="auto">
            <a:xfrm>
              <a:off x="3664" y="2976"/>
              <a:ext cx="288" cy="384"/>
            </a:xfrm>
            <a:prstGeom prst="rect">
              <a:avLst/>
            </a:prstGeom>
            <a:pattFill prst="pct50">
              <a:fgClr>
                <a:srgbClr val="FF9900"/>
              </a:fgClr>
              <a:bgClr>
                <a:srgbClr val="FFFFFF"/>
              </a:bgClr>
            </a:patt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25683" name="Rectangle 19"/>
            <p:cNvSpPr>
              <a:spLocks noChangeArrowheads="1"/>
            </p:cNvSpPr>
            <p:nvPr/>
          </p:nvSpPr>
          <p:spPr bwMode="auto">
            <a:xfrm>
              <a:off x="2040" y="2064"/>
              <a:ext cx="288" cy="624"/>
            </a:xfrm>
            <a:prstGeom prst="rect">
              <a:avLst/>
            </a:prstGeom>
            <a:solidFill>
              <a:srgbClr val="00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25684" name="Text Box 20"/>
            <p:cNvSpPr txBox="1">
              <a:spLocks noChangeArrowheads="1"/>
            </p:cNvSpPr>
            <p:nvPr/>
          </p:nvSpPr>
          <p:spPr bwMode="auto">
            <a:xfrm>
              <a:off x="3557" y="2400"/>
              <a:ext cx="471" cy="19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sz="1400" b="1">
                  <a:solidFill>
                    <a:schemeClr val="bg2"/>
                  </a:solidFill>
                </a:rPr>
                <a:t>Reg[rs]</a:t>
              </a:r>
            </a:p>
          </p:txBody>
        </p:sp>
        <p:sp>
          <p:nvSpPr>
            <p:cNvPr id="625685" name="Text Box 21"/>
            <p:cNvSpPr txBox="1">
              <a:spLocks noChangeArrowheads="1"/>
            </p:cNvSpPr>
            <p:nvPr/>
          </p:nvSpPr>
          <p:spPr bwMode="auto">
            <a:xfrm>
              <a:off x="3552" y="3312"/>
              <a:ext cx="464" cy="19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sz="1400" b="1">
                  <a:solidFill>
                    <a:schemeClr val="bg2"/>
                  </a:solidFill>
                </a:rPr>
                <a:t>Reg[rt]</a:t>
              </a:r>
            </a:p>
          </p:txBody>
        </p:sp>
        <p:sp>
          <p:nvSpPr>
            <p:cNvPr id="625686" name="Text Box 22"/>
            <p:cNvSpPr txBox="1">
              <a:spLocks noChangeArrowheads="1"/>
            </p:cNvSpPr>
            <p:nvPr/>
          </p:nvSpPr>
          <p:spPr bwMode="auto">
            <a:xfrm>
              <a:off x="4771" y="2391"/>
              <a:ext cx="509" cy="326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sz="1400" b="1"/>
                <a:t>Mem.</a:t>
              </a:r>
            </a:p>
            <a:p>
              <a:pPr algn="ctr" eaLnBrk="0" hangingPunct="0"/>
              <a:r>
                <a:rPr lang="en-US" sz="1400" b="1"/>
                <a:t>Address</a:t>
              </a:r>
            </a:p>
          </p:txBody>
        </p:sp>
        <p:pic>
          <p:nvPicPr>
            <p:cNvPr id="625687" name="Picture 23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32" y="1720"/>
              <a:ext cx="5108" cy="210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</p:pic>
      </p:grpSp>
      <p:sp>
        <p:nvSpPr>
          <p:cNvPr id="2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Mayank Pandey, MNNIT, Allahabad, India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25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25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625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25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25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25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25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25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25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5666" grpId="0" animBg="1" autoUpdateAnimBg="0"/>
      <p:bldP spid="625667" grpId="0" animBg="1"/>
      <p:bldP spid="625668" grpId="0" animBg="1"/>
      <p:bldP spid="625669" grpId="0" animBg="1"/>
      <p:bldP spid="625670" grpId="0" animBg="1"/>
      <p:bldP spid="625671" grpId="0" animBg="1"/>
      <p:bldP spid="625672" grpId="0" animBg="1"/>
      <p:bldP spid="625675" grpId="0" animBg="1"/>
      <p:bldP spid="625676" grpId="0" autoUpdateAnimBg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690" name="Rectangle 2"/>
          <p:cNvSpPr>
            <a:spLocks noChangeArrowheads="1"/>
          </p:cNvSpPr>
          <p:nvPr/>
        </p:nvSpPr>
        <p:spPr bwMode="auto">
          <a:xfrm>
            <a:off x="1625600" y="3530600"/>
            <a:ext cx="1371600" cy="1295400"/>
          </a:xfrm>
          <a:prstGeom prst="rect">
            <a:avLst/>
          </a:prstGeom>
          <a:solidFill>
            <a:srgbClr val="FF9900"/>
          </a:solidFill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 sz="2800"/>
          </a:p>
        </p:txBody>
      </p:sp>
      <p:sp>
        <p:nvSpPr>
          <p:cNvPr id="626691" name="Rectangle 3"/>
          <p:cNvSpPr>
            <a:spLocks noChangeArrowheads="1"/>
          </p:cNvSpPr>
          <p:nvPr/>
        </p:nvSpPr>
        <p:spPr bwMode="auto">
          <a:xfrm>
            <a:off x="6477000" y="4495800"/>
            <a:ext cx="127000" cy="762000"/>
          </a:xfrm>
          <a:prstGeom prst="rect">
            <a:avLst/>
          </a:prstGeom>
          <a:solidFill>
            <a:srgbClr val="FF9900"/>
          </a:solidFill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626692" name="Rectangle 4"/>
          <p:cNvSpPr>
            <a:spLocks noChangeArrowheads="1"/>
          </p:cNvSpPr>
          <p:nvPr/>
        </p:nvSpPr>
        <p:spPr bwMode="auto">
          <a:xfrm>
            <a:off x="1397000" y="4381500"/>
            <a:ext cx="304800" cy="152400"/>
          </a:xfrm>
          <a:prstGeom prst="rect">
            <a:avLst/>
          </a:prstGeom>
          <a:solidFill>
            <a:srgbClr val="FF9900"/>
          </a:solidFill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626693" name="Rectangle 5"/>
          <p:cNvSpPr>
            <a:spLocks noChangeArrowheads="1"/>
          </p:cNvSpPr>
          <p:nvPr/>
        </p:nvSpPr>
        <p:spPr bwMode="auto">
          <a:xfrm>
            <a:off x="1397000" y="4394200"/>
            <a:ext cx="127000" cy="914400"/>
          </a:xfrm>
          <a:prstGeom prst="rect">
            <a:avLst/>
          </a:prstGeom>
          <a:solidFill>
            <a:srgbClr val="FF9900"/>
          </a:solidFill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626694" name="Rectangle 6"/>
          <p:cNvSpPr>
            <a:spLocks noChangeArrowheads="1"/>
          </p:cNvSpPr>
          <p:nvPr/>
        </p:nvSpPr>
        <p:spPr bwMode="auto">
          <a:xfrm>
            <a:off x="1447800" y="5207000"/>
            <a:ext cx="5156200" cy="127000"/>
          </a:xfrm>
          <a:prstGeom prst="rect">
            <a:avLst/>
          </a:prstGeom>
          <a:solidFill>
            <a:srgbClr val="FF9900"/>
          </a:solidFill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626695" name="Rectangle 7"/>
          <p:cNvSpPr>
            <a:spLocks noChangeArrowheads="1"/>
          </p:cNvSpPr>
          <p:nvPr/>
        </p:nvSpPr>
        <p:spPr bwMode="auto">
          <a:xfrm>
            <a:off x="6070600" y="4419600"/>
            <a:ext cx="533400" cy="152400"/>
          </a:xfrm>
          <a:prstGeom prst="rect">
            <a:avLst/>
          </a:prstGeom>
          <a:solidFill>
            <a:srgbClr val="FF9900"/>
          </a:solidFill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626696" name="Rectangle 8"/>
          <p:cNvSpPr>
            <a:spLocks noChangeArrowheads="1"/>
          </p:cNvSpPr>
          <p:nvPr/>
        </p:nvSpPr>
        <p:spPr bwMode="auto">
          <a:xfrm>
            <a:off x="1143000" y="2336800"/>
            <a:ext cx="7264400" cy="177800"/>
          </a:xfrm>
          <a:prstGeom prst="rect">
            <a:avLst/>
          </a:prstGeom>
          <a:solidFill>
            <a:srgbClr val="FF9900"/>
          </a:solidFill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626697" name="Rectangle 9"/>
          <p:cNvSpPr>
            <a:spLocks noChangeArrowheads="1"/>
          </p:cNvSpPr>
          <p:nvPr/>
        </p:nvSpPr>
        <p:spPr bwMode="auto">
          <a:xfrm flipH="1">
            <a:off x="1130300" y="2336800"/>
            <a:ext cx="165100" cy="1549400"/>
          </a:xfrm>
          <a:prstGeom prst="rect">
            <a:avLst/>
          </a:prstGeom>
          <a:solidFill>
            <a:srgbClr val="FF9900"/>
          </a:solidFill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626698" name="Rectangle 10"/>
          <p:cNvSpPr>
            <a:spLocks noChangeArrowheads="1"/>
          </p:cNvSpPr>
          <p:nvPr/>
        </p:nvSpPr>
        <p:spPr bwMode="auto">
          <a:xfrm>
            <a:off x="1143000" y="3784600"/>
            <a:ext cx="533400" cy="152400"/>
          </a:xfrm>
          <a:prstGeom prst="rect">
            <a:avLst/>
          </a:prstGeom>
          <a:solidFill>
            <a:srgbClr val="FF9900"/>
          </a:solidFill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626699" name="Rectangle 11"/>
          <p:cNvSpPr>
            <a:spLocks noChangeArrowheads="1"/>
          </p:cNvSpPr>
          <p:nvPr/>
        </p:nvSpPr>
        <p:spPr bwMode="auto">
          <a:xfrm flipH="1">
            <a:off x="8318500" y="2336800"/>
            <a:ext cx="139700" cy="1955800"/>
          </a:xfrm>
          <a:prstGeom prst="rect">
            <a:avLst/>
          </a:prstGeom>
          <a:solidFill>
            <a:srgbClr val="FF9900"/>
          </a:solidFill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626700" name="Rectangle 1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990600"/>
          </a:xfrm>
        </p:spPr>
        <p:txBody>
          <a:bodyPr/>
          <a:lstStyle/>
          <a:p>
            <a:r>
              <a:rPr lang="en-US" sz="4000" dirty="0" smtClean="0"/>
              <a:t>Step </a:t>
            </a:r>
            <a:r>
              <a:rPr lang="en-US" sz="4000" dirty="0"/>
              <a:t>(4</a:t>
            </a:r>
            <a:r>
              <a:rPr lang="en-US" sz="4000" dirty="0" smtClean="0"/>
              <a:t>): Memory </a:t>
            </a:r>
            <a:r>
              <a:rPr lang="en-US" sz="4000" dirty="0"/>
              <a:t>Access - Write (</a:t>
            </a:r>
            <a:r>
              <a:rPr lang="en-US" sz="4000" dirty="0" err="1">
                <a:latin typeface="Courier New" pitchFamily="49" charset="0"/>
              </a:rPr>
              <a:t>sw</a:t>
            </a:r>
            <a:r>
              <a:rPr lang="en-US" sz="4000" dirty="0"/>
              <a:t>)</a:t>
            </a:r>
          </a:p>
        </p:txBody>
      </p:sp>
      <p:sp>
        <p:nvSpPr>
          <p:cNvPr id="626701" name="Rectangle 13"/>
          <p:cNvSpPr>
            <a:spLocks noGrp="1" noChangeArrowheads="1"/>
          </p:cNvSpPr>
          <p:nvPr>
            <p:ph type="body" idx="1"/>
          </p:nvPr>
        </p:nvSpPr>
        <p:spPr>
          <a:xfrm>
            <a:off x="457200" y="838200"/>
            <a:ext cx="8229600" cy="4754563"/>
          </a:xfrm>
        </p:spPr>
        <p:txBody>
          <a:bodyPr/>
          <a:lstStyle/>
          <a:p>
            <a:pPr>
              <a:spcBef>
                <a:spcPct val="0"/>
              </a:spcBef>
              <a:buFont typeface="Wingdings" pitchFamily="2" charset="2"/>
              <a:buNone/>
            </a:pPr>
            <a:endParaRPr lang="en-US" sz="2000" dirty="0" smtClean="0">
              <a:latin typeface="Courier New" pitchFamily="49" charset="0"/>
            </a:endParaRP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endParaRPr lang="en-US" sz="2000" dirty="0" smtClean="0">
              <a:latin typeface="Courier New" pitchFamily="49" charset="0"/>
            </a:endParaRP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</a:rPr>
              <a:t>Memory[</a:t>
            </a:r>
            <a:r>
              <a:rPr lang="en-US" sz="2000" dirty="0" err="1" smtClean="0">
                <a:latin typeface="Courier New" pitchFamily="49" charset="0"/>
              </a:rPr>
              <a:t>ALUOut</a:t>
            </a:r>
            <a:r>
              <a:rPr lang="en-US" sz="2000" dirty="0">
                <a:latin typeface="Courier New" pitchFamily="49" charset="0"/>
              </a:rPr>
              <a:t>] = B;</a:t>
            </a:r>
            <a:endParaRPr lang="en-US" sz="2000" dirty="0"/>
          </a:p>
        </p:txBody>
      </p:sp>
      <p:sp>
        <p:nvSpPr>
          <p:cNvPr id="626702" name="Rectangle 14"/>
          <p:cNvSpPr>
            <a:spLocks noChangeArrowheads="1"/>
          </p:cNvSpPr>
          <p:nvPr/>
        </p:nvSpPr>
        <p:spPr bwMode="auto">
          <a:xfrm>
            <a:off x="8229600" y="4191000"/>
            <a:ext cx="228600" cy="152400"/>
          </a:xfrm>
          <a:prstGeom prst="rect">
            <a:avLst/>
          </a:prstGeom>
          <a:solidFill>
            <a:srgbClr val="FF9900"/>
          </a:solidFill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grpSp>
        <p:nvGrpSpPr>
          <p:cNvPr id="2" name="Group 15"/>
          <p:cNvGrpSpPr>
            <a:grpSpLocks/>
          </p:cNvGrpSpPr>
          <p:nvPr/>
        </p:nvGrpSpPr>
        <p:grpSpPr bwMode="auto">
          <a:xfrm>
            <a:off x="368300" y="2197100"/>
            <a:ext cx="8108950" cy="3341688"/>
            <a:chOff x="232" y="1720"/>
            <a:chExt cx="5108" cy="2105"/>
          </a:xfrm>
        </p:grpSpPr>
        <p:sp>
          <p:nvSpPr>
            <p:cNvPr id="626704" name="Rectangle 16"/>
            <p:cNvSpPr>
              <a:spLocks noChangeArrowheads="1"/>
            </p:cNvSpPr>
            <p:nvPr/>
          </p:nvSpPr>
          <p:spPr bwMode="auto">
            <a:xfrm>
              <a:off x="384" y="2496"/>
              <a:ext cx="288" cy="528"/>
            </a:xfrm>
            <a:prstGeom prst="rect">
              <a:avLst/>
            </a:pr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26705" name="Text Box 17"/>
            <p:cNvSpPr txBox="1">
              <a:spLocks noChangeArrowheads="1"/>
            </p:cNvSpPr>
            <p:nvPr/>
          </p:nvSpPr>
          <p:spPr bwMode="auto">
            <a:xfrm>
              <a:off x="323" y="3024"/>
              <a:ext cx="441" cy="19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sz="1400" b="1"/>
                <a:t>PC + 4</a:t>
              </a:r>
            </a:p>
          </p:txBody>
        </p:sp>
        <p:sp>
          <p:nvSpPr>
            <p:cNvPr id="626706" name="Rectangle 18"/>
            <p:cNvSpPr>
              <a:spLocks noChangeArrowheads="1"/>
            </p:cNvSpPr>
            <p:nvPr/>
          </p:nvSpPr>
          <p:spPr bwMode="auto">
            <a:xfrm>
              <a:off x="4872" y="2776"/>
              <a:ext cx="336" cy="480"/>
            </a:xfrm>
            <a:prstGeom prst="rect">
              <a:avLst/>
            </a:prstGeom>
            <a:solidFill>
              <a:srgbClr val="FF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26707" name="Rectangle 19" descr="50%"/>
            <p:cNvSpPr>
              <a:spLocks noChangeArrowheads="1"/>
            </p:cNvSpPr>
            <p:nvPr/>
          </p:nvSpPr>
          <p:spPr bwMode="auto">
            <a:xfrm>
              <a:off x="3656" y="2592"/>
              <a:ext cx="288" cy="384"/>
            </a:xfrm>
            <a:prstGeom prst="rect">
              <a:avLst/>
            </a:prstGeom>
            <a:pattFill prst="pct50">
              <a:fgClr>
                <a:srgbClr val="FF9900"/>
              </a:fgClr>
              <a:bgClr>
                <a:srgbClr val="FFFFFF"/>
              </a:bgClr>
            </a:patt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26708" name="Rectangle 20"/>
            <p:cNvSpPr>
              <a:spLocks noChangeArrowheads="1"/>
            </p:cNvSpPr>
            <p:nvPr/>
          </p:nvSpPr>
          <p:spPr bwMode="auto">
            <a:xfrm>
              <a:off x="3656" y="2976"/>
              <a:ext cx="288" cy="384"/>
            </a:xfrm>
            <a:prstGeom prst="rect">
              <a:avLst/>
            </a:prstGeom>
            <a:solidFill>
              <a:srgbClr val="FF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26709" name="Rectangle 21"/>
            <p:cNvSpPr>
              <a:spLocks noChangeArrowheads="1"/>
            </p:cNvSpPr>
            <p:nvPr/>
          </p:nvSpPr>
          <p:spPr bwMode="auto">
            <a:xfrm>
              <a:off x="2032" y="2056"/>
              <a:ext cx="288" cy="624"/>
            </a:xfrm>
            <a:prstGeom prst="rect">
              <a:avLst/>
            </a:prstGeom>
            <a:solidFill>
              <a:srgbClr val="00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26710" name="Text Box 22"/>
            <p:cNvSpPr txBox="1">
              <a:spLocks noChangeArrowheads="1"/>
            </p:cNvSpPr>
            <p:nvPr/>
          </p:nvSpPr>
          <p:spPr bwMode="auto">
            <a:xfrm>
              <a:off x="3513" y="2400"/>
              <a:ext cx="471" cy="19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sz="1400" b="1">
                  <a:solidFill>
                    <a:schemeClr val="bg2"/>
                  </a:solidFill>
                </a:rPr>
                <a:t>Reg[rs]</a:t>
              </a:r>
            </a:p>
          </p:txBody>
        </p:sp>
        <p:sp>
          <p:nvSpPr>
            <p:cNvPr id="626711" name="Text Box 23"/>
            <p:cNvSpPr txBox="1">
              <a:spLocks noChangeArrowheads="1"/>
            </p:cNvSpPr>
            <p:nvPr/>
          </p:nvSpPr>
          <p:spPr bwMode="auto">
            <a:xfrm>
              <a:off x="3508" y="3312"/>
              <a:ext cx="464" cy="19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sz="1400" b="1"/>
                <a:t>Reg[rt]</a:t>
              </a:r>
            </a:p>
          </p:txBody>
        </p:sp>
        <p:pic>
          <p:nvPicPr>
            <p:cNvPr id="626712" name="Picture 24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32" y="1720"/>
              <a:ext cx="5108" cy="210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</p:pic>
      </p:grpSp>
      <p:sp>
        <p:nvSpPr>
          <p:cNvPr id="25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Mayank Pandey, MNNIT, Allahabad, India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26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26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626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26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26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26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626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626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626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26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626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6690" grpId="0" animBg="1" autoUpdateAnimBg="0"/>
      <p:bldP spid="626691" grpId="0" animBg="1"/>
      <p:bldP spid="626692" grpId="0" animBg="1"/>
      <p:bldP spid="626693" grpId="0" animBg="1"/>
      <p:bldP spid="626694" grpId="0" animBg="1"/>
      <p:bldP spid="626695" grpId="0" animBg="1"/>
      <p:bldP spid="626696" grpId="0" animBg="1"/>
      <p:bldP spid="626697" grpId="0" animBg="1"/>
      <p:bldP spid="626698" grpId="0" animBg="1"/>
      <p:bldP spid="626699" grpId="0" animBg="1"/>
      <p:bldP spid="626702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714" name="Rectangle 1026"/>
          <p:cNvSpPr>
            <a:spLocks noChangeArrowheads="1"/>
          </p:cNvSpPr>
          <p:nvPr/>
        </p:nvSpPr>
        <p:spPr bwMode="auto">
          <a:xfrm>
            <a:off x="3581400" y="3178175"/>
            <a:ext cx="1828800" cy="152400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627715" name="Rectangle 1027"/>
          <p:cNvSpPr>
            <a:spLocks noChangeArrowheads="1"/>
          </p:cNvSpPr>
          <p:nvPr/>
        </p:nvSpPr>
        <p:spPr bwMode="auto">
          <a:xfrm>
            <a:off x="5299075" y="3200400"/>
            <a:ext cx="165100" cy="304800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627716" name="Rectangle 1028"/>
          <p:cNvSpPr>
            <a:spLocks noChangeArrowheads="1"/>
          </p:cNvSpPr>
          <p:nvPr/>
        </p:nvSpPr>
        <p:spPr bwMode="auto">
          <a:xfrm>
            <a:off x="4114800" y="3492500"/>
            <a:ext cx="1676400" cy="1358900"/>
          </a:xfrm>
          <a:prstGeom prst="rect">
            <a:avLst/>
          </a:prstGeom>
          <a:solidFill>
            <a:srgbClr val="FF9900"/>
          </a:solidFill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627717" name="Rectangle 1029"/>
          <p:cNvSpPr>
            <a:spLocks noChangeArrowheads="1"/>
          </p:cNvSpPr>
          <p:nvPr/>
        </p:nvSpPr>
        <p:spPr bwMode="auto">
          <a:xfrm>
            <a:off x="8318500" y="4191000"/>
            <a:ext cx="152400" cy="1295400"/>
          </a:xfrm>
          <a:prstGeom prst="rect">
            <a:avLst/>
          </a:prstGeom>
          <a:solidFill>
            <a:srgbClr val="FF9900"/>
          </a:solidFill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627718" name="Rectangle 1030"/>
          <p:cNvSpPr>
            <a:spLocks noChangeArrowheads="1"/>
          </p:cNvSpPr>
          <p:nvPr/>
        </p:nvSpPr>
        <p:spPr bwMode="auto">
          <a:xfrm>
            <a:off x="3886200" y="4114800"/>
            <a:ext cx="152400" cy="1371600"/>
          </a:xfrm>
          <a:prstGeom prst="rect">
            <a:avLst/>
          </a:prstGeom>
          <a:solidFill>
            <a:srgbClr val="FF9900"/>
          </a:solidFill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627719" name="Rectangle 1031"/>
          <p:cNvSpPr>
            <a:spLocks noChangeArrowheads="1"/>
          </p:cNvSpPr>
          <p:nvPr/>
        </p:nvSpPr>
        <p:spPr bwMode="auto">
          <a:xfrm>
            <a:off x="3962400" y="5334000"/>
            <a:ext cx="4495800" cy="152400"/>
          </a:xfrm>
          <a:prstGeom prst="rect">
            <a:avLst/>
          </a:prstGeom>
          <a:solidFill>
            <a:srgbClr val="FF9900"/>
          </a:solidFill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627720" name="Rectangle 1032"/>
          <p:cNvSpPr>
            <a:spLocks noChangeArrowheads="1"/>
          </p:cNvSpPr>
          <p:nvPr/>
        </p:nvSpPr>
        <p:spPr bwMode="auto">
          <a:xfrm>
            <a:off x="3962400" y="4127500"/>
            <a:ext cx="266700" cy="139700"/>
          </a:xfrm>
          <a:prstGeom prst="rect">
            <a:avLst/>
          </a:prstGeom>
          <a:solidFill>
            <a:srgbClr val="FF9900"/>
          </a:solidFill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627721" name="Rectangle 103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 </a:t>
            </a:r>
            <a:r>
              <a:rPr lang="en-US" dirty="0"/>
              <a:t>(4</a:t>
            </a:r>
            <a:r>
              <a:rPr lang="en-US" dirty="0" smtClean="0"/>
              <a:t>): ALU </a:t>
            </a:r>
            <a:r>
              <a:rPr lang="en-US" dirty="0"/>
              <a:t>Instruction (R-Type)</a:t>
            </a:r>
          </a:p>
        </p:txBody>
      </p:sp>
      <p:sp>
        <p:nvSpPr>
          <p:cNvPr id="627722" name="Rectangle 1034"/>
          <p:cNvSpPr>
            <a:spLocks noGrp="1" noChangeArrowheads="1"/>
          </p:cNvSpPr>
          <p:nvPr>
            <p:ph type="body" idx="1"/>
          </p:nvPr>
        </p:nvSpPr>
        <p:spPr>
          <a:xfrm>
            <a:off x="457200" y="838200"/>
            <a:ext cx="8229600" cy="4754563"/>
          </a:xfrm>
        </p:spPr>
        <p:txBody>
          <a:bodyPr/>
          <a:lstStyle/>
          <a:p>
            <a:pPr>
              <a:spcBef>
                <a:spcPct val="0"/>
              </a:spcBef>
              <a:buFont typeface="Wingdings" pitchFamily="2" charset="2"/>
              <a:buNone/>
            </a:pPr>
            <a:endParaRPr lang="en-US" sz="2000" dirty="0" smtClean="0">
              <a:latin typeface="Courier New" pitchFamily="49" charset="0"/>
            </a:endParaRP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endParaRPr lang="en-US" sz="2000" dirty="0" smtClean="0">
              <a:latin typeface="Courier New" pitchFamily="49" charset="0"/>
            </a:endParaRP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sz="2000" dirty="0" err="1" smtClean="0">
                <a:latin typeface="Courier New" pitchFamily="49" charset="0"/>
              </a:rPr>
              <a:t>Reg</a:t>
            </a:r>
            <a:r>
              <a:rPr lang="en-US" sz="2000" dirty="0" smtClean="0">
                <a:latin typeface="Courier New" pitchFamily="49" charset="0"/>
              </a:rPr>
              <a:t>[IR[15:11</a:t>
            </a:r>
            <a:r>
              <a:rPr lang="en-US" sz="2000" dirty="0">
                <a:latin typeface="Courier New" pitchFamily="49" charset="0"/>
              </a:rPr>
              <a:t>]] = ALUOUT</a:t>
            </a:r>
            <a:endParaRPr lang="en-US" sz="2000" dirty="0"/>
          </a:p>
        </p:txBody>
      </p:sp>
      <p:sp>
        <p:nvSpPr>
          <p:cNvPr id="627723" name="Rectangle 1035"/>
          <p:cNvSpPr>
            <a:spLocks noChangeArrowheads="1"/>
          </p:cNvSpPr>
          <p:nvPr/>
        </p:nvSpPr>
        <p:spPr bwMode="auto">
          <a:xfrm>
            <a:off x="7848600" y="4178300"/>
            <a:ext cx="609600" cy="152400"/>
          </a:xfrm>
          <a:prstGeom prst="rect">
            <a:avLst/>
          </a:prstGeom>
          <a:solidFill>
            <a:srgbClr val="FF9900"/>
          </a:solidFill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grpSp>
        <p:nvGrpSpPr>
          <p:cNvPr id="2" name="Group 1036"/>
          <p:cNvGrpSpPr>
            <a:grpSpLocks/>
          </p:cNvGrpSpPr>
          <p:nvPr/>
        </p:nvGrpSpPr>
        <p:grpSpPr bwMode="auto">
          <a:xfrm>
            <a:off x="368300" y="2198688"/>
            <a:ext cx="8108950" cy="3341687"/>
            <a:chOff x="232" y="1720"/>
            <a:chExt cx="5108" cy="2105"/>
          </a:xfrm>
        </p:grpSpPr>
        <p:sp>
          <p:nvSpPr>
            <p:cNvPr id="627725" name="Text Box 1037"/>
            <p:cNvSpPr txBox="1">
              <a:spLocks noChangeArrowheads="1"/>
            </p:cNvSpPr>
            <p:nvPr/>
          </p:nvSpPr>
          <p:spPr bwMode="auto">
            <a:xfrm>
              <a:off x="4788" y="2458"/>
              <a:ext cx="477" cy="326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sz="1400" b="1"/>
                <a:t>R-Type</a:t>
              </a:r>
            </a:p>
            <a:p>
              <a:pPr algn="ctr" eaLnBrk="0" hangingPunct="0"/>
              <a:r>
                <a:rPr lang="en-US" sz="1400" b="1"/>
                <a:t>Result</a:t>
              </a:r>
            </a:p>
          </p:txBody>
        </p:sp>
        <p:grpSp>
          <p:nvGrpSpPr>
            <p:cNvPr id="3" name="Group 1038"/>
            <p:cNvGrpSpPr>
              <a:grpSpLocks/>
            </p:cNvGrpSpPr>
            <p:nvPr/>
          </p:nvGrpSpPr>
          <p:grpSpPr bwMode="auto">
            <a:xfrm>
              <a:off x="232" y="1720"/>
              <a:ext cx="5108" cy="2105"/>
              <a:chOff x="232" y="1720"/>
              <a:chExt cx="5108" cy="2105"/>
            </a:xfrm>
          </p:grpSpPr>
          <p:sp>
            <p:nvSpPr>
              <p:cNvPr id="627727" name="Rectangle 1039"/>
              <p:cNvSpPr>
                <a:spLocks noChangeArrowheads="1"/>
              </p:cNvSpPr>
              <p:nvPr/>
            </p:nvSpPr>
            <p:spPr bwMode="auto">
              <a:xfrm>
                <a:off x="4872" y="2784"/>
                <a:ext cx="336" cy="480"/>
              </a:xfrm>
              <a:prstGeom prst="rect">
                <a:avLst/>
              </a:prstGeom>
              <a:solidFill>
                <a:srgbClr val="FF9900"/>
              </a:solidFill>
              <a:ln w="2857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627728" name="Rectangle 1040" descr="50%"/>
              <p:cNvSpPr>
                <a:spLocks noChangeArrowheads="1"/>
              </p:cNvSpPr>
              <p:nvPr/>
            </p:nvSpPr>
            <p:spPr bwMode="auto">
              <a:xfrm>
                <a:off x="3656" y="2592"/>
                <a:ext cx="288" cy="384"/>
              </a:xfrm>
              <a:prstGeom prst="rect">
                <a:avLst/>
              </a:prstGeom>
              <a:pattFill prst="pct50">
                <a:fgClr>
                  <a:srgbClr val="FF9900"/>
                </a:fgClr>
                <a:bgClr>
                  <a:srgbClr val="FFFFFF"/>
                </a:bgClr>
              </a:pattFill>
              <a:ln w="2857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627729" name="Rectangle 1041" descr="50%"/>
              <p:cNvSpPr>
                <a:spLocks noChangeArrowheads="1"/>
              </p:cNvSpPr>
              <p:nvPr/>
            </p:nvSpPr>
            <p:spPr bwMode="auto">
              <a:xfrm>
                <a:off x="3656" y="2976"/>
                <a:ext cx="288" cy="384"/>
              </a:xfrm>
              <a:prstGeom prst="rect">
                <a:avLst/>
              </a:prstGeom>
              <a:pattFill prst="pct50">
                <a:fgClr>
                  <a:srgbClr val="FF9900"/>
                </a:fgClr>
                <a:bgClr>
                  <a:srgbClr val="FFFFFF"/>
                </a:bgClr>
              </a:pattFill>
              <a:ln w="2857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627730" name="Rectangle 1042"/>
              <p:cNvSpPr>
                <a:spLocks noChangeArrowheads="1"/>
              </p:cNvSpPr>
              <p:nvPr/>
            </p:nvSpPr>
            <p:spPr bwMode="auto">
              <a:xfrm>
                <a:off x="2040" y="2064"/>
                <a:ext cx="288" cy="624"/>
              </a:xfrm>
              <a:prstGeom prst="rect">
                <a:avLst/>
              </a:prstGeom>
              <a:solidFill>
                <a:srgbClr val="00FFFF"/>
              </a:solidFill>
              <a:ln w="2857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627731" name="Rectangle 1043"/>
              <p:cNvSpPr>
                <a:spLocks noChangeArrowheads="1"/>
              </p:cNvSpPr>
              <p:nvPr/>
            </p:nvSpPr>
            <p:spPr bwMode="auto">
              <a:xfrm>
                <a:off x="384" y="2496"/>
                <a:ext cx="288" cy="528"/>
              </a:xfrm>
              <a:prstGeom prst="rect">
                <a:avLst/>
              </a:prstGeom>
              <a:solidFill>
                <a:srgbClr val="00FF00"/>
              </a:solidFill>
              <a:ln w="2857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627732" name="Text Box 1044"/>
              <p:cNvSpPr txBox="1">
                <a:spLocks noChangeArrowheads="1"/>
              </p:cNvSpPr>
              <p:nvPr/>
            </p:nvSpPr>
            <p:spPr bwMode="auto">
              <a:xfrm>
                <a:off x="3513" y="2400"/>
                <a:ext cx="471" cy="192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0" hangingPunct="0"/>
                <a:r>
                  <a:rPr lang="en-US" sz="1400" b="1">
                    <a:solidFill>
                      <a:schemeClr val="bg2"/>
                    </a:solidFill>
                  </a:rPr>
                  <a:t>Reg[rs]</a:t>
                </a:r>
              </a:p>
            </p:txBody>
          </p:sp>
          <p:sp>
            <p:nvSpPr>
              <p:cNvPr id="627733" name="Text Box 1045"/>
              <p:cNvSpPr txBox="1">
                <a:spLocks noChangeArrowheads="1"/>
              </p:cNvSpPr>
              <p:nvPr/>
            </p:nvSpPr>
            <p:spPr bwMode="auto">
              <a:xfrm>
                <a:off x="3508" y="3312"/>
                <a:ext cx="464" cy="192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0" hangingPunct="0"/>
                <a:r>
                  <a:rPr lang="en-US" sz="1400" b="1">
                    <a:solidFill>
                      <a:schemeClr val="bg2"/>
                    </a:solidFill>
                  </a:rPr>
                  <a:t>Reg[rt]</a:t>
                </a:r>
              </a:p>
            </p:txBody>
          </p:sp>
          <p:sp>
            <p:nvSpPr>
              <p:cNvPr id="627734" name="Text Box 1046"/>
              <p:cNvSpPr txBox="1">
                <a:spLocks noChangeArrowheads="1"/>
              </p:cNvSpPr>
              <p:nvPr/>
            </p:nvSpPr>
            <p:spPr bwMode="auto">
              <a:xfrm>
                <a:off x="323" y="3024"/>
                <a:ext cx="441" cy="192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0" hangingPunct="0"/>
                <a:r>
                  <a:rPr lang="en-US" sz="1400" b="1"/>
                  <a:t>PC + 4</a:t>
                </a:r>
              </a:p>
            </p:txBody>
          </p:sp>
          <p:pic>
            <p:nvPicPr>
              <p:cNvPr id="627735" name="Picture 1047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auto">
              <a:xfrm>
                <a:off x="232" y="1720"/>
                <a:ext cx="5108" cy="2105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</p:pic>
        </p:grpSp>
      </p:grpSp>
      <p:sp>
        <p:nvSpPr>
          <p:cNvPr id="2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Mayank Pandey, MNNIT, Allahabad, India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27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27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27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27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627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627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27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27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7714" grpId="0" animBg="1"/>
      <p:bldP spid="627715" grpId="0" animBg="1"/>
      <p:bldP spid="627716" grpId="0" animBg="1"/>
      <p:bldP spid="627717" grpId="0" animBg="1"/>
      <p:bldP spid="627718" grpId="0" animBg="1"/>
      <p:bldP spid="627719" grpId="0" animBg="1"/>
      <p:bldP spid="627720" grpId="0" animBg="1"/>
      <p:bldP spid="627723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026"/>
          <p:cNvGrpSpPr>
            <a:grpSpLocks/>
          </p:cNvGrpSpPr>
          <p:nvPr/>
        </p:nvGrpSpPr>
        <p:grpSpPr bwMode="auto">
          <a:xfrm>
            <a:off x="3657600" y="3187700"/>
            <a:ext cx="1790700" cy="393700"/>
            <a:chOff x="2304" y="2344"/>
            <a:chExt cx="1128" cy="248"/>
          </a:xfrm>
        </p:grpSpPr>
        <p:sp>
          <p:nvSpPr>
            <p:cNvPr id="628739" name="Rectangle 1027"/>
            <p:cNvSpPr>
              <a:spLocks noChangeArrowheads="1"/>
            </p:cNvSpPr>
            <p:nvPr/>
          </p:nvSpPr>
          <p:spPr bwMode="auto">
            <a:xfrm>
              <a:off x="2304" y="2344"/>
              <a:ext cx="1104" cy="96"/>
            </a:xfrm>
            <a:prstGeom prst="rect">
              <a:avLst/>
            </a:prstGeom>
            <a:solidFill>
              <a:srgbClr val="00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28740" name="Rectangle 1028"/>
            <p:cNvSpPr>
              <a:spLocks noChangeArrowheads="1"/>
            </p:cNvSpPr>
            <p:nvPr/>
          </p:nvSpPr>
          <p:spPr bwMode="auto">
            <a:xfrm>
              <a:off x="3336" y="2352"/>
              <a:ext cx="96" cy="240"/>
            </a:xfrm>
            <a:prstGeom prst="rect">
              <a:avLst/>
            </a:prstGeom>
            <a:solidFill>
              <a:srgbClr val="00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628741" name="Rectangle 1029"/>
          <p:cNvSpPr>
            <a:spLocks noChangeArrowheads="1"/>
          </p:cNvSpPr>
          <p:nvPr/>
        </p:nvSpPr>
        <p:spPr bwMode="auto">
          <a:xfrm>
            <a:off x="4140200" y="3505200"/>
            <a:ext cx="1638300" cy="1346200"/>
          </a:xfrm>
          <a:prstGeom prst="rect">
            <a:avLst/>
          </a:prstGeom>
          <a:solidFill>
            <a:srgbClr val="FF3300"/>
          </a:solidFill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628742" name="Rectangle 1030"/>
          <p:cNvSpPr>
            <a:spLocks noChangeArrowheads="1"/>
          </p:cNvSpPr>
          <p:nvPr/>
        </p:nvSpPr>
        <p:spPr bwMode="auto">
          <a:xfrm>
            <a:off x="3657600" y="4127500"/>
            <a:ext cx="533400" cy="152400"/>
          </a:xfrm>
          <a:prstGeom prst="rect">
            <a:avLst/>
          </a:prstGeom>
          <a:solidFill>
            <a:srgbClr val="FF3300"/>
          </a:solidFill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628743" name="Rectangle 1031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458200" cy="1143000"/>
          </a:xfrm>
        </p:spPr>
        <p:txBody>
          <a:bodyPr/>
          <a:lstStyle/>
          <a:p>
            <a:r>
              <a:rPr lang="en-US" sz="3600" dirty="0" smtClean="0"/>
              <a:t>Step </a:t>
            </a:r>
            <a:r>
              <a:rPr lang="en-US" sz="3600" dirty="0"/>
              <a:t>(5</a:t>
            </a:r>
            <a:r>
              <a:rPr lang="en-US" sz="3600" dirty="0" smtClean="0"/>
              <a:t>): Memory </a:t>
            </a:r>
            <a:r>
              <a:rPr lang="en-US" sz="3600" dirty="0"/>
              <a:t>Read Completion (</a:t>
            </a:r>
            <a:r>
              <a:rPr lang="en-US" sz="3600" dirty="0" err="1">
                <a:latin typeface="Courier New" pitchFamily="49" charset="0"/>
              </a:rPr>
              <a:t>lw</a:t>
            </a:r>
            <a:r>
              <a:rPr lang="en-US" sz="3600" dirty="0"/>
              <a:t>)</a:t>
            </a:r>
          </a:p>
        </p:txBody>
      </p:sp>
      <p:sp>
        <p:nvSpPr>
          <p:cNvPr id="628744" name="Rectangle 1032"/>
          <p:cNvSpPr>
            <a:spLocks noGrp="1" noChangeArrowheads="1"/>
          </p:cNvSpPr>
          <p:nvPr>
            <p:ph type="body" idx="1"/>
          </p:nvPr>
        </p:nvSpPr>
        <p:spPr>
          <a:xfrm>
            <a:off x="457200" y="838200"/>
            <a:ext cx="8229600" cy="4754563"/>
          </a:xfrm>
        </p:spPr>
        <p:txBody>
          <a:bodyPr/>
          <a:lstStyle/>
          <a:p>
            <a:pPr>
              <a:spcBef>
                <a:spcPct val="0"/>
              </a:spcBef>
              <a:buFont typeface="Wingdings" pitchFamily="2" charset="2"/>
              <a:buNone/>
            </a:pPr>
            <a:endParaRPr lang="en-US" sz="2000" dirty="0" smtClean="0">
              <a:latin typeface="Courier New" pitchFamily="49" charset="0"/>
            </a:endParaRP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endParaRPr lang="en-US" sz="2000" dirty="0" smtClean="0">
              <a:latin typeface="Courier New" pitchFamily="49" charset="0"/>
            </a:endParaRP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sz="2000" dirty="0" err="1" smtClean="0">
                <a:latin typeface="Courier New" pitchFamily="49" charset="0"/>
              </a:rPr>
              <a:t>Reg</a:t>
            </a:r>
            <a:r>
              <a:rPr lang="en-US" sz="2000" dirty="0" smtClean="0">
                <a:latin typeface="Courier New" pitchFamily="49" charset="0"/>
              </a:rPr>
              <a:t>[IR[20-16</a:t>
            </a:r>
            <a:r>
              <a:rPr lang="en-US" sz="2000" dirty="0">
                <a:latin typeface="Courier New" pitchFamily="49" charset="0"/>
              </a:rPr>
              <a:t>]] = MDR</a:t>
            </a:r>
            <a:r>
              <a:rPr lang="en-US" sz="2400" dirty="0">
                <a:latin typeface="Courier New" pitchFamily="49" charset="0"/>
              </a:rPr>
              <a:t>;</a:t>
            </a:r>
            <a:endParaRPr lang="en-US" dirty="0"/>
          </a:p>
        </p:txBody>
      </p:sp>
      <p:grpSp>
        <p:nvGrpSpPr>
          <p:cNvPr id="3" name="Group 1033"/>
          <p:cNvGrpSpPr>
            <a:grpSpLocks/>
          </p:cNvGrpSpPr>
          <p:nvPr/>
        </p:nvGrpSpPr>
        <p:grpSpPr bwMode="auto">
          <a:xfrm>
            <a:off x="368300" y="2197100"/>
            <a:ext cx="8108950" cy="3341688"/>
            <a:chOff x="232" y="1720"/>
            <a:chExt cx="5108" cy="2105"/>
          </a:xfrm>
        </p:grpSpPr>
        <p:sp>
          <p:nvSpPr>
            <p:cNvPr id="628746" name="Rectangle 1034"/>
            <p:cNvSpPr>
              <a:spLocks noChangeArrowheads="1"/>
            </p:cNvSpPr>
            <p:nvPr/>
          </p:nvSpPr>
          <p:spPr bwMode="auto">
            <a:xfrm>
              <a:off x="384" y="2496"/>
              <a:ext cx="288" cy="528"/>
            </a:xfrm>
            <a:prstGeom prst="rect">
              <a:avLst/>
            </a:pr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28747" name="Text Box 1035"/>
            <p:cNvSpPr txBox="1">
              <a:spLocks noChangeArrowheads="1"/>
            </p:cNvSpPr>
            <p:nvPr/>
          </p:nvSpPr>
          <p:spPr bwMode="auto">
            <a:xfrm>
              <a:off x="323" y="3024"/>
              <a:ext cx="441" cy="19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sz="1400" b="1"/>
                <a:t>PC + 4</a:t>
              </a:r>
            </a:p>
          </p:txBody>
        </p:sp>
        <p:sp>
          <p:nvSpPr>
            <p:cNvPr id="628748" name="Rectangle 1036"/>
            <p:cNvSpPr>
              <a:spLocks noChangeArrowheads="1"/>
            </p:cNvSpPr>
            <p:nvPr/>
          </p:nvSpPr>
          <p:spPr bwMode="auto">
            <a:xfrm flipV="1">
              <a:off x="2040" y="2688"/>
              <a:ext cx="288" cy="624"/>
            </a:xfrm>
            <a:prstGeom prst="rect">
              <a:avLst/>
            </a:prstGeom>
            <a:solidFill>
              <a:srgbClr val="FF33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28749" name="Rectangle 1037" descr="50%"/>
            <p:cNvSpPr>
              <a:spLocks noChangeArrowheads="1"/>
            </p:cNvSpPr>
            <p:nvPr/>
          </p:nvSpPr>
          <p:spPr bwMode="auto">
            <a:xfrm>
              <a:off x="4872" y="2784"/>
              <a:ext cx="336" cy="480"/>
            </a:xfrm>
            <a:prstGeom prst="rect">
              <a:avLst/>
            </a:prstGeom>
            <a:pattFill prst="pct50">
              <a:fgClr>
                <a:srgbClr val="FF9900"/>
              </a:fgClr>
              <a:bgClr>
                <a:srgbClr val="FFFFFF"/>
              </a:bgClr>
            </a:patt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28750" name="Rectangle 1038" descr="50%"/>
            <p:cNvSpPr>
              <a:spLocks noChangeArrowheads="1"/>
            </p:cNvSpPr>
            <p:nvPr/>
          </p:nvSpPr>
          <p:spPr bwMode="auto">
            <a:xfrm>
              <a:off x="3688" y="2592"/>
              <a:ext cx="248" cy="384"/>
            </a:xfrm>
            <a:prstGeom prst="rect">
              <a:avLst/>
            </a:prstGeom>
            <a:pattFill prst="pct50">
              <a:fgClr>
                <a:srgbClr val="FF9900"/>
              </a:fgClr>
              <a:bgClr>
                <a:srgbClr val="FFFFFF"/>
              </a:bgClr>
            </a:patt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28751" name="Rectangle 1039" descr="50%"/>
            <p:cNvSpPr>
              <a:spLocks noChangeArrowheads="1"/>
            </p:cNvSpPr>
            <p:nvPr/>
          </p:nvSpPr>
          <p:spPr bwMode="auto">
            <a:xfrm>
              <a:off x="3688" y="2976"/>
              <a:ext cx="248" cy="384"/>
            </a:xfrm>
            <a:prstGeom prst="rect">
              <a:avLst/>
            </a:prstGeom>
            <a:pattFill prst="pct50">
              <a:fgClr>
                <a:srgbClr val="FF9900"/>
              </a:fgClr>
              <a:bgClr>
                <a:srgbClr val="FFFFFF"/>
              </a:bgClr>
            </a:patt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28752" name="Rectangle 1040"/>
            <p:cNvSpPr>
              <a:spLocks noChangeArrowheads="1"/>
            </p:cNvSpPr>
            <p:nvPr/>
          </p:nvSpPr>
          <p:spPr bwMode="auto">
            <a:xfrm>
              <a:off x="2040" y="2064"/>
              <a:ext cx="288" cy="624"/>
            </a:xfrm>
            <a:prstGeom prst="rect">
              <a:avLst/>
            </a:prstGeom>
            <a:solidFill>
              <a:srgbClr val="00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28753" name="Text Box 1041"/>
            <p:cNvSpPr txBox="1">
              <a:spLocks noChangeArrowheads="1"/>
            </p:cNvSpPr>
            <p:nvPr/>
          </p:nvSpPr>
          <p:spPr bwMode="auto">
            <a:xfrm>
              <a:off x="3561" y="2400"/>
              <a:ext cx="471" cy="19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sz="1400" b="1">
                  <a:solidFill>
                    <a:schemeClr val="bg2"/>
                  </a:solidFill>
                </a:rPr>
                <a:t>Reg[rs]</a:t>
              </a:r>
            </a:p>
          </p:txBody>
        </p:sp>
        <p:sp>
          <p:nvSpPr>
            <p:cNvPr id="628754" name="Text Box 1042"/>
            <p:cNvSpPr txBox="1">
              <a:spLocks noChangeArrowheads="1"/>
            </p:cNvSpPr>
            <p:nvPr/>
          </p:nvSpPr>
          <p:spPr bwMode="auto">
            <a:xfrm>
              <a:off x="3556" y="3312"/>
              <a:ext cx="464" cy="19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sz="1400" b="1">
                  <a:solidFill>
                    <a:schemeClr val="bg2"/>
                  </a:solidFill>
                </a:rPr>
                <a:t>Reg[rt]</a:t>
              </a:r>
            </a:p>
          </p:txBody>
        </p:sp>
        <p:sp>
          <p:nvSpPr>
            <p:cNvPr id="628755" name="Text Box 1043"/>
            <p:cNvSpPr txBox="1">
              <a:spLocks noChangeArrowheads="1"/>
            </p:cNvSpPr>
            <p:nvPr/>
          </p:nvSpPr>
          <p:spPr bwMode="auto">
            <a:xfrm>
              <a:off x="1997" y="3274"/>
              <a:ext cx="393" cy="326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sz="1400" b="1"/>
                <a:t>Mem.</a:t>
              </a:r>
            </a:p>
            <a:p>
              <a:pPr algn="ctr" eaLnBrk="0" hangingPunct="0"/>
              <a:r>
                <a:rPr lang="en-US" sz="1400" b="1"/>
                <a:t>Data</a:t>
              </a:r>
            </a:p>
          </p:txBody>
        </p:sp>
        <p:sp>
          <p:nvSpPr>
            <p:cNvPr id="628756" name="Rectangle 1044"/>
            <p:cNvSpPr>
              <a:spLocks noChangeArrowheads="1"/>
            </p:cNvSpPr>
            <p:nvPr/>
          </p:nvSpPr>
          <p:spPr bwMode="auto">
            <a:xfrm>
              <a:off x="4771" y="2464"/>
              <a:ext cx="509" cy="326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sz="1400" b="1">
                  <a:solidFill>
                    <a:schemeClr val="bg2"/>
                  </a:solidFill>
                </a:rPr>
                <a:t>Mem.</a:t>
              </a:r>
            </a:p>
            <a:p>
              <a:pPr algn="ctr" eaLnBrk="0" hangingPunct="0"/>
              <a:r>
                <a:rPr lang="en-US" sz="1400" b="1">
                  <a:solidFill>
                    <a:schemeClr val="bg2"/>
                  </a:solidFill>
                </a:rPr>
                <a:t>Address</a:t>
              </a:r>
            </a:p>
          </p:txBody>
        </p:sp>
        <p:pic>
          <p:nvPicPr>
            <p:cNvPr id="628757" name="Picture 1045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32" y="1720"/>
              <a:ext cx="5108" cy="210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</p:pic>
      </p:grpSp>
      <p:sp>
        <p:nvSpPr>
          <p:cNvPr id="22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Mayank Pandey, MNNIT, Allahabad, India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28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28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8741" grpId="0" animBg="1"/>
      <p:bldP spid="628742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55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609600"/>
            <a:ext cx="8562975" cy="762000"/>
          </a:xfrm>
        </p:spPr>
        <p:txBody>
          <a:bodyPr/>
          <a:lstStyle/>
          <a:p>
            <a:r>
              <a:rPr lang="en-US" dirty="0" smtClean="0"/>
              <a:t>Multi-cycle Data-path </a:t>
            </a:r>
            <a:r>
              <a:rPr lang="en-US" dirty="0"/>
              <a:t>with Control </a:t>
            </a:r>
            <a:r>
              <a:rPr lang="en-US" dirty="0" smtClean="0"/>
              <a:t>1</a:t>
            </a:r>
            <a:endParaRPr lang="en-US" dirty="0"/>
          </a:p>
        </p:txBody>
      </p:sp>
      <p:pic>
        <p:nvPicPr>
          <p:cNvPr id="535556" name="Picture 4" descr="F053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1447800"/>
            <a:ext cx="8839200" cy="4348163"/>
          </a:xfrm>
          <a:prstGeom prst="rect">
            <a:avLst/>
          </a:prstGeom>
          <a:noFill/>
        </p:spPr>
      </p:pic>
      <p:sp>
        <p:nvSpPr>
          <p:cNvPr id="535557" name="Text Box 5"/>
          <p:cNvSpPr txBox="1">
            <a:spLocks noChangeArrowheads="1"/>
          </p:cNvSpPr>
          <p:nvPr/>
        </p:nvSpPr>
        <p:spPr bwMode="auto">
          <a:xfrm>
            <a:off x="152400" y="5835650"/>
            <a:ext cx="89566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b="1" dirty="0">
                <a:latin typeface="Tahoma" pitchFamily="34" charset="0"/>
              </a:rPr>
              <a:t>… with control lines and the ALU control block added – </a:t>
            </a:r>
            <a:r>
              <a:rPr lang="en-US" sz="1600" b="1" i="1" dirty="0">
                <a:latin typeface="Tahoma" pitchFamily="34" charset="0"/>
              </a:rPr>
              <a:t>not all</a:t>
            </a:r>
            <a:r>
              <a:rPr lang="en-US" sz="1600" b="1" dirty="0">
                <a:latin typeface="Tahoma" pitchFamily="34" charset="0"/>
              </a:rPr>
              <a:t> control lines are shown</a:t>
            </a: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Mayank Pandey, MNNIT, Allahabad, India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578" name="Rectangle 2"/>
          <p:cNvSpPr>
            <a:spLocks noGrp="1" noChangeArrowheads="1"/>
          </p:cNvSpPr>
          <p:nvPr>
            <p:ph type="title"/>
          </p:nvPr>
        </p:nvSpPr>
        <p:spPr>
          <a:xfrm>
            <a:off x="436563" y="381000"/>
            <a:ext cx="8936037" cy="1143000"/>
          </a:xfrm>
        </p:spPr>
        <p:txBody>
          <a:bodyPr/>
          <a:lstStyle/>
          <a:p>
            <a:r>
              <a:rPr lang="en-US" dirty="0" smtClean="0"/>
              <a:t>Multi-cycle Data-path </a:t>
            </a:r>
            <a:r>
              <a:rPr lang="en-US" dirty="0"/>
              <a:t>with Control </a:t>
            </a:r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536581" name="Text Box 5"/>
          <p:cNvSpPr txBox="1">
            <a:spLocks noChangeArrowheads="1"/>
          </p:cNvSpPr>
          <p:nvPr/>
        </p:nvSpPr>
        <p:spPr bwMode="auto">
          <a:xfrm>
            <a:off x="981075" y="6172200"/>
            <a:ext cx="7400925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b="1">
                <a:latin typeface="Tahoma" pitchFamily="34" charset="0"/>
              </a:rPr>
              <a:t>Complete multicycle MIPS datapath (with branch and jump capability)</a:t>
            </a:r>
          </a:p>
          <a:p>
            <a:r>
              <a:rPr lang="en-US" sz="1600" b="1">
                <a:latin typeface="Tahoma" pitchFamily="34" charset="0"/>
              </a:rPr>
              <a:t>and showing the main control block and all control lines</a:t>
            </a:r>
          </a:p>
        </p:txBody>
      </p:sp>
      <p:pic>
        <p:nvPicPr>
          <p:cNvPr id="536582" name="Picture 6" descr="F053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1703388"/>
            <a:ext cx="8275638" cy="4545012"/>
          </a:xfrm>
          <a:prstGeom prst="rect">
            <a:avLst/>
          </a:prstGeom>
          <a:noFill/>
        </p:spPr>
      </p:pic>
      <p:sp>
        <p:nvSpPr>
          <p:cNvPr id="536583" name="Text Box 7"/>
          <p:cNvSpPr txBox="1">
            <a:spLocks noChangeArrowheads="1"/>
          </p:cNvSpPr>
          <p:nvPr/>
        </p:nvSpPr>
        <p:spPr bwMode="auto">
          <a:xfrm>
            <a:off x="7410450" y="1371600"/>
            <a:ext cx="12763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>
                <a:solidFill>
                  <a:schemeClr val="hlink"/>
                </a:solidFill>
                <a:latin typeface="Tahoma" pitchFamily="34" charset="0"/>
              </a:rPr>
              <a:t>New multiplexor</a:t>
            </a:r>
          </a:p>
        </p:txBody>
      </p:sp>
      <p:sp>
        <p:nvSpPr>
          <p:cNvPr id="536584" name="Line 8"/>
          <p:cNvSpPr>
            <a:spLocks noChangeShapeType="1"/>
          </p:cNvSpPr>
          <p:nvPr/>
        </p:nvSpPr>
        <p:spPr bwMode="auto">
          <a:xfrm>
            <a:off x="7772400" y="1600200"/>
            <a:ext cx="685800" cy="12954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IN"/>
          </a:p>
        </p:txBody>
      </p:sp>
      <p:sp>
        <p:nvSpPr>
          <p:cNvPr id="536585" name="Text Box 9"/>
          <p:cNvSpPr txBox="1">
            <a:spLocks noChangeArrowheads="1"/>
          </p:cNvSpPr>
          <p:nvPr/>
        </p:nvSpPr>
        <p:spPr bwMode="auto">
          <a:xfrm>
            <a:off x="1981200" y="1325563"/>
            <a:ext cx="890588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>
                <a:solidFill>
                  <a:schemeClr val="hlink"/>
                </a:solidFill>
                <a:latin typeface="Tahoma" pitchFamily="34" charset="0"/>
              </a:rPr>
              <a:t>New gates</a:t>
            </a:r>
          </a:p>
        </p:txBody>
      </p:sp>
      <p:sp>
        <p:nvSpPr>
          <p:cNvPr id="536586" name="Line 10"/>
          <p:cNvSpPr>
            <a:spLocks noChangeShapeType="1"/>
          </p:cNvSpPr>
          <p:nvPr/>
        </p:nvSpPr>
        <p:spPr bwMode="auto">
          <a:xfrm flipH="1">
            <a:off x="2133600" y="1600200"/>
            <a:ext cx="15240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IN"/>
          </a:p>
        </p:txBody>
      </p:sp>
      <p:sp>
        <p:nvSpPr>
          <p:cNvPr id="536587" name="Line 11"/>
          <p:cNvSpPr>
            <a:spLocks noChangeShapeType="1"/>
          </p:cNvSpPr>
          <p:nvPr/>
        </p:nvSpPr>
        <p:spPr bwMode="auto">
          <a:xfrm>
            <a:off x="2362200" y="15240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IN"/>
          </a:p>
        </p:txBody>
      </p:sp>
      <p:sp>
        <p:nvSpPr>
          <p:cNvPr id="536588" name="Oval 12"/>
          <p:cNvSpPr>
            <a:spLocks noChangeArrowheads="1"/>
          </p:cNvSpPr>
          <p:nvPr/>
        </p:nvSpPr>
        <p:spPr bwMode="auto">
          <a:xfrm>
            <a:off x="3200400" y="3124200"/>
            <a:ext cx="990600" cy="304800"/>
          </a:xfrm>
          <a:prstGeom prst="ellipse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536589" name="Text Box 13"/>
          <p:cNvSpPr txBox="1">
            <a:spLocks noChangeArrowheads="1"/>
          </p:cNvSpPr>
          <p:nvPr/>
        </p:nvSpPr>
        <p:spPr bwMode="auto">
          <a:xfrm>
            <a:off x="5257800" y="1401763"/>
            <a:ext cx="220980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200">
                <a:solidFill>
                  <a:schemeClr val="hlink"/>
                </a:solidFill>
                <a:latin typeface="Tahoma" pitchFamily="34" charset="0"/>
              </a:rPr>
              <a:t>For the jump address</a:t>
            </a:r>
          </a:p>
        </p:txBody>
      </p:sp>
      <p:sp>
        <p:nvSpPr>
          <p:cNvPr id="536590" name="Freeform 14"/>
          <p:cNvSpPr>
            <a:spLocks/>
          </p:cNvSpPr>
          <p:nvPr/>
        </p:nvSpPr>
        <p:spPr bwMode="auto">
          <a:xfrm>
            <a:off x="4267200" y="1600200"/>
            <a:ext cx="1828800" cy="1524000"/>
          </a:xfrm>
          <a:custGeom>
            <a:avLst/>
            <a:gdLst/>
            <a:ahLst/>
            <a:cxnLst>
              <a:cxn ang="0">
                <a:pos x="1152" y="0"/>
              </a:cxn>
              <a:cxn ang="0">
                <a:pos x="912" y="720"/>
              </a:cxn>
              <a:cxn ang="0">
                <a:pos x="0" y="960"/>
              </a:cxn>
            </a:cxnLst>
            <a:rect l="0" t="0" r="r" b="b"/>
            <a:pathLst>
              <a:path w="1152" h="960">
                <a:moveTo>
                  <a:pt x="1152" y="0"/>
                </a:moveTo>
                <a:cubicBezTo>
                  <a:pt x="1128" y="280"/>
                  <a:pt x="1104" y="560"/>
                  <a:pt x="912" y="720"/>
                </a:cubicBezTo>
                <a:cubicBezTo>
                  <a:pt x="720" y="880"/>
                  <a:pt x="152" y="920"/>
                  <a:pt x="0" y="96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txBody>
          <a:bodyPr wrap="none"/>
          <a:lstStyle/>
          <a:p>
            <a:endParaRPr lang="en-IN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838200"/>
          </a:xfrm>
        </p:spPr>
        <p:txBody>
          <a:bodyPr/>
          <a:lstStyle/>
          <a:p>
            <a:r>
              <a:rPr lang="en-IN" dirty="0" smtClean="0"/>
              <a:t>1-bit Control Signals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0C72227-FECD-4039-A327-B8D82E75A27D}" type="datetime1">
              <a:rPr lang="en-US" smtClean="0"/>
              <a:pPr>
                <a:defRPr/>
              </a:pPr>
              <a:t>3/31/2015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Mayank Pandey, MNNIT, Allahabad, India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B326667-E6E6-4DE2-8E19-42096EDF6697}" type="slidenum">
              <a:rPr lang="en-US" smtClean="0"/>
              <a:pPr>
                <a:defRPr/>
              </a:pPr>
              <a:t>71</a:t>
            </a:fld>
            <a:endParaRPr lang="en-US" dirty="0"/>
          </a:p>
        </p:txBody>
      </p:sp>
      <p:pic>
        <p:nvPicPr>
          <p:cNvPr id="6" name="Picture 5" descr="IMG_20150331_141650.jpg"/>
          <p:cNvPicPr>
            <a:picLocks noChangeAspect="1"/>
          </p:cNvPicPr>
          <p:nvPr/>
        </p:nvPicPr>
        <p:blipFill>
          <a:blip r:embed="rId2" cstate="print"/>
          <a:srcRect l="10496" r="4220" b="46809"/>
          <a:stretch>
            <a:fillRect/>
          </a:stretch>
        </p:blipFill>
        <p:spPr>
          <a:xfrm>
            <a:off x="152400" y="1524000"/>
            <a:ext cx="8915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990600"/>
          </a:xfrm>
        </p:spPr>
        <p:txBody>
          <a:bodyPr/>
          <a:lstStyle/>
          <a:p>
            <a:r>
              <a:rPr lang="en-IN" dirty="0" smtClean="0"/>
              <a:t>2-bit Control Signals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0C72227-FECD-4039-A327-B8D82E75A27D}" type="datetime1">
              <a:rPr lang="en-US" smtClean="0"/>
              <a:pPr>
                <a:defRPr/>
              </a:pPr>
              <a:t>3/31/2015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Mayank Pandey, MNNIT, Allahabad, India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B326667-E6E6-4DE2-8E19-42096EDF6697}" type="slidenum">
              <a:rPr lang="en-US" smtClean="0"/>
              <a:pPr>
                <a:defRPr/>
              </a:pPr>
              <a:t>72</a:t>
            </a:fld>
            <a:endParaRPr lang="en-US" dirty="0"/>
          </a:p>
        </p:txBody>
      </p:sp>
      <p:pic>
        <p:nvPicPr>
          <p:cNvPr id="6" name="Picture 5" descr="IMG_20150331_141650.jpg"/>
          <p:cNvPicPr>
            <a:picLocks noChangeAspect="1"/>
          </p:cNvPicPr>
          <p:nvPr/>
        </p:nvPicPr>
        <p:blipFill>
          <a:blip r:embed="rId2" cstate="print"/>
          <a:srcRect l="9167" t="53378" r="7500" b="2703"/>
          <a:stretch>
            <a:fillRect/>
          </a:stretch>
        </p:blipFill>
        <p:spPr>
          <a:xfrm>
            <a:off x="152400" y="1524000"/>
            <a:ext cx="8792308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7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8229600" cy="990600"/>
          </a:xfrm>
        </p:spPr>
        <p:txBody>
          <a:bodyPr/>
          <a:lstStyle/>
          <a:p>
            <a:r>
              <a:rPr lang="en-US" dirty="0" smtClean="0"/>
              <a:t>Multi-cycle </a:t>
            </a:r>
            <a:r>
              <a:rPr lang="en-US" dirty="0"/>
              <a:t>Control Step (1</a:t>
            </a:r>
            <a:r>
              <a:rPr lang="en-US" dirty="0" smtClean="0"/>
              <a:t>): Fetch</a:t>
            </a:r>
            <a:endParaRPr lang="en-US" dirty="0"/>
          </a:p>
        </p:txBody>
      </p:sp>
      <p:sp>
        <p:nvSpPr>
          <p:cNvPr id="6297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447800"/>
            <a:ext cx="7772400" cy="4114800"/>
          </a:xfrm>
        </p:spPr>
        <p:txBody>
          <a:bodyPr/>
          <a:lstStyle/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sz="2000">
                <a:latin typeface="Courier" pitchFamily="49" charset="0"/>
              </a:rPr>
              <a:t>IR = Memory[PC];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sz="2000">
                <a:latin typeface="Courier" pitchFamily="49" charset="0"/>
              </a:rPr>
              <a:t>PC = PC + 4;</a:t>
            </a:r>
            <a:endParaRPr lang="en-US" sz="2000"/>
          </a:p>
        </p:txBody>
      </p:sp>
      <p:sp>
        <p:nvSpPr>
          <p:cNvPr id="629764" name="Text Box 4"/>
          <p:cNvSpPr txBox="1">
            <a:spLocks noChangeArrowheads="1"/>
          </p:cNvSpPr>
          <p:nvPr/>
        </p:nvSpPr>
        <p:spPr bwMode="auto">
          <a:xfrm>
            <a:off x="290513" y="2852738"/>
            <a:ext cx="311150" cy="3667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1</a:t>
            </a:r>
            <a:endParaRPr lang="en-US" sz="1800" b="1">
              <a:latin typeface="Helvetica" pitchFamily="34" charset="0"/>
            </a:endParaRPr>
          </a:p>
        </p:txBody>
      </p:sp>
      <p:sp>
        <p:nvSpPr>
          <p:cNvPr id="629765" name="Text Box 5"/>
          <p:cNvSpPr txBox="1">
            <a:spLocks noChangeArrowheads="1"/>
          </p:cNvSpPr>
          <p:nvPr/>
        </p:nvSpPr>
        <p:spPr bwMode="auto">
          <a:xfrm>
            <a:off x="850900" y="3203575"/>
            <a:ext cx="311150" cy="366713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0</a:t>
            </a:r>
            <a:endParaRPr lang="en-US" sz="1800" b="1">
              <a:latin typeface="Helvetica" pitchFamily="34" charset="0"/>
            </a:endParaRPr>
          </a:p>
        </p:txBody>
      </p:sp>
      <p:sp>
        <p:nvSpPr>
          <p:cNvPr id="629766" name="Text Box 6"/>
          <p:cNvSpPr txBox="1">
            <a:spLocks noChangeArrowheads="1"/>
          </p:cNvSpPr>
          <p:nvPr/>
        </p:nvSpPr>
        <p:spPr bwMode="auto">
          <a:xfrm>
            <a:off x="1812925" y="5032375"/>
            <a:ext cx="311150" cy="366713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1</a:t>
            </a:r>
            <a:endParaRPr lang="en-US" sz="1800" b="1">
              <a:latin typeface="Helvetica" pitchFamily="34" charset="0"/>
            </a:endParaRPr>
          </a:p>
        </p:txBody>
      </p:sp>
      <p:sp>
        <p:nvSpPr>
          <p:cNvPr id="629767" name="Text Box 7"/>
          <p:cNvSpPr txBox="1">
            <a:spLocks noChangeArrowheads="1"/>
          </p:cNvSpPr>
          <p:nvPr/>
        </p:nvSpPr>
        <p:spPr bwMode="auto">
          <a:xfrm>
            <a:off x="8672513" y="4079875"/>
            <a:ext cx="311150" cy="366713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0</a:t>
            </a:r>
            <a:endParaRPr lang="en-US" sz="1800" b="1">
              <a:latin typeface="Helvetica" pitchFamily="34" charset="0"/>
            </a:endParaRPr>
          </a:p>
        </p:txBody>
      </p:sp>
      <p:sp>
        <p:nvSpPr>
          <p:cNvPr id="629768" name="Text Box 8"/>
          <p:cNvSpPr txBox="1">
            <a:spLocks noChangeArrowheads="1"/>
          </p:cNvSpPr>
          <p:nvPr/>
        </p:nvSpPr>
        <p:spPr bwMode="auto">
          <a:xfrm>
            <a:off x="6459538" y="5413375"/>
            <a:ext cx="311150" cy="366713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1</a:t>
            </a:r>
            <a:endParaRPr lang="en-US" sz="1800" b="1">
              <a:latin typeface="Helvetica" pitchFamily="34" charset="0"/>
            </a:endParaRPr>
          </a:p>
        </p:txBody>
      </p:sp>
      <p:sp>
        <p:nvSpPr>
          <p:cNvPr id="629769" name="Text Box 9"/>
          <p:cNvSpPr txBox="1">
            <a:spLocks noChangeArrowheads="1"/>
          </p:cNvSpPr>
          <p:nvPr/>
        </p:nvSpPr>
        <p:spPr bwMode="auto">
          <a:xfrm>
            <a:off x="6484938" y="3279775"/>
            <a:ext cx="311150" cy="366713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0</a:t>
            </a:r>
            <a:endParaRPr lang="en-US" sz="1800" b="1">
              <a:latin typeface="Helvetica" pitchFamily="34" charset="0"/>
            </a:endParaRPr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0" y="2324100"/>
            <a:ext cx="9156700" cy="2895600"/>
            <a:chOff x="0" y="1443"/>
            <a:chExt cx="5768" cy="1824"/>
          </a:xfrm>
        </p:grpSpPr>
        <p:sp>
          <p:nvSpPr>
            <p:cNvPr id="629771" name="Rectangle 11"/>
            <p:cNvSpPr>
              <a:spLocks noChangeArrowheads="1"/>
            </p:cNvSpPr>
            <p:nvPr/>
          </p:nvSpPr>
          <p:spPr bwMode="auto">
            <a:xfrm>
              <a:off x="384" y="2424"/>
              <a:ext cx="160" cy="96"/>
            </a:xfrm>
            <a:prstGeom prst="rect">
              <a:avLst/>
            </a:pr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29772" name="Rectangle 12"/>
            <p:cNvSpPr>
              <a:spLocks noChangeArrowheads="1"/>
            </p:cNvSpPr>
            <p:nvPr/>
          </p:nvSpPr>
          <p:spPr bwMode="auto">
            <a:xfrm>
              <a:off x="720" y="2496"/>
              <a:ext cx="160" cy="96"/>
            </a:xfrm>
            <a:prstGeom prst="rect">
              <a:avLst/>
            </a:pr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29773" name="Rectangle 13"/>
            <p:cNvSpPr>
              <a:spLocks noChangeArrowheads="1"/>
            </p:cNvSpPr>
            <p:nvPr/>
          </p:nvSpPr>
          <p:spPr bwMode="auto">
            <a:xfrm>
              <a:off x="4224" y="3000"/>
              <a:ext cx="96" cy="96"/>
            </a:xfrm>
            <a:prstGeom prst="rect">
              <a:avLst/>
            </a:pr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29774" name="Rectangle 14"/>
            <p:cNvSpPr>
              <a:spLocks noChangeArrowheads="1"/>
            </p:cNvSpPr>
            <p:nvPr/>
          </p:nvSpPr>
          <p:spPr bwMode="auto">
            <a:xfrm>
              <a:off x="808" y="2368"/>
              <a:ext cx="808" cy="752"/>
            </a:xfrm>
            <a:prstGeom prst="rect">
              <a:avLst/>
            </a:pr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29775" name="Rectangle 15"/>
            <p:cNvSpPr>
              <a:spLocks noChangeArrowheads="1"/>
            </p:cNvSpPr>
            <p:nvPr/>
          </p:nvSpPr>
          <p:spPr bwMode="auto">
            <a:xfrm>
              <a:off x="4800" y="2304"/>
              <a:ext cx="96" cy="576"/>
            </a:xfrm>
            <a:prstGeom prst="rect">
              <a:avLst/>
            </a:pr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29776" name="Rectangle 16"/>
            <p:cNvSpPr>
              <a:spLocks noChangeArrowheads="1"/>
            </p:cNvSpPr>
            <p:nvPr/>
          </p:nvSpPr>
          <p:spPr bwMode="auto">
            <a:xfrm>
              <a:off x="1552" y="2715"/>
              <a:ext cx="168" cy="78"/>
            </a:xfrm>
            <a:prstGeom prst="rect">
              <a:avLst/>
            </a:prstGeom>
            <a:solidFill>
              <a:srgbClr val="00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29777" name="Rectangle 17"/>
            <p:cNvSpPr>
              <a:spLocks noChangeArrowheads="1"/>
            </p:cNvSpPr>
            <p:nvPr/>
          </p:nvSpPr>
          <p:spPr bwMode="auto">
            <a:xfrm>
              <a:off x="1608" y="1888"/>
              <a:ext cx="120" cy="896"/>
            </a:xfrm>
            <a:prstGeom prst="rect">
              <a:avLst/>
            </a:prstGeom>
            <a:solidFill>
              <a:srgbClr val="00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29778" name="Rectangle 18"/>
            <p:cNvSpPr>
              <a:spLocks noChangeArrowheads="1"/>
            </p:cNvSpPr>
            <p:nvPr/>
          </p:nvSpPr>
          <p:spPr bwMode="auto">
            <a:xfrm>
              <a:off x="1656" y="1888"/>
              <a:ext cx="144" cy="110"/>
            </a:xfrm>
            <a:prstGeom prst="rect">
              <a:avLst/>
            </a:prstGeom>
            <a:solidFill>
              <a:srgbClr val="00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29779" name="Rectangle 19"/>
            <p:cNvSpPr>
              <a:spLocks noChangeArrowheads="1"/>
            </p:cNvSpPr>
            <p:nvPr/>
          </p:nvSpPr>
          <p:spPr bwMode="auto">
            <a:xfrm>
              <a:off x="384" y="1560"/>
              <a:ext cx="3552" cy="96"/>
            </a:xfrm>
            <a:prstGeom prst="rect">
              <a:avLst/>
            </a:pr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29780" name="Rectangle 20"/>
            <p:cNvSpPr>
              <a:spLocks noChangeArrowheads="1"/>
            </p:cNvSpPr>
            <p:nvPr/>
          </p:nvSpPr>
          <p:spPr bwMode="auto">
            <a:xfrm>
              <a:off x="3840" y="1632"/>
              <a:ext cx="96" cy="912"/>
            </a:xfrm>
            <a:prstGeom prst="rect">
              <a:avLst/>
            </a:pr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29781" name="Rectangle 21"/>
            <p:cNvSpPr>
              <a:spLocks noChangeArrowheads="1"/>
            </p:cNvSpPr>
            <p:nvPr/>
          </p:nvSpPr>
          <p:spPr bwMode="auto">
            <a:xfrm>
              <a:off x="3840" y="2448"/>
              <a:ext cx="240" cy="96"/>
            </a:xfrm>
            <a:prstGeom prst="rect">
              <a:avLst/>
            </a:pr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29782" name="Rectangle 22"/>
            <p:cNvSpPr>
              <a:spLocks noChangeArrowheads="1"/>
            </p:cNvSpPr>
            <p:nvPr/>
          </p:nvSpPr>
          <p:spPr bwMode="auto">
            <a:xfrm>
              <a:off x="384" y="1584"/>
              <a:ext cx="96" cy="912"/>
            </a:xfrm>
            <a:prstGeom prst="rect">
              <a:avLst/>
            </a:pr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29783" name="Rectangle 23"/>
            <p:cNvSpPr>
              <a:spLocks noChangeArrowheads="1"/>
            </p:cNvSpPr>
            <p:nvPr/>
          </p:nvSpPr>
          <p:spPr bwMode="auto">
            <a:xfrm>
              <a:off x="336" y="2403"/>
              <a:ext cx="144" cy="93"/>
            </a:xfrm>
            <a:prstGeom prst="rect">
              <a:avLst/>
            </a:pr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29784" name="Rectangle 24"/>
            <p:cNvSpPr>
              <a:spLocks noChangeArrowheads="1"/>
            </p:cNvSpPr>
            <p:nvPr/>
          </p:nvSpPr>
          <p:spPr bwMode="auto">
            <a:xfrm>
              <a:off x="4800" y="2304"/>
              <a:ext cx="672" cy="96"/>
            </a:xfrm>
            <a:prstGeom prst="rect">
              <a:avLst/>
            </a:pr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29785" name="Rectangle 25"/>
            <p:cNvSpPr>
              <a:spLocks noChangeArrowheads="1"/>
            </p:cNvSpPr>
            <p:nvPr/>
          </p:nvSpPr>
          <p:spPr bwMode="auto">
            <a:xfrm>
              <a:off x="4656" y="2795"/>
              <a:ext cx="192" cy="96"/>
            </a:xfrm>
            <a:prstGeom prst="rect">
              <a:avLst/>
            </a:pr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29786" name="Rectangle 26"/>
            <p:cNvSpPr>
              <a:spLocks noChangeArrowheads="1"/>
            </p:cNvSpPr>
            <p:nvPr/>
          </p:nvSpPr>
          <p:spPr bwMode="auto">
            <a:xfrm>
              <a:off x="5616" y="2184"/>
              <a:ext cx="144" cy="96"/>
            </a:xfrm>
            <a:prstGeom prst="rect">
              <a:avLst/>
            </a:pr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29787" name="Rectangle 27"/>
            <p:cNvSpPr>
              <a:spLocks noChangeArrowheads="1"/>
            </p:cNvSpPr>
            <p:nvPr/>
          </p:nvSpPr>
          <p:spPr bwMode="auto">
            <a:xfrm>
              <a:off x="5672" y="1488"/>
              <a:ext cx="96" cy="768"/>
            </a:xfrm>
            <a:prstGeom prst="rect">
              <a:avLst/>
            </a:pr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29788" name="Rectangle 28"/>
            <p:cNvSpPr>
              <a:spLocks noChangeArrowheads="1"/>
            </p:cNvSpPr>
            <p:nvPr/>
          </p:nvSpPr>
          <p:spPr bwMode="auto">
            <a:xfrm>
              <a:off x="1760" y="1664"/>
              <a:ext cx="256" cy="528"/>
            </a:xfrm>
            <a:prstGeom prst="rect">
              <a:avLst/>
            </a:prstGeom>
            <a:solidFill>
              <a:srgbClr val="00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29789" name="Rectangle 29"/>
            <p:cNvSpPr>
              <a:spLocks noChangeArrowheads="1"/>
            </p:cNvSpPr>
            <p:nvPr/>
          </p:nvSpPr>
          <p:spPr bwMode="auto">
            <a:xfrm>
              <a:off x="3872" y="2947"/>
              <a:ext cx="208" cy="112"/>
            </a:xfrm>
            <a:prstGeom prst="rect">
              <a:avLst/>
            </a:pr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29790" name="AutoShape 30"/>
            <p:cNvSpPr>
              <a:spLocks noChangeArrowheads="1"/>
            </p:cNvSpPr>
            <p:nvPr/>
          </p:nvSpPr>
          <p:spPr bwMode="auto">
            <a:xfrm rot="-5400000">
              <a:off x="4040" y="2595"/>
              <a:ext cx="912" cy="432"/>
            </a:xfrm>
            <a:custGeom>
              <a:avLst/>
              <a:gdLst>
                <a:gd name="G0" fmla="+- 5660 0 0"/>
                <a:gd name="G1" fmla="+- 21600 0 5660"/>
                <a:gd name="G2" fmla="*/ 5660 1 2"/>
                <a:gd name="G3" fmla="+- 21600 0 G2"/>
                <a:gd name="G4" fmla="+/ 5660 21600 2"/>
                <a:gd name="G5" fmla="+/ G1 0 2"/>
                <a:gd name="G6" fmla="*/ 21600 21600 5660"/>
                <a:gd name="G7" fmla="*/ G6 1 2"/>
                <a:gd name="G8" fmla="+- 21600 0 G7"/>
                <a:gd name="G9" fmla="*/ 21600 1 2"/>
                <a:gd name="G10" fmla="+- 5660 0 G9"/>
                <a:gd name="G11" fmla="?: G10 G8 0"/>
                <a:gd name="G12" fmla="?: G10 G7 21600"/>
                <a:gd name="T0" fmla="*/ 18770 w 21600"/>
                <a:gd name="T1" fmla="*/ 10800 h 21600"/>
                <a:gd name="T2" fmla="*/ 10800 w 21600"/>
                <a:gd name="T3" fmla="*/ 21600 h 21600"/>
                <a:gd name="T4" fmla="*/ 2830 w 21600"/>
                <a:gd name="T5" fmla="*/ 10800 h 21600"/>
                <a:gd name="T6" fmla="*/ 10800 w 21600"/>
                <a:gd name="T7" fmla="*/ 0 h 21600"/>
                <a:gd name="T8" fmla="*/ 4630 w 21600"/>
                <a:gd name="T9" fmla="*/ 4630 h 21600"/>
                <a:gd name="T10" fmla="*/ 16970 w 21600"/>
                <a:gd name="T11" fmla="*/ 1697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660" y="21600"/>
                  </a:lnTo>
                  <a:lnTo>
                    <a:pt x="1594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29791" name="Rectangle 31"/>
            <p:cNvSpPr>
              <a:spLocks noChangeArrowheads="1"/>
            </p:cNvSpPr>
            <p:nvPr/>
          </p:nvSpPr>
          <p:spPr bwMode="auto">
            <a:xfrm>
              <a:off x="0" y="1443"/>
              <a:ext cx="5760" cy="96"/>
            </a:xfrm>
            <a:prstGeom prst="rect">
              <a:avLst/>
            </a:pr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29792" name="Rectangle 32"/>
            <p:cNvSpPr>
              <a:spLocks noChangeArrowheads="1"/>
            </p:cNvSpPr>
            <p:nvPr/>
          </p:nvSpPr>
          <p:spPr bwMode="auto">
            <a:xfrm>
              <a:off x="0" y="2403"/>
              <a:ext cx="144" cy="128"/>
            </a:xfrm>
            <a:prstGeom prst="rect">
              <a:avLst/>
            </a:pr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29793" name="Rectangle 33"/>
            <p:cNvSpPr>
              <a:spLocks noChangeArrowheads="1"/>
            </p:cNvSpPr>
            <p:nvPr/>
          </p:nvSpPr>
          <p:spPr bwMode="auto">
            <a:xfrm>
              <a:off x="0" y="1475"/>
              <a:ext cx="96" cy="1056"/>
            </a:xfrm>
            <a:prstGeom prst="rect">
              <a:avLst/>
            </a:pr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29794" name="Rectangle 34"/>
            <p:cNvSpPr>
              <a:spLocks noChangeArrowheads="1"/>
            </p:cNvSpPr>
            <p:nvPr/>
          </p:nvSpPr>
          <p:spPr bwMode="auto">
            <a:xfrm>
              <a:off x="128" y="2203"/>
              <a:ext cx="288" cy="528"/>
            </a:xfrm>
            <a:prstGeom prst="rect">
              <a:avLst/>
            </a:pr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629795" name="Text Box 35"/>
          <p:cNvSpPr txBox="1">
            <a:spLocks noChangeArrowheads="1"/>
          </p:cNvSpPr>
          <p:nvPr/>
        </p:nvSpPr>
        <p:spPr bwMode="auto">
          <a:xfrm>
            <a:off x="5711825" y="3432175"/>
            <a:ext cx="336550" cy="366713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X</a:t>
            </a:r>
            <a:endParaRPr lang="en-US" sz="1800" b="1">
              <a:latin typeface="Helvetica" pitchFamily="34" charset="0"/>
            </a:endParaRPr>
          </a:p>
        </p:txBody>
      </p:sp>
      <p:sp>
        <p:nvSpPr>
          <p:cNvPr id="629796" name="Text Box 36"/>
          <p:cNvSpPr txBox="1">
            <a:spLocks noChangeArrowheads="1"/>
          </p:cNvSpPr>
          <p:nvPr/>
        </p:nvSpPr>
        <p:spPr bwMode="auto">
          <a:xfrm>
            <a:off x="4491038" y="5108575"/>
            <a:ext cx="311150" cy="366713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0</a:t>
            </a:r>
            <a:endParaRPr lang="en-US" sz="1800" b="1">
              <a:latin typeface="Helvetica" pitchFamily="34" charset="0"/>
            </a:endParaRPr>
          </a:p>
        </p:txBody>
      </p:sp>
      <p:sp>
        <p:nvSpPr>
          <p:cNvPr id="629797" name="Text Box 37"/>
          <p:cNvSpPr txBox="1">
            <a:spLocks noChangeArrowheads="1"/>
          </p:cNvSpPr>
          <p:nvPr/>
        </p:nvSpPr>
        <p:spPr bwMode="auto">
          <a:xfrm>
            <a:off x="3581400" y="4803775"/>
            <a:ext cx="336550" cy="366713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X</a:t>
            </a:r>
            <a:endParaRPr lang="en-US" sz="1800" b="1">
              <a:latin typeface="Helvetica" pitchFamily="34" charset="0"/>
            </a:endParaRPr>
          </a:p>
        </p:txBody>
      </p:sp>
      <p:sp>
        <p:nvSpPr>
          <p:cNvPr id="629798" name="Text Box 38"/>
          <p:cNvSpPr txBox="1">
            <a:spLocks noChangeArrowheads="1"/>
          </p:cNvSpPr>
          <p:nvPr/>
        </p:nvSpPr>
        <p:spPr bwMode="auto">
          <a:xfrm>
            <a:off x="1814513" y="3279775"/>
            <a:ext cx="311150" cy="366713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0</a:t>
            </a:r>
            <a:endParaRPr lang="en-US" sz="1800" b="1">
              <a:latin typeface="Helvetica" pitchFamily="34" charset="0"/>
            </a:endParaRPr>
          </a:p>
        </p:txBody>
      </p:sp>
      <p:sp>
        <p:nvSpPr>
          <p:cNvPr id="629799" name="Text Box 39"/>
          <p:cNvSpPr txBox="1">
            <a:spLocks noChangeArrowheads="1"/>
          </p:cNvSpPr>
          <p:nvPr/>
        </p:nvSpPr>
        <p:spPr bwMode="auto">
          <a:xfrm>
            <a:off x="6840538" y="3432175"/>
            <a:ext cx="565150" cy="366713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010</a:t>
            </a:r>
            <a:endParaRPr lang="en-US" sz="1800" b="1">
              <a:latin typeface="Helvetica" pitchFamily="34" charset="0"/>
            </a:endParaRPr>
          </a:p>
        </p:txBody>
      </p:sp>
      <p:sp>
        <p:nvSpPr>
          <p:cNvPr id="629800" name="Text Box 40"/>
          <p:cNvSpPr txBox="1">
            <a:spLocks noChangeArrowheads="1"/>
          </p:cNvSpPr>
          <p:nvPr/>
        </p:nvSpPr>
        <p:spPr bwMode="auto">
          <a:xfrm>
            <a:off x="2843213" y="1843088"/>
            <a:ext cx="311150" cy="3667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1</a:t>
            </a:r>
            <a:endParaRPr lang="en-US" sz="1800" b="1">
              <a:latin typeface="Helvetica" pitchFamily="34" charset="0"/>
            </a:endParaRPr>
          </a:p>
        </p:txBody>
      </p:sp>
      <p:pic>
        <p:nvPicPr>
          <p:cNvPr id="629801" name="Picture 4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2189163"/>
            <a:ext cx="9113838" cy="4059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3" name="Group 42"/>
          <p:cNvGrpSpPr>
            <a:grpSpLocks/>
          </p:cNvGrpSpPr>
          <p:nvPr/>
        </p:nvGrpSpPr>
        <p:grpSpPr bwMode="auto">
          <a:xfrm>
            <a:off x="228600" y="1512888"/>
            <a:ext cx="8709025" cy="3973512"/>
            <a:chOff x="144" y="1145"/>
            <a:chExt cx="5486" cy="2503"/>
          </a:xfrm>
        </p:grpSpPr>
        <p:sp>
          <p:nvSpPr>
            <p:cNvPr id="629803" name="Rectangle 43"/>
            <p:cNvSpPr>
              <a:spLocks noChangeArrowheads="1"/>
            </p:cNvSpPr>
            <p:nvPr/>
          </p:nvSpPr>
          <p:spPr bwMode="auto">
            <a:xfrm>
              <a:off x="2777" y="3251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29804" name="Rectangle 44"/>
            <p:cNvSpPr>
              <a:spLocks noChangeArrowheads="1"/>
            </p:cNvSpPr>
            <p:nvPr/>
          </p:nvSpPr>
          <p:spPr bwMode="auto">
            <a:xfrm>
              <a:off x="144" y="1776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29805" name="Rectangle 45"/>
            <p:cNvSpPr>
              <a:spLocks noChangeArrowheads="1"/>
            </p:cNvSpPr>
            <p:nvPr/>
          </p:nvSpPr>
          <p:spPr bwMode="auto">
            <a:xfrm>
              <a:off x="528" y="1968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29806" name="Rectangle 46"/>
            <p:cNvSpPr>
              <a:spLocks noChangeArrowheads="1"/>
            </p:cNvSpPr>
            <p:nvPr/>
          </p:nvSpPr>
          <p:spPr bwMode="auto">
            <a:xfrm>
              <a:off x="1125" y="2050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29807" name="Rectangle 47"/>
            <p:cNvSpPr>
              <a:spLocks noChangeArrowheads="1"/>
            </p:cNvSpPr>
            <p:nvPr/>
          </p:nvSpPr>
          <p:spPr bwMode="auto">
            <a:xfrm>
              <a:off x="1138" y="3216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29808" name="Rectangle 48"/>
            <p:cNvSpPr>
              <a:spLocks noChangeArrowheads="1"/>
            </p:cNvSpPr>
            <p:nvPr/>
          </p:nvSpPr>
          <p:spPr bwMode="auto">
            <a:xfrm>
              <a:off x="1776" y="1145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29809" name="Rectangle 49"/>
            <p:cNvSpPr>
              <a:spLocks noChangeArrowheads="1"/>
            </p:cNvSpPr>
            <p:nvPr/>
          </p:nvSpPr>
          <p:spPr bwMode="auto">
            <a:xfrm>
              <a:off x="2256" y="3065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29810" name="Rectangle 50"/>
            <p:cNvSpPr>
              <a:spLocks noChangeArrowheads="1"/>
            </p:cNvSpPr>
            <p:nvPr/>
          </p:nvSpPr>
          <p:spPr bwMode="auto">
            <a:xfrm>
              <a:off x="3600" y="2201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29811" name="Rectangle 51"/>
            <p:cNvSpPr>
              <a:spLocks noChangeArrowheads="1"/>
            </p:cNvSpPr>
            <p:nvPr/>
          </p:nvSpPr>
          <p:spPr bwMode="auto">
            <a:xfrm>
              <a:off x="4080" y="3456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29812" name="Rectangle 52"/>
            <p:cNvSpPr>
              <a:spLocks noChangeArrowheads="1"/>
            </p:cNvSpPr>
            <p:nvPr/>
          </p:nvSpPr>
          <p:spPr bwMode="auto">
            <a:xfrm>
              <a:off x="4080" y="2071"/>
              <a:ext cx="192" cy="136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29813" name="Rectangle 53"/>
            <p:cNvSpPr>
              <a:spLocks noChangeArrowheads="1"/>
            </p:cNvSpPr>
            <p:nvPr/>
          </p:nvSpPr>
          <p:spPr bwMode="auto">
            <a:xfrm>
              <a:off x="4368" y="2111"/>
              <a:ext cx="288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29814" name="Rectangle 54"/>
            <p:cNvSpPr>
              <a:spLocks noChangeArrowheads="1"/>
            </p:cNvSpPr>
            <p:nvPr/>
          </p:nvSpPr>
          <p:spPr bwMode="auto">
            <a:xfrm>
              <a:off x="5438" y="2592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55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Mayank Pandey, MNNIT, Allahabad, India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29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7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297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7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297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297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297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297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297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297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297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6297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297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6298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6298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6297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6297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6297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6297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6297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6297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6297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6297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6297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6297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6297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6297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6297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6297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9763" grpId="0" build="p" autoUpdateAnimBg="0"/>
      <p:bldP spid="629764" grpId="0" autoUpdateAnimBg="0"/>
      <p:bldP spid="629765" grpId="0" autoUpdateAnimBg="0"/>
      <p:bldP spid="629766" grpId="0" autoUpdateAnimBg="0"/>
      <p:bldP spid="629767" grpId="0" autoUpdateAnimBg="0"/>
      <p:bldP spid="629768" grpId="0" autoUpdateAnimBg="0"/>
      <p:bldP spid="629769" grpId="0" autoUpdateAnimBg="0"/>
      <p:bldP spid="629795" grpId="0" autoUpdateAnimBg="0"/>
      <p:bldP spid="629796" grpId="0" autoUpdateAnimBg="0"/>
      <p:bldP spid="629797" grpId="0" autoUpdateAnimBg="0"/>
      <p:bldP spid="629798" grpId="0" autoUpdateAnimBg="0"/>
      <p:bldP spid="629799" grpId="0" autoUpdateAnimBg="0"/>
      <p:bldP spid="629800" grpId="0" autoUpdateAnimBg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203200" y="2592388"/>
            <a:ext cx="8115300" cy="3175000"/>
            <a:chOff x="128" y="1600"/>
            <a:chExt cx="5112" cy="2000"/>
          </a:xfrm>
        </p:grpSpPr>
        <p:sp>
          <p:nvSpPr>
            <p:cNvPr id="630787" name="Rectangle 3"/>
            <p:cNvSpPr>
              <a:spLocks noChangeArrowheads="1"/>
            </p:cNvSpPr>
            <p:nvPr/>
          </p:nvSpPr>
          <p:spPr bwMode="auto">
            <a:xfrm>
              <a:off x="2544" y="2384"/>
              <a:ext cx="960" cy="768"/>
            </a:xfrm>
            <a:prstGeom prst="rect">
              <a:avLst/>
            </a:prstGeom>
            <a:solidFill>
              <a:srgbClr val="FF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0788" name="Rectangle 4"/>
            <p:cNvSpPr>
              <a:spLocks noChangeArrowheads="1"/>
            </p:cNvSpPr>
            <p:nvPr/>
          </p:nvSpPr>
          <p:spPr bwMode="auto">
            <a:xfrm>
              <a:off x="3168" y="3504"/>
              <a:ext cx="288" cy="96"/>
            </a:xfrm>
            <a:prstGeom prst="rect">
              <a:avLst/>
            </a:prstGeom>
            <a:solidFill>
              <a:srgbClr val="00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0789" name="Rectangle 5"/>
            <p:cNvSpPr>
              <a:spLocks noChangeArrowheads="1"/>
            </p:cNvSpPr>
            <p:nvPr/>
          </p:nvSpPr>
          <p:spPr bwMode="auto">
            <a:xfrm>
              <a:off x="3648" y="3504"/>
              <a:ext cx="336" cy="96"/>
            </a:xfrm>
            <a:prstGeom prst="rect">
              <a:avLst/>
            </a:prstGeom>
            <a:solidFill>
              <a:srgbClr val="00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0790" name="AutoShape 6"/>
            <p:cNvSpPr>
              <a:spLocks noChangeArrowheads="1"/>
            </p:cNvSpPr>
            <p:nvPr/>
          </p:nvSpPr>
          <p:spPr bwMode="auto">
            <a:xfrm rot="-5400000">
              <a:off x="4040" y="2640"/>
              <a:ext cx="912" cy="432"/>
            </a:xfrm>
            <a:custGeom>
              <a:avLst/>
              <a:gdLst>
                <a:gd name="G0" fmla="+- 5660 0 0"/>
                <a:gd name="G1" fmla="+- 21600 0 5660"/>
                <a:gd name="G2" fmla="*/ 5660 1 2"/>
                <a:gd name="G3" fmla="+- 21600 0 G2"/>
                <a:gd name="G4" fmla="+/ 5660 21600 2"/>
                <a:gd name="G5" fmla="+/ G1 0 2"/>
                <a:gd name="G6" fmla="*/ 21600 21600 5660"/>
                <a:gd name="G7" fmla="*/ G6 1 2"/>
                <a:gd name="G8" fmla="+- 21600 0 G7"/>
                <a:gd name="G9" fmla="*/ 21600 1 2"/>
                <a:gd name="G10" fmla="+- 5660 0 G9"/>
                <a:gd name="G11" fmla="?: G10 G8 0"/>
                <a:gd name="G12" fmla="?: G10 G7 21600"/>
                <a:gd name="T0" fmla="*/ 18770 w 21600"/>
                <a:gd name="T1" fmla="*/ 10800 h 21600"/>
                <a:gd name="T2" fmla="*/ 10800 w 21600"/>
                <a:gd name="T3" fmla="*/ 21600 h 21600"/>
                <a:gd name="T4" fmla="*/ 2830 w 21600"/>
                <a:gd name="T5" fmla="*/ 10800 h 21600"/>
                <a:gd name="T6" fmla="*/ 10800 w 21600"/>
                <a:gd name="T7" fmla="*/ 0 h 21600"/>
                <a:gd name="T8" fmla="*/ 4630 w 21600"/>
                <a:gd name="T9" fmla="*/ 4630 h 21600"/>
                <a:gd name="T10" fmla="*/ 16970 w 21600"/>
                <a:gd name="T11" fmla="*/ 1697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660" y="21600"/>
                  </a:lnTo>
                  <a:lnTo>
                    <a:pt x="1594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0791" name="Rectangle 7"/>
            <p:cNvSpPr>
              <a:spLocks noChangeArrowheads="1"/>
            </p:cNvSpPr>
            <p:nvPr/>
          </p:nvSpPr>
          <p:spPr bwMode="auto">
            <a:xfrm>
              <a:off x="4224" y="3048"/>
              <a:ext cx="144" cy="112"/>
            </a:xfrm>
            <a:prstGeom prst="rect">
              <a:avLst/>
            </a:prstGeom>
            <a:solidFill>
              <a:srgbClr val="00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0792" name="Rectangle 8"/>
            <p:cNvSpPr>
              <a:spLocks noChangeArrowheads="1"/>
            </p:cNvSpPr>
            <p:nvPr/>
          </p:nvSpPr>
          <p:spPr bwMode="auto">
            <a:xfrm>
              <a:off x="3912" y="3216"/>
              <a:ext cx="96" cy="384"/>
            </a:xfrm>
            <a:prstGeom prst="rect">
              <a:avLst/>
            </a:prstGeom>
            <a:solidFill>
              <a:srgbClr val="00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0793" name="Rectangle 9"/>
            <p:cNvSpPr>
              <a:spLocks noChangeArrowheads="1"/>
            </p:cNvSpPr>
            <p:nvPr/>
          </p:nvSpPr>
          <p:spPr bwMode="auto">
            <a:xfrm>
              <a:off x="3912" y="3200"/>
              <a:ext cx="192" cy="96"/>
            </a:xfrm>
            <a:prstGeom prst="rect">
              <a:avLst/>
            </a:prstGeom>
            <a:solidFill>
              <a:srgbClr val="00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0794" name="Rectangle 10"/>
            <p:cNvSpPr>
              <a:spLocks noChangeArrowheads="1"/>
            </p:cNvSpPr>
            <p:nvPr/>
          </p:nvSpPr>
          <p:spPr bwMode="auto">
            <a:xfrm>
              <a:off x="2064" y="3504"/>
              <a:ext cx="960" cy="96"/>
            </a:xfrm>
            <a:prstGeom prst="rect">
              <a:avLst/>
            </a:prstGeom>
            <a:solidFill>
              <a:srgbClr val="00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0795" name="Rectangle 11"/>
            <p:cNvSpPr>
              <a:spLocks noChangeArrowheads="1"/>
            </p:cNvSpPr>
            <p:nvPr/>
          </p:nvSpPr>
          <p:spPr bwMode="auto">
            <a:xfrm>
              <a:off x="2016" y="1968"/>
              <a:ext cx="96" cy="1632"/>
            </a:xfrm>
            <a:prstGeom prst="rect">
              <a:avLst/>
            </a:prstGeom>
            <a:solidFill>
              <a:srgbClr val="00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0796" name="Rectangle 12"/>
            <p:cNvSpPr>
              <a:spLocks noChangeArrowheads="1"/>
            </p:cNvSpPr>
            <p:nvPr/>
          </p:nvSpPr>
          <p:spPr bwMode="auto">
            <a:xfrm>
              <a:off x="2728" y="1968"/>
              <a:ext cx="96" cy="480"/>
            </a:xfrm>
            <a:prstGeom prst="rect">
              <a:avLst/>
            </a:prstGeom>
            <a:solidFill>
              <a:srgbClr val="00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0797" name="Rectangle 13"/>
            <p:cNvSpPr>
              <a:spLocks noChangeArrowheads="1"/>
            </p:cNvSpPr>
            <p:nvPr/>
          </p:nvSpPr>
          <p:spPr bwMode="auto">
            <a:xfrm>
              <a:off x="2976" y="1960"/>
              <a:ext cx="96" cy="480"/>
            </a:xfrm>
            <a:prstGeom prst="rect">
              <a:avLst/>
            </a:prstGeom>
            <a:solidFill>
              <a:srgbClr val="00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0798" name="Rectangle 14"/>
            <p:cNvSpPr>
              <a:spLocks noChangeArrowheads="1"/>
            </p:cNvSpPr>
            <p:nvPr/>
          </p:nvSpPr>
          <p:spPr bwMode="auto">
            <a:xfrm>
              <a:off x="1992" y="1936"/>
              <a:ext cx="1056" cy="96"/>
            </a:xfrm>
            <a:prstGeom prst="rect">
              <a:avLst/>
            </a:prstGeom>
            <a:solidFill>
              <a:srgbClr val="00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0799" name="Rectangle 15"/>
            <p:cNvSpPr>
              <a:spLocks noChangeArrowheads="1"/>
            </p:cNvSpPr>
            <p:nvPr/>
          </p:nvSpPr>
          <p:spPr bwMode="auto">
            <a:xfrm>
              <a:off x="1744" y="1688"/>
              <a:ext cx="288" cy="576"/>
            </a:xfrm>
            <a:prstGeom prst="rect">
              <a:avLst/>
            </a:prstGeom>
            <a:solidFill>
              <a:srgbClr val="00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0800" name="Rectangle 16"/>
            <p:cNvSpPr>
              <a:spLocks noChangeArrowheads="1"/>
            </p:cNvSpPr>
            <p:nvPr/>
          </p:nvSpPr>
          <p:spPr bwMode="auto">
            <a:xfrm>
              <a:off x="3456" y="2640"/>
              <a:ext cx="144" cy="96"/>
            </a:xfrm>
            <a:prstGeom prst="rect">
              <a:avLst/>
            </a:prstGeom>
            <a:solidFill>
              <a:srgbClr val="FF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0801" name="Rectangle 17"/>
            <p:cNvSpPr>
              <a:spLocks noChangeArrowheads="1"/>
            </p:cNvSpPr>
            <p:nvPr/>
          </p:nvSpPr>
          <p:spPr bwMode="auto">
            <a:xfrm>
              <a:off x="3512" y="2504"/>
              <a:ext cx="264" cy="648"/>
            </a:xfrm>
            <a:prstGeom prst="rect">
              <a:avLst/>
            </a:prstGeom>
            <a:solidFill>
              <a:srgbClr val="FF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0802" name="Rectangle 18"/>
            <p:cNvSpPr>
              <a:spLocks noChangeArrowheads="1"/>
            </p:cNvSpPr>
            <p:nvPr/>
          </p:nvSpPr>
          <p:spPr bwMode="auto">
            <a:xfrm>
              <a:off x="3456" y="2904"/>
              <a:ext cx="144" cy="96"/>
            </a:xfrm>
            <a:prstGeom prst="rect">
              <a:avLst/>
            </a:prstGeom>
            <a:solidFill>
              <a:srgbClr val="FF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0803" name="Rectangle 19"/>
            <p:cNvSpPr>
              <a:spLocks noChangeArrowheads="1"/>
            </p:cNvSpPr>
            <p:nvPr/>
          </p:nvSpPr>
          <p:spPr bwMode="auto">
            <a:xfrm>
              <a:off x="4656" y="2832"/>
              <a:ext cx="336" cy="96"/>
            </a:xfrm>
            <a:prstGeom prst="rect">
              <a:avLst/>
            </a:pr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0804" name="Rectangle 20"/>
            <p:cNvSpPr>
              <a:spLocks noChangeArrowheads="1"/>
            </p:cNvSpPr>
            <p:nvPr/>
          </p:nvSpPr>
          <p:spPr bwMode="auto">
            <a:xfrm>
              <a:off x="4952" y="2592"/>
              <a:ext cx="288" cy="576"/>
            </a:xfrm>
            <a:prstGeom prst="rect">
              <a:avLst/>
            </a:pr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0805" name="Rectangle 21"/>
            <p:cNvSpPr>
              <a:spLocks noChangeArrowheads="1"/>
            </p:cNvSpPr>
            <p:nvPr/>
          </p:nvSpPr>
          <p:spPr bwMode="auto">
            <a:xfrm>
              <a:off x="4224" y="2568"/>
              <a:ext cx="144" cy="96"/>
            </a:xfrm>
            <a:prstGeom prst="rect">
              <a:avLst/>
            </a:pr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0806" name="Rectangle 22"/>
            <p:cNvSpPr>
              <a:spLocks noChangeArrowheads="1"/>
            </p:cNvSpPr>
            <p:nvPr/>
          </p:nvSpPr>
          <p:spPr bwMode="auto">
            <a:xfrm>
              <a:off x="3840" y="2496"/>
              <a:ext cx="240" cy="96"/>
            </a:xfrm>
            <a:prstGeom prst="rect">
              <a:avLst/>
            </a:pr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0807" name="Rectangle 23"/>
            <p:cNvSpPr>
              <a:spLocks noChangeArrowheads="1"/>
            </p:cNvSpPr>
            <p:nvPr/>
          </p:nvSpPr>
          <p:spPr bwMode="auto">
            <a:xfrm>
              <a:off x="3840" y="1632"/>
              <a:ext cx="96" cy="960"/>
            </a:xfrm>
            <a:prstGeom prst="rect">
              <a:avLst/>
            </a:pr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0808" name="Rectangle 24"/>
            <p:cNvSpPr>
              <a:spLocks noChangeArrowheads="1"/>
            </p:cNvSpPr>
            <p:nvPr/>
          </p:nvSpPr>
          <p:spPr bwMode="auto">
            <a:xfrm>
              <a:off x="384" y="1680"/>
              <a:ext cx="96" cy="816"/>
            </a:xfrm>
            <a:prstGeom prst="rect">
              <a:avLst/>
            </a:pr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0809" name="Rectangle 25"/>
            <p:cNvSpPr>
              <a:spLocks noChangeArrowheads="1"/>
            </p:cNvSpPr>
            <p:nvPr/>
          </p:nvSpPr>
          <p:spPr bwMode="auto">
            <a:xfrm>
              <a:off x="384" y="1600"/>
              <a:ext cx="3552" cy="96"/>
            </a:xfrm>
            <a:prstGeom prst="rect">
              <a:avLst/>
            </a:pr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0810" name="Rectangle 26"/>
            <p:cNvSpPr>
              <a:spLocks noChangeArrowheads="1"/>
            </p:cNvSpPr>
            <p:nvPr/>
          </p:nvSpPr>
          <p:spPr bwMode="auto">
            <a:xfrm>
              <a:off x="344" y="2464"/>
              <a:ext cx="160" cy="120"/>
            </a:xfrm>
            <a:prstGeom prst="rect">
              <a:avLst/>
            </a:pr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0811" name="Rectangle 27"/>
            <p:cNvSpPr>
              <a:spLocks noChangeArrowheads="1"/>
            </p:cNvSpPr>
            <p:nvPr/>
          </p:nvSpPr>
          <p:spPr bwMode="auto">
            <a:xfrm>
              <a:off x="128" y="2248"/>
              <a:ext cx="288" cy="528"/>
            </a:xfrm>
            <a:prstGeom prst="rect">
              <a:avLst/>
            </a:pr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630812" name="Rectangle 28"/>
          <p:cNvSpPr>
            <a:spLocks noGrp="1" noChangeArrowheads="1"/>
          </p:cNvSpPr>
          <p:nvPr>
            <p:ph type="title"/>
          </p:nvPr>
        </p:nvSpPr>
        <p:spPr>
          <a:xfrm>
            <a:off x="457200" y="617538"/>
            <a:ext cx="9144000" cy="830262"/>
          </a:xfrm>
        </p:spPr>
        <p:txBody>
          <a:bodyPr/>
          <a:lstStyle/>
          <a:p>
            <a:r>
              <a:rPr lang="en-US" sz="2800" dirty="0" smtClean="0"/>
              <a:t>Control </a:t>
            </a:r>
            <a:r>
              <a:rPr lang="en-US" sz="2800" dirty="0"/>
              <a:t>Step (2</a:t>
            </a:r>
            <a:r>
              <a:rPr lang="en-US" sz="2800" dirty="0" smtClean="0"/>
              <a:t>): Instruction </a:t>
            </a:r>
            <a:r>
              <a:rPr lang="en-US" sz="2800" dirty="0"/>
              <a:t>Decode &amp; Register Fetch</a:t>
            </a:r>
          </a:p>
        </p:txBody>
      </p:sp>
      <p:sp>
        <p:nvSpPr>
          <p:cNvPr id="630813" name="Rectangle 29"/>
          <p:cNvSpPr>
            <a:spLocks noGrp="1" noChangeArrowheads="1"/>
          </p:cNvSpPr>
          <p:nvPr>
            <p:ph type="body" idx="1"/>
          </p:nvPr>
        </p:nvSpPr>
        <p:spPr>
          <a:xfrm>
            <a:off x="1219200" y="1371600"/>
            <a:ext cx="8077200" cy="4572000"/>
          </a:xfrm>
        </p:spPr>
        <p:txBody>
          <a:bodyPr/>
          <a:lstStyle/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sz="1800">
                <a:latin typeface="Courier" pitchFamily="49" charset="0"/>
              </a:rPr>
              <a:t>A = Reg[IR[25-21]];		(A = Reg[rs])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sz="1800">
                <a:latin typeface="Courier" pitchFamily="49" charset="0"/>
              </a:rPr>
              <a:t>B = Reg[IR[20-15]];		(B = Reg[rt])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sz="1800">
                <a:latin typeface="Courier" pitchFamily="49" charset="0"/>
              </a:rPr>
              <a:t>ALUOut = (PC + sign-extend(IR[15-0]) &lt;&lt; 2);</a:t>
            </a:r>
            <a:endParaRPr lang="en-US"/>
          </a:p>
        </p:txBody>
      </p:sp>
      <p:sp>
        <p:nvSpPr>
          <p:cNvPr id="630814" name="Text Box 30"/>
          <p:cNvSpPr txBox="1">
            <a:spLocks noChangeArrowheads="1"/>
          </p:cNvSpPr>
          <p:nvPr/>
        </p:nvSpPr>
        <p:spPr bwMode="auto">
          <a:xfrm>
            <a:off x="1812925" y="5153025"/>
            <a:ext cx="311150" cy="366713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0</a:t>
            </a:r>
            <a:endParaRPr lang="en-US" sz="1800" b="1">
              <a:latin typeface="Helvetica" pitchFamily="34" charset="0"/>
            </a:endParaRPr>
          </a:p>
        </p:txBody>
      </p:sp>
      <p:sp>
        <p:nvSpPr>
          <p:cNvPr id="630815" name="Text Box 31"/>
          <p:cNvSpPr txBox="1">
            <a:spLocks noChangeArrowheads="1"/>
          </p:cNvSpPr>
          <p:nvPr/>
        </p:nvSpPr>
        <p:spPr bwMode="auto">
          <a:xfrm>
            <a:off x="290513" y="2994025"/>
            <a:ext cx="311150" cy="366713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0</a:t>
            </a:r>
            <a:endParaRPr lang="en-US" sz="1800" b="1">
              <a:latin typeface="Helvetica" pitchFamily="34" charset="0"/>
            </a:endParaRPr>
          </a:p>
        </p:txBody>
      </p:sp>
      <p:sp>
        <p:nvSpPr>
          <p:cNvPr id="630816" name="Text Box 32"/>
          <p:cNvSpPr txBox="1">
            <a:spLocks noChangeArrowheads="1"/>
          </p:cNvSpPr>
          <p:nvPr/>
        </p:nvSpPr>
        <p:spPr bwMode="auto">
          <a:xfrm>
            <a:off x="838200" y="3298825"/>
            <a:ext cx="336550" cy="366713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X</a:t>
            </a:r>
            <a:endParaRPr lang="en-US" sz="1800" b="1">
              <a:latin typeface="Helvetica" pitchFamily="34" charset="0"/>
            </a:endParaRPr>
          </a:p>
        </p:txBody>
      </p:sp>
      <p:sp>
        <p:nvSpPr>
          <p:cNvPr id="630817" name="Text Box 33"/>
          <p:cNvSpPr txBox="1">
            <a:spLocks noChangeArrowheads="1"/>
          </p:cNvSpPr>
          <p:nvPr/>
        </p:nvSpPr>
        <p:spPr bwMode="auto">
          <a:xfrm>
            <a:off x="1811338" y="3451225"/>
            <a:ext cx="311150" cy="366713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0</a:t>
            </a:r>
            <a:endParaRPr lang="en-US" sz="1800" b="1">
              <a:latin typeface="Helvetica" pitchFamily="34" charset="0"/>
            </a:endParaRPr>
          </a:p>
        </p:txBody>
      </p:sp>
      <p:sp>
        <p:nvSpPr>
          <p:cNvPr id="630818" name="Text Box 34"/>
          <p:cNvSpPr txBox="1">
            <a:spLocks noChangeArrowheads="1"/>
          </p:cNvSpPr>
          <p:nvPr/>
        </p:nvSpPr>
        <p:spPr bwMode="auto">
          <a:xfrm>
            <a:off x="4456113" y="5216525"/>
            <a:ext cx="311150" cy="366713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0</a:t>
            </a:r>
            <a:endParaRPr lang="en-US" sz="1800" b="1">
              <a:latin typeface="Helvetica" pitchFamily="34" charset="0"/>
            </a:endParaRPr>
          </a:p>
        </p:txBody>
      </p:sp>
      <p:sp>
        <p:nvSpPr>
          <p:cNvPr id="630819" name="Text Box 35"/>
          <p:cNvSpPr txBox="1">
            <a:spLocks noChangeArrowheads="1"/>
          </p:cNvSpPr>
          <p:nvPr/>
        </p:nvSpPr>
        <p:spPr bwMode="auto">
          <a:xfrm>
            <a:off x="3594100" y="4899025"/>
            <a:ext cx="336550" cy="366713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X</a:t>
            </a:r>
            <a:endParaRPr lang="en-US" sz="1800" b="1">
              <a:latin typeface="Helvetica" pitchFamily="34" charset="0"/>
            </a:endParaRPr>
          </a:p>
        </p:txBody>
      </p:sp>
      <p:sp>
        <p:nvSpPr>
          <p:cNvPr id="630820" name="Text Box 36"/>
          <p:cNvSpPr txBox="1">
            <a:spLocks noChangeArrowheads="1"/>
          </p:cNvSpPr>
          <p:nvPr/>
        </p:nvSpPr>
        <p:spPr bwMode="auto">
          <a:xfrm>
            <a:off x="6472238" y="5508625"/>
            <a:ext cx="311150" cy="366713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3</a:t>
            </a:r>
            <a:endParaRPr lang="en-US" sz="1800" b="1">
              <a:latin typeface="Helvetica" pitchFamily="34" charset="0"/>
            </a:endParaRPr>
          </a:p>
        </p:txBody>
      </p:sp>
      <p:sp>
        <p:nvSpPr>
          <p:cNvPr id="630821" name="Text Box 37"/>
          <p:cNvSpPr txBox="1">
            <a:spLocks noChangeArrowheads="1"/>
          </p:cNvSpPr>
          <p:nvPr/>
        </p:nvSpPr>
        <p:spPr bwMode="auto">
          <a:xfrm>
            <a:off x="6475413" y="3375025"/>
            <a:ext cx="311150" cy="366713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0</a:t>
            </a:r>
            <a:endParaRPr lang="en-US" sz="1800" b="1">
              <a:latin typeface="Helvetica" pitchFamily="34" charset="0"/>
            </a:endParaRPr>
          </a:p>
        </p:txBody>
      </p:sp>
      <p:sp>
        <p:nvSpPr>
          <p:cNvPr id="630822" name="Text Box 38"/>
          <p:cNvSpPr txBox="1">
            <a:spLocks noChangeArrowheads="1"/>
          </p:cNvSpPr>
          <p:nvPr/>
        </p:nvSpPr>
        <p:spPr bwMode="auto">
          <a:xfrm>
            <a:off x="5700713" y="3527425"/>
            <a:ext cx="336550" cy="366713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X</a:t>
            </a:r>
            <a:endParaRPr lang="en-US" sz="1800" b="1">
              <a:latin typeface="Helvetica" pitchFamily="34" charset="0"/>
            </a:endParaRPr>
          </a:p>
        </p:txBody>
      </p:sp>
      <p:sp>
        <p:nvSpPr>
          <p:cNvPr id="630823" name="Text Box 39"/>
          <p:cNvSpPr txBox="1">
            <a:spLocks noChangeArrowheads="1"/>
          </p:cNvSpPr>
          <p:nvPr/>
        </p:nvSpPr>
        <p:spPr bwMode="auto">
          <a:xfrm>
            <a:off x="8672513" y="4213225"/>
            <a:ext cx="336550" cy="366713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X</a:t>
            </a:r>
            <a:endParaRPr lang="en-US" sz="1800" b="1">
              <a:latin typeface="Helvetica" pitchFamily="34" charset="0"/>
            </a:endParaRPr>
          </a:p>
        </p:txBody>
      </p:sp>
      <p:sp>
        <p:nvSpPr>
          <p:cNvPr id="630824" name="Text Box 40"/>
          <p:cNvSpPr txBox="1">
            <a:spLocks noChangeArrowheads="1"/>
          </p:cNvSpPr>
          <p:nvPr/>
        </p:nvSpPr>
        <p:spPr bwMode="auto">
          <a:xfrm>
            <a:off x="6853238" y="3527425"/>
            <a:ext cx="565150" cy="366713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010</a:t>
            </a:r>
            <a:endParaRPr lang="en-US" sz="1800" b="1">
              <a:latin typeface="Helvetica" pitchFamily="34" charset="0"/>
            </a:endParaRPr>
          </a:p>
        </p:txBody>
      </p:sp>
      <p:sp>
        <p:nvSpPr>
          <p:cNvPr id="630825" name="Text Box 41"/>
          <p:cNvSpPr txBox="1">
            <a:spLocks noChangeArrowheads="1"/>
          </p:cNvSpPr>
          <p:nvPr/>
        </p:nvSpPr>
        <p:spPr bwMode="auto">
          <a:xfrm>
            <a:off x="2500313" y="2155825"/>
            <a:ext cx="311150" cy="366713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0</a:t>
            </a:r>
            <a:endParaRPr lang="en-US" sz="1800" b="1">
              <a:latin typeface="Helvetica" pitchFamily="34" charset="0"/>
            </a:endParaRPr>
          </a:p>
        </p:txBody>
      </p:sp>
      <p:pic>
        <p:nvPicPr>
          <p:cNvPr id="630826" name="Picture 4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2341563"/>
            <a:ext cx="9113838" cy="4059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3" name="Group 43"/>
          <p:cNvGrpSpPr>
            <a:grpSpLocks/>
          </p:cNvGrpSpPr>
          <p:nvPr/>
        </p:nvGrpSpPr>
        <p:grpSpPr bwMode="auto">
          <a:xfrm>
            <a:off x="228600" y="2185988"/>
            <a:ext cx="8709025" cy="3711575"/>
            <a:chOff x="144" y="1344"/>
            <a:chExt cx="5486" cy="2338"/>
          </a:xfrm>
        </p:grpSpPr>
        <p:sp>
          <p:nvSpPr>
            <p:cNvPr id="630828" name="Rectangle 44"/>
            <p:cNvSpPr>
              <a:spLocks noChangeArrowheads="1"/>
            </p:cNvSpPr>
            <p:nvPr/>
          </p:nvSpPr>
          <p:spPr bwMode="auto">
            <a:xfrm>
              <a:off x="144" y="1831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0829" name="Rectangle 45"/>
            <p:cNvSpPr>
              <a:spLocks noChangeArrowheads="1"/>
            </p:cNvSpPr>
            <p:nvPr/>
          </p:nvSpPr>
          <p:spPr bwMode="auto">
            <a:xfrm>
              <a:off x="528" y="2023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0830" name="Rectangle 46"/>
            <p:cNvSpPr>
              <a:spLocks noChangeArrowheads="1"/>
            </p:cNvSpPr>
            <p:nvPr/>
          </p:nvSpPr>
          <p:spPr bwMode="auto">
            <a:xfrm>
              <a:off x="1125" y="2112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0831" name="Rectangle 47"/>
            <p:cNvSpPr>
              <a:spLocks noChangeArrowheads="1"/>
            </p:cNvSpPr>
            <p:nvPr/>
          </p:nvSpPr>
          <p:spPr bwMode="auto">
            <a:xfrm>
              <a:off x="1138" y="3271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0832" name="Rectangle 48"/>
            <p:cNvSpPr>
              <a:spLocks noChangeArrowheads="1"/>
            </p:cNvSpPr>
            <p:nvPr/>
          </p:nvSpPr>
          <p:spPr bwMode="auto">
            <a:xfrm>
              <a:off x="1522" y="1344"/>
              <a:ext cx="192" cy="14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0833" name="Rectangle 49"/>
            <p:cNvSpPr>
              <a:spLocks noChangeArrowheads="1"/>
            </p:cNvSpPr>
            <p:nvPr/>
          </p:nvSpPr>
          <p:spPr bwMode="auto">
            <a:xfrm>
              <a:off x="2256" y="3113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0834" name="Rectangle 50"/>
            <p:cNvSpPr>
              <a:spLocks noChangeArrowheads="1"/>
            </p:cNvSpPr>
            <p:nvPr/>
          </p:nvSpPr>
          <p:spPr bwMode="auto">
            <a:xfrm>
              <a:off x="3600" y="2242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0835" name="Rectangle 51"/>
            <p:cNvSpPr>
              <a:spLocks noChangeArrowheads="1"/>
            </p:cNvSpPr>
            <p:nvPr/>
          </p:nvSpPr>
          <p:spPr bwMode="auto">
            <a:xfrm>
              <a:off x="4073" y="3490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0836" name="Rectangle 52"/>
            <p:cNvSpPr>
              <a:spLocks noChangeArrowheads="1"/>
            </p:cNvSpPr>
            <p:nvPr/>
          </p:nvSpPr>
          <p:spPr bwMode="auto">
            <a:xfrm>
              <a:off x="4080" y="2126"/>
              <a:ext cx="192" cy="136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0837" name="Rectangle 53"/>
            <p:cNvSpPr>
              <a:spLocks noChangeArrowheads="1"/>
            </p:cNvSpPr>
            <p:nvPr/>
          </p:nvSpPr>
          <p:spPr bwMode="auto">
            <a:xfrm>
              <a:off x="4368" y="2166"/>
              <a:ext cx="288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0838" name="Rectangle 54"/>
            <p:cNvSpPr>
              <a:spLocks noChangeArrowheads="1"/>
            </p:cNvSpPr>
            <p:nvPr/>
          </p:nvSpPr>
          <p:spPr bwMode="auto">
            <a:xfrm>
              <a:off x="5438" y="2647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0839" name="Rectangle 55"/>
            <p:cNvSpPr>
              <a:spLocks noChangeArrowheads="1"/>
            </p:cNvSpPr>
            <p:nvPr/>
          </p:nvSpPr>
          <p:spPr bwMode="auto">
            <a:xfrm>
              <a:off x="2784" y="3312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56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Mayank Pandey, MNNIT, Allahabad, India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308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308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308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308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308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308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308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308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308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308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308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308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308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308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6308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308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6308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308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6308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6308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6308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6308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6308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6308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0814" grpId="0" autoUpdateAnimBg="0"/>
      <p:bldP spid="630815" grpId="0" autoUpdateAnimBg="0"/>
      <p:bldP spid="630816" grpId="0" autoUpdateAnimBg="0"/>
      <p:bldP spid="630817" grpId="0" autoUpdateAnimBg="0"/>
      <p:bldP spid="630818" grpId="0" autoUpdateAnimBg="0"/>
      <p:bldP spid="630819" grpId="0" autoUpdateAnimBg="0"/>
      <p:bldP spid="630820" grpId="0" autoUpdateAnimBg="0"/>
      <p:bldP spid="630821" grpId="0" autoUpdateAnimBg="0"/>
      <p:bldP spid="630822" grpId="0" autoUpdateAnimBg="0"/>
      <p:bldP spid="630823" grpId="0" autoUpdateAnimBg="0"/>
      <p:bldP spid="630824" grpId="0" autoUpdateAnimBg="0"/>
      <p:bldP spid="630825" grpId="0" autoUpdateAnimBg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810" name="Text Box 2"/>
          <p:cNvSpPr txBox="1">
            <a:spLocks noChangeArrowheads="1"/>
          </p:cNvSpPr>
          <p:nvPr/>
        </p:nvSpPr>
        <p:spPr bwMode="auto">
          <a:xfrm>
            <a:off x="4468813" y="5176838"/>
            <a:ext cx="311150" cy="3667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0</a:t>
            </a:r>
            <a:endParaRPr lang="en-US" sz="1800" b="1">
              <a:latin typeface="Helvetica" pitchFamily="34" charset="0"/>
            </a:endParaRPr>
          </a:p>
        </p:txBody>
      </p:sp>
      <p:sp>
        <p:nvSpPr>
          <p:cNvPr id="631811" name="Text Box 3"/>
          <p:cNvSpPr txBox="1">
            <a:spLocks noChangeArrowheads="1"/>
          </p:cNvSpPr>
          <p:nvPr/>
        </p:nvSpPr>
        <p:spPr bwMode="auto">
          <a:xfrm>
            <a:off x="3606800" y="4859338"/>
            <a:ext cx="336550" cy="3667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X</a:t>
            </a:r>
            <a:endParaRPr lang="en-US" sz="1800" b="1">
              <a:latin typeface="Helvetica" pitchFamily="34" charset="0"/>
            </a:endParaRPr>
          </a:p>
        </p:txBody>
      </p:sp>
      <p:sp>
        <p:nvSpPr>
          <p:cNvPr id="631812" name="Rectangle 4"/>
          <p:cNvSpPr>
            <a:spLocks noGrp="1" noChangeArrowheads="1"/>
          </p:cNvSpPr>
          <p:nvPr>
            <p:ph type="title"/>
          </p:nvPr>
        </p:nvSpPr>
        <p:spPr>
          <a:xfrm>
            <a:off x="533400" y="609600"/>
            <a:ext cx="8305800" cy="838200"/>
          </a:xfrm>
        </p:spPr>
        <p:txBody>
          <a:bodyPr/>
          <a:lstStyle/>
          <a:p>
            <a:r>
              <a:rPr lang="en-US" sz="3200" dirty="0" smtClean="0"/>
              <a:t>Control </a:t>
            </a:r>
            <a:r>
              <a:rPr lang="en-US" sz="3200" dirty="0"/>
              <a:t>Step (3</a:t>
            </a:r>
            <a:r>
              <a:rPr lang="en-US" sz="3200" dirty="0" smtClean="0"/>
              <a:t>): Memory </a:t>
            </a:r>
            <a:r>
              <a:rPr lang="en-US" sz="3200" dirty="0"/>
              <a:t>Reference Instructions</a:t>
            </a:r>
          </a:p>
        </p:txBody>
      </p:sp>
      <p:sp>
        <p:nvSpPr>
          <p:cNvPr id="631813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182688" y="1752600"/>
            <a:ext cx="7772400" cy="4114800"/>
          </a:xfrm>
        </p:spPr>
        <p:txBody>
          <a:bodyPr/>
          <a:lstStyle/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sz="2000">
                <a:latin typeface="Courier" pitchFamily="49" charset="0"/>
              </a:rPr>
              <a:t>ALUOut = A + sign-extend(IR[15-0]);</a:t>
            </a:r>
            <a:endParaRPr lang="en-US" sz="2000"/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203200" y="2692400"/>
            <a:ext cx="8140700" cy="3035300"/>
            <a:chOff x="128" y="1696"/>
            <a:chExt cx="5128" cy="1912"/>
          </a:xfrm>
        </p:grpSpPr>
        <p:sp>
          <p:nvSpPr>
            <p:cNvPr id="631815" name="Rectangle 7"/>
            <p:cNvSpPr>
              <a:spLocks noChangeArrowheads="1"/>
            </p:cNvSpPr>
            <p:nvPr/>
          </p:nvSpPr>
          <p:spPr bwMode="auto">
            <a:xfrm>
              <a:off x="128" y="2248"/>
              <a:ext cx="288" cy="528"/>
            </a:xfrm>
            <a:prstGeom prst="rect">
              <a:avLst/>
            </a:pr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1816" name="AutoShape 8"/>
            <p:cNvSpPr>
              <a:spLocks noChangeArrowheads="1"/>
            </p:cNvSpPr>
            <p:nvPr/>
          </p:nvSpPr>
          <p:spPr bwMode="auto">
            <a:xfrm rot="-5400000">
              <a:off x="4048" y="2648"/>
              <a:ext cx="912" cy="432"/>
            </a:xfrm>
            <a:custGeom>
              <a:avLst/>
              <a:gdLst>
                <a:gd name="G0" fmla="+- 5660 0 0"/>
                <a:gd name="G1" fmla="+- 21600 0 5660"/>
                <a:gd name="G2" fmla="*/ 5660 1 2"/>
                <a:gd name="G3" fmla="+- 21600 0 G2"/>
                <a:gd name="G4" fmla="+/ 5660 21600 2"/>
                <a:gd name="G5" fmla="+/ G1 0 2"/>
                <a:gd name="G6" fmla="*/ 21600 21600 5660"/>
                <a:gd name="G7" fmla="*/ G6 1 2"/>
                <a:gd name="G8" fmla="+- 21600 0 G7"/>
                <a:gd name="G9" fmla="*/ 21600 1 2"/>
                <a:gd name="G10" fmla="+- 5660 0 G9"/>
                <a:gd name="G11" fmla="?: G10 G8 0"/>
                <a:gd name="G12" fmla="?: G10 G7 21600"/>
                <a:gd name="T0" fmla="*/ 18770 w 21600"/>
                <a:gd name="T1" fmla="*/ 10800 h 21600"/>
                <a:gd name="T2" fmla="*/ 10800 w 21600"/>
                <a:gd name="T3" fmla="*/ 21600 h 21600"/>
                <a:gd name="T4" fmla="*/ 2830 w 21600"/>
                <a:gd name="T5" fmla="*/ 10800 h 21600"/>
                <a:gd name="T6" fmla="*/ 10800 w 21600"/>
                <a:gd name="T7" fmla="*/ 0 h 21600"/>
                <a:gd name="T8" fmla="*/ 4630 w 21600"/>
                <a:gd name="T9" fmla="*/ 4630 h 21600"/>
                <a:gd name="T10" fmla="*/ 16970 w 21600"/>
                <a:gd name="T11" fmla="*/ 1697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660" y="21600"/>
                  </a:lnTo>
                  <a:lnTo>
                    <a:pt x="1594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FF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1817" name="Rectangle 9"/>
            <p:cNvSpPr>
              <a:spLocks noChangeArrowheads="1"/>
            </p:cNvSpPr>
            <p:nvPr/>
          </p:nvSpPr>
          <p:spPr bwMode="auto">
            <a:xfrm>
              <a:off x="3744" y="2648"/>
              <a:ext cx="336" cy="96"/>
            </a:xfrm>
            <a:prstGeom prst="rect">
              <a:avLst/>
            </a:prstGeom>
            <a:solidFill>
              <a:srgbClr val="FF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1818" name="Rectangle 10"/>
            <p:cNvSpPr>
              <a:spLocks noChangeArrowheads="1"/>
            </p:cNvSpPr>
            <p:nvPr/>
          </p:nvSpPr>
          <p:spPr bwMode="auto">
            <a:xfrm>
              <a:off x="4224" y="2584"/>
              <a:ext cx="144" cy="96"/>
            </a:xfrm>
            <a:prstGeom prst="rect">
              <a:avLst/>
            </a:prstGeom>
            <a:solidFill>
              <a:srgbClr val="FF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1819" name="Rectangle 11"/>
            <p:cNvSpPr>
              <a:spLocks noChangeArrowheads="1"/>
            </p:cNvSpPr>
            <p:nvPr/>
          </p:nvSpPr>
          <p:spPr bwMode="auto">
            <a:xfrm>
              <a:off x="3520" y="2520"/>
              <a:ext cx="264" cy="648"/>
            </a:xfrm>
            <a:prstGeom prst="rect">
              <a:avLst/>
            </a:prstGeom>
            <a:solidFill>
              <a:srgbClr val="FF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1820" name="Rectangle 12"/>
            <p:cNvSpPr>
              <a:spLocks noChangeArrowheads="1"/>
            </p:cNvSpPr>
            <p:nvPr/>
          </p:nvSpPr>
          <p:spPr bwMode="auto">
            <a:xfrm>
              <a:off x="3184" y="3512"/>
              <a:ext cx="128" cy="88"/>
            </a:xfrm>
            <a:prstGeom prst="rect">
              <a:avLst/>
            </a:prstGeom>
            <a:solidFill>
              <a:srgbClr val="00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1821" name="Rectangle 13"/>
            <p:cNvSpPr>
              <a:spLocks noChangeArrowheads="1"/>
            </p:cNvSpPr>
            <p:nvPr/>
          </p:nvSpPr>
          <p:spPr bwMode="auto">
            <a:xfrm>
              <a:off x="3264" y="3120"/>
              <a:ext cx="816" cy="96"/>
            </a:xfrm>
            <a:prstGeom prst="rect">
              <a:avLst/>
            </a:prstGeom>
            <a:solidFill>
              <a:srgbClr val="00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1822" name="Rectangle 14"/>
            <p:cNvSpPr>
              <a:spLocks noChangeArrowheads="1"/>
            </p:cNvSpPr>
            <p:nvPr/>
          </p:nvSpPr>
          <p:spPr bwMode="auto">
            <a:xfrm>
              <a:off x="4232" y="3056"/>
              <a:ext cx="144" cy="112"/>
            </a:xfrm>
            <a:prstGeom prst="rect">
              <a:avLst/>
            </a:prstGeom>
            <a:solidFill>
              <a:srgbClr val="00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1823" name="Rectangle 15"/>
            <p:cNvSpPr>
              <a:spLocks noChangeArrowheads="1"/>
            </p:cNvSpPr>
            <p:nvPr/>
          </p:nvSpPr>
          <p:spPr bwMode="auto">
            <a:xfrm>
              <a:off x="3240" y="3168"/>
              <a:ext cx="72" cy="400"/>
            </a:xfrm>
            <a:prstGeom prst="rect">
              <a:avLst/>
            </a:prstGeom>
            <a:solidFill>
              <a:srgbClr val="00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1824" name="Rectangle 16"/>
            <p:cNvSpPr>
              <a:spLocks noChangeArrowheads="1"/>
            </p:cNvSpPr>
            <p:nvPr/>
          </p:nvSpPr>
          <p:spPr bwMode="auto">
            <a:xfrm>
              <a:off x="2080" y="3512"/>
              <a:ext cx="904" cy="88"/>
            </a:xfrm>
            <a:prstGeom prst="rect">
              <a:avLst/>
            </a:prstGeom>
            <a:solidFill>
              <a:srgbClr val="00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1825" name="Rectangle 17"/>
            <p:cNvSpPr>
              <a:spLocks noChangeArrowheads="1"/>
            </p:cNvSpPr>
            <p:nvPr/>
          </p:nvSpPr>
          <p:spPr bwMode="auto">
            <a:xfrm>
              <a:off x="2024" y="1976"/>
              <a:ext cx="96" cy="1632"/>
            </a:xfrm>
            <a:prstGeom prst="rect">
              <a:avLst/>
            </a:prstGeom>
            <a:solidFill>
              <a:srgbClr val="00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1826" name="Rectangle 18"/>
            <p:cNvSpPr>
              <a:spLocks noChangeArrowheads="1"/>
            </p:cNvSpPr>
            <p:nvPr/>
          </p:nvSpPr>
          <p:spPr bwMode="auto">
            <a:xfrm>
              <a:off x="1752" y="1696"/>
              <a:ext cx="288" cy="576"/>
            </a:xfrm>
            <a:prstGeom prst="rect">
              <a:avLst/>
            </a:prstGeom>
            <a:solidFill>
              <a:srgbClr val="00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1827" name="Rectangle 19"/>
            <p:cNvSpPr>
              <a:spLocks noChangeArrowheads="1"/>
            </p:cNvSpPr>
            <p:nvPr/>
          </p:nvSpPr>
          <p:spPr bwMode="auto">
            <a:xfrm>
              <a:off x="4936" y="2608"/>
              <a:ext cx="320" cy="552"/>
            </a:xfrm>
            <a:prstGeom prst="rect">
              <a:avLst/>
            </a:prstGeom>
            <a:solidFill>
              <a:srgbClr val="FF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1828" name="Rectangle 20"/>
            <p:cNvSpPr>
              <a:spLocks noChangeArrowheads="1"/>
            </p:cNvSpPr>
            <p:nvPr/>
          </p:nvSpPr>
          <p:spPr bwMode="auto">
            <a:xfrm>
              <a:off x="4608" y="2840"/>
              <a:ext cx="384" cy="96"/>
            </a:xfrm>
            <a:prstGeom prst="rect">
              <a:avLst/>
            </a:prstGeom>
            <a:solidFill>
              <a:srgbClr val="FF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631829" name="Text Box 21"/>
          <p:cNvSpPr txBox="1">
            <a:spLocks noChangeArrowheads="1"/>
          </p:cNvSpPr>
          <p:nvPr/>
        </p:nvSpPr>
        <p:spPr bwMode="auto">
          <a:xfrm>
            <a:off x="5700713" y="3475038"/>
            <a:ext cx="336550" cy="3667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X</a:t>
            </a:r>
            <a:endParaRPr lang="en-US" sz="1800" b="1">
              <a:latin typeface="Helvetica" pitchFamily="34" charset="0"/>
            </a:endParaRPr>
          </a:p>
        </p:txBody>
      </p:sp>
      <p:sp>
        <p:nvSpPr>
          <p:cNvPr id="631830" name="Text Box 22"/>
          <p:cNvSpPr txBox="1">
            <a:spLocks noChangeArrowheads="1"/>
          </p:cNvSpPr>
          <p:nvPr/>
        </p:nvSpPr>
        <p:spPr bwMode="auto">
          <a:xfrm>
            <a:off x="6446838" y="5468938"/>
            <a:ext cx="311150" cy="3667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2</a:t>
            </a:r>
            <a:endParaRPr lang="en-US" sz="1800" b="1">
              <a:latin typeface="Helvetica" pitchFamily="34" charset="0"/>
            </a:endParaRPr>
          </a:p>
        </p:txBody>
      </p:sp>
      <p:sp>
        <p:nvSpPr>
          <p:cNvPr id="631831" name="Text Box 23"/>
          <p:cNvSpPr txBox="1">
            <a:spLocks noChangeArrowheads="1"/>
          </p:cNvSpPr>
          <p:nvPr/>
        </p:nvSpPr>
        <p:spPr bwMode="auto">
          <a:xfrm>
            <a:off x="1812925" y="5100638"/>
            <a:ext cx="311150" cy="3667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0</a:t>
            </a:r>
            <a:endParaRPr lang="en-US" sz="1800" b="1">
              <a:latin typeface="Helvetica" pitchFamily="34" charset="0"/>
            </a:endParaRPr>
          </a:p>
        </p:txBody>
      </p:sp>
      <p:sp>
        <p:nvSpPr>
          <p:cNvPr id="631832" name="Text Box 24"/>
          <p:cNvSpPr txBox="1">
            <a:spLocks noChangeArrowheads="1"/>
          </p:cNvSpPr>
          <p:nvPr/>
        </p:nvSpPr>
        <p:spPr bwMode="auto">
          <a:xfrm>
            <a:off x="290513" y="2941638"/>
            <a:ext cx="311150" cy="3667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0</a:t>
            </a:r>
            <a:endParaRPr lang="en-US" sz="1800" b="1">
              <a:latin typeface="Helvetica" pitchFamily="34" charset="0"/>
            </a:endParaRPr>
          </a:p>
        </p:txBody>
      </p:sp>
      <p:sp>
        <p:nvSpPr>
          <p:cNvPr id="631833" name="Text Box 25"/>
          <p:cNvSpPr txBox="1">
            <a:spLocks noChangeArrowheads="1"/>
          </p:cNvSpPr>
          <p:nvPr/>
        </p:nvSpPr>
        <p:spPr bwMode="auto">
          <a:xfrm>
            <a:off x="838200" y="3246438"/>
            <a:ext cx="336550" cy="3667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X</a:t>
            </a:r>
            <a:endParaRPr lang="en-US" sz="1800" b="1">
              <a:latin typeface="Helvetica" pitchFamily="34" charset="0"/>
            </a:endParaRPr>
          </a:p>
        </p:txBody>
      </p:sp>
      <p:sp>
        <p:nvSpPr>
          <p:cNvPr id="631834" name="Text Box 26"/>
          <p:cNvSpPr txBox="1">
            <a:spLocks noChangeArrowheads="1"/>
          </p:cNvSpPr>
          <p:nvPr/>
        </p:nvSpPr>
        <p:spPr bwMode="auto">
          <a:xfrm>
            <a:off x="1811338" y="3398838"/>
            <a:ext cx="311150" cy="3667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0</a:t>
            </a:r>
            <a:endParaRPr lang="en-US" sz="1800" b="1">
              <a:latin typeface="Helvetica" pitchFamily="34" charset="0"/>
            </a:endParaRPr>
          </a:p>
        </p:txBody>
      </p:sp>
      <p:sp>
        <p:nvSpPr>
          <p:cNvPr id="631835" name="Text Box 27"/>
          <p:cNvSpPr txBox="1">
            <a:spLocks noChangeArrowheads="1"/>
          </p:cNvSpPr>
          <p:nvPr/>
        </p:nvSpPr>
        <p:spPr bwMode="auto">
          <a:xfrm>
            <a:off x="6475413" y="3322638"/>
            <a:ext cx="311150" cy="3667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1</a:t>
            </a:r>
            <a:endParaRPr lang="en-US" sz="1800" b="1">
              <a:latin typeface="Helvetica" pitchFamily="34" charset="0"/>
            </a:endParaRPr>
          </a:p>
        </p:txBody>
      </p:sp>
      <p:sp>
        <p:nvSpPr>
          <p:cNvPr id="631836" name="Text Box 28"/>
          <p:cNvSpPr txBox="1">
            <a:spLocks noChangeArrowheads="1"/>
          </p:cNvSpPr>
          <p:nvPr/>
        </p:nvSpPr>
        <p:spPr bwMode="auto">
          <a:xfrm>
            <a:off x="8672513" y="4160838"/>
            <a:ext cx="336550" cy="3667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X</a:t>
            </a:r>
            <a:endParaRPr lang="en-US" sz="1800" b="1">
              <a:latin typeface="Helvetica" pitchFamily="34" charset="0"/>
            </a:endParaRPr>
          </a:p>
        </p:txBody>
      </p:sp>
      <p:sp>
        <p:nvSpPr>
          <p:cNvPr id="631837" name="Text Box 29"/>
          <p:cNvSpPr txBox="1">
            <a:spLocks noChangeArrowheads="1"/>
          </p:cNvSpPr>
          <p:nvPr/>
        </p:nvSpPr>
        <p:spPr bwMode="auto">
          <a:xfrm>
            <a:off x="6853238" y="3475038"/>
            <a:ext cx="565150" cy="3667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010</a:t>
            </a:r>
            <a:endParaRPr lang="en-US" sz="1800" b="1">
              <a:latin typeface="Helvetica" pitchFamily="34" charset="0"/>
            </a:endParaRPr>
          </a:p>
        </p:txBody>
      </p:sp>
      <p:sp>
        <p:nvSpPr>
          <p:cNvPr id="631838" name="Text Box 30"/>
          <p:cNvSpPr txBox="1">
            <a:spLocks noChangeArrowheads="1"/>
          </p:cNvSpPr>
          <p:nvPr/>
        </p:nvSpPr>
        <p:spPr bwMode="auto">
          <a:xfrm>
            <a:off x="2843213" y="1951038"/>
            <a:ext cx="311150" cy="3667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0</a:t>
            </a:r>
            <a:endParaRPr lang="en-US" sz="1800" b="1">
              <a:latin typeface="Helvetica" pitchFamily="34" charset="0"/>
            </a:endParaRPr>
          </a:p>
        </p:txBody>
      </p:sp>
      <p:pic>
        <p:nvPicPr>
          <p:cNvPr id="631839" name="Picture 3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2232025"/>
            <a:ext cx="9113838" cy="4059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3" name="Group 32"/>
          <p:cNvGrpSpPr>
            <a:grpSpLocks/>
          </p:cNvGrpSpPr>
          <p:nvPr/>
        </p:nvGrpSpPr>
        <p:grpSpPr bwMode="auto">
          <a:xfrm>
            <a:off x="228600" y="1905000"/>
            <a:ext cx="8709025" cy="3940175"/>
            <a:chOff x="144" y="1200"/>
            <a:chExt cx="5486" cy="2482"/>
          </a:xfrm>
        </p:grpSpPr>
        <p:sp>
          <p:nvSpPr>
            <p:cNvPr id="631841" name="Rectangle 33"/>
            <p:cNvSpPr>
              <a:spLocks noChangeArrowheads="1"/>
            </p:cNvSpPr>
            <p:nvPr/>
          </p:nvSpPr>
          <p:spPr bwMode="auto">
            <a:xfrm>
              <a:off x="2777" y="3299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1842" name="Rectangle 34"/>
            <p:cNvSpPr>
              <a:spLocks noChangeArrowheads="1"/>
            </p:cNvSpPr>
            <p:nvPr/>
          </p:nvSpPr>
          <p:spPr bwMode="auto">
            <a:xfrm>
              <a:off x="144" y="1824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1843" name="Rectangle 35"/>
            <p:cNvSpPr>
              <a:spLocks noChangeArrowheads="1"/>
            </p:cNvSpPr>
            <p:nvPr/>
          </p:nvSpPr>
          <p:spPr bwMode="auto">
            <a:xfrm>
              <a:off x="528" y="2016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1844" name="Rectangle 36"/>
            <p:cNvSpPr>
              <a:spLocks noChangeArrowheads="1"/>
            </p:cNvSpPr>
            <p:nvPr/>
          </p:nvSpPr>
          <p:spPr bwMode="auto">
            <a:xfrm>
              <a:off x="1125" y="2112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1845" name="Rectangle 37"/>
            <p:cNvSpPr>
              <a:spLocks noChangeArrowheads="1"/>
            </p:cNvSpPr>
            <p:nvPr/>
          </p:nvSpPr>
          <p:spPr bwMode="auto">
            <a:xfrm>
              <a:off x="1138" y="3264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1846" name="Rectangle 38"/>
            <p:cNvSpPr>
              <a:spLocks noChangeArrowheads="1"/>
            </p:cNvSpPr>
            <p:nvPr/>
          </p:nvSpPr>
          <p:spPr bwMode="auto">
            <a:xfrm>
              <a:off x="1776" y="1200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1847" name="Rectangle 39"/>
            <p:cNvSpPr>
              <a:spLocks noChangeArrowheads="1"/>
            </p:cNvSpPr>
            <p:nvPr/>
          </p:nvSpPr>
          <p:spPr bwMode="auto">
            <a:xfrm>
              <a:off x="2256" y="3113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1848" name="Rectangle 40"/>
            <p:cNvSpPr>
              <a:spLocks noChangeArrowheads="1"/>
            </p:cNvSpPr>
            <p:nvPr/>
          </p:nvSpPr>
          <p:spPr bwMode="auto">
            <a:xfrm>
              <a:off x="3600" y="2242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1849" name="Rectangle 41"/>
            <p:cNvSpPr>
              <a:spLocks noChangeArrowheads="1"/>
            </p:cNvSpPr>
            <p:nvPr/>
          </p:nvSpPr>
          <p:spPr bwMode="auto">
            <a:xfrm>
              <a:off x="4073" y="3490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1850" name="Rectangle 42"/>
            <p:cNvSpPr>
              <a:spLocks noChangeArrowheads="1"/>
            </p:cNvSpPr>
            <p:nvPr/>
          </p:nvSpPr>
          <p:spPr bwMode="auto">
            <a:xfrm>
              <a:off x="4080" y="2119"/>
              <a:ext cx="192" cy="136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1851" name="Rectangle 43"/>
            <p:cNvSpPr>
              <a:spLocks noChangeArrowheads="1"/>
            </p:cNvSpPr>
            <p:nvPr/>
          </p:nvSpPr>
          <p:spPr bwMode="auto">
            <a:xfrm>
              <a:off x="4368" y="2159"/>
              <a:ext cx="288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1852" name="Rectangle 44"/>
            <p:cNvSpPr>
              <a:spLocks noChangeArrowheads="1"/>
            </p:cNvSpPr>
            <p:nvPr/>
          </p:nvSpPr>
          <p:spPr bwMode="auto">
            <a:xfrm>
              <a:off x="5438" y="2640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45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416675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Mayank Pandey, MNNIT, Allahabad, India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318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318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318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318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318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318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318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318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318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318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318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318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318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318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6318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318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6318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318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6318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6318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6318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6318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6318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6318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1810" grpId="0" autoUpdateAnimBg="0"/>
      <p:bldP spid="631811" grpId="0" autoUpdateAnimBg="0"/>
      <p:bldP spid="631829" grpId="0" autoUpdateAnimBg="0"/>
      <p:bldP spid="631830" grpId="0" autoUpdateAnimBg="0"/>
      <p:bldP spid="631831" grpId="0" autoUpdateAnimBg="0"/>
      <p:bldP spid="631832" grpId="0" autoUpdateAnimBg="0"/>
      <p:bldP spid="631833" grpId="0" autoUpdateAnimBg="0"/>
      <p:bldP spid="631834" grpId="0" autoUpdateAnimBg="0"/>
      <p:bldP spid="631835" grpId="0" autoUpdateAnimBg="0"/>
      <p:bldP spid="631836" grpId="0" autoUpdateAnimBg="0"/>
      <p:bldP spid="631837" grpId="0" autoUpdateAnimBg="0"/>
      <p:bldP spid="631838" grpId="0" autoUpdateAnimBg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203200" y="2298700"/>
            <a:ext cx="8102600" cy="2578100"/>
            <a:chOff x="128" y="1688"/>
            <a:chExt cx="5104" cy="1624"/>
          </a:xfrm>
        </p:grpSpPr>
        <p:sp>
          <p:nvSpPr>
            <p:cNvPr id="632835" name="AutoShape 3"/>
            <p:cNvSpPr>
              <a:spLocks noChangeArrowheads="1"/>
            </p:cNvSpPr>
            <p:nvPr/>
          </p:nvSpPr>
          <p:spPr bwMode="auto">
            <a:xfrm rot="-5400000">
              <a:off x="4048" y="2640"/>
              <a:ext cx="912" cy="432"/>
            </a:xfrm>
            <a:custGeom>
              <a:avLst/>
              <a:gdLst>
                <a:gd name="G0" fmla="+- 5660 0 0"/>
                <a:gd name="G1" fmla="+- 21600 0 5660"/>
                <a:gd name="G2" fmla="*/ 5660 1 2"/>
                <a:gd name="G3" fmla="+- 21600 0 G2"/>
                <a:gd name="G4" fmla="+/ 5660 21600 2"/>
                <a:gd name="G5" fmla="+/ G1 0 2"/>
                <a:gd name="G6" fmla="*/ 21600 21600 5660"/>
                <a:gd name="G7" fmla="*/ G6 1 2"/>
                <a:gd name="G8" fmla="+- 21600 0 G7"/>
                <a:gd name="G9" fmla="*/ 21600 1 2"/>
                <a:gd name="G10" fmla="+- 5660 0 G9"/>
                <a:gd name="G11" fmla="?: G10 G8 0"/>
                <a:gd name="G12" fmla="?: G10 G7 21600"/>
                <a:gd name="T0" fmla="*/ 18770 w 21600"/>
                <a:gd name="T1" fmla="*/ 10800 h 21600"/>
                <a:gd name="T2" fmla="*/ 10800 w 21600"/>
                <a:gd name="T3" fmla="*/ 21600 h 21600"/>
                <a:gd name="T4" fmla="*/ 2830 w 21600"/>
                <a:gd name="T5" fmla="*/ 10800 h 21600"/>
                <a:gd name="T6" fmla="*/ 10800 w 21600"/>
                <a:gd name="T7" fmla="*/ 0 h 21600"/>
                <a:gd name="T8" fmla="*/ 4630 w 21600"/>
                <a:gd name="T9" fmla="*/ 4630 h 21600"/>
                <a:gd name="T10" fmla="*/ 16970 w 21600"/>
                <a:gd name="T11" fmla="*/ 1697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660" y="21600"/>
                  </a:lnTo>
                  <a:lnTo>
                    <a:pt x="1594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FF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2836" name="Rectangle 4"/>
            <p:cNvSpPr>
              <a:spLocks noChangeArrowheads="1"/>
            </p:cNvSpPr>
            <p:nvPr/>
          </p:nvSpPr>
          <p:spPr bwMode="auto">
            <a:xfrm>
              <a:off x="4224" y="3048"/>
              <a:ext cx="144" cy="112"/>
            </a:xfrm>
            <a:prstGeom prst="rect">
              <a:avLst/>
            </a:prstGeom>
            <a:solidFill>
              <a:srgbClr val="FF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2837" name="Rectangle 5"/>
            <p:cNvSpPr>
              <a:spLocks noChangeArrowheads="1"/>
            </p:cNvSpPr>
            <p:nvPr/>
          </p:nvSpPr>
          <p:spPr bwMode="auto">
            <a:xfrm>
              <a:off x="4224" y="2560"/>
              <a:ext cx="128" cy="128"/>
            </a:xfrm>
            <a:prstGeom prst="rect">
              <a:avLst/>
            </a:prstGeom>
            <a:solidFill>
              <a:srgbClr val="FF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2838" name="Rectangle 6"/>
            <p:cNvSpPr>
              <a:spLocks noChangeArrowheads="1"/>
            </p:cNvSpPr>
            <p:nvPr/>
          </p:nvSpPr>
          <p:spPr bwMode="auto">
            <a:xfrm>
              <a:off x="4656" y="2832"/>
              <a:ext cx="336" cy="96"/>
            </a:xfrm>
            <a:prstGeom prst="rect">
              <a:avLst/>
            </a:prstGeom>
            <a:solidFill>
              <a:srgbClr val="FF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2839" name="Rectangle 7"/>
            <p:cNvSpPr>
              <a:spLocks noChangeArrowheads="1"/>
            </p:cNvSpPr>
            <p:nvPr/>
          </p:nvSpPr>
          <p:spPr bwMode="auto">
            <a:xfrm>
              <a:off x="4944" y="2592"/>
              <a:ext cx="288" cy="576"/>
            </a:xfrm>
            <a:prstGeom prst="rect">
              <a:avLst/>
            </a:prstGeom>
            <a:solidFill>
              <a:srgbClr val="FF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2840" name="Rectangle 8"/>
            <p:cNvSpPr>
              <a:spLocks noChangeArrowheads="1"/>
            </p:cNvSpPr>
            <p:nvPr/>
          </p:nvSpPr>
          <p:spPr bwMode="auto">
            <a:xfrm>
              <a:off x="3736" y="2904"/>
              <a:ext cx="336" cy="96"/>
            </a:xfrm>
            <a:prstGeom prst="rect">
              <a:avLst/>
            </a:prstGeom>
            <a:solidFill>
              <a:srgbClr val="FF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2841" name="Rectangle 9"/>
            <p:cNvSpPr>
              <a:spLocks noChangeArrowheads="1"/>
            </p:cNvSpPr>
            <p:nvPr/>
          </p:nvSpPr>
          <p:spPr bwMode="auto">
            <a:xfrm>
              <a:off x="3744" y="2648"/>
              <a:ext cx="336" cy="96"/>
            </a:xfrm>
            <a:prstGeom prst="rect">
              <a:avLst/>
            </a:prstGeom>
            <a:solidFill>
              <a:srgbClr val="FF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2842" name="Rectangle 10"/>
            <p:cNvSpPr>
              <a:spLocks noChangeArrowheads="1"/>
            </p:cNvSpPr>
            <p:nvPr/>
          </p:nvSpPr>
          <p:spPr bwMode="auto">
            <a:xfrm>
              <a:off x="3512" y="2528"/>
              <a:ext cx="288" cy="624"/>
            </a:xfrm>
            <a:prstGeom prst="rect">
              <a:avLst/>
            </a:prstGeom>
            <a:solidFill>
              <a:srgbClr val="FF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2843" name="Rectangle 11"/>
            <p:cNvSpPr>
              <a:spLocks noChangeArrowheads="1"/>
            </p:cNvSpPr>
            <p:nvPr/>
          </p:nvSpPr>
          <p:spPr bwMode="auto">
            <a:xfrm>
              <a:off x="128" y="2248"/>
              <a:ext cx="288" cy="528"/>
            </a:xfrm>
            <a:prstGeom prst="rect">
              <a:avLst/>
            </a:pr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2844" name="Rectangle 12"/>
            <p:cNvSpPr>
              <a:spLocks noChangeArrowheads="1"/>
            </p:cNvSpPr>
            <p:nvPr/>
          </p:nvSpPr>
          <p:spPr bwMode="auto">
            <a:xfrm>
              <a:off x="1744" y="1688"/>
              <a:ext cx="288" cy="576"/>
            </a:xfrm>
            <a:prstGeom prst="rect">
              <a:avLst/>
            </a:prstGeom>
            <a:solidFill>
              <a:srgbClr val="00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632845" name="Rectangle 13"/>
          <p:cNvSpPr>
            <a:spLocks noGrp="1" noChangeArrowheads="1"/>
          </p:cNvSpPr>
          <p:nvPr>
            <p:ph type="title"/>
          </p:nvPr>
        </p:nvSpPr>
        <p:spPr>
          <a:xfrm>
            <a:off x="304800" y="457200"/>
            <a:ext cx="8686800" cy="990600"/>
          </a:xfrm>
        </p:spPr>
        <p:txBody>
          <a:bodyPr/>
          <a:lstStyle/>
          <a:p>
            <a:r>
              <a:rPr lang="en-US" sz="4000" dirty="0" smtClean="0"/>
              <a:t>Control </a:t>
            </a:r>
            <a:r>
              <a:rPr lang="en-US" sz="4000" dirty="0"/>
              <a:t>Step (3</a:t>
            </a:r>
            <a:r>
              <a:rPr lang="en-US" sz="4000" dirty="0" smtClean="0"/>
              <a:t>): ALU </a:t>
            </a:r>
            <a:r>
              <a:rPr lang="en-US" sz="4000" dirty="0"/>
              <a:t>Instruction (R-Type)</a:t>
            </a:r>
          </a:p>
        </p:txBody>
      </p:sp>
      <p:sp>
        <p:nvSpPr>
          <p:cNvPr id="632846" name="Rectangle 14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114800"/>
          </a:xfrm>
        </p:spPr>
        <p:txBody>
          <a:bodyPr/>
          <a:lstStyle/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sz="2000">
                <a:latin typeface="Courier" pitchFamily="49" charset="0"/>
              </a:rPr>
              <a:t>ALUOut = A op B;</a:t>
            </a:r>
            <a:endParaRPr lang="en-US" sz="2000"/>
          </a:p>
        </p:txBody>
      </p:sp>
      <p:sp>
        <p:nvSpPr>
          <p:cNvPr id="632847" name="Text Box 15"/>
          <p:cNvSpPr txBox="1">
            <a:spLocks noChangeArrowheads="1"/>
          </p:cNvSpPr>
          <p:nvPr/>
        </p:nvSpPr>
        <p:spPr bwMode="auto">
          <a:xfrm>
            <a:off x="4468813" y="4795838"/>
            <a:ext cx="311150" cy="3667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0</a:t>
            </a:r>
            <a:endParaRPr lang="en-US" sz="1800" b="1">
              <a:latin typeface="Helvetica" pitchFamily="34" charset="0"/>
            </a:endParaRPr>
          </a:p>
        </p:txBody>
      </p:sp>
      <p:sp>
        <p:nvSpPr>
          <p:cNvPr id="632848" name="Text Box 16"/>
          <p:cNvSpPr txBox="1">
            <a:spLocks noChangeArrowheads="1"/>
          </p:cNvSpPr>
          <p:nvPr/>
        </p:nvSpPr>
        <p:spPr bwMode="auto">
          <a:xfrm>
            <a:off x="3606800" y="4478338"/>
            <a:ext cx="336550" cy="3667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X</a:t>
            </a:r>
            <a:endParaRPr lang="en-US" sz="1800" b="1">
              <a:latin typeface="Helvetica" pitchFamily="34" charset="0"/>
            </a:endParaRPr>
          </a:p>
        </p:txBody>
      </p:sp>
      <p:sp>
        <p:nvSpPr>
          <p:cNvPr id="632849" name="Text Box 17"/>
          <p:cNvSpPr txBox="1">
            <a:spLocks noChangeArrowheads="1"/>
          </p:cNvSpPr>
          <p:nvPr/>
        </p:nvSpPr>
        <p:spPr bwMode="auto">
          <a:xfrm>
            <a:off x="5700713" y="3094038"/>
            <a:ext cx="336550" cy="3667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X</a:t>
            </a:r>
            <a:endParaRPr lang="en-US" sz="1800" b="1">
              <a:latin typeface="Helvetica" pitchFamily="34" charset="0"/>
            </a:endParaRPr>
          </a:p>
        </p:txBody>
      </p:sp>
      <p:sp>
        <p:nvSpPr>
          <p:cNvPr id="632850" name="Text Box 18"/>
          <p:cNvSpPr txBox="1">
            <a:spLocks noChangeArrowheads="1"/>
          </p:cNvSpPr>
          <p:nvPr/>
        </p:nvSpPr>
        <p:spPr bwMode="auto">
          <a:xfrm>
            <a:off x="6446838" y="5087938"/>
            <a:ext cx="311150" cy="3667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0</a:t>
            </a:r>
            <a:endParaRPr lang="en-US" sz="1800" b="1">
              <a:latin typeface="Helvetica" pitchFamily="34" charset="0"/>
            </a:endParaRPr>
          </a:p>
        </p:txBody>
      </p:sp>
      <p:sp>
        <p:nvSpPr>
          <p:cNvPr id="632851" name="Text Box 19"/>
          <p:cNvSpPr txBox="1">
            <a:spLocks noChangeArrowheads="1"/>
          </p:cNvSpPr>
          <p:nvPr/>
        </p:nvSpPr>
        <p:spPr bwMode="auto">
          <a:xfrm>
            <a:off x="1812925" y="4719638"/>
            <a:ext cx="311150" cy="3667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0</a:t>
            </a:r>
            <a:endParaRPr lang="en-US" sz="1800" b="1">
              <a:latin typeface="Helvetica" pitchFamily="34" charset="0"/>
            </a:endParaRPr>
          </a:p>
        </p:txBody>
      </p:sp>
      <p:sp>
        <p:nvSpPr>
          <p:cNvPr id="632852" name="Text Box 20"/>
          <p:cNvSpPr txBox="1">
            <a:spLocks noChangeArrowheads="1"/>
          </p:cNvSpPr>
          <p:nvPr/>
        </p:nvSpPr>
        <p:spPr bwMode="auto">
          <a:xfrm>
            <a:off x="290513" y="2560638"/>
            <a:ext cx="311150" cy="3667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0</a:t>
            </a:r>
            <a:endParaRPr lang="en-US" sz="1800" b="1">
              <a:latin typeface="Helvetica" pitchFamily="34" charset="0"/>
            </a:endParaRPr>
          </a:p>
        </p:txBody>
      </p:sp>
      <p:sp>
        <p:nvSpPr>
          <p:cNvPr id="632853" name="Text Box 21"/>
          <p:cNvSpPr txBox="1">
            <a:spLocks noChangeArrowheads="1"/>
          </p:cNvSpPr>
          <p:nvPr/>
        </p:nvSpPr>
        <p:spPr bwMode="auto">
          <a:xfrm>
            <a:off x="838200" y="2865438"/>
            <a:ext cx="336550" cy="3667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X</a:t>
            </a:r>
            <a:endParaRPr lang="en-US" sz="1800" b="1">
              <a:latin typeface="Helvetica" pitchFamily="34" charset="0"/>
            </a:endParaRPr>
          </a:p>
        </p:txBody>
      </p:sp>
      <p:sp>
        <p:nvSpPr>
          <p:cNvPr id="632854" name="Text Box 22"/>
          <p:cNvSpPr txBox="1">
            <a:spLocks noChangeArrowheads="1"/>
          </p:cNvSpPr>
          <p:nvPr/>
        </p:nvSpPr>
        <p:spPr bwMode="auto">
          <a:xfrm>
            <a:off x="1811338" y="3017838"/>
            <a:ext cx="311150" cy="3667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0</a:t>
            </a:r>
            <a:endParaRPr lang="en-US" sz="1800" b="1">
              <a:latin typeface="Helvetica" pitchFamily="34" charset="0"/>
            </a:endParaRPr>
          </a:p>
        </p:txBody>
      </p:sp>
      <p:sp>
        <p:nvSpPr>
          <p:cNvPr id="632855" name="Text Box 23"/>
          <p:cNvSpPr txBox="1">
            <a:spLocks noChangeArrowheads="1"/>
          </p:cNvSpPr>
          <p:nvPr/>
        </p:nvSpPr>
        <p:spPr bwMode="auto">
          <a:xfrm>
            <a:off x="6475413" y="2941638"/>
            <a:ext cx="311150" cy="3667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1</a:t>
            </a:r>
            <a:endParaRPr lang="en-US" sz="1800" b="1">
              <a:latin typeface="Helvetica" pitchFamily="34" charset="0"/>
            </a:endParaRPr>
          </a:p>
        </p:txBody>
      </p:sp>
      <p:sp>
        <p:nvSpPr>
          <p:cNvPr id="632856" name="Text Box 24"/>
          <p:cNvSpPr txBox="1">
            <a:spLocks noChangeArrowheads="1"/>
          </p:cNvSpPr>
          <p:nvPr/>
        </p:nvSpPr>
        <p:spPr bwMode="auto">
          <a:xfrm>
            <a:off x="8672513" y="3779838"/>
            <a:ext cx="336550" cy="3667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X</a:t>
            </a:r>
            <a:endParaRPr lang="en-US" sz="1800" b="1">
              <a:latin typeface="Helvetica" pitchFamily="34" charset="0"/>
            </a:endParaRPr>
          </a:p>
        </p:txBody>
      </p:sp>
      <p:sp>
        <p:nvSpPr>
          <p:cNvPr id="632857" name="Text Box 25"/>
          <p:cNvSpPr txBox="1">
            <a:spLocks noChangeArrowheads="1"/>
          </p:cNvSpPr>
          <p:nvPr/>
        </p:nvSpPr>
        <p:spPr bwMode="auto">
          <a:xfrm>
            <a:off x="6834188" y="3094038"/>
            <a:ext cx="603250" cy="3667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???</a:t>
            </a:r>
            <a:endParaRPr lang="en-US" sz="1800" b="1">
              <a:latin typeface="Helvetica" pitchFamily="34" charset="0"/>
            </a:endParaRPr>
          </a:p>
        </p:txBody>
      </p:sp>
      <p:sp>
        <p:nvSpPr>
          <p:cNvPr id="632858" name="Text Box 26"/>
          <p:cNvSpPr txBox="1">
            <a:spLocks noChangeArrowheads="1"/>
          </p:cNvSpPr>
          <p:nvPr/>
        </p:nvSpPr>
        <p:spPr bwMode="auto">
          <a:xfrm>
            <a:off x="2840038" y="1570038"/>
            <a:ext cx="311150" cy="3667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0</a:t>
            </a:r>
            <a:endParaRPr lang="en-US" sz="1800" b="1">
              <a:latin typeface="Helvetica" pitchFamily="34" charset="0"/>
            </a:endParaRPr>
          </a:p>
        </p:txBody>
      </p:sp>
      <p:pic>
        <p:nvPicPr>
          <p:cNvPr id="632859" name="Picture 2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884363"/>
            <a:ext cx="9113838" cy="4059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3" name="Group 28"/>
          <p:cNvGrpSpPr>
            <a:grpSpLocks/>
          </p:cNvGrpSpPr>
          <p:nvPr/>
        </p:nvGrpSpPr>
        <p:grpSpPr bwMode="auto">
          <a:xfrm>
            <a:off x="228600" y="1524000"/>
            <a:ext cx="8709025" cy="3940175"/>
            <a:chOff x="144" y="1200"/>
            <a:chExt cx="5486" cy="2482"/>
          </a:xfrm>
        </p:grpSpPr>
        <p:sp>
          <p:nvSpPr>
            <p:cNvPr id="632861" name="Rectangle 29"/>
            <p:cNvSpPr>
              <a:spLocks noChangeArrowheads="1"/>
            </p:cNvSpPr>
            <p:nvPr/>
          </p:nvSpPr>
          <p:spPr bwMode="auto">
            <a:xfrm>
              <a:off x="2777" y="3299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2862" name="Rectangle 30"/>
            <p:cNvSpPr>
              <a:spLocks noChangeArrowheads="1"/>
            </p:cNvSpPr>
            <p:nvPr/>
          </p:nvSpPr>
          <p:spPr bwMode="auto">
            <a:xfrm>
              <a:off x="144" y="1824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2863" name="Rectangle 31"/>
            <p:cNvSpPr>
              <a:spLocks noChangeArrowheads="1"/>
            </p:cNvSpPr>
            <p:nvPr/>
          </p:nvSpPr>
          <p:spPr bwMode="auto">
            <a:xfrm>
              <a:off x="528" y="2016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2864" name="Rectangle 32"/>
            <p:cNvSpPr>
              <a:spLocks noChangeArrowheads="1"/>
            </p:cNvSpPr>
            <p:nvPr/>
          </p:nvSpPr>
          <p:spPr bwMode="auto">
            <a:xfrm>
              <a:off x="1125" y="2112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2865" name="Rectangle 33"/>
            <p:cNvSpPr>
              <a:spLocks noChangeArrowheads="1"/>
            </p:cNvSpPr>
            <p:nvPr/>
          </p:nvSpPr>
          <p:spPr bwMode="auto">
            <a:xfrm>
              <a:off x="1138" y="3264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2866" name="Rectangle 34"/>
            <p:cNvSpPr>
              <a:spLocks noChangeArrowheads="1"/>
            </p:cNvSpPr>
            <p:nvPr/>
          </p:nvSpPr>
          <p:spPr bwMode="auto">
            <a:xfrm>
              <a:off x="1776" y="1200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2867" name="Rectangle 35"/>
            <p:cNvSpPr>
              <a:spLocks noChangeArrowheads="1"/>
            </p:cNvSpPr>
            <p:nvPr/>
          </p:nvSpPr>
          <p:spPr bwMode="auto">
            <a:xfrm>
              <a:off x="2256" y="3113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2868" name="Rectangle 36"/>
            <p:cNvSpPr>
              <a:spLocks noChangeArrowheads="1"/>
            </p:cNvSpPr>
            <p:nvPr/>
          </p:nvSpPr>
          <p:spPr bwMode="auto">
            <a:xfrm>
              <a:off x="3600" y="2242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2869" name="Rectangle 37"/>
            <p:cNvSpPr>
              <a:spLocks noChangeArrowheads="1"/>
            </p:cNvSpPr>
            <p:nvPr/>
          </p:nvSpPr>
          <p:spPr bwMode="auto">
            <a:xfrm>
              <a:off x="4073" y="3490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2870" name="Rectangle 38"/>
            <p:cNvSpPr>
              <a:spLocks noChangeArrowheads="1"/>
            </p:cNvSpPr>
            <p:nvPr/>
          </p:nvSpPr>
          <p:spPr bwMode="auto">
            <a:xfrm>
              <a:off x="4080" y="2119"/>
              <a:ext cx="192" cy="136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2871" name="Rectangle 39"/>
            <p:cNvSpPr>
              <a:spLocks noChangeArrowheads="1"/>
            </p:cNvSpPr>
            <p:nvPr/>
          </p:nvSpPr>
          <p:spPr bwMode="auto">
            <a:xfrm>
              <a:off x="4368" y="2159"/>
              <a:ext cx="288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2872" name="Rectangle 40"/>
            <p:cNvSpPr>
              <a:spLocks noChangeArrowheads="1"/>
            </p:cNvSpPr>
            <p:nvPr/>
          </p:nvSpPr>
          <p:spPr bwMode="auto">
            <a:xfrm>
              <a:off x="5438" y="2640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41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Mayank Pandey, MNNIT, Allahabad, India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328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328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328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328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328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328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328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328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328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328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328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328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328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328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6328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328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6328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328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6328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6328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6328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6328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6328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6328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2847" grpId="0" autoUpdateAnimBg="0"/>
      <p:bldP spid="632848" grpId="0" autoUpdateAnimBg="0"/>
      <p:bldP spid="632849" grpId="0" autoUpdateAnimBg="0"/>
      <p:bldP spid="632850" grpId="0" autoUpdateAnimBg="0"/>
      <p:bldP spid="632851" grpId="0" autoUpdateAnimBg="0"/>
      <p:bldP spid="632852" grpId="0" autoUpdateAnimBg="0"/>
      <p:bldP spid="632853" grpId="0" autoUpdateAnimBg="0"/>
      <p:bldP spid="632854" grpId="0" autoUpdateAnimBg="0"/>
      <p:bldP spid="632855" grpId="0" autoUpdateAnimBg="0"/>
      <p:bldP spid="632856" grpId="0" autoUpdateAnimBg="0"/>
      <p:bldP spid="632857" grpId="0" autoUpdateAnimBg="0"/>
      <p:bldP spid="632858" grpId="0" autoUpdateAnimBg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858" name="Text Box 2050"/>
          <p:cNvSpPr txBox="1">
            <a:spLocks noChangeArrowheads="1"/>
          </p:cNvSpPr>
          <p:nvPr/>
        </p:nvSpPr>
        <p:spPr bwMode="auto">
          <a:xfrm>
            <a:off x="127000" y="2300288"/>
            <a:ext cx="939800" cy="64135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1 if </a:t>
            </a:r>
          </a:p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Zero=1</a:t>
            </a:r>
            <a:endParaRPr lang="en-US" sz="1800" b="1">
              <a:latin typeface="Helvetica" pitchFamily="34" charset="0"/>
            </a:endParaRPr>
          </a:p>
        </p:txBody>
      </p:sp>
      <p:grpSp>
        <p:nvGrpSpPr>
          <p:cNvPr id="2" name="Group 2051"/>
          <p:cNvGrpSpPr>
            <a:grpSpLocks/>
          </p:cNvGrpSpPr>
          <p:nvPr/>
        </p:nvGrpSpPr>
        <p:grpSpPr bwMode="auto">
          <a:xfrm>
            <a:off x="0" y="1981200"/>
            <a:ext cx="9144000" cy="2895600"/>
            <a:chOff x="0" y="1488"/>
            <a:chExt cx="5760" cy="1824"/>
          </a:xfrm>
        </p:grpSpPr>
        <p:sp>
          <p:nvSpPr>
            <p:cNvPr id="633860" name="Rectangle 2052"/>
            <p:cNvSpPr>
              <a:spLocks noChangeArrowheads="1"/>
            </p:cNvSpPr>
            <p:nvPr/>
          </p:nvSpPr>
          <p:spPr bwMode="auto">
            <a:xfrm>
              <a:off x="3744" y="2648"/>
              <a:ext cx="336" cy="88"/>
            </a:xfrm>
            <a:prstGeom prst="rect">
              <a:avLst/>
            </a:prstGeom>
            <a:solidFill>
              <a:srgbClr val="FF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endParaRPr lang="en-US" sz="1800" b="1">
                <a:latin typeface="Helvetica" pitchFamily="34" charset="0"/>
              </a:endParaRPr>
            </a:p>
          </p:txBody>
        </p:sp>
        <p:sp>
          <p:nvSpPr>
            <p:cNvPr id="633861" name="Rectangle 2053"/>
            <p:cNvSpPr>
              <a:spLocks noChangeArrowheads="1"/>
            </p:cNvSpPr>
            <p:nvPr/>
          </p:nvSpPr>
          <p:spPr bwMode="auto">
            <a:xfrm>
              <a:off x="1744" y="1704"/>
              <a:ext cx="288" cy="552"/>
            </a:xfrm>
            <a:prstGeom prst="rect">
              <a:avLst/>
            </a:prstGeom>
            <a:solidFill>
              <a:srgbClr val="00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3862" name="AutoShape 2054"/>
            <p:cNvSpPr>
              <a:spLocks noChangeArrowheads="1"/>
            </p:cNvSpPr>
            <p:nvPr/>
          </p:nvSpPr>
          <p:spPr bwMode="auto">
            <a:xfrm rot="-5400000">
              <a:off x="4048" y="2640"/>
              <a:ext cx="912" cy="432"/>
            </a:xfrm>
            <a:custGeom>
              <a:avLst/>
              <a:gdLst>
                <a:gd name="G0" fmla="+- 5660 0 0"/>
                <a:gd name="G1" fmla="+- 21600 0 5660"/>
                <a:gd name="G2" fmla="*/ 5660 1 2"/>
                <a:gd name="G3" fmla="+- 21600 0 G2"/>
                <a:gd name="G4" fmla="+/ 5660 21600 2"/>
                <a:gd name="G5" fmla="+/ G1 0 2"/>
                <a:gd name="G6" fmla="*/ 21600 21600 5660"/>
                <a:gd name="G7" fmla="*/ G6 1 2"/>
                <a:gd name="G8" fmla="+- 21600 0 G7"/>
                <a:gd name="G9" fmla="*/ 21600 1 2"/>
                <a:gd name="G10" fmla="+- 5660 0 G9"/>
                <a:gd name="G11" fmla="?: G10 G8 0"/>
                <a:gd name="G12" fmla="?: G10 G7 21600"/>
                <a:gd name="T0" fmla="*/ 18770 w 21600"/>
                <a:gd name="T1" fmla="*/ 10800 h 21600"/>
                <a:gd name="T2" fmla="*/ 10800 w 21600"/>
                <a:gd name="T3" fmla="*/ 21600 h 21600"/>
                <a:gd name="T4" fmla="*/ 2830 w 21600"/>
                <a:gd name="T5" fmla="*/ 10800 h 21600"/>
                <a:gd name="T6" fmla="*/ 10800 w 21600"/>
                <a:gd name="T7" fmla="*/ 0 h 21600"/>
                <a:gd name="T8" fmla="*/ 4630 w 21600"/>
                <a:gd name="T9" fmla="*/ 4630 h 21600"/>
                <a:gd name="T10" fmla="*/ 16970 w 21600"/>
                <a:gd name="T11" fmla="*/ 1697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660" y="21600"/>
                  </a:lnTo>
                  <a:lnTo>
                    <a:pt x="1594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FF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3863" name="Rectangle 2055"/>
            <p:cNvSpPr>
              <a:spLocks noChangeArrowheads="1"/>
            </p:cNvSpPr>
            <p:nvPr/>
          </p:nvSpPr>
          <p:spPr bwMode="auto">
            <a:xfrm>
              <a:off x="3736" y="2904"/>
              <a:ext cx="336" cy="96"/>
            </a:xfrm>
            <a:prstGeom prst="rect">
              <a:avLst/>
            </a:prstGeom>
            <a:solidFill>
              <a:srgbClr val="FF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3864" name="Rectangle 2056"/>
            <p:cNvSpPr>
              <a:spLocks noChangeArrowheads="1"/>
            </p:cNvSpPr>
            <p:nvPr/>
          </p:nvSpPr>
          <p:spPr bwMode="auto">
            <a:xfrm>
              <a:off x="4608" y="2688"/>
              <a:ext cx="192" cy="96"/>
            </a:xfrm>
            <a:prstGeom prst="rect">
              <a:avLst/>
            </a:prstGeom>
            <a:solidFill>
              <a:srgbClr val="FF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endParaRPr lang="en-US" sz="1800" b="1">
                <a:latin typeface="Helvetica" pitchFamily="34" charset="0"/>
              </a:endParaRPr>
            </a:p>
          </p:txBody>
        </p:sp>
        <p:sp>
          <p:nvSpPr>
            <p:cNvPr id="633865" name="Rectangle 2057"/>
            <p:cNvSpPr>
              <a:spLocks noChangeArrowheads="1"/>
            </p:cNvSpPr>
            <p:nvPr/>
          </p:nvSpPr>
          <p:spPr bwMode="auto">
            <a:xfrm>
              <a:off x="4224" y="3056"/>
              <a:ext cx="152" cy="72"/>
            </a:xfrm>
            <a:prstGeom prst="rect">
              <a:avLst/>
            </a:prstGeom>
            <a:solidFill>
              <a:srgbClr val="FF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endParaRPr lang="en-US" sz="1800" b="1">
                <a:latin typeface="Helvetica" pitchFamily="34" charset="0"/>
              </a:endParaRPr>
            </a:p>
          </p:txBody>
        </p:sp>
        <p:sp>
          <p:nvSpPr>
            <p:cNvPr id="633866" name="Rectangle 2058"/>
            <p:cNvSpPr>
              <a:spLocks noChangeArrowheads="1"/>
            </p:cNvSpPr>
            <p:nvPr/>
          </p:nvSpPr>
          <p:spPr bwMode="auto">
            <a:xfrm>
              <a:off x="4224" y="2584"/>
              <a:ext cx="152" cy="72"/>
            </a:xfrm>
            <a:prstGeom prst="rect">
              <a:avLst/>
            </a:prstGeom>
            <a:solidFill>
              <a:srgbClr val="FF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endParaRPr lang="en-US" sz="1800" b="1">
                <a:latin typeface="Helvetica" pitchFamily="34" charset="0"/>
              </a:endParaRPr>
            </a:p>
          </p:txBody>
        </p:sp>
        <p:sp>
          <p:nvSpPr>
            <p:cNvPr id="633867" name="Rectangle 2059"/>
            <p:cNvSpPr>
              <a:spLocks noChangeArrowheads="1"/>
            </p:cNvSpPr>
            <p:nvPr/>
          </p:nvSpPr>
          <p:spPr bwMode="auto">
            <a:xfrm>
              <a:off x="3528" y="2512"/>
              <a:ext cx="240" cy="624"/>
            </a:xfrm>
            <a:prstGeom prst="rect">
              <a:avLst/>
            </a:prstGeom>
            <a:solidFill>
              <a:srgbClr val="FF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3868" name="Rectangle 2060"/>
            <p:cNvSpPr>
              <a:spLocks noChangeArrowheads="1"/>
            </p:cNvSpPr>
            <p:nvPr/>
          </p:nvSpPr>
          <p:spPr bwMode="auto">
            <a:xfrm>
              <a:off x="5328" y="2224"/>
              <a:ext cx="144" cy="104"/>
            </a:xfrm>
            <a:prstGeom prst="rect">
              <a:avLst/>
            </a:pr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3869" name="Rectangle 2061"/>
            <p:cNvSpPr>
              <a:spLocks noChangeArrowheads="1"/>
            </p:cNvSpPr>
            <p:nvPr/>
          </p:nvSpPr>
          <p:spPr bwMode="auto">
            <a:xfrm>
              <a:off x="5280" y="2232"/>
              <a:ext cx="96" cy="696"/>
            </a:xfrm>
            <a:prstGeom prst="rect">
              <a:avLst/>
            </a:pr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3870" name="Rectangle 2062"/>
            <p:cNvSpPr>
              <a:spLocks noChangeArrowheads="1"/>
            </p:cNvSpPr>
            <p:nvPr/>
          </p:nvSpPr>
          <p:spPr bwMode="auto">
            <a:xfrm>
              <a:off x="5232" y="2832"/>
              <a:ext cx="144" cy="104"/>
            </a:xfrm>
            <a:prstGeom prst="rect">
              <a:avLst/>
            </a:pr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3871" name="Rectangle 2063"/>
            <p:cNvSpPr>
              <a:spLocks noChangeArrowheads="1"/>
            </p:cNvSpPr>
            <p:nvPr/>
          </p:nvSpPr>
          <p:spPr bwMode="auto">
            <a:xfrm>
              <a:off x="4952" y="2592"/>
              <a:ext cx="288" cy="576"/>
            </a:xfrm>
            <a:prstGeom prst="rect">
              <a:avLst/>
            </a:pr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3872" name="Rectangle 2064"/>
            <p:cNvSpPr>
              <a:spLocks noChangeArrowheads="1"/>
            </p:cNvSpPr>
            <p:nvPr/>
          </p:nvSpPr>
          <p:spPr bwMode="auto">
            <a:xfrm>
              <a:off x="5640" y="2216"/>
              <a:ext cx="120" cy="112"/>
            </a:xfrm>
            <a:prstGeom prst="rect">
              <a:avLst/>
            </a:pr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3873" name="Rectangle 2065"/>
            <p:cNvSpPr>
              <a:spLocks noChangeArrowheads="1"/>
            </p:cNvSpPr>
            <p:nvPr/>
          </p:nvSpPr>
          <p:spPr bwMode="auto">
            <a:xfrm>
              <a:off x="5664" y="1488"/>
              <a:ext cx="96" cy="816"/>
            </a:xfrm>
            <a:prstGeom prst="rect">
              <a:avLst/>
            </a:pr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3874" name="Rectangle 2066"/>
            <p:cNvSpPr>
              <a:spLocks noChangeArrowheads="1"/>
            </p:cNvSpPr>
            <p:nvPr/>
          </p:nvSpPr>
          <p:spPr bwMode="auto">
            <a:xfrm>
              <a:off x="0" y="1488"/>
              <a:ext cx="5760" cy="96"/>
            </a:xfrm>
            <a:prstGeom prst="rect">
              <a:avLst/>
            </a:pr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3875" name="Rectangle 2067"/>
            <p:cNvSpPr>
              <a:spLocks noChangeArrowheads="1"/>
            </p:cNvSpPr>
            <p:nvPr/>
          </p:nvSpPr>
          <p:spPr bwMode="auto">
            <a:xfrm>
              <a:off x="16" y="2472"/>
              <a:ext cx="192" cy="96"/>
            </a:xfrm>
            <a:prstGeom prst="rect">
              <a:avLst/>
            </a:pr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3876" name="Rectangle 2068"/>
            <p:cNvSpPr>
              <a:spLocks noChangeArrowheads="1"/>
            </p:cNvSpPr>
            <p:nvPr/>
          </p:nvSpPr>
          <p:spPr bwMode="auto">
            <a:xfrm>
              <a:off x="0" y="1488"/>
              <a:ext cx="96" cy="1104"/>
            </a:xfrm>
            <a:prstGeom prst="rect">
              <a:avLst/>
            </a:pr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3877" name="Rectangle 2069"/>
            <p:cNvSpPr>
              <a:spLocks noChangeArrowheads="1"/>
            </p:cNvSpPr>
            <p:nvPr/>
          </p:nvSpPr>
          <p:spPr bwMode="auto">
            <a:xfrm>
              <a:off x="128" y="2248"/>
              <a:ext cx="288" cy="528"/>
            </a:xfrm>
            <a:prstGeom prst="rect">
              <a:avLst/>
            </a:pr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633878" name="Rectangle 2070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990600"/>
          </a:xfrm>
        </p:spPr>
        <p:txBody>
          <a:bodyPr/>
          <a:lstStyle/>
          <a:p>
            <a:r>
              <a:rPr lang="en-US" sz="4000" dirty="0" smtClean="0"/>
              <a:t>Control </a:t>
            </a:r>
            <a:r>
              <a:rPr lang="en-US" sz="4000" dirty="0"/>
              <a:t>Step (3</a:t>
            </a:r>
            <a:r>
              <a:rPr lang="en-US" sz="4000" dirty="0" smtClean="0"/>
              <a:t>): Branch </a:t>
            </a:r>
            <a:r>
              <a:rPr lang="en-US" sz="4000" dirty="0"/>
              <a:t>Instructions</a:t>
            </a:r>
          </a:p>
        </p:txBody>
      </p:sp>
      <p:sp>
        <p:nvSpPr>
          <p:cNvPr id="633879" name="Rectangle 2071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114800"/>
          </a:xfrm>
        </p:spPr>
        <p:txBody>
          <a:bodyPr/>
          <a:lstStyle/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sz="2000" dirty="0">
                <a:latin typeface="Courier" pitchFamily="49" charset="0"/>
              </a:rPr>
              <a:t>if (A == B) PC = </a:t>
            </a:r>
            <a:r>
              <a:rPr lang="en-US" sz="2000" dirty="0" err="1">
                <a:latin typeface="Courier" pitchFamily="49" charset="0"/>
              </a:rPr>
              <a:t>ALUOut</a:t>
            </a:r>
            <a:r>
              <a:rPr lang="en-US" sz="2000" dirty="0">
                <a:latin typeface="Courier" pitchFamily="49" charset="0"/>
              </a:rPr>
              <a:t>;</a:t>
            </a:r>
            <a:endParaRPr lang="en-US" sz="2000" dirty="0"/>
          </a:p>
        </p:txBody>
      </p:sp>
      <p:sp>
        <p:nvSpPr>
          <p:cNvPr id="633880" name="Text Box 2072"/>
          <p:cNvSpPr txBox="1">
            <a:spLocks noChangeArrowheads="1"/>
          </p:cNvSpPr>
          <p:nvPr/>
        </p:nvSpPr>
        <p:spPr bwMode="auto">
          <a:xfrm>
            <a:off x="4468813" y="4795838"/>
            <a:ext cx="311150" cy="3667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0</a:t>
            </a:r>
            <a:endParaRPr lang="en-US" sz="1800" b="1">
              <a:latin typeface="Helvetica" pitchFamily="34" charset="0"/>
            </a:endParaRPr>
          </a:p>
        </p:txBody>
      </p:sp>
      <p:sp>
        <p:nvSpPr>
          <p:cNvPr id="633881" name="Text Box 2073"/>
          <p:cNvSpPr txBox="1">
            <a:spLocks noChangeArrowheads="1"/>
          </p:cNvSpPr>
          <p:nvPr/>
        </p:nvSpPr>
        <p:spPr bwMode="auto">
          <a:xfrm>
            <a:off x="3606800" y="4478338"/>
            <a:ext cx="336550" cy="3667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X</a:t>
            </a:r>
            <a:endParaRPr lang="en-US" sz="1800" b="1">
              <a:latin typeface="Helvetica" pitchFamily="34" charset="0"/>
            </a:endParaRPr>
          </a:p>
        </p:txBody>
      </p:sp>
      <p:sp>
        <p:nvSpPr>
          <p:cNvPr id="633882" name="Text Box 2074"/>
          <p:cNvSpPr txBox="1">
            <a:spLocks noChangeArrowheads="1"/>
          </p:cNvSpPr>
          <p:nvPr/>
        </p:nvSpPr>
        <p:spPr bwMode="auto">
          <a:xfrm>
            <a:off x="5700713" y="3094038"/>
            <a:ext cx="336550" cy="3667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X</a:t>
            </a:r>
            <a:endParaRPr lang="en-US" sz="1800" b="1">
              <a:latin typeface="Helvetica" pitchFamily="34" charset="0"/>
            </a:endParaRPr>
          </a:p>
        </p:txBody>
      </p:sp>
      <p:sp>
        <p:nvSpPr>
          <p:cNvPr id="633883" name="Text Box 2075"/>
          <p:cNvSpPr txBox="1">
            <a:spLocks noChangeArrowheads="1"/>
          </p:cNvSpPr>
          <p:nvPr/>
        </p:nvSpPr>
        <p:spPr bwMode="auto">
          <a:xfrm>
            <a:off x="6446838" y="5087938"/>
            <a:ext cx="311150" cy="3667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0</a:t>
            </a:r>
            <a:endParaRPr lang="en-US" sz="1800" b="1">
              <a:latin typeface="Helvetica" pitchFamily="34" charset="0"/>
            </a:endParaRPr>
          </a:p>
        </p:txBody>
      </p:sp>
      <p:sp>
        <p:nvSpPr>
          <p:cNvPr id="633884" name="Text Box 2076"/>
          <p:cNvSpPr txBox="1">
            <a:spLocks noChangeArrowheads="1"/>
          </p:cNvSpPr>
          <p:nvPr/>
        </p:nvSpPr>
        <p:spPr bwMode="auto">
          <a:xfrm>
            <a:off x="1812925" y="4719638"/>
            <a:ext cx="311150" cy="3667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0</a:t>
            </a:r>
            <a:endParaRPr lang="en-US" sz="1800" b="1">
              <a:latin typeface="Helvetica" pitchFamily="34" charset="0"/>
            </a:endParaRPr>
          </a:p>
        </p:txBody>
      </p:sp>
      <p:sp>
        <p:nvSpPr>
          <p:cNvPr id="633885" name="Text Box 2077"/>
          <p:cNvSpPr txBox="1">
            <a:spLocks noChangeArrowheads="1"/>
          </p:cNvSpPr>
          <p:nvPr/>
        </p:nvSpPr>
        <p:spPr bwMode="auto">
          <a:xfrm>
            <a:off x="838200" y="2865438"/>
            <a:ext cx="336550" cy="3667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X</a:t>
            </a:r>
            <a:endParaRPr lang="en-US" sz="1800" b="1">
              <a:latin typeface="Helvetica" pitchFamily="34" charset="0"/>
            </a:endParaRPr>
          </a:p>
        </p:txBody>
      </p:sp>
      <p:sp>
        <p:nvSpPr>
          <p:cNvPr id="633886" name="Text Box 2078"/>
          <p:cNvSpPr txBox="1">
            <a:spLocks noChangeArrowheads="1"/>
          </p:cNvSpPr>
          <p:nvPr/>
        </p:nvSpPr>
        <p:spPr bwMode="auto">
          <a:xfrm>
            <a:off x="1811338" y="3017838"/>
            <a:ext cx="311150" cy="3667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0</a:t>
            </a:r>
            <a:endParaRPr lang="en-US" sz="1800" b="1">
              <a:latin typeface="Helvetica" pitchFamily="34" charset="0"/>
            </a:endParaRPr>
          </a:p>
        </p:txBody>
      </p:sp>
      <p:sp>
        <p:nvSpPr>
          <p:cNvPr id="633887" name="Text Box 2079"/>
          <p:cNvSpPr txBox="1">
            <a:spLocks noChangeArrowheads="1"/>
          </p:cNvSpPr>
          <p:nvPr/>
        </p:nvSpPr>
        <p:spPr bwMode="auto">
          <a:xfrm>
            <a:off x="6475413" y="2941638"/>
            <a:ext cx="311150" cy="3667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1</a:t>
            </a:r>
            <a:endParaRPr lang="en-US" sz="1800" b="1">
              <a:latin typeface="Helvetica" pitchFamily="34" charset="0"/>
            </a:endParaRPr>
          </a:p>
        </p:txBody>
      </p:sp>
      <p:sp>
        <p:nvSpPr>
          <p:cNvPr id="633888" name="Text Box 2080"/>
          <p:cNvSpPr txBox="1">
            <a:spLocks noChangeArrowheads="1"/>
          </p:cNvSpPr>
          <p:nvPr/>
        </p:nvSpPr>
        <p:spPr bwMode="auto">
          <a:xfrm>
            <a:off x="8683625" y="3779838"/>
            <a:ext cx="311150" cy="3667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1</a:t>
            </a:r>
            <a:endParaRPr lang="en-US" sz="1800" b="1">
              <a:latin typeface="Helvetica" pitchFamily="34" charset="0"/>
            </a:endParaRPr>
          </a:p>
        </p:txBody>
      </p:sp>
      <p:sp>
        <p:nvSpPr>
          <p:cNvPr id="633889" name="Text Box 2081"/>
          <p:cNvSpPr txBox="1">
            <a:spLocks noChangeArrowheads="1"/>
          </p:cNvSpPr>
          <p:nvPr/>
        </p:nvSpPr>
        <p:spPr bwMode="auto">
          <a:xfrm>
            <a:off x="6853238" y="3094038"/>
            <a:ext cx="565150" cy="3667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011</a:t>
            </a:r>
            <a:endParaRPr lang="en-US" sz="1800" b="1">
              <a:latin typeface="Helvetica" pitchFamily="34" charset="0"/>
            </a:endParaRPr>
          </a:p>
        </p:txBody>
      </p:sp>
      <p:sp>
        <p:nvSpPr>
          <p:cNvPr id="633890" name="Text Box 2082"/>
          <p:cNvSpPr txBox="1">
            <a:spLocks noChangeArrowheads="1"/>
          </p:cNvSpPr>
          <p:nvPr/>
        </p:nvSpPr>
        <p:spPr bwMode="auto">
          <a:xfrm>
            <a:off x="2827338" y="1570038"/>
            <a:ext cx="311150" cy="3667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0</a:t>
            </a:r>
            <a:endParaRPr lang="en-US" sz="1800" b="1">
              <a:latin typeface="Helvetica" pitchFamily="34" charset="0"/>
            </a:endParaRPr>
          </a:p>
        </p:txBody>
      </p:sp>
      <p:grpSp>
        <p:nvGrpSpPr>
          <p:cNvPr id="3" name="Group 2083"/>
          <p:cNvGrpSpPr>
            <a:grpSpLocks/>
          </p:cNvGrpSpPr>
          <p:nvPr/>
        </p:nvGrpSpPr>
        <p:grpSpPr bwMode="auto">
          <a:xfrm>
            <a:off x="228600" y="1524000"/>
            <a:ext cx="8709025" cy="3940175"/>
            <a:chOff x="144" y="1200"/>
            <a:chExt cx="5486" cy="2482"/>
          </a:xfrm>
        </p:grpSpPr>
        <p:sp>
          <p:nvSpPr>
            <p:cNvPr id="633892" name="Rectangle 2084"/>
            <p:cNvSpPr>
              <a:spLocks noChangeArrowheads="1"/>
            </p:cNvSpPr>
            <p:nvPr/>
          </p:nvSpPr>
          <p:spPr bwMode="auto">
            <a:xfrm>
              <a:off x="144" y="1728"/>
              <a:ext cx="480" cy="30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3893" name="Rectangle 2085"/>
            <p:cNvSpPr>
              <a:spLocks noChangeArrowheads="1"/>
            </p:cNvSpPr>
            <p:nvPr/>
          </p:nvSpPr>
          <p:spPr bwMode="auto">
            <a:xfrm>
              <a:off x="2777" y="3299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3894" name="Rectangle 2086"/>
            <p:cNvSpPr>
              <a:spLocks noChangeArrowheads="1"/>
            </p:cNvSpPr>
            <p:nvPr/>
          </p:nvSpPr>
          <p:spPr bwMode="auto">
            <a:xfrm>
              <a:off x="528" y="2016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3895" name="Rectangle 2087"/>
            <p:cNvSpPr>
              <a:spLocks noChangeArrowheads="1"/>
            </p:cNvSpPr>
            <p:nvPr/>
          </p:nvSpPr>
          <p:spPr bwMode="auto">
            <a:xfrm>
              <a:off x="1125" y="2112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3896" name="Rectangle 2088"/>
            <p:cNvSpPr>
              <a:spLocks noChangeArrowheads="1"/>
            </p:cNvSpPr>
            <p:nvPr/>
          </p:nvSpPr>
          <p:spPr bwMode="auto">
            <a:xfrm>
              <a:off x="1138" y="3264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3897" name="Rectangle 2089"/>
            <p:cNvSpPr>
              <a:spLocks noChangeArrowheads="1"/>
            </p:cNvSpPr>
            <p:nvPr/>
          </p:nvSpPr>
          <p:spPr bwMode="auto">
            <a:xfrm>
              <a:off x="1776" y="1200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3898" name="Rectangle 2090"/>
            <p:cNvSpPr>
              <a:spLocks noChangeArrowheads="1"/>
            </p:cNvSpPr>
            <p:nvPr/>
          </p:nvSpPr>
          <p:spPr bwMode="auto">
            <a:xfrm>
              <a:off x="2256" y="3113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3899" name="Rectangle 2091"/>
            <p:cNvSpPr>
              <a:spLocks noChangeArrowheads="1"/>
            </p:cNvSpPr>
            <p:nvPr/>
          </p:nvSpPr>
          <p:spPr bwMode="auto">
            <a:xfrm>
              <a:off x="3600" y="2242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3900" name="Rectangle 2092"/>
            <p:cNvSpPr>
              <a:spLocks noChangeArrowheads="1"/>
            </p:cNvSpPr>
            <p:nvPr/>
          </p:nvSpPr>
          <p:spPr bwMode="auto">
            <a:xfrm>
              <a:off x="4073" y="3490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3901" name="Rectangle 2093"/>
            <p:cNvSpPr>
              <a:spLocks noChangeArrowheads="1"/>
            </p:cNvSpPr>
            <p:nvPr/>
          </p:nvSpPr>
          <p:spPr bwMode="auto">
            <a:xfrm>
              <a:off x="4080" y="2119"/>
              <a:ext cx="192" cy="136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3902" name="Rectangle 2094"/>
            <p:cNvSpPr>
              <a:spLocks noChangeArrowheads="1"/>
            </p:cNvSpPr>
            <p:nvPr/>
          </p:nvSpPr>
          <p:spPr bwMode="auto">
            <a:xfrm>
              <a:off x="4368" y="2159"/>
              <a:ext cx="288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3903" name="Rectangle 2095"/>
            <p:cNvSpPr>
              <a:spLocks noChangeArrowheads="1"/>
            </p:cNvSpPr>
            <p:nvPr/>
          </p:nvSpPr>
          <p:spPr bwMode="auto">
            <a:xfrm>
              <a:off x="5438" y="2640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</p:grpSp>
      <p:pic>
        <p:nvPicPr>
          <p:cNvPr id="633904" name="Picture 209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884363"/>
            <a:ext cx="9113838" cy="4059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9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Mayank Pandey, MNNIT, Allahabad, India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338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338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338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338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338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338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338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338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338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338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338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338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338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338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6338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338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6338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338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6338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6338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6338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6338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6338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6338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3858" grpId="0" autoUpdateAnimBg="0"/>
      <p:bldP spid="633880" grpId="0" autoUpdateAnimBg="0"/>
      <p:bldP spid="633881" grpId="0" autoUpdateAnimBg="0"/>
      <p:bldP spid="633882" grpId="0" autoUpdateAnimBg="0"/>
      <p:bldP spid="633883" grpId="0" autoUpdateAnimBg="0"/>
      <p:bldP spid="633884" grpId="0" autoUpdateAnimBg="0"/>
      <p:bldP spid="633885" grpId="0" autoUpdateAnimBg="0"/>
      <p:bldP spid="633886" grpId="0" autoUpdateAnimBg="0"/>
      <p:bldP spid="633887" grpId="0" autoUpdateAnimBg="0"/>
      <p:bldP spid="633888" grpId="0" autoUpdateAnimBg="0"/>
      <p:bldP spid="633889" grpId="0" autoUpdateAnimBg="0"/>
      <p:bldP spid="633890" grpId="0" autoUpdateAnimBg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026"/>
          <p:cNvGrpSpPr>
            <a:grpSpLocks/>
          </p:cNvGrpSpPr>
          <p:nvPr/>
        </p:nvGrpSpPr>
        <p:grpSpPr bwMode="auto">
          <a:xfrm>
            <a:off x="0" y="2130425"/>
            <a:ext cx="9144000" cy="2667000"/>
            <a:chOff x="0" y="1411"/>
            <a:chExt cx="5760" cy="1680"/>
          </a:xfrm>
        </p:grpSpPr>
        <p:sp>
          <p:nvSpPr>
            <p:cNvPr id="634883" name="Rectangle 1027" descr="50%"/>
            <p:cNvSpPr>
              <a:spLocks noChangeArrowheads="1"/>
            </p:cNvSpPr>
            <p:nvPr/>
          </p:nvSpPr>
          <p:spPr bwMode="auto">
            <a:xfrm>
              <a:off x="3512" y="2443"/>
              <a:ext cx="288" cy="624"/>
            </a:xfrm>
            <a:prstGeom prst="rect">
              <a:avLst/>
            </a:prstGeom>
            <a:pattFill prst="pct50">
              <a:fgClr>
                <a:srgbClr val="FF9900"/>
              </a:fgClr>
              <a:bgClr>
                <a:srgbClr val="FFFFFF"/>
              </a:bgClr>
            </a:patt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4884" name="Rectangle 1028"/>
            <p:cNvSpPr>
              <a:spLocks noChangeArrowheads="1"/>
            </p:cNvSpPr>
            <p:nvPr/>
          </p:nvSpPr>
          <p:spPr bwMode="auto">
            <a:xfrm>
              <a:off x="4200" y="1867"/>
              <a:ext cx="336" cy="96"/>
            </a:xfrm>
            <a:prstGeom prst="rect">
              <a:avLst/>
            </a:prstGeom>
            <a:solidFill>
              <a:srgbClr val="00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4885" name="Rectangle 1029"/>
            <p:cNvSpPr>
              <a:spLocks noChangeArrowheads="1"/>
            </p:cNvSpPr>
            <p:nvPr/>
          </p:nvSpPr>
          <p:spPr bwMode="auto">
            <a:xfrm>
              <a:off x="5136" y="2035"/>
              <a:ext cx="336" cy="96"/>
            </a:xfrm>
            <a:prstGeom prst="rect">
              <a:avLst/>
            </a:pr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4886" name="Rectangle 1030"/>
            <p:cNvSpPr>
              <a:spLocks noChangeArrowheads="1"/>
            </p:cNvSpPr>
            <p:nvPr/>
          </p:nvSpPr>
          <p:spPr bwMode="auto">
            <a:xfrm>
              <a:off x="5136" y="1843"/>
              <a:ext cx="96" cy="288"/>
            </a:xfrm>
            <a:prstGeom prst="rect">
              <a:avLst/>
            </a:pr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4887" name="Rectangle 1031"/>
            <p:cNvSpPr>
              <a:spLocks noChangeArrowheads="1"/>
            </p:cNvSpPr>
            <p:nvPr/>
          </p:nvSpPr>
          <p:spPr bwMode="auto">
            <a:xfrm>
              <a:off x="4944" y="1859"/>
              <a:ext cx="240" cy="96"/>
            </a:xfrm>
            <a:prstGeom prst="rect">
              <a:avLst/>
            </a:pr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4888" name="Rectangle 1032" descr="50%"/>
            <p:cNvSpPr>
              <a:spLocks noChangeArrowheads="1"/>
            </p:cNvSpPr>
            <p:nvPr/>
          </p:nvSpPr>
          <p:spPr bwMode="auto">
            <a:xfrm>
              <a:off x="4944" y="2515"/>
              <a:ext cx="288" cy="576"/>
            </a:xfrm>
            <a:prstGeom prst="rect">
              <a:avLst/>
            </a:prstGeom>
            <a:pattFill prst="pct50">
              <a:fgClr>
                <a:srgbClr val="FF9900"/>
              </a:fgClr>
              <a:bgClr>
                <a:srgbClr val="FFFFFF"/>
              </a:bgClr>
            </a:patt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4889" name="Rectangle 1033"/>
            <p:cNvSpPr>
              <a:spLocks noChangeArrowheads="1"/>
            </p:cNvSpPr>
            <p:nvPr/>
          </p:nvSpPr>
          <p:spPr bwMode="auto">
            <a:xfrm>
              <a:off x="2016" y="1851"/>
              <a:ext cx="1968" cy="120"/>
            </a:xfrm>
            <a:prstGeom prst="rect">
              <a:avLst/>
            </a:prstGeom>
            <a:solidFill>
              <a:srgbClr val="00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4890" name="Rectangle 1034"/>
            <p:cNvSpPr>
              <a:spLocks noChangeArrowheads="1"/>
            </p:cNvSpPr>
            <p:nvPr/>
          </p:nvSpPr>
          <p:spPr bwMode="auto">
            <a:xfrm>
              <a:off x="1744" y="1643"/>
              <a:ext cx="288" cy="528"/>
            </a:xfrm>
            <a:prstGeom prst="rect">
              <a:avLst/>
            </a:prstGeom>
            <a:solidFill>
              <a:srgbClr val="00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4891" name="Rectangle 1035"/>
            <p:cNvSpPr>
              <a:spLocks noChangeArrowheads="1"/>
            </p:cNvSpPr>
            <p:nvPr/>
          </p:nvSpPr>
          <p:spPr bwMode="auto">
            <a:xfrm>
              <a:off x="4704" y="1523"/>
              <a:ext cx="96" cy="288"/>
            </a:xfrm>
            <a:prstGeom prst="rect">
              <a:avLst/>
            </a:pr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4892" name="Rectangle 1036"/>
            <p:cNvSpPr>
              <a:spLocks noChangeArrowheads="1"/>
            </p:cNvSpPr>
            <p:nvPr/>
          </p:nvSpPr>
          <p:spPr bwMode="auto">
            <a:xfrm>
              <a:off x="384" y="1531"/>
              <a:ext cx="4368" cy="96"/>
            </a:xfrm>
            <a:prstGeom prst="rect">
              <a:avLst/>
            </a:pr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4893" name="Rectangle 1037"/>
            <p:cNvSpPr>
              <a:spLocks noChangeArrowheads="1"/>
            </p:cNvSpPr>
            <p:nvPr/>
          </p:nvSpPr>
          <p:spPr bwMode="auto">
            <a:xfrm>
              <a:off x="5664" y="1459"/>
              <a:ext cx="96" cy="768"/>
            </a:xfrm>
            <a:prstGeom prst="rect">
              <a:avLst/>
            </a:pr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4894" name="Rectangle 1038"/>
            <p:cNvSpPr>
              <a:spLocks noChangeArrowheads="1"/>
            </p:cNvSpPr>
            <p:nvPr/>
          </p:nvSpPr>
          <p:spPr bwMode="auto">
            <a:xfrm>
              <a:off x="384" y="2419"/>
              <a:ext cx="96" cy="96"/>
            </a:xfrm>
            <a:prstGeom prst="rect">
              <a:avLst/>
            </a:pr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4895" name="Rectangle 1039"/>
            <p:cNvSpPr>
              <a:spLocks noChangeArrowheads="1"/>
            </p:cNvSpPr>
            <p:nvPr/>
          </p:nvSpPr>
          <p:spPr bwMode="auto">
            <a:xfrm>
              <a:off x="384" y="1555"/>
              <a:ext cx="96" cy="960"/>
            </a:xfrm>
            <a:prstGeom prst="rect">
              <a:avLst/>
            </a:pr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4896" name="Rectangle 1040"/>
            <p:cNvSpPr>
              <a:spLocks noChangeArrowheads="1"/>
            </p:cNvSpPr>
            <p:nvPr/>
          </p:nvSpPr>
          <p:spPr bwMode="auto">
            <a:xfrm>
              <a:off x="120" y="2171"/>
              <a:ext cx="288" cy="528"/>
            </a:xfrm>
            <a:prstGeom prst="rect">
              <a:avLst/>
            </a:pr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4897" name="Rectangle 1041"/>
            <p:cNvSpPr>
              <a:spLocks noChangeArrowheads="1"/>
            </p:cNvSpPr>
            <p:nvPr/>
          </p:nvSpPr>
          <p:spPr bwMode="auto">
            <a:xfrm>
              <a:off x="0" y="2395"/>
              <a:ext cx="192" cy="96"/>
            </a:xfrm>
            <a:prstGeom prst="rect">
              <a:avLst/>
            </a:pr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4898" name="Rectangle 1042"/>
            <p:cNvSpPr>
              <a:spLocks noChangeArrowheads="1"/>
            </p:cNvSpPr>
            <p:nvPr/>
          </p:nvSpPr>
          <p:spPr bwMode="auto">
            <a:xfrm>
              <a:off x="0" y="1411"/>
              <a:ext cx="96" cy="1056"/>
            </a:xfrm>
            <a:prstGeom prst="rect">
              <a:avLst/>
            </a:pr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4899" name="Rectangle 1043"/>
            <p:cNvSpPr>
              <a:spLocks noChangeArrowheads="1"/>
            </p:cNvSpPr>
            <p:nvPr/>
          </p:nvSpPr>
          <p:spPr bwMode="auto">
            <a:xfrm>
              <a:off x="0" y="1411"/>
              <a:ext cx="5760" cy="96"/>
            </a:xfrm>
            <a:prstGeom prst="rect">
              <a:avLst/>
            </a:pr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634900" name="Rectangle 1044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914400"/>
          </a:xfrm>
        </p:spPr>
        <p:txBody>
          <a:bodyPr/>
          <a:lstStyle/>
          <a:p>
            <a:r>
              <a:rPr lang="en-US" sz="3600" dirty="0" smtClean="0"/>
              <a:t>Multi-cycle </a:t>
            </a:r>
            <a:r>
              <a:rPr lang="en-US" sz="3600" dirty="0"/>
              <a:t>Execution Step (3</a:t>
            </a:r>
            <a:r>
              <a:rPr lang="en-US" sz="3600" dirty="0" smtClean="0"/>
              <a:t>): Jump </a:t>
            </a:r>
            <a:endParaRPr lang="en-US" sz="3600" dirty="0"/>
          </a:p>
        </p:txBody>
      </p:sp>
      <p:sp>
        <p:nvSpPr>
          <p:cNvPr id="634901" name="Rectangle 1045"/>
          <p:cNvSpPr>
            <a:spLocks noGrp="1" noChangeArrowheads="1"/>
          </p:cNvSpPr>
          <p:nvPr>
            <p:ph type="body" idx="1"/>
          </p:nvPr>
        </p:nvSpPr>
        <p:spPr>
          <a:xfrm>
            <a:off x="1219200" y="1371600"/>
            <a:ext cx="8077200" cy="4572000"/>
          </a:xfrm>
          <a:noFill/>
        </p:spPr>
        <p:txBody>
          <a:bodyPr/>
          <a:lstStyle/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sz="2000" dirty="0">
                <a:latin typeface="Courier" pitchFamily="49" charset="0"/>
              </a:rPr>
              <a:t>PC = PC[21-28] </a:t>
            </a:r>
            <a:r>
              <a:rPr lang="en-US" sz="2000" dirty="0" err="1">
                <a:latin typeface="Courier" pitchFamily="49" charset="0"/>
              </a:rPr>
              <a:t>concat</a:t>
            </a:r>
            <a:r>
              <a:rPr lang="en-US" sz="2000" dirty="0">
                <a:latin typeface="Courier" pitchFamily="49" charset="0"/>
              </a:rPr>
              <a:t> (IR[25-0] &lt;&lt; 2);</a:t>
            </a:r>
          </a:p>
        </p:txBody>
      </p:sp>
      <p:sp>
        <p:nvSpPr>
          <p:cNvPr id="634902" name="Text Box 1046"/>
          <p:cNvSpPr txBox="1">
            <a:spLocks noChangeArrowheads="1"/>
          </p:cNvSpPr>
          <p:nvPr/>
        </p:nvSpPr>
        <p:spPr bwMode="auto">
          <a:xfrm>
            <a:off x="4468813" y="4945063"/>
            <a:ext cx="311150" cy="3667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0</a:t>
            </a:r>
            <a:endParaRPr lang="en-US" sz="1800" b="1">
              <a:latin typeface="Helvetica" pitchFamily="34" charset="0"/>
            </a:endParaRPr>
          </a:p>
        </p:txBody>
      </p:sp>
      <p:sp>
        <p:nvSpPr>
          <p:cNvPr id="634903" name="Text Box 1047"/>
          <p:cNvSpPr txBox="1">
            <a:spLocks noChangeArrowheads="1"/>
          </p:cNvSpPr>
          <p:nvPr/>
        </p:nvSpPr>
        <p:spPr bwMode="auto">
          <a:xfrm>
            <a:off x="3606800" y="4627563"/>
            <a:ext cx="336550" cy="3667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X</a:t>
            </a:r>
            <a:endParaRPr lang="en-US" sz="1800" b="1">
              <a:latin typeface="Helvetica" pitchFamily="34" charset="0"/>
            </a:endParaRPr>
          </a:p>
        </p:txBody>
      </p:sp>
      <p:sp>
        <p:nvSpPr>
          <p:cNvPr id="634904" name="Text Box 1048"/>
          <p:cNvSpPr txBox="1">
            <a:spLocks noChangeArrowheads="1"/>
          </p:cNvSpPr>
          <p:nvPr/>
        </p:nvSpPr>
        <p:spPr bwMode="auto">
          <a:xfrm>
            <a:off x="5700713" y="3243263"/>
            <a:ext cx="336550" cy="3667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X</a:t>
            </a:r>
            <a:endParaRPr lang="en-US" sz="1800" b="1">
              <a:latin typeface="Helvetica" pitchFamily="34" charset="0"/>
            </a:endParaRPr>
          </a:p>
        </p:txBody>
      </p:sp>
      <p:sp>
        <p:nvSpPr>
          <p:cNvPr id="634905" name="Text Box 1049"/>
          <p:cNvSpPr txBox="1">
            <a:spLocks noChangeArrowheads="1"/>
          </p:cNvSpPr>
          <p:nvPr/>
        </p:nvSpPr>
        <p:spPr bwMode="auto">
          <a:xfrm>
            <a:off x="6435725" y="5237163"/>
            <a:ext cx="336550" cy="3667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X</a:t>
            </a:r>
            <a:endParaRPr lang="en-US" sz="1800" b="1">
              <a:latin typeface="Helvetica" pitchFamily="34" charset="0"/>
            </a:endParaRPr>
          </a:p>
        </p:txBody>
      </p:sp>
      <p:sp>
        <p:nvSpPr>
          <p:cNvPr id="634906" name="Text Box 1050"/>
          <p:cNvSpPr txBox="1">
            <a:spLocks noChangeArrowheads="1"/>
          </p:cNvSpPr>
          <p:nvPr/>
        </p:nvSpPr>
        <p:spPr bwMode="auto">
          <a:xfrm>
            <a:off x="1812925" y="4868863"/>
            <a:ext cx="311150" cy="3667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0</a:t>
            </a:r>
            <a:endParaRPr lang="en-US" sz="1800" b="1">
              <a:latin typeface="Helvetica" pitchFamily="34" charset="0"/>
            </a:endParaRPr>
          </a:p>
        </p:txBody>
      </p:sp>
      <p:sp>
        <p:nvSpPr>
          <p:cNvPr id="634907" name="Text Box 1051"/>
          <p:cNvSpPr txBox="1">
            <a:spLocks noChangeArrowheads="1"/>
          </p:cNvSpPr>
          <p:nvPr/>
        </p:nvSpPr>
        <p:spPr bwMode="auto">
          <a:xfrm>
            <a:off x="293688" y="2709863"/>
            <a:ext cx="311150" cy="3667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1</a:t>
            </a:r>
            <a:endParaRPr lang="en-US" sz="1800" b="1">
              <a:latin typeface="Helvetica" pitchFamily="34" charset="0"/>
            </a:endParaRPr>
          </a:p>
        </p:txBody>
      </p:sp>
      <p:sp>
        <p:nvSpPr>
          <p:cNvPr id="634908" name="Text Box 1052"/>
          <p:cNvSpPr txBox="1">
            <a:spLocks noChangeArrowheads="1"/>
          </p:cNvSpPr>
          <p:nvPr/>
        </p:nvSpPr>
        <p:spPr bwMode="auto">
          <a:xfrm>
            <a:off x="838200" y="3014663"/>
            <a:ext cx="336550" cy="3667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X</a:t>
            </a:r>
            <a:endParaRPr lang="en-US" sz="1800" b="1">
              <a:latin typeface="Helvetica" pitchFamily="34" charset="0"/>
            </a:endParaRPr>
          </a:p>
        </p:txBody>
      </p:sp>
      <p:sp>
        <p:nvSpPr>
          <p:cNvPr id="634909" name="Text Box 1053"/>
          <p:cNvSpPr txBox="1">
            <a:spLocks noChangeArrowheads="1"/>
          </p:cNvSpPr>
          <p:nvPr/>
        </p:nvSpPr>
        <p:spPr bwMode="auto">
          <a:xfrm>
            <a:off x="1811338" y="3167063"/>
            <a:ext cx="311150" cy="3667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0</a:t>
            </a:r>
            <a:endParaRPr lang="en-US" sz="1800" b="1">
              <a:latin typeface="Helvetica" pitchFamily="34" charset="0"/>
            </a:endParaRPr>
          </a:p>
        </p:txBody>
      </p:sp>
      <p:sp>
        <p:nvSpPr>
          <p:cNvPr id="634910" name="Text Box 1054"/>
          <p:cNvSpPr txBox="1">
            <a:spLocks noChangeArrowheads="1"/>
          </p:cNvSpPr>
          <p:nvPr/>
        </p:nvSpPr>
        <p:spPr bwMode="auto">
          <a:xfrm>
            <a:off x="6464300" y="3090863"/>
            <a:ext cx="336550" cy="3667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X</a:t>
            </a:r>
            <a:endParaRPr lang="en-US" sz="1800" b="1">
              <a:latin typeface="Helvetica" pitchFamily="34" charset="0"/>
            </a:endParaRPr>
          </a:p>
        </p:txBody>
      </p:sp>
      <p:sp>
        <p:nvSpPr>
          <p:cNvPr id="634911" name="Text Box 1055"/>
          <p:cNvSpPr txBox="1">
            <a:spLocks noChangeArrowheads="1"/>
          </p:cNvSpPr>
          <p:nvPr/>
        </p:nvSpPr>
        <p:spPr bwMode="auto">
          <a:xfrm>
            <a:off x="8683625" y="3929063"/>
            <a:ext cx="311150" cy="3667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2</a:t>
            </a:r>
            <a:endParaRPr lang="en-US" sz="1800" b="1">
              <a:latin typeface="Helvetica" pitchFamily="34" charset="0"/>
            </a:endParaRPr>
          </a:p>
        </p:txBody>
      </p:sp>
      <p:sp>
        <p:nvSpPr>
          <p:cNvPr id="634912" name="Text Box 1056"/>
          <p:cNvSpPr txBox="1">
            <a:spLocks noChangeArrowheads="1"/>
          </p:cNvSpPr>
          <p:nvPr/>
        </p:nvSpPr>
        <p:spPr bwMode="auto">
          <a:xfrm>
            <a:off x="6816725" y="3243263"/>
            <a:ext cx="641350" cy="3667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XXX</a:t>
            </a:r>
            <a:endParaRPr lang="en-US" sz="1800" b="1">
              <a:latin typeface="Helvetica" pitchFamily="34" charset="0"/>
            </a:endParaRPr>
          </a:p>
        </p:txBody>
      </p:sp>
      <p:sp>
        <p:nvSpPr>
          <p:cNvPr id="634913" name="Text Box 1057"/>
          <p:cNvSpPr txBox="1">
            <a:spLocks noChangeArrowheads="1"/>
          </p:cNvSpPr>
          <p:nvPr/>
        </p:nvSpPr>
        <p:spPr bwMode="auto">
          <a:xfrm>
            <a:off x="2843213" y="1719263"/>
            <a:ext cx="311150" cy="3667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0</a:t>
            </a:r>
            <a:endParaRPr lang="en-US" sz="1800" b="1">
              <a:latin typeface="Helvetica" pitchFamily="34" charset="0"/>
            </a:endParaRPr>
          </a:p>
        </p:txBody>
      </p:sp>
      <p:pic>
        <p:nvPicPr>
          <p:cNvPr id="634914" name="Picture 1058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2003425"/>
            <a:ext cx="9113838" cy="4059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3" name="Group 1059"/>
          <p:cNvGrpSpPr>
            <a:grpSpLocks/>
          </p:cNvGrpSpPr>
          <p:nvPr/>
        </p:nvGrpSpPr>
        <p:grpSpPr bwMode="auto">
          <a:xfrm>
            <a:off x="228600" y="1676400"/>
            <a:ext cx="8709025" cy="3940175"/>
            <a:chOff x="144" y="1200"/>
            <a:chExt cx="5486" cy="2482"/>
          </a:xfrm>
        </p:grpSpPr>
        <p:sp>
          <p:nvSpPr>
            <p:cNvPr id="634916" name="Rectangle 1060"/>
            <p:cNvSpPr>
              <a:spLocks noChangeArrowheads="1"/>
            </p:cNvSpPr>
            <p:nvPr/>
          </p:nvSpPr>
          <p:spPr bwMode="auto">
            <a:xfrm>
              <a:off x="2777" y="3299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4917" name="Rectangle 1061"/>
            <p:cNvSpPr>
              <a:spLocks noChangeArrowheads="1"/>
            </p:cNvSpPr>
            <p:nvPr/>
          </p:nvSpPr>
          <p:spPr bwMode="auto">
            <a:xfrm>
              <a:off x="144" y="1824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4918" name="Rectangle 1062"/>
            <p:cNvSpPr>
              <a:spLocks noChangeArrowheads="1"/>
            </p:cNvSpPr>
            <p:nvPr/>
          </p:nvSpPr>
          <p:spPr bwMode="auto">
            <a:xfrm>
              <a:off x="528" y="2016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4919" name="Rectangle 1063"/>
            <p:cNvSpPr>
              <a:spLocks noChangeArrowheads="1"/>
            </p:cNvSpPr>
            <p:nvPr/>
          </p:nvSpPr>
          <p:spPr bwMode="auto">
            <a:xfrm>
              <a:off x="1125" y="2112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4920" name="Rectangle 1064"/>
            <p:cNvSpPr>
              <a:spLocks noChangeArrowheads="1"/>
            </p:cNvSpPr>
            <p:nvPr/>
          </p:nvSpPr>
          <p:spPr bwMode="auto">
            <a:xfrm>
              <a:off x="1138" y="3264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4921" name="Rectangle 1065"/>
            <p:cNvSpPr>
              <a:spLocks noChangeArrowheads="1"/>
            </p:cNvSpPr>
            <p:nvPr/>
          </p:nvSpPr>
          <p:spPr bwMode="auto">
            <a:xfrm>
              <a:off x="1776" y="1200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4922" name="Rectangle 1066"/>
            <p:cNvSpPr>
              <a:spLocks noChangeArrowheads="1"/>
            </p:cNvSpPr>
            <p:nvPr/>
          </p:nvSpPr>
          <p:spPr bwMode="auto">
            <a:xfrm>
              <a:off x="2256" y="3113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4923" name="Rectangle 1067"/>
            <p:cNvSpPr>
              <a:spLocks noChangeArrowheads="1"/>
            </p:cNvSpPr>
            <p:nvPr/>
          </p:nvSpPr>
          <p:spPr bwMode="auto">
            <a:xfrm>
              <a:off x="3600" y="2242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4924" name="Rectangle 1068"/>
            <p:cNvSpPr>
              <a:spLocks noChangeArrowheads="1"/>
            </p:cNvSpPr>
            <p:nvPr/>
          </p:nvSpPr>
          <p:spPr bwMode="auto">
            <a:xfrm>
              <a:off x="4073" y="3490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4925" name="Rectangle 1069"/>
            <p:cNvSpPr>
              <a:spLocks noChangeArrowheads="1"/>
            </p:cNvSpPr>
            <p:nvPr/>
          </p:nvSpPr>
          <p:spPr bwMode="auto">
            <a:xfrm>
              <a:off x="4080" y="2119"/>
              <a:ext cx="192" cy="136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4926" name="Rectangle 1070"/>
            <p:cNvSpPr>
              <a:spLocks noChangeArrowheads="1"/>
            </p:cNvSpPr>
            <p:nvPr/>
          </p:nvSpPr>
          <p:spPr bwMode="auto">
            <a:xfrm>
              <a:off x="4368" y="2159"/>
              <a:ext cx="288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4927" name="Rectangle 1071"/>
            <p:cNvSpPr>
              <a:spLocks noChangeArrowheads="1"/>
            </p:cNvSpPr>
            <p:nvPr/>
          </p:nvSpPr>
          <p:spPr bwMode="auto">
            <a:xfrm>
              <a:off x="5438" y="2640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48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Mayank Pandey, MNNIT, Allahabad, India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349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349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349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349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349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349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349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349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349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349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349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349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349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349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6349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349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6349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349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6349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6349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6349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6349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6349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6349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02" grpId="0" autoUpdateAnimBg="0"/>
      <p:bldP spid="634903" grpId="0" autoUpdateAnimBg="0"/>
      <p:bldP spid="634904" grpId="0" autoUpdateAnimBg="0"/>
      <p:bldP spid="634905" grpId="0" autoUpdateAnimBg="0"/>
      <p:bldP spid="634906" grpId="0" autoUpdateAnimBg="0"/>
      <p:bldP spid="634907" grpId="0" autoUpdateAnimBg="0"/>
      <p:bldP spid="634908" grpId="0" autoUpdateAnimBg="0"/>
      <p:bldP spid="634909" grpId="0" autoUpdateAnimBg="0"/>
      <p:bldP spid="634910" grpId="0" autoUpdateAnimBg="0"/>
      <p:bldP spid="634911" grpId="0" autoUpdateAnimBg="0"/>
      <p:bldP spid="634912" grpId="0" autoUpdateAnimBg="0"/>
      <p:bldP spid="634913" grpId="0" autoUpdateAnimBg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02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8458200" cy="1143000"/>
          </a:xfrm>
        </p:spPr>
        <p:txBody>
          <a:bodyPr/>
          <a:lstStyle/>
          <a:p>
            <a:r>
              <a:rPr lang="en-US" sz="3600" dirty="0" smtClean="0"/>
              <a:t>Control </a:t>
            </a:r>
            <a:r>
              <a:rPr lang="en-US" sz="3600" dirty="0"/>
              <a:t>Step (4</a:t>
            </a:r>
            <a:r>
              <a:rPr lang="en-US" sz="3600" dirty="0" smtClean="0"/>
              <a:t>): Memory </a:t>
            </a:r>
            <a:r>
              <a:rPr lang="en-US" sz="3600" dirty="0"/>
              <a:t>Access - Read (</a:t>
            </a:r>
            <a:r>
              <a:rPr lang="en-US" sz="3600" dirty="0" err="1">
                <a:latin typeface="Courier New" pitchFamily="49" charset="0"/>
              </a:rPr>
              <a:t>lw</a:t>
            </a:r>
            <a:r>
              <a:rPr lang="en-US" sz="3600" dirty="0"/>
              <a:t>)</a:t>
            </a:r>
          </a:p>
        </p:txBody>
      </p:sp>
      <p:sp>
        <p:nvSpPr>
          <p:cNvPr id="641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114800"/>
          </a:xfrm>
        </p:spPr>
        <p:txBody>
          <a:bodyPr/>
          <a:lstStyle/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sz="2000">
                <a:latin typeface="Courier" pitchFamily="49" charset="0"/>
              </a:rPr>
              <a:t>MDR = Memory[ALUOut];</a:t>
            </a:r>
            <a:endParaRPr lang="en-US" sz="2000"/>
          </a:p>
        </p:txBody>
      </p:sp>
      <p:sp>
        <p:nvSpPr>
          <p:cNvPr id="641028" name="Text Box 4"/>
          <p:cNvSpPr txBox="1">
            <a:spLocks noChangeArrowheads="1"/>
          </p:cNvSpPr>
          <p:nvPr/>
        </p:nvSpPr>
        <p:spPr bwMode="auto">
          <a:xfrm>
            <a:off x="4468813" y="4922838"/>
            <a:ext cx="311150" cy="3667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0</a:t>
            </a:r>
            <a:endParaRPr lang="en-US" sz="1800" b="1">
              <a:latin typeface="Helvetica" pitchFamily="34" charset="0"/>
            </a:endParaRPr>
          </a:p>
        </p:txBody>
      </p:sp>
      <p:sp>
        <p:nvSpPr>
          <p:cNvPr id="641029" name="Text Box 5"/>
          <p:cNvSpPr txBox="1">
            <a:spLocks noChangeArrowheads="1"/>
          </p:cNvSpPr>
          <p:nvPr/>
        </p:nvSpPr>
        <p:spPr bwMode="auto">
          <a:xfrm>
            <a:off x="3606800" y="4605338"/>
            <a:ext cx="336550" cy="3667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X</a:t>
            </a:r>
            <a:endParaRPr lang="en-US" sz="1800" b="1">
              <a:latin typeface="Helvetica" pitchFamily="34" charset="0"/>
            </a:endParaRPr>
          </a:p>
        </p:txBody>
      </p:sp>
      <p:sp>
        <p:nvSpPr>
          <p:cNvPr id="641030" name="Text Box 6"/>
          <p:cNvSpPr txBox="1">
            <a:spLocks noChangeArrowheads="1"/>
          </p:cNvSpPr>
          <p:nvPr/>
        </p:nvSpPr>
        <p:spPr bwMode="auto">
          <a:xfrm>
            <a:off x="5700713" y="3221038"/>
            <a:ext cx="336550" cy="3667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X</a:t>
            </a:r>
            <a:endParaRPr lang="en-US" sz="1800" b="1">
              <a:latin typeface="Helvetica" pitchFamily="34" charset="0"/>
            </a:endParaRPr>
          </a:p>
        </p:txBody>
      </p:sp>
      <p:sp>
        <p:nvSpPr>
          <p:cNvPr id="641031" name="Text Box 7"/>
          <p:cNvSpPr txBox="1">
            <a:spLocks noChangeArrowheads="1"/>
          </p:cNvSpPr>
          <p:nvPr/>
        </p:nvSpPr>
        <p:spPr bwMode="auto">
          <a:xfrm>
            <a:off x="6435725" y="5214938"/>
            <a:ext cx="336550" cy="3667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X</a:t>
            </a:r>
            <a:endParaRPr lang="en-US" sz="1800" b="1">
              <a:latin typeface="Helvetica" pitchFamily="34" charset="0"/>
            </a:endParaRPr>
          </a:p>
        </p:txBody>
      </p:sp>
      <p:sp>
        <p:nvSpPr>
          <p:cNvPr id="641032" name="Text Box 8"/>
          <p:cNvSpPr txBox="1">
            <a:spLocks noChangeArrowheads="1"/>
          </p:cNvSpPr>
          <p:nvPr/>
        </p:nvSpPr>
        <p:spPr bwMode="auto">
          <a:xfrm>
            <a:off x="1812925" y="4846638"/>
            <a:ext cx="311150" cy="3667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1</a:t>
            </a:r>
            <a:endParaRPr lang="en-US" sz="1800" b="1">
              <a:latin typeface="Helvetica" pitchFamily="34" charset="0"/>
            </a:endParaRPr>
          </a:p>
        </p:txBody>
      </p:sp>
      <p:sp>
        <p:nvSpPr>
          <p:cNvPr id="641033" name="Text Box 9"/>
          <p:cNvSpPr txBox="1">
            <a:spLocks noChangeArrowheads="1"/>
          </p:cNvSpPr>
          <p:nvPr/>
        </p:nvSpPr>
        <p:spPr bwMode="auto">
          <a:xfrm>
            <a:off x="293688" y="2687638"/>
            <a:ext cx="311150" cy="3667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0</a:t>
            </a:r>
            <a:endParaRPr lang="en-US" sz="1800" b="1">
              <a:latin typeface="Helvetica" pitchFamily="34" charset="0"/>
            </a:endParaRPr>
          </a:p>
        </p:txBody>
      </p:sp>
      <p:sp>
        <p:nvSpPr>
          <p:cNvPr id="641034" name="Text Box 10"/>
          <p:cNvSpPr txBox="1">
            <a:spLocks noChangeArrowheads="1"/>
          </p:cNvSpPr>
          <p:nvPr/>
        </p:nvSpPr>
        <p:spPr bwMode="auto">
          <a:xfrm>
            <a:off x="849313" y="2992438"/>
            <a:ext cx="311150" cy="3667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1</a:t>
            </a:r>
            <a:endParaRPr lang="en-US" sz="1800" b="1">
              <a:latin typeface="Helvetica" pitchFamily="34" charset="0"/>
            </a:endParaRPr>
          </a:p>
        </p:txBody>
      </p:sp>
      <p:sp>
        <p:nvSpPr>
          <p:cNvPr id="641035" name="Text Box 11"/>
          <p:cNvSpPr txBox="1">
            <a:spLocks noChangeArrowheads="1"/>
          </p:cNvSpPr>
          <p:nvPr/>
        </p:nvSpPr>
        <p:spPr bwMode="auto">
          <a:xfrm>
            <a:off x="1811338" y="3144838"/>
            <a:ext cx="311150" cy="3667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0</a:t>
            </a:r>
            <a:endParaRPr lang="en-US" sz="1800" b="1">
              <a:latin typeface="Helvetica" pitchFamily="34" charset="0"/>
            </a:endParaRPr>
          </a:p>
        </p:txBody>
      </p:sp>
      <p:sp>
        <p:nvSpPr>
          <p:cNvPr id="641036" name="Text Box 12"/>
          <p:cNvSpPr txBox="1">
            <a:spLocks noChangeArrowheads="1"/>
          </p:cNvSpPr>
          <p:nvPr/>
        </p:nvSpPr>
        <p:spPr bwMode="auto">
          <a:xfrm>
            <a:off x="6464300" y="3068638"/>
            <a:ext cx="336550" cy="3667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X</a:t>
            </a:r>
            <a:endParaRPr lang="en-US" sz="1800" b="1">
              <a:latin typeface="Helvetica" pitchFamily="34" charset="0"/>
            </a:endParaRPr>
          </a:p>
        </p:txBody>
      </p:sp>
      <p:sp>
        <p:nvSpPr>
          <p:cNvPr id="641037" name="Text Box 13"/>
          <p:cNvSpPr txBox="1">
            <a:spLocks noChangeArrowheads="1"/>
          </p:cNvSpPr>
          <p:nvPr/>
        </p:nvSpPr>
        <p:spPr bwMode="auto">
          <a:xfrm>
            <a:off x="8672513" y="3906838"/>
            <a:ext cx="336550" cy="3667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X</a:t>
            </a:r>
            <a:endParaRPr lang="en-US" sz="1800" b="1">
              <a:latin typeface="Helvetica" pitchFamily="34" charset="0"/>
            </a:endParaRPr>
          </a:p>
        </p:txBody>
      </p:sp>
      <p:sp>
        <p:nvSpPr>
          <p:cNvPr id="641038" name="Text Box 14"/>
          <p:cNvSpPr txBox="1">
            <a:spLocks noChangeArrowheads="1"/>
          </p:cNvSpPr>
          <p:nvPr/>
        </p:nvSpPr>
        <p:spPr bwMode="auto">
          <a:xfrm>
            <a:off x="6816725" y="3221038"/>
            <a:ext cx="641350" cy="3667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XXX</a:t>
            </a:r>
            <a:endParaRPr lang="en-US" sz="1800" b="1">
              <a:latin typeface="Helvetica" pitchFamily="34" charset="0"/>
            </a:endParaRPr>
          </a:p>
        </p:txBody>
      </p:sp>
      <p:sp>
        <p:nvSpPr>
          <p:cNvPr id="641039" name="Text Box 15"/>
          <p:cNvSpPr txBox="1">
            <a:spLocks noChangeArrowheads="1"/>
          </p:cNvSpPr>
          <p:nvPr/>
        </p:nvSpPr>
        <p:spPr bwMode="auto">
          <a:xfrm>
            <a:off x="3208338" y="1824038"/>
            <a:ext cx="311150" cy="3667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0</a:t>
            </a:r>
            <a:endParaRPr lang="en-US" sz="1800" b="1">
              <a:latin typeface="Helvetica" pitchFamily="34" charset="0"/>
            </a:endParaRPr>
          </a:p>
        </p:txBody>
      </p:sp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203200" y="2463800"/>
            <a:ext cx="8331200" cy="3632200"/>
            <a:chOff x="128" y="1821"/>
            <a:chExt cx="5248" cy="2288"/>
          </a:xfrm>
        </p:grpSpPr>
        <p:sp>
          <p:nvSpPr>
            <p:cNvPr id="641041" name="Rectangle 17"/>
            <p:cNvSpPr>
              <a:spLocks noChangeArrowheads="1"/>
            </p:cNvSpPr>
            <p:nvPr/>
          </p:nvSpPr>
          <p:spPr bwMode="auto">
            <a:xfrm>
              <a:off x="808" y="2520"/>
              <a:ext cx="816" cy="768"/>
            </a:xfrm>
            <a:prstGeom prst="rect">
              <a:avLst/>
            </a:prstGeom>
            <a:solidFill>
              <a:srgbClr val="FF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41042" name="Rectangle 18"/>
            <p:cNvSpPr>
              <a:spLocks noChangeArrowheads="1"/>
            </p:cNvSpPr>
            <p:nvPr/>
          </p:nvSpPr>
          <p:spPr bwMode="auto">
            <a:xfrm>
              <a:off x="128" y="2360"/>
              <a:ext cx="288" cy="528"/>
            </a:xfrm>
            <a:prstGeom prst="rect">
              <a:avLst/>
            </a:pr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41043" name="Rectangle 19"/>
            <p:cNvSpPr>
              <a:spLocks noChangeArrowheads="1"/>
            </p:cNvSpPr>
            <p:nvPr/>
          </p:nvSpPr>
          <p:spPr bwMode="auto">
            <a:xfrm>
              <a:off x="384" y="4013"/>
              <a:ext cx="4960" cy="96"/>
            </a:xfrm>
            <a:prstGeom prst="rect">
              <a:avLst/>
            </a:prstGeom>
            <a:solidFill>
              <a:srgbClr val="FF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41044" name="Rectangle 20"/>
            <p:cNvSpPr>
              <a:spLocks noChangeArrowheads="1"/>
            </p:cNvSpPr>
            <p:nvPr/>
          </p:nvSpPr>
          <p:spPr bwMode="auto">
            <a:xfrm flipH="1">
              <a:off x="392" y="2773"/>
              <a:ext cx="96" cy="1312"/>
            </a:xfrm>
            <a:prstGeom prst="rect">
              <a:avLst/>
            </a:prstGeom>
            <a:solidFill>
              <a:srgbClr val="FF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41045" name="Rectangle 21"/>
            <p:cNvSpPr>
              <a:spLocks noChangeArrowheads="1"/>
            </p:cNvSpPr>
            <p:nvPr/>
          </p:nvSpPr>
          <p:spPr bwMode="auto">
            <a:xfrm>
              <a:off x="392" y="2725"/>
              <a:ext cx="192" cy="96"/>
            </a:xfrm>
            <a:prstGeom prst="rect">
              <a:avLst/>
            </a:prstGeom>
            <a:solidFill>
              <a:srgbClr val="FF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41046" name="Rectangle 22"/>
            <p:cNvSpPr>
              <a:spLocks noChangeArrowheads="1"/>
            </p:cNvSpPr>
            <p:nvPr/>
          </p:nvSpPr>
          <p:spPr bwMode="auto">
            <a:xfrm>
              <a:off x="688" y="2661"/>
              <a:ext cx="192" cy="96"/>
            </a:xfrm>
            <a:prstGeom prst="rect">
              <a:avLst/>
            </a:prstGeom>
            <a:solidFill>
              <a:srgbClr val="FF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41047" name="Rectangle 23"/>
            <p:cNvSpPr>
              <a:spLocks noChangeArrowheads="1"/>
            </p:cNvSpPr>
            <p:nvPr/>
          </p:nvSpPr>
          <p:spPr bwMode="auto">
            <a:xfrm flipH="1">
              <a:off x="5280" y="2976"/>
              <a:ext cx="96" cy="1117"/>
            </a:xfrm>
            <a:prstGeom prst="rect">
              <a:avLst/>
            </a:prstGeom>
            <a:solidFill>
              <a:srgbClr val="FF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41048" name="Rectangle 24"/>
            <p:cNvSpPr>
              <a:spLocks noChangeArrowheads="1"/>
            </p:cNvSpPr>
            <p:nvPr/>
          </p:nvSpPr>
          <p:spPr bwMode="auto">
            <a:xfrm>
              <a:off x="5176" y="2989"/>
              <a:ext cx="120" cy="83"/>
            </a:xfrm>
            <a:prstGeom prst="rect">
              <a:avLst/>
            </a:prstGeom>
            <a:solidFill>
              <a:srgbClr val="FF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41049" name="Rectangle 25" descr="50%"/>
            <p:cNvSpPr>
              <a:spLocks noChangeArrowheads="1"/>
            </p:cNvSpPr>
            <p:nvPr/>
          </p:nvSpPr>
          <p:spPr bwMode="auto">
            <a:xfrm>
              <a:off x="3504" y="2629"/>
              <a:ext cx="296" cy="624"/>
            </a:xfrm>
            <a:prstGeom prst="rect">
              <a:avLst/>
            </a:prstGeom>
            <a:pattFill prst="pct50">
              <a:fgClr>
                <a:srgbClr val="FF9900"/>
              </a:fgClr>
              <a:bgClr>
                <a:srgbClr val="FFFFFF"/>
              </a:bgClr>
            </a:patt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41050" name="Rectangle 26"/>
            <p:cNvSpPr>
              <a:spLocks noChangeArrowheads="1"/>
            </p:cNvSpPr>
            <p:nvPr/>
          </p:nvSpPr>
          <p:spPr bwMode="auto">
            <a:xfrm>
              <a:off x="4960" y="2725"/>
              <a:ext cx="280" cy="539"/>
            </a:xfrm>
            <a:prstGeom prst="rect">
              <a:avLst/>
            </a:prstGeom>
            <a:solidFill>
              <a:srgbClr val="FF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41051" name="Rectangle 27"/>
            <p:cNvSpPr>
              <a:spLocks noChangeArrowheads="1"/>
            </p:cNvSpPr>
            <p:nvPr/>
          </p:nvSpPr>
          <p:spPr bwMode="auto">
            <a:xfrm>
              <a:off x="1744" y="1821"/>
              <a:ext cx="288" cy="528"/>
            </a:xfrm>
            <a:prstGeom prst="rect">
              <a:avLst/>
            </a:prstGeom>
            <a:solidFill>
              <a:srgbClr val="00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41052" name="Rectangle 28"/>
            <p:cNvSpPr>
              <a:spLocks noChangeArrowheads="1"/>
            </p:cNvSpPr>
            <p:nvPr/>
          </p:nvSpPr>
          <p:spPr bwMode="auto">
            <a:xfrm>
              <a:off x="1632" y="2797"/>
              <a:ext cx="80" cy="144"/>
            </a:xfrm>
            <a:prstGeom prst="rect">
              <a:avLst/>
            </a:prstGeom>
            <a:solidFill>
              <a:srgbClr val="FF33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41053" name="Rectangle 29"/>
            <p:cNvSpPr>
              <a:spLocks noChangeArrowheads="1"/>
            </p:cNvSpPr>
            <p:nvPr/>
          </p:nvSpPr>
          <p:spPr bwMode="auto">
            <a:xfrm>
              <a:off x="1568" y="2869"/>
              <a:ext cx="144" cy="96"/>
            </a:xfrm>
            <a:prstGeom prst="rect">
              <a:avLst/>
            </a:prstGeom>
            <a:solidFill>
              <a:srgbClr val="FF33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41054" name="Rectangle 30"/>
            <p:cNvSpPr>
              <a:spLocks noChangeArrowheads="1"/>
            </p:cNvSpPr>
            <p:nvPr/>
          </p:nvSpPr>
          <p:spPr bwMode="auto">
            <a:xfrm>
              <a:off x="1632" y="2749"/>
              <a:ext cx="144" cy="96"/>
            </a:xfrm>
            <a:prstGeom prst="rect">
              <a:avLst/>
            </a:prstGeom>
            <a:solidFill>
              <a:srgbClr val="FF33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41055" name="Rectangle 31"/>
            <p:cNvSpPr>
              <a:spLocks noChangeArrowheads="1"/>
            </p:cNvSpPr>
            <p:nvPr/>
          </p:nvSpPr>
          <p:spPr bwMode="auto">
            <a:xfrm flipV="1">
              <a:off x="1744" y="2525"/>
              <a:ext cx="288" cy="576"/>
            </a:xfrm>
            <a:prstGeom prst="rect">
              <a:avLst/>
            </a:prstGeom>
            <a:solidFill>
              <a:srgbClr val="FF33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</p:grpSp>
      <p:pic>
        <p:nvPicPr>
          <p:cNvPr id="641056" name="Picture 3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2006600"/>
            <a:ext cx="9113838" cy="4059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3" name="Group 33"/>
          <p:cNvGrpSpPr>
            <a:grpSpLocks/>
          </p:cNvGrpSpPr>
          <p:nvPr/>
        </p:nvGrpSpPr>
        <p:grpSpPr bwMode="auto">
          <a:xfrm>
            <a:off x="228600" y="1843088"/>
            <a:ext cx="8709025" cy="3744912"/>
            <a:chOff x="144" y="1193"/>
            <a:chExt cx="5486" cy="2359"/>
          </a:xfrm>
        </p:grpSpPr>
        <p:sp>
          <p:nvSpPr>
            <p:cNvPr id="641058" name="Rectangle 34"/>
            <p:cNvSpPr>
              <a:spLocks noChangeArrowheads="1"/>
            </p:cNvSpPr>
            <p:nvPr/>
          </p:nvSpPr>
          <p:spPr bwMode="auto">
            <a:xfrm>
              <a:off x="2777" y="3169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41059" name="Rectangle 35"/>
            <p:cNvSpPr>
              <a:spLocks noChangeArrowheads="1"/>
            </p:cNvSpPr>
            <p:nvPr/>
          </p:nvSpPr>
          <p:spPr bwMode="auto">
            <a:xfrm>
              <a:off x="144" y="1694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41060" name="Rectangle 36"/>
            <p:cNvSpPr>
              <a:spLocks noChangeArrowheads="1"/>
            </p:cNvSpPr>
            <p:nvPr/>
          </p:nvSpPr>
          <p:spPr bwMode="auto">
            <a:xfrm>
              <a:off x="528" y="1865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41061" name="Rectangle 37"/>
            <p:cNvSpPr>
              <a:spLocks noChangeArrowheads="1"/>
            </p:cNvSpPr>
            <p:nvPr/>
          </p:nvSpPr>
          <p:spPr bwMode="auto">
            <a:xfrm>
              <a:off x="1125" y="1982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41062" name="Rectangle 38"/>
            <p:cNvSpPr>
              <a:spLocks noChangeArrowheads="1"/>
            </p:cNvSpPr>
            <p:nvPr/>
          </p:nvSpPr>
          <p:spPr bwMode="auto">
            <a:xfrm>
              <a:off x="1138" y="3134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41063" name="Rectangle 39"/>
            <p:cNvSpPr>
              <a:spLocks noChangeArrowheads="1"/>
            </p:cNvSpPr>
            <p:nvPr/>
          </p:nvSpPr>
          <p:spPr bwMode="auto">
            <a:xfrm>
              <a:off x="2016" y="1193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41064" name="Rectangle 40"/>
            <p:cNvSpPr>
              <a:spLocks noChangeArrowheads="1"/>
            </p:cNvSpPr>
            <p:nvPr/>
          </p:nvSpPr>
          <p:spPr bwMode="auto">
            <a:xfrm>
              <a:off x="2256" y="2983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41065" name="Rectangle 41"/>
            <p:cNvSpPr>
              <a:spLocks noChangeArrowheads="1"/>
            </p:cNvSpPr>
            <p:nvPr/>
          </p:nvSpPr>
          <p:spPr bwMode="auto">
            <a:xfrm>
              <a:off x="3600" y="2112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41066" name="Rectangle 42"/>
            <p:cNvSpPr>
              <a:spLocks noChangeArrowheads="1"/>
            </p:cNvSpPr>
            <p:nvPr/>
          </p:nvSpPr>
          <p:spPr bwMode="auto">
            <a:xfrm>
              <a:off x="4073" y="3360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41067" name="Rectangle 43"/>
            <p:cNvSpPr>
              <a:spLocks noChangeArrowheads="1"/>
            </p:cNvSpPr>
            <p:nvPr/>
          </p:nvSpPr>
          <p:spPr bwMode="auto">
            <a:xfrm>
              <a:off x="4080" y="1989"/>
              <a:ext cx="192" cy="136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41068" name="Rectangle 44"/>
            <p:cNvSpPr>
              <a:spLocks noChangeArrowheads="1"/>
            </p:cNvSpPr>
            <p:nvPr/>
          </p:nvSpPr>
          <p:spPr bwMode="auto">
            <a:xfrm>
              <a:off x="4368" y="2029"/>
              <a:ext cx="288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41069" name="Rectangle 45"/>
            <p:cNvSpPr>
              <a:spLocks noChangeArrowheads="1"/>
            </p:cNvSpPr>
            <p:nvPr/>
          </p:nvSpPr>
          <p:spPr bwMode="auto">
            <a:xfrm>
              <a:off x="5438" y="2510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46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Mayank Pandey, MNNIT, Allahabad, India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410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410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410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410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410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410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410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410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410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410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410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410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4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4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6410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41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6410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410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6410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6410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6410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6410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6410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6410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1028" grpId="0" autoUpdateAnimBg="0"/>
      <p:bldP spid="641029" grpId="0" autoUpdateAnimBg="0"/>
      <p:bldP spid="641030" grpId="0" autoUpdateAnimBg="0"/>
      <p:bldP spid="641031" grpId="0" autoUpdateAnimBg="0"/>
      <p:bldP spid="641032" grpId="0" autoUpdateAnimBg="0"/>
      <p:bldP spid="641033" grpId="0" autoUpdateAnimBg="0"/>
      <p:bldP spid="641034" grpId="0" autoUpdateAnimBg="0"/>
      <p:bldP spid="641035" grpId="0" autoUpdateAnimBg="0"/>
      <p:bldP spid="641036" grpId="0" autoUpdateAnimBg="0"/>
      <p:bldP spid="641037" grpId="0" autoUpdateAnimBg="0"/>
      <p:bldP spid="641038" grpId="0" autoUpdateAnimBg="0"/>
      <p:bldP spid="641039" grpId="0" autoUpdateAnimBg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203200" y="2489200"/>
            <a:ext cx="8331200" cy="3683000"/>
            <a:chOff x="128" y="1568"/>
            <a:chExt cx="5248" cy="2320"/>
          </a:xfrm>
        </p:grpSpPr>
        <p:sp>
          <p:nvSpPr>
            <p:cNvPr id="642051" name="Rectangle 3"/>
            <p:cNvSpPr>
              <a:spLocks noChangeArrowheads="1"/>
            </p:cNvSpPr>
            <p:nvPr/>
          </p:nvSpPr>
          <p:spPr bwMode="auto">
            <a:xfrm>
              <a:off x="3504" y="2688"/>
              <a:ext cx="288" cy="336"/>
            </a:xfrm>
            <a:prstGeom prst="rect">
              <a:avLst/>
            </a:prstGeom>
            <a:solidFill>
              <a:srgbClr val="FF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42052" name="Rectangle 4"/>
            <p:cNvSpPr>
              <a:spLocks noChangeArrowheads="1"/>
            </p:cNvSpPr>
            <p:nvPr/>
          </p:nvSpPr>
          <p:spPr bwMode="auto">
            <a:xfrm>
              <a:off x="784" y="2280"/>
              <a:ext cx="816" cy="768"/>
            </a:xfrm>
            <a:prstGeom prst="rect">
              <a:avLst/>
            </a:prstGeom>
            <a:solidFill>
              <a:srgbClr val="FF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42053" name="Rectangle 5"/>
            <p:cNvSpPr>
              <a:spLocks noChangeArrowheads="1"/>
            </p:cNvSpPr>
            <p:nvPr/>
          </p:nvSpPr>
          <p:spPr bwMode="auto">
            <a:xfrm>
              <a:off x="704" y="2416"/>
              <a:ext cx="144" cy="104"/>
            </a:xfrm>
            <a:prstGeom prst="rect">
              <a:avLst/>
            </a:prstGeom>
            <a:solidFill>
              <a:srgbClr val="FF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42054" name="Rectangle 6"/>
            <p:cNvSpPr>
              <a:spLocks noChangeArrowheads="1"/>
            </p:cNvSpPr>
            <p:nvPr/>
          </p:nvSpPr>
          <p:spPr bwMode="auto">
            <a:xfrm>
              <a:off x="128" y="2120"/>
              <a:ext cx="288" cy="528"/>
            </a:xfrm>
            <a:prstGeom prst="rect">
              <a:avLst/>
            </a:pr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42055" name="Rectangle 7"/>
            <p:cNvSpPr>
              <a:spLocks noChangeArrowheads="1"/>
            </p:cNvSpPr>
            <p:nvPr/>
          </p:nvSpPr>
          <p:spPr bwMode="auto">
            <a:xfrm>
              <a:off x="1720" y="1568"/>
              <a:ext cx="336" cy="576"/>
            </a:xfrm>
            <a:prstGeom prst="rect">
              <a:avLst/>
            </a:prstGeom>
            <a:solidFill>
              <a:srgbClr val="00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42056" name="Rectangle 8"/>
            <p:cNvSpPr>
              <a:spLocks noChangeArrowheads="1"/>
            </p:cNvSpPr>
            <p:nvPr/>
          </p:nvSpPr>
          <p:spPr bwMode="auto">
            <a:xfrm>
              <a:off x="3768" y="2776"/>
              <a:ext cx="96" cy="960"/>
            </a:xfrm>
            <a:prstGeom prst="rect">
              <a:avLst/>
            </a:prstGeom>
            <a:solidFill>
              <a:srgbClr val="FF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42057" name="Rectangle 9"/>
            <p:cNvSpPr>
              <a:spLocks noChangeArrowheads="1"/>
            </p:cNvSpPr>
            <p:nvPr/>
          </p:nvSpPr>
          <p:spPr bwMode="auto">
            <a:xfrm>
              <a:off x="672" y="3680"/>
              <a:ext cx="3168" cy="96"/>
            </a:xfrm>
            <a:prstGeom prst="rect">
              <a:avLst/>
            </a:prstGeom>
            <a:solidFill>
              <a:srgbClr val="FF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42058" name="Rectangle 10"/>
            <p:cNvSpPr>
              <a:spLocks noChangeArrowheads="1"/>
            </p:cNvSpPr>
            <p:nvPr/>
          </p:nvSpPr>
          <p:spPr bwMode="auto">
            <a:xfrm>
              <a:off x="688" y="2832"/>
              <a:ext cx="96" cy="912"/>
            </a:xfrm>
            <a:prstGeom prst="rect">
              <a:avLst/>
            </a:prstGeom>
            <a:solidFill>
              <a:srgbClr val="FF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42059" name="Rectangle 11"/>
            <p:cNvSpPr>
              <a:spLocks noChangeArrowheads="1"/>
            </p:cNvSpPr>
            <p:nvPr/>
          </p:nvSpPr>
          <p:spPr bwMode="auto">
            <a:xfrm>
              <a:off x="696" y="2784"/>
              <a:ext cx="192" cy="96"/>
            </a:xfrm>
            <a:prstGeom prst="rect">
              <a:avLst/>
            </a:prstGeom>
            <a:solidFill>
              <a:srgbClr val="FF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42060" name="Rectangle 12" descr="50%"/>
            <p:cNvSpPr>
              <a:spLocks noChangeArrowheads="1"/>
            </p:cNvSpPr>
            <p:nvPr/>
          </p:nvSpPr>
          <p:spPr bwMode="auto">
            <a:xfrm>
              <a:off x="3512" y="2400"/>
              <a:ext cx="288" cy="288"/>
            </a:xfrm>
            <a:prstGeom prst="rect">
              <a:avLst/>
            </a:prstGeom>
            <a:pattFill prst="pct50">
              <a:fgClr>
                <a:srgbClr val="FF9900"/>
              </a:fgClr>
              <a:bgClr>
                <a:srgbClr val="FFFFFF"/>
              </a:bgClr>
            </a:patt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42061" name="Rectangle 13"/>
            <p:cNvSpPr>
              <a:spLocks noChangeArrowheads="1"/>
            </p:cNvSpPr>
            <p:nvPr/>
          </p:nvSpPr>
          <p:spPr bwMode="auto">
            <a:xfrm>
              <a:off x="5184" y="2712"/>
              <a:ext cx="176" cy="88"/>
            </a:xfrm>
            <a:prstGeom prst="rect">
              <a:avLst/>
            </a:prstGeom>
            <a:solidFill>
              <a:srgbClr val="FF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42062" name="Rectangle 14"/>
            <p:cNvSpPr>
              <a:spLocks noChangeArrowheads="1"/>
            </p:cNvSpPr>
            <p:nvPr/>
          </p:nvSpPr>
          <p:spPr bwMode="auto">
            <a:xfrm flipH="1">
              <a:off x="5280" y="2736"/>
              <a:ext cx="96" cy="1136"/>
            </a:xfrm>
            <a:prstGeom prst="rect">
              <a:avLst/>
            </a:prstGeom>
            <a:solidFill>
              <a:srgbClr val="FF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42063" name="Rectangle 15"/>
            <p:cNvSpPr>
              <a:spLocks noChangeArrowheads="1"/>
            </p:cNvSpPr>
            <p:nvPr/>
          </p:nvSpPr>
          <p:spPr bwMode="auto">
            <a:xfrm>
              <a:off x="4944" y="2456"/>
              <a:ext cx="288" cy="576"/>
            </a:xfrm>
            <a:prstGeom prst="rect">
              <a:avLst/>
            </a:prstGeom>
            <a:solidFill>
              <a:srgbClr val="FF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42064" name="Rectangle 16"/>
            <p:cNvSpPr>
              <a:spLocks noChangeArrowheads="1"/>
            </p:cNvSpPr>
            <p:nvPr/>
          </p:nvSpPr>
          <p:spPr bwMode="auto">
            <a:xfrm>
              <a:off x="384" y="3768"/>
              <a:ext cx="4944" cy="120"/>
            </a:xfrm>
            <a:prstGeom prst="rect">
              <a:avLst/>
            </a:prstGeom>
            <a:solidFill>
              <a:srgbClr val="FF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42065" name="Rectangle 17"/>
            <p:cNvSpPr>
              <a:spLocks noChangeArrowheads="1"/>
            </p:cNvSpPr>
            <p:nvPr/>
          </p:nvSpPr>
          <p:spPr bwMode="auto">
            <a:xfrm flipH="1">
              <a:off x="384" y="2496"/>
              <a:ext cx="96" cy="1344"/>
            </a:xfrm>
            <a:prstGeom prst="rect">
              <a:avLst/>
            </a:prstGeom>
            <a:solidFill>
              <a:srgbClr val="FF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42066" name="Rectangle 18"/>
            <p:cNvSpPr>
              <a:spLocks noChangeArrowheads="1"/>
            </p:cNvSpPr>
            <p:nvPr/>
          </p:nvSpPr>
          <p:spPr bwMode="auto">
            <a:xfrm>
              <a:off x="432" y="2488"/>
              <a:ext cx="144" cy="104"/>
            </a:xfrm>
            <a:prstGeom prst="rect">
              <a:avLst/>
            </a:prstGeom>
            <a:solidFill>
              <a:srgbClr val="FF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642067" name="Rectangle 19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/>
          <a:lstStyle/>
          <a:p>
            <a:r>
              <a:rPr lang="en-US" sz="3200" dirty="0" smtClean="0"/>
              <a:t>Execution </a:t>
            </a:r>
            <a:r>
              <a:rPr lang="en-US" sz="3200" dirty="0"/>
              <a:t>Steps (</a:t>
            </a:r>
            <a:r>
              <a:rPr lang="en-US" sz="3200" dirty="0" smtClean="0"/>
              <a:t>4) Memory </a:t>
            </a:r>
            <a:r>
              <a:rPr lang="en-US" sz="3200" dirty="0"/>
              <a:t>Access - Write (</a:t>
            </a:r>
            <a:r>
              <a:rPr lang="en-US" sz="3200" dirty="0" err="1"/>
              <a:t>sw</a:t>
            </a:r>
            <a:r>
              <a:rPr lang="en-US" sz="3200" dirty="0"/>
              <a:t>)</a:t>
            </a:r>
          </a:p>
        </p:txBody>
      </p:sp>
      <p:sp>
        <p:nvSpPr>
          <p:cNvPr id="642068" name="Rectangle 20"/>
          <p:cNvSpPr>
            <a:spLocks noGrp="1" noChangeArrowheads="1"/>
          </p:cNvSpPr>
          <p:nvPr>
            <p:ph type="body" idx="1"/>
          </p:nvPr>
        </p:nvSpPr>
        <p:spPr>
          <a:xfrm>
            <a:off x="1182688" y="1447800"/>
            <a:ext cx="7772400" cy="4114800"/>
          </a:xfrm>
        </p:spPr>
        <p:txBody>
          <a:bodyPr/>
          <a:lstStyle/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sz="2000">
                <a:latin typeface="Courier" pitchFamily="49" charset="0"/>
              </a:rPr>
              <a:t>Memory[ALUOut] = B;</a:t>
            </a:r>
            <a:endParaRPr lang="en-US" sz="2000"/>
          </a:p>
        </p:txBody>
      </p:sp>
      <p:sp>
        <p:nvSpPr>
          <p:cNvPr id="642069" name="Text Box 21"/>
          <p:cNvSpPr txBox="1">
            <a:spLocks noChangeArrowheads="1"/>
          </p:cNvSpPr>
          <p:nvPr/>
        </p:nvSpPr>
        <p:spPr bwMode="auto">
          <a:xfrm>
            <a:off x="4468813" y="4973638"/>
            <a:ext cx="311150" cy="3667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0</a:t>
            </a:r>
            <a:endParaRPr lang="en-US" sz="1800" b="1">
              <a:latin typeface="Helvetica" pitchFamily="34" charset="0"/>
            </a:endParaRPr>
          </a:p>
        </p:txBody>
      </p:sp>
      <p:sp>
        <p:nvSpPr>
          <p:cNvPr id="642070" name="Text Box 22"/>
          <p:cNvSpPr txBox="1">
            <a:spLocks noChangeArrowheads="1"/>
          </p:cNvSpPr>
          <p:nvPr/>
        </p:nvSpPr>
        <p:spPr bwMode="auto">
          <a:xfrm>
            <a:off x="3606800" y="4656138"/>
            <a:ext cx="336550" cy="3667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X</a:t>
            </a:r>
            <a:endParaRPr lang="en-US" sz="1800" b="1">
              <a:latin typeface="Helvetica" pitchFamily="34" charset="0"/>
            </a:endParaRPr>
          </a:p>
        </p:txBody>
      </p:sp>
      <p:sp>
        <p:nvSpPr>
          <p:cNvPr id="642071" name="Text Box 23"/>
          <p:cNvSpPr txBox="1">
            <a:spLocks noChangeArrowheads="1"/>
          </p:cNvSpPr>
          <p:nvPr/>
        </p:nvSpPr>
        <p:spPr bwMode="auto">
          <a:xfrm>
            <a:off x="5700713" y="3271838"/>
            <a:ext cx="336550" cy="3667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X</a:t>
            </a:r>
            <a:endParaRPr lang="en-US" sz="1800" b="1">
              <a:latin typeface="Helvetica" pitchFamily="34" charset="0"/>
            </a:endParaRPr>
          </a:p>
        </p:txBody>
      </p:sp>
      <p:sp>
        <p:nvSpPr>
          <p:cNvPr id="642072" name="Text Box 24"/>
          <p:cNvSpPr txBox="1">
            <a:spLocks noChangeArrowheads="1"/>
          </p:cNvSpPr>
          <p:nvPr/>
        </p:nvSpPr>
        <p:spPr bwMode="auto">
          <a:xfrm>
            <a:off x="6435725" y="5265738"/>
            <a:ext cx="336550" cy="3667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X</a:t>
            </a:r>
            <a:endParaRPr lang="en-US" sz="1800" b="1">
              <a:latin typeface="Helvetica" pitchFamily="34" charset="0"/>
            </a:endParaRPr>
          </a:p>
        </p:txBody>
      </p:sp>
      <p:sp>
        <p:nvSpPr>
          <p:cNvPr id="642073" name="Text Box 25"/>
          <p:cNvSpPr txBox="1">
            <a:spLocks noChangeArrowheads="1"/>
          </p:cNvSpPr>
          <p:nvPr/>
        </p:nvSpPr>
        <p:spPr bwMode="auto">
          <a:xfrm>
            <a:off x="1812925" y="4897438"/>
            <a:ext cx="311150" cy="3667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0</a:t>
            </a:r>
            <a:endParaRPr lang="en-US" sz="1800" b="1">
              <a:latin typeface="Helvetica" pitchFamily="34" charset="0"/>
            </a:endParaRPr>
          </a:p>
        </p:txBody>
      </p:sp>
      <p:sp>
        <p:nvSpPr>
          <p:cNvPr id="642074" name="Text Box 26"/>
          <p:cNvSpPr txBox="1">
            <a:spLocks noChangeArrowheads="1"/>
          </p:cNvSpPr>
          <p:nvPr/>
        </p:nvSpPr>
        <p:spPr bwMode="auto">
          <a:xfrm>
            <a:off x="293688" y="2738438"/>
            <a:ext cx="311150" cy="3667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0</a:t>
            </a:r>
            <a:endParaRPr lang="en-US" sz="1800" b="1">
              <a:latin typeface="Helvetica" pitchFamily="34" charset="0"/>
            </a:endParaRPr>
          </a:p>
        </p:txBody>
      </p:sp>
      <p:sp>
        <p:nvSpPr>
          <p:cNvPr id="642075" name="Text Box 27"/>
          <p:cNvSpPr txBox="1">
            <a:spLocks noChangeArrowheads="1"/>
          </p:cNvSpPr>
          <p:nvPr/>
        </p:nvSpPr>
        <p:spPr bwMode="auto">
          <a:xfrm>
            <a:off x="849313" y="3043238"/>
            <a:ext cx="311150" cy="3667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1</a:t>
            </a:r>
            <a:endParaRPr lang="en-US" sz="1800" b="1">
              <a:latin typeface="Helvetica" pitchFamily="34" charset="0"/>
            </a:endParaRPr>
          </a:p>
        </p:txBody>
      </p:sp>
      <p:sp>
        <p:nvSpPr>
          <p:cNvPr id="642076" name="Text Box 28"/>
          <p:cNvSpPr txBox="1">
            <a:spLocks noChangeArrowheads="1"/>
          </p:cNvSpPr>
          <p:nvPr/>
        </p:nvSpPr>
        <p:spPr bwMode="auto">
          <a:xfrm>
            <a:off x="1811338" y="3195638"/>
            <a:ext cx="311150" cy="3667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1</a:t>
            </a:r>
            <a:endParaRPr lang="en-US" sz="1800" b="1">
              <a:latin typeface="Helvetica" pitchFamily="34" charset="0"/>
            </a:endParaRPr>
          </a:p>
        </p:txBody>
      </p:sp>
      <p:sp>
        <p:nvSpPr>
          <p:cNvPr id="642077" name="Text Box 29"/>
          <p:cNvSpPr txBox="1">
            <a:spLocks noChangeArrowheads="1"/>
          </p:cNvSpPr>
          <p:nvPr/>
        </p:nvSpPr>
        <p:spPr bwMode="auto">
          <a:xfrm>
            <a:off x="6464300" y="3119438"/>
            <a:ext cx="336550" cy="3667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X</a:t>
            </a:r>
            <a:endParaRPr lang="en-US" sz="1800" b="1">
              <a:latin typeface="Helvetica" pitchFamily="34" charset="0"/>
            </a:endParaRPr>
          </a:p>
        </p:txBody>
      </p:sp>
      <p:sp>
        <p:nvSpPr>
          <p:cNvPr id="642078" name="Text Box 30"/>
          <p:cNvSpPr txBox="1">
            <a:spLocks noChangeArrowheads="1"/>
          </p:cNvSpPr>
          <p:nvPr/>
        </p:nvSpPr>
        <p:spPr bwMode="auto">
          <a:xfrm>
            <a:off x="8672513" y="3957638"/>
            <a:ext cx="336550" cy="3667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X</a:t>
            </a:r>
            <a:endParaRPr lang="en-US" sz="1800" b="1">
              <a:latin typeface="Helvetica" pitchFamily="34" charset="0"/>
            </a:endParaRPr>
          </a:p>
        </p:txBody>
      </p:sp>
      <p:sp>
        <p:nvSpPr>
          <p:cNvPr id="642079" name="Text Box 31"/>
          <p:cNvSpPr txBox="1">
            <a:spLocks noChangeArrowheads="1"/>
          </p:cNvSpPr>
          <p:nvPr/>
        </p:nvSpPr>
        <p:spPr bwMode="auto">
          <a:xfrm>
            <a:off x="6816725" y="3271838"/>
            <a:ext cx="641350" cy="3667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XXX</a:t>
            </a:r>
            <a:endParaRPr lang="en-US" sz="1800" b="1">
              <a:latin typeface="Helvetica" pitchFamily="34" charset="0"/>
            </a:endParaRPr>
          </a:p>
        </p:txBody>
      </p:sp>
      <p:sp>
        <p:nvSpPr>
          <p:cNvPr id="642080" name="Text Box 32"/>
          <p:cNvSpPr txBox="1">
            <a:spLocks noChangeArrowheads="1"/>
          </p:cNvSpPr>
          <p:nvPr/>
        </p:nvSpPr>
        <p:spPr bwMode="auto">
          <a:xfrm>
            <a:off x="3170238" y="1912938"/>
            <a:ext cx="311150" cy="3667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0</a:t>
            </a:r>
            <a:endParaRPr lang="en-US" sz="1800" b="1">
              <a:latin typeface="Helvetica" pitchFamily="34" charset="0"/>
            </a:endParaRPr>
          </a:p>
        </p:txBody>
      </p:sp>
      <p:pic>
        <p:nvPicPr>
          <p:cNvPr id="642081" name="Picture 3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2036763"/>
            <a:ext cx="9113838" cy="4059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3" name="Group 34"/>
          <p:cNvGrpSpPr>
            <a:grpSpLocks/>
          </p:cNvGrpSpPr>
          <p:nvPr/>
        </p:nvGrpSpPr>
        <p:grpSpPr bwMode="auto">
          <a:xfrm>
            <a:off x="228600" y="1893888"/>
            <a:ext cx="8709025" cy="3744912"/>
            <a:chOff x="144" y="1193"/>
            <a:chExt cx="5486" cy="2359"/>
          </a:xfrm>
        </p:grpSpPr>
        <p:sp>
          <p:nvSpPr>
            <p:cNvPr id="642083" name="Rectangle 35"/>
            <p:cNvSpPr>
              <a:spLocks noChangeArrowheads="1"/>
            </p:cNvSpPr>
            <p:nvPr/>
          </p:nvSpPr>
          <p:spPr bwMode="auto">
            <a:xfrm>
              <a:off x="2777" y="3169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42084" name="Rectangle 36"/>
            <p:cNvSpPr>
              <a:spLocks noChangeArrowheads="1"/>
            </p:cNvSpPr>
            <p:nvPr/>
          </p:nvSpPr>
          <p:spPr bwMode="auto">
            <a:xfrm>
              <a:off x="144" y="1694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42085" name="Rectangle 37"/>
            <p:cNvSpPr>
              <a:spLocks noChangeArrowheads="1"/>
            </p:cNvSpPr>
            <p:nvPr/>
          </p:nvSpPr>
          <p:spPr bwMode="auto">
            <a:xfrm>
              <a:off x="528" y="1865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42086" name="Rectangle 38"/>
            <p:cNvSpPr>
              <a:spLocks noChangeArrowheads="1"/>
            </p:cNvSpPr>
            <p:nvPr/>
          </p:nvSpPr>
          <p:spPr bwMode="auto">
            <a:xfrm>
              <a:off x="1125" y="1982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42087" name="Rectangle 39"/>
            <p:cNvSpPr>
              <a:spLocks noChangeArrowheads="1"/>
            </p:cNvSpPr>
            <p:nvPr/>
          </p:nvSpPr>
          <p:spPr bwMode="auto">
            <a:xfrm>
              <a:off x="1138" y="3134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42088" name="Rectangle 40"/>
            <p:cNvSpPr>
              <a:spLocks noChangeArrowheads="1"/>
            </p:cNvSpPr>
            <p:nvPr/>
          </p:nvSpPr>
          <p:spPr bwMode="auto">
            <a:xfrm>
              <a:off x="2016" y="1193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42089" name="Rectangle 41"/>
            <p:cNvSpPr>
              <a:spLocks noChangeArrowheads="1"/>
            </p:cNvSpPr>
            <p:nvPr/>
          </p:nvSpPr>
          <p:spPr bwMode="auto">
            <a:xfrm>
              <a:off x="2256" y="2983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42090" name="Rectangle 42"/>
            <p:cNvSpPr>
              <a:spLocks noChangeArrowheads="1"/>
            </p:cNvSpPr>
            <p:nvPr/>
          </p:nvSpPr>
          <p:spPr bwMode="auto">
            <a:xfrm>
              <a:off x="3600" y="2112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42091" name="Rectangle 43"/>
            <p:cNvSpPr>
              <a:spLocks noChangeArrowheads="1"/>
            </p:cNvSpPr>
            <p:nvPr/>
          </p:nvSpPr>
          <p:spPr bwMode="auto">
            <a:xfrm>
              <a:off x="4073" y="3360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42092" name="Rectangle 44"/>
            <p:cNvSpPr>
              <a:spLocks noChangeArrowheads="1"/>
            </p:cNvSpPr>
            <p:nvPr/>
          </p:nvSpPr>
          <p:spPr bwMode="auto">
            <a:xfrm>
              <a:off x="4080" y="1989"/>
              <a:ext cx="192" cy="136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42093" name="Rectangle 45"/>
            <p:cNvSpPr>
              <a:spLocks noChangeArrowheads="1"/>
            </p:cNvSpPr>
            <p:nvPr/>
          </p:nvSpPr>
          <p:spPr bwMode="auto">
            <a:xfrm>
              <a:off x="4368" y="2029"/>
              <a:ext cx="288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42094" name="Rectangle 46"/>
            <p:cNvSpPr>
              <a:spLocks noChangeArrowheads="1"/>
            </p:cNvSpPr>
            <p:nvPr/>
          </p:nvSpPr>
          <p:spPr bwMode="auto">
            <a:xfrm>
              <a:off x="5438" y="2510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47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Mayank Pandey, MNNIT, Allahabad, India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42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42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42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42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42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42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420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420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420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420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420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420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420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420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6420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420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6420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420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6420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6420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6420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6420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6420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6420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2069" grpId="0" autoUpdateAnimBg="0"/>
      <p:bldP spid="642070" grpId="0" autoUpdateAnimBg="0"/>
      <p:bldP spid="642071" grpId="0" autoUpdateAnimBg="0"/>
      <p:bldP spid="642072" grpId="0" autoUpdateAnimBg="0"/>
      <p:bldP spid="642073" grpId="0" autoUpdateAnimBg="0"/>
      <p:bldP spid="642074" grpId="0" autoUpdateAnimBg="0"/>
      <p:bldP spid="642075" grpId="0" autoUpdateAnimBg="0"/>
      <p:bldP spid="642076" grpId="0" autoUpdateAnimBg="0"/>
      <p:bldP spid="642077" grpId="0" autoUpdateAnimBg="0"/>
      <p:bldP spid="642078" grpId="0" autoUpdateAnimBg="0"/>
      <p:bldP spid="642079" grpId="0" autoUpdateAnimBg="0"/>
      <p:bldP spid="642080" grpId="0" autoUpdateAnimBg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203200" y="2428875"/>
            <a:ext cx="8331200" cy="3644900"/>
            <a:chOff x="128" y="1592"/>
            <a:chExt cx="5248" cy="2296"/>
          </a:xfrm>
        </p:grpSpPr>
        <p:sp>
          <p:nvSpPr>
            <p:cNvPr id="643075" name="Rectangle 3"/>
            <p:cNvSpPr>
              <a:spLocks noChangeArrowheads="1"/>
            </p:cNvSpPr>
            <p:nvPr/>
          </p:nvSpPr>
          <p:spPr bwMode="auto">
            <a:xfrm>
              <a:off x="2528" y="2272"/>
              <a:ext cx="984" cy="800"/>
            </a:xfrm>
            <a:prstGeom prst="rect">
              <a:avLst/>
            </a:prstGeom>
            <a:solidFill>
              <a:srgbClr val="FF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43076" name="Rectangle 4"/>
            <p:cNvSpPr>
              <a:spLocks noChangeArrowheads="1"/>
            </p:cNvSpPr>
            <p:nvPr/>
          </p:nvSpPr>
          <p:spPr bwMode="auto">
            <a:xfrm>
              <a:off x="2439" y="2598"/>
              <a:ext cx="137" cy="106"/>
            </a:xfrm>
            <a:prstGeom prst="rect">
              <a:avLst/>
            </a:prstGeom>
            <a:solidFill>
              <a:srgbClr val="FF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43077" name="Rectangle 5"/>
            <p:cNvSpPr>
              <a:spLocks noChangeArrowheads="1"/>
            </p:cNvSpPr>
            <p:nvPr/>
          </p:nvSpPr>
          <p:spPr bwMode="auto">
            <a:xfrm>
              <a:off x="2448" y="2616"/>
              <a:ext cx="144" cy="96"/>
            </a:xfrm>
            <a:prstGeom prst="rect">
              <a:avLst/>
            </a:prstGeom>
            <a:solidFill>
              <a:srgbClr val="FF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43078" name="Rectangle 6"/>
            <p:cNvSpPr>
              <a:spLocks noChangeArrowheads="1"/>
            </p:cNvSpPr>
            <p:nvPr/>
          </p:nvSpPr>
          <p:spPr bwMode="auto">
            <a:xfrm>
              <a:off x="3216" y="2200"/>
              <a:ext cx="96" cy="104"/>
            </a:xfrm>
            <a:prstGeom prst="rect">
              <a:avLst/>
            </a:prstGeom>
            <a:solidFill>
              <a:srgbClr val="00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43079" name="Rectangle 7"/>
            <p:cNvSpPr>
              <a:spLocks noChangeArrowheads="1"/>
            </p:cNvSpPr>
            <p:nvPr/>
          </p:nvSpPr>
          <p:spPr bwMode="auto">
            <a:xfrm>
              <a:off x="3344" y="1864"/>
              <a:ext cx="48" cy="160"/>
            </a:xfrm>
            <a:prstGeom prst="rect">
              <a:avLst/>
            </a:prstGeom>
            <a:solidFill>
              <a:srgbClr val="00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43080" name="Rectangle 8"/>
            <p:cNvSpPr>
              <a:spLocks noChangeArrowheads="1"/>
            </p:cNvSpPr>
            <p:nvPr/>
          </p:nvSpPr>
          <p:spPr bwMode="auto">
            <a:xfrm>
              <a:off x="2024" y="1856"/>
              <a:ext cx="1344" cy="72"/>
            </a:xfrm>
            <a:prstGeom prst="rect">
              <a:avLst/>
            </a:prstGeom>
            <a:solidFill>
              <a:srgbClr val="00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43081" name="Rectangle 9"/>
            <p:cNvSpPr>
              <a:spLocks noChangeArrowheads="1"/>
            </p:cNvSpPr>
            <p:nvPr/>
          </p:nvSpPr>
          <p:spPr bwMode="auto">
            <a:xfrm>
              <a:off x="2072" y="2736"/>
              <a:ext cx="88" cy="1136"/>
            </a:xfrm>
            <a:prstGeom prst="rect">
              <a:avLst/>
            </a:prstGeom>
            <a:solidFill>
              <a:srgbClr val="FF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43082" name="Rectangle 10"/>
            <p:cNvSpPr>
              <a:spLocks noChangeArrowheads="1"/>
            </p:cNvSpPr>
            <p:nvPr/>
          </p:nvSpPr>
          <p:spPr bwMode="auto">
            <a:xfrm>
              <a:off x="2064" y="2688"/>
              <a:ext cx="240" cy="96"/>
            </a:xfrm>
            <a:prstGeom prst="rect">
              <a:avLst/>
            </a:prstGeom>
            <a:solidFill>
              <a:srgbClr val="FF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43083" name="Rectangle 11"/>
            <p:cNvSpPr>
              <a:spLocks noChangeArrowheads="1"/>
            </p:cNvSpPr>
            <p:nvPr/>
          </p:nvSpPr>
          <p:spPr bwMode="auto">
            <a:xfrm>
              <a:off x="2064" y="3800"/>
              <a:ext cx="3264" cy="88"/>
            </a:xfrm>
            <a:prstGeom prst="rect">
              <a:avLst/>
            </a:prstGeom>
            <a:solidFill>
              <a:srgbClr val="FF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43084" name="Rectangle 12"/>
            <p:cNvSpPr>
              <a:spLocks noChangeArrowheads="1"/>
            </p:cNvSpPr>
            <p:nvPr/>
          </p:nvSpPr>
          <p:spPr bwMode="auto">
            <a:xfrm>
              <a:off x="5288" y="2736"/>
              <a:ext cx="88" cy="1136"/>
            </a:xfrm>
            <a:prstGeom prst="rect">
              <a:avLst/>
            </a:prstGeom>
            <a:solidFill>
              <a:srgbClr val="FF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43085" name="Rectangle 13"/>
            <p:cNvSpPr>
              <a:spLocks noChangeArrowheads="1"/>
            </p:cNvSpPr>
            <p:nvPr/>
          </p:nvSpPr>
          <p:spPr bwMode="auto">
            <a:xfrm>
              <a:off x="5232" y="2736"/>
              <a:ext cx="144" cy="96"/>
            </a:xfrm>
            <a:prstGeom prst="rect">
              <a:avLst/>
            </a:prstGeom>
            <a:solidFill>
              <a:srgbClr val="FF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43086" name="Rectangle 14"/>
            <p:cNvSpPr>
              <a:spLocks noChangeArrowheads="1"/>
            </p:cNvSpPr>
            <p:nvPr/>
          </p:nvSpPr>
          <p:spPr bwMode="auto">
            <a:xfrm>
              <a:off x="4944" y="2496"/>
              <a:ext cx="288" cy="576"/>
            </a:xfrm>
            <a:prstGeom prst="rect">
              <a:avLst/>
            </a:prstGeom>
            <a:solidFill>
              <a:srgbClr val="FF99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43087" name="Rectangle 15" descr="50%"/>
            <p:cNvSpPr>
              <a:spLocks noChangeArrowheads="1"/>
            </p:cNvSpPr>
            <p:nvPr/>
          </p:nvSpPr>
          <p:spPr bwMode="auto">
            <a:xfrm>
              <a:off x="3512" y="2432"/>
              <a:ext cx="288" cy="624"/>
            </a:xfrm>
            <a:prstGeom prst="rect">
              <a:avLst/>
            </a:prstGeom>
            <a:pattFill prst="pct50">
              <a:fgClr>
                <a:srgbClr val="FF9900"/>
              </a:fgClr>
              <a:bgClr>
                <a:srgbClr val="FFFFFF"/>
              </a:bgClr>
            </a:patt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43088" name="Rectangle 16"/>
            <p:cNvSpPr>
              <a:spLocks noChangeArrowheads="1"/>
            </p:cNvSpPr>
            <p:nvPr/>
          </p:nvSpPr>
          <p:spPr bwMode="auto">
            <a:xfrm>
              <a:off x="128" y="2152"/>
              <a:ext cx="288" cy="528"/>
            </a:xfrm>
            <a:prstGeom prst="rect">
              <a:avLst/>
            </a:pr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43089" name="Rectangle 17"/>
            <p:cNvSpPr>
              <a:spLocks noChangeArrowheads="1"/>
            </p:cNvSpPr>
            <p:nvPr/>
          </p:nvSpPr>
          <p:spPr bwMode="auto">
            <a:xfrm>
              <a:off x="1736" y="1592"/>
              <a:ext cx="288" cy="576"/>
            </a:xfrm>
            <a:prstGeom prst="rect">
              <a:avLst/>
            </a:prstGeom>
            <a:solidFill>
              <a:srgbClr val="00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643090" name="Text Box 18"/>
          <p:cNvSpPr txBox="1">
            <a:spLocks noChangeArrowheads="1"/>
          </p:cNvSpPr>
          <p:nvPr/>
        </p:nvSpPr>
        <p:spPr bwMode="auto">
          <a:xfrm>
            <a:off x="4468813" y="4926013"/>
            <a:ext cx="311150" cy="3667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1</a:t>
            </a:r>
            <a:endParaRPr lang="en-US" sz="1800" b="1">
              <a:latin typeface="Helvetica" pitchFamily="34" charset="0"/>
            </a:endParaRPr>
          </a:p>
        </p:txBody>
      </p:sp>
      <p:sp>
        <p:nvSpPr>
          <p:cNvPr id="643091" name="Text Box 19"/>
          <p:cNvSpPr txBox="1">
            <a:spLocks noChangeArrowheads="1"/>
          </p:cNvSpPr>
          <p:nvPr/>
        </p:nvSpPr>
        <p:spPr bwMode="auto">
          <a:xfrm>
            <a:off x="1812925" y="4849813"/>
            <a:ext cx="311150" cy="3667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0</a:t>
            </a:r>
            <a:endParaRPr lang="en-US" sz="1800" b="1">
              <a:latin typeface="Helvetica" pitchFamily="34" charset="0"/>
            </a:endParaRPr>
          </a:p>
        </p:txBody>
      </p:sp>
      <p:sp>
        <p:nvSpPr>
          <p:cNvPr id="643092" name="Text Box 20"/>
          <p:cNvSpPr txBox="1">
            <a:spLocks noChangeArrowheads="1"/>
          </p:cNvSpPr>
          <p:nvPr/>
        </p:nvSpPr>
        <p:spPr bwMode="auto">
          <a:xfrm>
            <a:off x="290513" y="2690813"/>
            <a:ext cx="311150" cy="3667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0</a:t>
            </a:r>
            <a:endParaRPr lang="en-US" sz="1800" b="1">
              <a:latin typeface="Helvetica" pitchFamily="34" charset="0"/>
            </a:endParaRPr>
          </a:p>
        </p:txBody>
      </p:sp>
      <p:sp>
        <p:nvSpPr>
          <p:cNvPr id="643093" name="Text Box 21"/>
          <p:cNvSpPr txBox="1">
            <a:spLocks noChangeArrowheads="1"/>
          </p:cNvSpPr>
          <p:nvPr/>
        </p:nvSpPr>
        <p:spPr bwMode="auto">
          <a:xfrm>
            <a:off x="838200" y="2995613"/>
            <a:ext cx="336550" cy="3667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X</a:t>
            </a:r>
            <a:endParaRPr lang="en-US" sz="1800" b="1">
              <a:latin typeface="Helvetica" pitchFamily="34" charset="0"/>
            </a:endParaRPr>
          </a:p>
        </p:txBody>
      </p:sp>
      <p:sp>
        <p:nvSpPr>
          <p:cNvPr id="643094" name="Text Box 22"/>
          <p:cNvSpPr txBox="1">
            <a:spLocks noChangeArrowheads="1"/>
          </p:cNvSpPr>
          <p:nvPr/>
        </p:nvSpPr>
        <p:spPr bwMode="auto">
          <a:xfrm>
            <a:off x="1811338" y="3148013"/>
            <a:ext cx="311150" cy="3667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0</a:t>
            </a:r>
            <a:endParaRPr lang="en-US" sz="1800" b="1">
              <a:latin typeface="Helvetica" pitchFamily="34" charset="0"/>
            </a:endParaRPr>
          </a:p>
        </p:txBody>
      </p:sp>
      <p:sp>
        <p:nvSpPr>
          <p:cNvPr id="643095" name="Text Box 23"/>
          <p:cNvSpPr txBox="1">
            <a:spLocks noChangeArrowheads="1"/>
          </p:cNvSpPr>
          <p:nvPr/>
        </p:nvSpPr>
        <p:spPr bwMode="auto">
          <a:xfrm>
            <a:off x="8672513" y="3910013"/>
            <a:ext cx="336550" cy="3667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X</a:t>
            </a:r>
            <a:endParaRPr lang="en-US" sz="1800" b="1">
              <a:latin typeface="Helvetica" pitchFamily="34" charset="0"/>
            </a:endParaRPr>
          </a:p>
        </p:txBody>
      </p:sp>
      <p:sp>
        <p:nvSpPr>
          <p:cNvPr id="643096" name="Text Box 24"/>
          <p:cNvSpPr txBox="1">
            <a:spLocks noChangeArrowheads="1"/>
          </p:cNvSpPr>
          <p:nvPr/>
        </p:nvSpPr>
        <p:spPr bwMode="auto">
          <a:xfrm>
            <a:off x="2827338" y="1700213"/>
            <a:ext cx="311150" cy="3667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0</a:t>
            </a:r>
            <a:endParaRPr lang="en-US" sz="1800" b="1">
              <a:latin typeface="Helvetica" pitchFamily="34" charset="0"/>
            </a:endParaRPr>
          </a:p>
        </p:txBody>
      </p:sp>
      <p:sp>
        <p:nvSpPr>
          <p:cNvPr id="643097" name="Text Box 25"/>
          <p:cNvSpPr txBox="1">
            <a:spLocks noChangeArrowheads="1"/>
          </p:cNvSpPr>
          <p:nvPr/>
        </p:nvSpPr>
        <p:spPr bwMode="auto">
          <a:xfrm>
            <a:off x="6816725" y="3224213"/>
            <a:ext cx="641350" cy="3667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XXX</a:t>
            </a:r>
            <a:endParaRPr lang="en-US" sz="1800" b="1">
              <a:latin typeface="Helvetica" pitchFamily="34" charset="0"/>
            </a:endParaRPr>
          </a:p>
        </p:txBody>
      </p:sp>
      <p:sp>
        <p:nvSpPr>
          <p:cNvPr id="643098" name="Text Box 26"/>
          <p:cNvSpPr txBox="1">
            <a:spLocks noChangeArrowheads="1"/>
          </p:cNvSpPr>
          <p:nvPr/>
        </p:nvSpPr>
        <p:spPr bwMode="auto">
          <a:xfrm>
            <a:off x="6435725" y="5218113"/>
            <a:ext cx="336550" cy="3667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X</a:t>
            </a:r>
            <a:endParaRPr lang="en-US" sz="1800" b="1">
              <a:latin typeface="Helvetica" pitchFamily="34" charset="0"/>
            </a:endParaRPr>
          </a:p>
        </p:txBody>
      </p:sp>
      <p:sp>
        <p:nvSpPr>
          <p:cNvPr id="643099" name="Text Box 27"/>
          <p:cNvSpPr txBox="1">
            <a:spLocks noChangeArrowheads="1"/>
          </p:cNvSpPr>
          <p:nvPr/>
        </p:nvSpPr>
        <p:spPr bwMode="auto">
          <a:xfrm>
            <a:off x="6464300" y="3071813"/>
            <a:ext cx="336550" cy="3667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X</a:t>
            </a:r>
            <a:endParaRPr lang="en-US" sz="1800" b="1">
              <a:latin typeface="Helvetica" pitchFamily="34" charset="0"/>
            </a:endParaRPr>
          </a:p>
        </p:txBody>
      </p:sp>
      <p:sp>
        <p:nvSpPr>
          <p:cNvPr id="643100" name="Text Box 28"/>
          <p:cNvSpPr txBox="1">
            <a:spLocks noChangeArrowheads="1"/>
          </p:cNvSpPr>
          <p:nvPr/>
        </p:nvSpPr>
        <p:spPr bwMode="auto">
          <a:xfrm>
            <a:off x="3617913" y="4608513"/>
            <a:ext cx="311150" cy="3667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1</a:t>
            </a:r>
            <a:endParaRPr lang="en-US" sz="1800" b="1">
              <a:latin typeface="Helvetica" pitchFamily="34" charset="0"/>
            </a:endParaRPr>
          </a:p>
        </p:txBody>
      </p:sp>
      <p:sp>
        <p:nvSpPr>
          <p:cNvPr id="643101" name="Text Box 29"/>
          <p:cNvSpPr txBox="1">
            <a:spLocks noChangeArrowheads="1"/>
          </p:cNvSpPr>
          <p:nvPr/>
        </p:nvSpPr>
        <p:spPr bwMode="auto">
          <a:xfrm>
            <a:off x="5711825" y="3224213"/>
            <a:ext cx="311150" cy="3667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1</a:t>
            </a:r>
            <a:endParaRPr lang="en-US" sz="1800" b="1">
              <a:latin typeface="Helvetica" pitchFamily="34" charset="0"/>
            </a:endParaRPr>
          </a:p>
        </p:txBody>
      </p:sp>
      <p:sp>
        <p:nvSpPr>
          <p:cNvPr id="643118" name="Rectangle 46"/>
          <p:cNvSpPr>
            <a:spLocks noChangeArrowheads="1"/>
          </p:cNvSpPr>
          <p:nvPr/>
        </p:nvSpPr>
        <p:spPr bwMode="auto">
          <a:xfrm>
            <a:off x="4105275" y="3571875"/>
            <a:ext cx="1370013" cy="1063625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grpSp>
        <p:nvGrpSpPr>
          <p:cNvPr id="3" name="Group 49"/>
          <p:cNvGrpSpPr>
            <a:grpSpLocks/>
          </p:cNvGrpSpPr>
          <p:nvPr/>
        </p:nvGrpSpPr>
        <p:grpSpPr bwMode="auto">
          <a:xfrm>
            <a:off x="3871913" y="4052888"/>
            <a:ext cx="238125" cy="101600"/>
            <a:chOff x="2439" y="2889"/>
            <a:chExt cx="150" cy="64"/>
          </a:xfrm>
        </p:grpSpPr>
        <p:sp>
          <p:nvSpPr>
            <p:cNvPr id="643119" name="Freeform 47"/>
            <p:cNvSpPr>
              <a:spLocks/>
            </p:cNvSpPr>
            <p:nvPr/>
          </p:nvSpPr>
          <p:spPr bwMode="auto">
            <a:xfrm>
              <a:off x="2514" y="2889"/>
              <a:ext cx="75" cy="64"/>
            </a:xfrm>
            <a:custGeom>
              <a:avLst/>
              <a:gdLst/>
              <a:ahLst/>
              <a:cxnLst>
                <a:cxn ang="0">
                  <a:pos x="75" y="32"/>
                </a:cxn>
                <a:cxn ang="0">
                  <a:pos x="0" y="64"/>
                </a:cxn>
                <a:cxn ang="0">
                  <a:pos x="0" y="0"/>
                </a:cxn>
                <a:cxn ang="0">
                  <a:pos x="75" y="32"/>
                </a:cxn>
              </a:cxnLst>
              <a:rect l="0" t="0" r="r" b="b"/>
              <a:pathLst>
                <a:path w="75" h="64">
                  <a:moveTo>
                    <a:pt x="75" y="32"/>
                  </a:moveTo>
                  <a:lnTo>
                    <a:pt x="0" y="64"/>
                  </a:lnTo>
                  <a:lnTo>
                    <a:pt x="0" y="0"/>
                  </a:lnTo>
                  <a:lnTo>
                    <a:pt x="75" y="3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43120" name="Line 48"/>
            <p:cNvSpPr>
              <a:spLocks noChangeShapeType="1"/>
            </p:cNvSpPr>
            <p:nvPr/>
          </p:nvSpPr>
          <p:spPr bwMode="auto">
            <a:xfrm flipH="1">
              <a:off x="2439" y="2921"/>
              <a:ext cx="113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52"/>
          <p:cNvGrpSpPr>
            <a:grpSpLocks/>
          </p:cNvGrpSpPr>
          <p:nvPr/>
        </p:nvGrpSpPr>
        <p:grpSpPr bwMode="auto">
          <a:xfrm>
            <a:off x="4365625" y="2878138"/>
            <a:ext cx="84138" cy="688975"/>
            <a:chOff x="2750" y="2149"/>
            <a:chExt cx="53" cy="434"/>
          </a:xfrm>
        </p:grpSpPr>
        <p:sp>
          <p:nvSpPr>
            <p:cNvPr id="643122" name="Freeform 50"/>
            <p:cNvSpPr>
              <a:spLocks/>
            </p:cNvSpPr>
            <p:nvPr/>
          </p:nvSpPr>
          <p:spPr bwMode="auto">
            <a:xfrm>
              <a:off x="2750" y="2519"/>
              <a:ext cx="53" cy="64"/>
            </a:xfrm>
            <a:custGeom>
              <a:avLst/>
              <a:gdLst/>
              <a:ahLst/>
              <a:cxnLst>
                <a:cxn ang="0">
                  <a:pos x="27" y="64"/>
                </a:cxn>
                <a:cxn ang="0">
                  <a:pos x="0" y="0"/>
                </a:cxn>
                <a:cxn ang="0">
                  <a:pos x="53" y="0"/>
                </a:cxn>
                <a:cxn ang="0">
                  <a:pos x="27" y="64"/>
                </a:cxn>
              </a:cxnLst>
              <a:rect l="0" t="0" r="r" b="b"/>
              <a:pathLst>
                <a:path w="53" h="64">
                  <a:moveTo>
                    <a:pt x="27" y="64"/>
                  </a:moveTo>
                  <a:lnTo>
                    <a:pt x="0" y="0"/>
                  </a:lnTo>
                  <a:lnTo>
                    <a:pt x="53" y="0"/>
                  </a:lnTo>
                  <a:lnTo>
                    <a:pt x="27" y="6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43123" name="Line 51"/>
            <p:cNvSpPr>
              <a:spLocks noChangeShapeType="1"/>
            </p:cNvSpPr>
            <p:nvPr/>
          </p:nvSpPr>
          <p:spPr bwMode="auto">
            <a:xfrm>
              <a:off x="2777" y="2149"/>
              <a:ext cx="1" cy="413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55"/>
          <p:cNvGrpSpPr>
            <a:grpSpLocks/>
          </p:cNvGrpSpPr>
          <p:nvPr/>
        </p:nvGrpSpPr>
        <p:grpSpPr bwMode="auto">
          <a:xfrm>
            <a:off x="4748213" y="2878138"/>
            <a:ext cx="85725" cy="688975"/>
            <a:chOff x="2991" y="2149"/>
            <a:chExt cx="54" cy="434"/>
          </a:xfrm>
        </p:grpSpPr>
        <p:sp>
          <p:nvSpPr>
            <p:cNvPr id="643125" name="Freeform 53"/>
            <p:cNvSpPr>
              <a:spLocks/>
            </p:cNvSpPr>
            <p:nvPr/>
          </p:nvSpPr>
          <p:spPr bwMode="auto">
            <a:xfrm>
              <a:off x="2991" y="2519"/>
              <a:ext cx="54" cy="64"/>
            </a:xfrm>
            <a:custGeom>
              <a:avLst/>
              <a:gdLst/>
              <a:ahLst/>
              <a:cxnLst>
                <a:cxn ang="0">
                  <a:pos x="27" y="64"/>
                </a:cxn>
                <a:cxn ang="0">
                  <a:pos x="0" y="0"/>
                </a:cxn>
                <a:cxn ang="0">
                  <a:pos x="54" y="0"/>
                </a:cxn>
                <a:cxn ang="0">
                  <a:pos x="27" y="64"/>
                </a:cxn>
              </a:cxnLst>
              <a:rect l="0" t="0" r="r" b="b"/>
              <a:pathLst>
                <a:path w="54" h="64">
                  <a:moveTo>
                    <a:pt x="27" y="64"/>
                  </a:moveTo>
                  <a:lnTo>
                    <a:pt x="0" y="0"/>
                  </a:lnTo>
                  <a:lnTo>
                    <a:pt x="54" y="0"/>
                  </a:lnTo>
                  <a:lnTo>
                    <a:pt x="27" y="6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43126" name="Line 54"/>
            <p:cNvSpPr>
              <a:spLocks noChangeShapeType="1"/>
            </p:cNvSpPr>
            <p:nvPr/>
          </p:nvSpPr>
          <p:spPr bwMode="auto">
            <a:xfrm>
              <a:off x="3018" y="2149"/>
              <a:ext cx="1" cy="413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43128" name="Line 56"/>
          <p:cNvSpPr>
            <a:spLocks noChangeShapeType="1"/>
          </p:cNvSpPr>
          <p:nvPr/>
        </p:nvSpPr>
        <p:spPr bwMode="auto">
          <a:xfrm flipH="1">
            <a:off x="4365625" y="3217863"/>
            <a:ext cx="76200" cy="77787"/>
          </a:xfrm>
          <a:prstGeom prst="line">
            <a:avLst/>
          </a:prstGeom>
          <a:noFill/>
          <a:ln w="79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643129" name="Rectangle 57"/>
          <p:cNvSpPr>
            <a:spLocks noChangeArrowheads="1"/>
          </p:cNvSpPr>
          <p:nvPr/>
        </p:nvSpPr>
        <p:spPr bwMode="auto">
          <a:xfrm>
            <a:off x="4441825" y="3194050"/>
            <a:ext cx="10160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charset="0"/>
              </a:rPr>
              <a:t>5</a:t>
            </a:r>
            <a:endParaRPr lang="en-US"/>
          </a:p>
        </p:txBody>
      </p:sp>
      <p:sp>
        <p:nvSpPr>
          <p:cNvPr id="643130" name="Line 58"/>
          <p:cNvSpPr>
            <a:spLocks noChangeShapeType="1"/>
          </p:cNvSpPr>
          <p:nvPr/>
        </p:nvSpPr>
        <p:spPr bwMode="auto">
          <a:xfrm flipH="1">
            <a:off x="4748213" y="3217863"/>
            <a:ext cx="76200" cy="77787"/>
          </a:xfrm>
          <a:prstGeom prst="line">
            <a:avLst/>
          </a:prstGeom>
          <a:noFill/>
          <a:ln w="7938">
            <a:solidFill>
              <a:srgbClr val="44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643131" name="Rectangle 59"/>
          <p:cNvSpPr>
            <a:spLocks noChangeArrowheads="1"/>
          </p:cNvSpPr>
          <p:nvPr/>
        </p:nvSpPr>
        <p:spPr bwMode="auto">
          <a:xfrm>
            <a:off x="4824413" y="3194050"/>
            <a:ext cx="10160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charset="0"/>
              </a:rPr>
              <a:t>5</a:t>
            </a:r>
            <a:endParaRPr lang="en-US"/>
          </a:p>
        </p:txBody>
      </p:sp>
      <p:sp>
        <p:nvSpPr>
          <p:cNvPr id="643132" name="Rectangle 60"/>
          <p:cNvSpPr>
            <a:spLocks noChangeArrowheads="1"/>
          </p:cNvSpPr>
          <p:nvPr/>
        </p:nvSpPr>
        <p:spPr bwMode="auto">
          <a:xfrm>
            <a:off x="5181600" y="3916363"/>
            <a:ext cx="314325" cy="187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900" b="1">
                <a:solidFill>
                  <a:srgbClr val="000000"/>
                </a:solidFill>
                <a:latin typeface="Arial" charset="0"/>
              </a:rPr>
              <a:t>RD1</a:t>
            </a:r>
            <a:endParaRPr lang="en-US"/>
          </a:p>
        </p:txBody>
      </p:sp>
      <p:sp>
        <p:nvSpPr>
          <p:cNvPr id="643133" name="Rectangle 61"/>
          <p:cNvSpPr>
            <a:spLocks noChangeArrowheads="1"/>
          </p:cNvSpPr>
          <p:nvPr/>
        </p:nvSpPr>
        <p:spPr bwMode="auto">
          <a:xfrm>
            <a:off x="5181600" y="4341813"/>
            <a:ext cx="314325" cy="187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900" b="1">
                <a:solidFill>
                  <a:srgbClr val="000000"/>
                </a:solidFill>
                <a:latin typeface="Arial" charset="0"/>
              </a:rPr>
              <a:t>RD2</a:t>
            </a:r>
            <a:endParaRPr lang="en-US"/>
          </a:p>
        </p:txBody>
      </p:sp>
      <p:sp>
        <p:nvSpPr>
          <p:cNvPr id="643134" name="Rectangle 62"/>
          <p:cNvSpPr>
            <a:spLocks noChangeArrowheads="1"/>
          </p:cNvSpPr>
          <p:nvPr/>
        </p:nvSpPr>
        <p:spPr bwMode="auto">
          <a:xfrm>
            <a:off x="4297363" y="3575050"/>
            <a:ext cx="314325" cy="187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900" b="1">
                <a:solidFill>
                  <a:srgbClr val="000000"/>
                </a:solidFill>
                <a:latin typeface="Arial" charset="0"/>
              </a:rPr>
              <a:t>RN1</a:t>
            </a:r>
            <a:endParaRPr lang="en-US"/>
          </a:p>
        </p:txBody>
      </p:sp>
      <p:sp>
        <p:nvSpPr>
          <p:cNvPr id="643135" name="Rectangle 63"/>
          <p:cNvSpPr>
            <a:spLocks noChangeArrowheads="1"/>
          </p:cNvSpPr>
          <p:nvPr/>
        </p:nvSpPr>
        <p:spPr bwMode="auto">
          <a:xfrm>
            <a:off x="4679950" y="3575050"/>
            <a:ext cx="314325" cy="187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900" b="1">
                <a:solidFill>
                  <a:srgbClr val="000000"/>
                </a:solidFill>
                <a:latin typeface="Arial" charset="0"/>
              </a:rPr>
              <a:t>RN2</a:t>
            </a:r>
            <a:endParaRPr lang="en-US"/>
          </a:p>
        </p:txBody>
      </p:sp>
      <p:sp>
        <p:nvSpPr>
          <p:cNvPr id="643136" name="Rectangle 64"/>
          <p:cNvSpPr>
            <a:spLocks noChangeArrowheads="1"/>
          </p:cNvSpPr>
          <p:nvPr/>
        </p:nvSpPr>
        <p:spPr bwMode="auto">
          <a:xfrm>
            <a:off x="5062538" y="3575050"/>
            <a:ext cx="263525" cy="187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900" b="1">
                <a:solidFill>
                  <a:srgbClr val="000000"/>
                </a:solidFill>
                <a:latin typeface="Arial" charset="0"/>
              </a:rPr>
              <a:t>WN</a:t>
            </a:r>
            <a:endParaRPr lang="en-US"/>
          </a:p>
        </p:txBody>
      </p:sp>
      <p:sp>
        <p:nvSpPr>
          <p:cNvPr id="643137" name="Rectangle 65"/>
          <p:cNvSpPr>
            <a:spLocks noChangeArrowheads="1"/>
          </p:cNvSpPr>
          <p:nvPr/>
        </p:nvSpPr>
        <p:spPr bwMode="auto">
          <a:xfrm>
            <a:off x="4144963" y="4035425"/>
            <a:ext cx="263525" cy="187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900" b="1">
                <a:solidFill>
                  <a:srgbClr val="000000"/>
                </a:solidFill>
                <a:latin typeface="Arial" charset="0"/>
              </a:rPr>
              <a:t>WD</a:t>
            </a:r>
            <a:endParaRPr lang="en-US"/>
          </a:p>
        </p:txBody>
      </p:sp>
      <p:grpSp>
        <p:nvGrpSpPr>
          <p:cNvPr id="6" name="Group 68"/>
          <p:cNvGrpSpPr>
            <a:grpSpLocks/>
          </p:cNvGrpSpPr>
          <p:nvPr/>
        </p:nvGrpSpPr>
        <p:grpSpPr bwMode="auto">
          <a:xfrm>
            <a:off x="4552950" y="4640263"/>
            <a:ext cx="84138" cy="187325"/>
            <a:chOff x="2868" y="3259"/>
            <a:chExt cx="53" cy="118"/>
          </a:xfrm>
        </p:grpSpPr>
        <p:sp>
          <p:nvSpPr>
            <p:cNvPr id="643138" name="Freeform 66"/>
            <p:cNvSpPr>
              <a:spLocks/>
            </p:cNvSpPr>
            <p:nvPr/>
          </p:nvSpPr>
          <p:spPr bwMode="auto">
            <a:xfrm>
              <a:off x="2868" y="3259"/>
              <a:ext cx="53" cy="64"/>
            </a:xfrm>
            <a:custGeom>
              <a:avLst/>
              <a:gdLst/>
              <a:ahLst/>
              <a:cxnLst>
                <a:cxn ang="0">
                  <a:pos x="27" y="0"/>
                </a:cxn>
                <a:cxn ang="0">
                  <a:pos x="53" y="64"/>
                </a:cxn>
                <a:cxn ang="0">
                  <a:pos x="0" y="64"/>
                </a:cxn>
                <a:cxn ang="0">
                  <a:pos x="27" y="0"/>
                </a:cxn>
              </a:cxnLst>
              <a:rect l="0" t="0" r="r" b="b"/>
              <a:pathLst>
                <a:path w="53" h="64">
                  <a:moveTo>
                    <a:pt x="27" y="0"/>
                  </a:moveTo>
                  <a:lnTo>
                    <a:pt x="53" y="64"/>
                  </a:lnTo>
                  <a:lnTo>
                    <a:pt x="0" y="64"/>
                  </a:lnTo>
                  <a:lnTo>
                    <a:pt x="27" y="0"/>
                  </a:lnTo>
                  <a:close/>
                </a:path>
              </a:pathLst>
            </a:custGeom>
            <a:solidFill>
              <a:srgbClr val="0033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43139" name="Line 67"/>
            <p:cNvSpPr>
              <a:spLocks noChangeShapeType="1"/>
            </p:cNvSpPr>
            <p:nvPr/>
          </p:nvSpPr>
          <p:spPr bwMode="auto">
            <a:xfrm>
              <a:off x="2895" y="3280"/>
              <a:ext cx="1" cy="97"/>
            </a:xfrm>
            <a:prstGeom prst="line">
              <a:avLst/>
            </a:prstGeom>
            <a:noFill/>
            <a:ln w="17463">
              <a:solidFill>
                <a:srgbClr val="0033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43141" name="Rectangle 69"/>
          <p:cNvSpPr>
            <a:spLocks noChangeArrowheads="1"/>
          </p:cNvSpPr>
          <p:nvPr/>
        </p:nvSpPr>
        <p:spPr bwMode="auto">
          <a:xfrm>
            <a:off x="4305300" y="4826000"/>
            <a:ext cx="501650" cy="13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900" b="1">
                <a:solidFill>
                  <a:srgbClr val="0033FF"/>
                </a:solidFill>
                <a:latin typeface="Arial" charset="0"/>
              </a:rPr>
              <a:t>RegWrite</a:t>
            </a:r>
            <a:endParaRPr lang="en-US"/>
          </a:p>
        </p:txBody>
      </p:sp>
      <p:sp>
        <p:nvSpPr>
          <p:cNvPr id="643142" name="Rectangle 70"/>
          <p:cNvSpPr>
            <a:spLocks noChangeArrowheads="1"/>
          </p:cNvSpPr>
          <p:nvPr/>
        </p:nvSpPr>
        <p:spPr bwMode="auto">
          <a:xfrm>
            <a:off x="4398963" y="3822700"/>
            <a:ext cx="792162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200" b="1">
                <a:solidFill>
                  <a:srgbClr val="000000"/>
                </a:solidFill>
                <a:latin typeface="Arial" charset="0"/>
              </a:rPr>
              <a:t>Registers</a:t>
            </a:r>
            <a:endParaRPr lang="en-US"/>
          </a:p>
        </p:txBody>
      </p:sp>
      <p:sp>
        <p:nvSpPr>
          <p:cNvPr id="643143" name="Freeform 71"/>
          <p:cNvSpPr>
            <a:spLocks/>
          </p:cNvSpPr>
          <p:nvPr/>
        </p:nvSpPr>
        <p:spPr bwMode="auto">
          <a:xfrm>
            <a:off x="6884988" y="3711575"/>
            <a:ext cx="458787" cy="10731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290"/>
              </a:cxn>
              <a:cxn ang="0">
                <a:pos x="48" y="338"/>
              </a:cxn>
              <a:cxn ang="0">
                <a:pos x="0" y="386"/>
              </a:cxn>
              <a:cxn ang="0">
                <a:pos x="0" y="676"/>
              </a:cxn>
              <a:cxn ang="0">
                <a:pos x="289" y="531"/>
              </a:cxn>
              <a:cxn ang="0">
                <a:pos x="289" y="145"/>
              </a:cxn>
              <a:cxn ang="0">
                <a:pos x="0" y="0"/>
              </a:cxn>
            </a:cxnLst>
            <a:rect l="0" t="0" r="r" b="b"/>
            <a:pathLst>
              <a:path w="289" h="676">
                <a:moveTo>
                  <a:pt x="0" y="0"/>
                </a:moveTo>
                <a:lnTo>
                  <a:pt x="0" y="290"/>
                </a:lnTo>
                <a:lnTo>
                  <a:pt x="48" y="338"/>
                </a:lnTo>
                <a:lnTo>
                  <a:pt x="0" y="386"/>
                </a:lnTo>
                <a:lnTo>
                  <a:pt x="0" y="676"/>
                </a:lnTo>
                <a:lnTo>
                  <a:pt x="289" y="531"/>
                </a:lnTo>
                <a:lnTo>
                  <a:pt x="289" y="14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54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grpSp>
        <p:nvGrpSpPr>
          <p:cNvPr id="7" name="Group 74"/>
          <p:cNvGrpSpPr>
            <a:grpSpLocks/>
          </p:cNvGrpSpPr>
          <p:nvPr/>
        </p:nvGrpSpPr>
        <p:grpSpPr bwMode="auto">
          <a:xfrm>
            <a:off x="7351713" y="4240213"/>
            <a:ext cx="587375" cy="101600"/>
            <a:chOff x="4631" y="3007"/>
            <a:chExt cx="370" cy="64"/>
          </a:xfrm>
        </p:grpSpPr>
        <p:sp>
          <p:nvSpPr>
            <p:cNvPr id="643144" name="Freeform 72"/>
            <p:cNvSpPr>
              <a:spLocks/>
            </p:cNvSpPr>
            <p:nvPr/>
          </p:nvSpPr>
          <p:spPr bwMode="auto">
            <a:xfrm>
              <a:off x="4926" y="3007"/>
              <a:ext cx="75" cy="64"/>
            </a:xfrm>
            <a:custGeom>
              <a:avLst/>
              <a:gdLst/>
              <a:ahLst/>
              <a:cxnLst>
                <a:cxn ang="0">
                  <a:pos x="75" y="32"/>
                </a:cxn>
                <a:cxn ang="0">
                  <a:pos x="0" y="64"/>
                </a:cxn>
                <a:cxn ang="0">
                  <a:pos x="0" y="0"/>
                </a:cxn>
                <a:cxn ang="0">
                  <a:pos x="75" y="32"/>
                </a:cxn>
              </a:cxnLst>
              <a:rect l="0" t="0" r="r" b="b"/>
              <a:pathLst>
                <a:path w="75" h="64">
                  <a:moveTo>
                    <a:pt x="75" y="32"/>
                  </a:moveTo>
                  <a:lnTo>
                    <a:pt x="0" y="64"/>
                  </a:lnTo>
                  <a:lnTo>
                    <a:pt x="0" y="0"/>
                  </a:lnTo>
                  <a:lnTo>
                    <a:pt x="75" y="3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43145" name="Line 73"/>
            <p:cNvSpPr>
              <a:spLocks noChangeShapeType="1"/>
            </p:cNvSpPr>
            <p:nvPr/>
          </p:nvSpPr>
          <p:spPr bwMode="auto">
            <a:xfrm flipH="1">
              <a:off x="4631" y="3039"/>
              <a:ext cx="333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" name="Group 77"/>
          <p:cNvGrpSpPr>
            <a:grpSpLocks/>
          </p:cNvGrpSpPr>
          <p:nvPr/>
        </p:nvGrpSpPr>
        <p:grpSpPr bwMode="auto">
          <a:xfrm>
            <a:off x="7080250" y="3567113"/>
            <a:ext cx="84138" cy="263525"/>
            <a:chOff x="4460" y="2583"/>
            <a:chExt cx="53" cy="166"/>
          </a:xfrm>
        </p:grpSpPr>
        <p:sp>
          <p:nvSpPr>
            <p:cNvPr id="643147" name="Freeform 75"/>
            <p:cNvSpPr>
              <a:spLocks/>
            </p:cNvSpPr>
            <p:nvPr/>
          </p:nvSpPr>
          <p:spPr bwMode="auto">
            <a:xfrm>
              <a:off x="4460" y="2685"/>
              <a:ext cx="53" cy="64"/>
            </a:xfrm>
            <a:custGeom>
              <a:avLst/>
              <a:gdLst/>
              <a:ahLst/>
              <a:cxnLst>
                <a:cxn ang="0">
                  <a:pos x="27" y="64"/>
                </a:cxn>
                <a:cxn ang="0">
                  <a:pos x="0" y="0"/>
                </a:cxn>
                <a:cxn ang="0">
                  <a:pos x="53" y="0"/>
                </a:cxn>
                <a:cxn ang="0">
                  <a:pos x="27" y="64"/>
                </a:cxn>
              </a:cxnLst>
              <a:rect l="0" t="0" r="r" b="b"/>
              <a:pathLst>
                <a:path w="53" h="64">
                  <a:moveTo>
                    <a:pt x="27" y="64"/>
                  </a:moveTo>
                  <a:lnTo>
                    <a:pt x="0" y="0"/>
                  </a:lnTo>
                  <a:lnTo>
                    <a:pt x="53" y="0"/>
                  </a:lnTo>
                  <a:lnTo>
                    <a:pt x="27" y="64"/>
                  </a:lnTo>
                  <a:close/>
                </a:path>
              </a:pathLst>
            </a:custGeom>
            <a:solidFill>
              <a:srgbClr val="0033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43148" name="Line 76"/>
            <p:cNvSpPr>
              <a:spLocks noChangeShapeType="1"/>
            </p:cNvSpPr>
            <p:nvPr/>
          </p:nvSpPr>
          <p:spPr bwMode="auto">
            <a:xfrm>
              <a:off x="4487" y="2583"/>
              <a:ext cx="1" cy="145"/>
            </a:xfrm>
            <a:prstGeom prst="line">
              <a:avLst/>
            </a:prstGeom>
            <a:noFill/>
            <a:ln w="17463">
              <a:solidFill>
                <a:srgbClr val="0033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80"/>
          <p:cNvGrpSpPr>
            <a:grpSpLocks/>
          </p:cNvGrpSpPr>
          <p:nvPr/>
        </p:nvGrpSpPr>
        <p:grpSpPr bwMode="auto">
          <a:xfrm>
            <a:off x="7351713" y="4017963"/>
            <a:ext cx="230187" cy="85725"/>
            <a:chOff x="4631" y="2867"/>
            <a:chExt cx="145" cy="54"/>
          </a:xfrm>
        </p:grpSpPr>
        <p:sp>
          <p:nvSpPr>
            <p:cNvPr id="643150" name="Freeform 78"/>
            <p:cNvSpPr>
              <a:spLocks/>
            </p:cNvSpPr>
            <p:nvPr/>
          </p:nvSpPr>
          <p:spPr bwMode="auto">
            <a:xfrm>
              <a:off x="4712" y="2867"/>
              <a:ext cx="64" cy="54"/>
            </a:xfrm>
            <a:custGeom>
              <a:avLst/>
              <a:gdLst/>
              <a:ahLst/>
              <a:cxnLst>
                <a:cxn ang="0">
                  <a:pos x="64" y="27"/>
                </a:cxn>
                <a:cxn ang="0">
                  <a:pos x="0" y="54"/>
                </a:cxn>
                <a:cxn ang="0">
                  <a:pos x="0" y="0"/>
                </a:cxn>
                <a:cxn ang="0">
                  <a:pos x="64" y="27"/>
                </a:cxn>
              </a:cxnLst>
              <a:rect l="0" t="0" r="r" b="b"/>
              <a:pathLst>
                <a:path w="64" h="54">
                  <a:moveTo>
                    <a:pt x="64" y="27"/>
                  </a:moveTo>
                  <a:lnTo>
                    <a:pt x="0" y="54"/>
                  </a:lnTo>
                  <a:lnTo>
                    <a:pt x="0" y="0"/>
                  </a:lnTo>
                  <a:lnTo>
                    <a:pt x="64" y="27"/>
                  </a:lnTo>
                  <a:close/>
                </a:path>
              </a:pathLst>
            </a:custGeom>
            <a:solidFill>
              <a:srgbClr val="003399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43151" name="Line 79"/>
            <p:cNvSpPr>
              <a:spLocks noChangeShapeType="1"/>
            </p:cNvSpPr>
            <p:nvPr/>
          </p:nvSpPr>
          <p:spPr bwMode="auto">
            <a:xfrm flipH="1">
              <a:off x="4631" y="2894"/>
              <a:ext cx="124" cy="1"/>
            </a:xfrm>
            <a:prstGeom prst="line">
              <a:avLst/>
            </a:prstGeom>
            <a:noFill/>
            <a:ln w="17463">
              <a:solidFill>
                <a:srgbClr val="003399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43153" name="Rectangle 81"/>
          <p:cNvSpPr>
            <a:spLocks noChangeArrowheads="1"/>
          </p:cNvSpPr>
          <p:nvPr/>
        </p:nvSpPr>
        <p:spPr bwMode="auto">
          <a:xfrm>
            <a:off x="6816725" y="3448050"/>
            <a:ext cx="663575" cy="187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900" b="1">
                <a:solidFill>
                  <a:srgbClr val="0033FF"/>
                </a:solidFill>
                <a:latin typeface="Arial" charset="0"/>
              </a:rPr>
              <a:t>Operation</a:t>
            </a:r>
            <a:endParaRPr lang="en-US"/>
          </a:p>
        </p:txBody>
      </p:sp>
      <p:sp>
        <p:nvSpPr>
          <p:cNvPr id="643154" name="Rectangle 82"/>
          <p:cNvSpPr>
            <a:spLocks noChangeArrowheads="1"/>
          </p:cNvSpPr>
          <p:nvPr/>
        </p:nvSpPr>
        <p:spPr bwMode="auto">
          <a:xfrm>
            <a:off x="6969125" y="4010025"/>
            <a:ext cx="39211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200" b="1">
                <a:solidFill>
                  <a:srgbClr val="000000"/>
                </a:solidFill>
                <a:latin typeface="Arial" charset="0"/>
              </a:rPr>
              <a:t>ALU</a:t>
            </a:r>
            <a:endParaRPr lang="en-US"/>
          </a:p>
        </p:txBody>
      </p:sp>
      <p:sp>
        <p:nvSpPr>
          <p:cNvPr id="643155" name="Line 83"/>
          <p:cNvSpPr>
            <a:spLocks noChangeShapeType="1"/>
          </p:cNvSpPr>
          <p:nvPr/>
        </p:nvSpPr>
        <p:spPr bwMode="auto">
          <a:xfrm flipH="1">
            <a:off x="688975" y="5975350"/>
            <a:ext cx="7778750" cy="1588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643156" name="Line 84"/>
          <p:cNvSpPr>
            <a:spLocks noChangeShapeType="1"/>
          </p:cNvSpPr>
          <p:nvPr/>
        </p:nvSpPr>
        <p:spPr bwMode="auto">
          <a:xfrm>
            <a:off x="8467725" y="3336925"/>
            <a:ext cx="1588" cy="263842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643157" name="Line 85"/>
          <p:cNvSpPr>
            <a:spLocks noChangeShapeType="1"/>
          </p:cNvSpPr>
          <p:nvPr/>
        </p:nvSpPr>
        <p:spPr bwMode="auto">
          <a:xfrm>
            <a:off x="3259138" y="2878138"/>
            <a:ext cx="1587" cy="2484437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643158" name="Line 86"/>
          <p:cNvSpPr>
            <a:spLocks noChangeShapeType="1"/>
          </p:cNvSpPr>
          <p:nvPr/>
        </p:nvSpPr>
        <p:spPr bwMode="auto">
          <a:xfrm flipH="1">
            <a:off x="3140075" y="2878138"/>
            <a:ext cx="3140075" cy="1587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643159" name="Line 87"/>
          <p:cNvSpPr>
            <a:spLocks noChangeShapeType="1"/>
          </p:cNvSpPr>
          <p:nvPr/>
        </p:nvSpPr>
        <p:spPr bwMode="auto">
          <a:xfrm flipH="1">
            <a:off x="7088188" y="3643313"/>
            <a:ext cx="76200" cy="77787"/>
          </a:xfrm>
          <a:prstGeom prst="line">
            <a:avLst/>
          </a:prstGeom>
          <a:noFill/>
          <a:ln w="7938">
            <a:solidFill>
              <a:srgbClr val="0033FF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643160" name="Rectangle 88"/>
          <p:cNvSpPr>
            <a:spLocks noChangeArrowheads="1"/>
          </p:cNvSpPr>
          <p:nvPr/>
        </p:nvSpPr>
        <p:spPr bwMode="auto">
          <a:xfrm>
            <a:off x="7164388" y="3619500"/>
            <a:ext cx="10160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charset="0"/>
              </a:rPr>
              <a:t>3</a:t>
            </a:r>
            <a:endParaRPr lang="en-US"/>
          </a:p>
        </p:txBody>
      </p:sp>
      <p:grpSp>
        <p:nvGrpSpPr>
          <p:cNvPr id="10" name="Group 91"/>
          <p:cNvGrpSpPr>
            <a:grpSpLocks/>
          </p:cNvGrpSpPr>
          <p:nvPr/>
        </p:nvGrpSpPr>
        <p:grpSpPr bwMode="auto">
          <a:xfrm>
            <a:off x="5897563" y="4359275"/>
            <a:ext cx="587375" cy="101600"/>
            <a:chOff x="3715" y="3082"/>
            <a:chExt cx="370" cy="64"/>
          </a:xfrm>
        </p:grpSpPr>
        <p:sp>
          <p:nvSpPr>
            <p:cNvPr id="643161" name="Freeform 89"/>
            <p:cNvSpPr>
              <a:spLocks/>
            </p:cNvSpPr>
            <p:nvPr/>
          </p:nvSpPr>
          <p:spPr bwMode="auto">
            <a:xfrm>
              <a:off x="4010" y="3082"/>
              <a:ext cx="75" cy="64"/>
            </a:xfrm>
            <a:custGeom>
              <a:avLst/>
              <a:gdLst/>
              <a:ahLst/>
              <a:cxnLst>
                <a:cxn ang="0">
                  <a:pos x="75" y="32"/>
                </a:cxn>
                <a:cxn ang="0">
                  <a:pos x="0" y="64"/>
                </a:cxn>
                <a:cxn ang="0">
                  <a:pos x="0" y="0"/>
                </a:cxn>
                <a:cxn ang="0">
                  <a:pos x="75" y="32"/>
                </a:cxn>
              </a:cxnLst>
              <a:rect l="0" t="0" r="r" b="b"/>
              <a:pathLst>
                <a:path w="75" h="64">
                  <a:moveTo>
                    <a:pt x="75" y="32"/>
                  </a:moveTo>
                  <a:lnTo>
                    <a:pt x="0" y="64"/>
                  </a:lnTo>
                  <a:lnTo>
                    <a:pt x="0" y="0"/>
                  </a:lnTo>
                  <a:lnTo>
                    <a:pt x="75" y="3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43162" name="Line 90"/>
            <p:cNvSpPr>
              <a:spLocks noChangeShapeType="1"/>
            </p:cNvSpPr>
            <p:nvPr/>
          </p:nvSpPr>
          <p:spPr bwMode="auto">
            <a:xfrm flipH="1">
              <a:off x="3715" y="3114"/>
              <a:ext cx="332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1" name="Group 94"/>
          <p:cNvGrpSpPr>
            <a:grpSpLocks/>
          </p:cNvGrpSpPr>
          <p:nvPr/>
        </p:nvGrpSpPr>
        <p:grpSpPr bwMode="auto">
          <a:xfrm>
            <a:off x="6246813" y="4511675"/>
            <a:ext cx="238125" cy="103188"/>
            <a:chOff x="3935" y="3178"/>
            <a:chExt cx="150" cy="65"/>
          </a:xfrm>
        </p:grpSpPr>
        <p:sp>
          <p:nvSpPr>
            <p:cNvPr id="643164" name="Freeform 92"/>
            <p:cNvSpPr>
              <a:spLocks/>
            </p:cNvSpPr>
            <p:nvPr/>
          </p:nvSpPr>
          <p:spPr bwMode="auto">
            <a:xfrm>
              <a:off x="4010" y="3178"/>
              <a:ext cx="75" cy="65"/>
            </a:xfrm>
            <a:custGeom>
              <a:avLst/>
              <a:gdLst/>
              <a:ahLst/>
              <a:cxnLst>
                <a:cxn ang="0">
                  <a:pos x="75" y="32"/>
                </a:cxn>
                <a:cxn ang="0">
                  <a:pos x="0" y="65"/>
                </a:cxn>
                <a:cxn ang="0">
                  <a:pos x="0" y="0"/>
                </a:cxn>
                <a:cxn ang="0">
                  <a:pos x="75" y="32"/>
                </a:cxn>
              </a:cxnLst>
              <a:rect l="0" t="0" r="r" b="b"/>
              <a:pathLst>
                <a:path w="75" h="65">
                  <a:moveTo>
                    <a:pt x="75" y="32"/>
                  </a:moveTo>
                  <a:lnTo>
                    <a:pt x="0" y="65"/>
                  </a:lnTo>
                  <a:lnTo>
                    <a:pt x="0" y="0"/>
                  </a:lnTo>
                  <a:lnTo>
                    <a:pt x="75" y="3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43165" name="Line 93"/>
            <p:cNvSpPr>
              <a:spLocks noChangeShapeType="1"/>
            </p:cNvSpPr>
            <p:nvPr/>
          </p:nvSpPr>
          <p:spPr bwMode="auto">
            <a:xfrm flipH="1">
              <a:off x="3935" y="3210"/>
              <a:ext cx="112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43167" name="Line 95"/>
          <p:cNvSpPr>
            <a:spLocks noChangeShapeType="1"/>
          </p:cNvSpPr>
          <p:nvPr/>
        </p:nvSpPr>
        <p:spPr bwMode="auto">
          <a:xfrm>
            <a:off x="5208588" y="4749800"/>
            <a:ext cx="1587" cy="61277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grpSp>
        <p:nvGrpSpPr>
          <p:cNvPr id="12" name="Group 102"/>
          <p:cNvGrpSpPr>
            <a:grpSpLocks/>
          </p:cNvGrpSpPr>
          <p:nvPr/>
        </p:nvGrpSpPr>
        <p:grpSpPr bwMode="auto">
          <a:xfrm>
            <a:off x="4752975" y="5026025"/>
            <a:ext cx="255588" cy="685800"/>
            <a:chOff x="2994" y="3502"/>
            <a:chExt cx="161" cy="432"/>
          </a:xfrm>
        </p:grpSpPr>
        <p:sp>
          <p:nvSpPr>
            <p:cNvPr id="643168" name="AutoShape 96"/>
            <p:cNvSpPr>
              <a:spLocks noChangeArrowheads="1"/>
            </p:cNvSpPr>
            <p:nvPr/>
          </p:nvSpPr>
          <p:spPr bwMode="auto">
            <a:xfrm>
              <a:off x="2994" y="3502"/>
              <a:ext cx="161" cy="429"/>
            </a:xfrm>
            <a:prstGeom prst="roundRect">
              <a:avLst>
                <a:gd name="adj" fmla="val 50000"/>
              </a:avLst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43169" name="Rectangle 97"/>
            <p:cNvSpPr>
              <a:spLocks noChangeArrowheads="1"/>
            </p:cNvSpPr>
            <p:nvPr/>
          </p:nvSpPr>
          <p:spPr bwMode="auto">
            <a:xfrm>
              <a:off x="3050" y="3516"/>
              <a:ext cx="91" cy="1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900" b="1">
                  <a:solidFill>
                    <a:srgbClr val="000000"/>
                  </a:solidFill>
                  <a:latin typeface="Arial" charset="0"/>
                </a:rPr>
                <a:t>E</a:t>
              </a:r>
              <a:endParaRPr lang="en-US"/>
            </a:p>
          </p:txBody>
        </p:sp>
        <p:sp>
          <p:nvSpPr>
            <p:cNvPr id="643170" name="Rectangle 98"/>
            <p:cNvSpPr>
              <a:spLocks noChangeArrowheads="1"/>
            </p:cNvSpPr>
            <p:nvPr/>
          </p:nvSpPr>
          <p:spPr bwMode="auto">
            <a:xfrm>
              <a:off x="3050" y="3591"/>
              <a:ext cx="91" cy="1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900" b="1">
                  <a:solidFill>
                    <a:srgbClr val="000000"/>
                  </a:solidFill>
                  <a:latin typeface="Arial" charset="0"/>
                </a:rPr>
                <a:t>X</a:t>
              </a:r>
              <a:endParaRPr lang="en-US"/>
            </a:p>
          </p:txBody>
        </p:sp>
        <p:sp>
          <p:nvSpPr>
            <p:cNvPr id="643171" name="Rectangle 99"/>
            <p:cNvSpPr>
              <a:spLocks noChangeArrowheads="1"/>
            </p:cNvSpPr>
            <p:nvPr/>
          </p:nvSpPr>
          <p:spPr bwMode="auto">
            <a:xfrm>
              <a:off x="3055" y="3666"/>
              <a:ext cx="91" cy="1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900" b="1">
                  <a:solidFill>
                    <a:srgbClr val="000000"/>
                  </a:solidFill>
                  <a:latin typeface="Arial" charset="0"/>
                </a:rPr>
                <a:t>T</a:t>
              </a:r>
              <a:endParaRPr lang="en-US"/>
            </a:p>
          </p:txBody>
        </p:sp>
        <p:sp>
          <p:nvSpPr>
            <p:cNvPr id="643172" name="Rectangle 100"/>
            <p:cNvSpPr>
              <a:spLocks noChangeArrowheads="1"/>
            </p:cNvSpPr>
            <p:nvPr/>
          </p:nvSpPr>
          <p:spPr bwMode="auto">
            <a:xfrm>
              <a:off x="3050" y="3741"/>
              <a:ext cx="96" cy="1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900" b="1">
                  <a:solidFill>
                    <a:srgbClr val="000000"/>
                  </a:solidFill>
                  <a:latin typeface="Arial" charset="0"/>
                </a:rPr>
                <a:t>N</a:t>
              </a:r>
              <a:endParaRPr lang="en-US"/>
            </a:p>
          </p:txBody>
        </p:sp>
        <p:sp>
          <p:nvSpPr>
            <p:cNvPr id="643173" name="Rectangle 101"/>
            <p:cNvSpPr>
              <a:spLocks noChangeArrowheads="1"/>
            </p:cNvSpPr>
            <p:nvPr/>
          </p:nvSpPr>
          <p:spPr bwMode="auto">
            <a:xfrm>
              <a:off x="3050" y="3816"/>
              <a:ext cx="96" cy="1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900" b="1">
                  <a:solidFill>
                    <a:srgbClr val="000000"/>
                  </a:solidFill>
                  <a:latin typeface="Arial" charset="0"/>
                </a:rPr>
                <a:t>D</a:t>
              </a:r>
              <a:endParaRPr lang="en-US"/>
            </a:p>
          </p:txBody>
        </p:sp>
      </p:grpSp>
      <p:sp>
        <p:nvSpPr>
          <p:cNvPr id="643175" name="Line 103"/>
          <p:cNvSpPr>
            <a:spLocks noChangeShapeType="1"/>
          </p:cNvSpPr>
          <p:nvPr/>
        </p:nvSpPr>
        <p:spPr bwMode="auto">
          <a:xfrm flipH="1">
            <a:off x="4484688" y="5329238"/>
            <a:ext cx="76200" cy="76200"/>
          </a:xfrm>
          <a:prstGeom prst="line">
            <a:avLst/>
          </a:prstGeom>
          <a:noFill/>
          <a:ln w="7938">
            <a:solidFill>
              <a:srgbClr val="44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643176" name="Rectangle 104"/>
          <p:cNvSpPr>
            <a:spLocks noChangeArrowheads="1"/>
          </p:cNvSpPr>
          <p:nvPr/>
        </p:nvSpPr>
        <p:spPr bwMode="auto">
          <a:xfrm>
            <a:off x="4484688" y="5184775"/>
            <a:ext cx="161925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charset="0"/>
              </a:rPr>
              <a:t>16</a:t>
            </a:r>
            <a:endParaRPr lang="en-US"/>
          </a:p>
        </p:txBody>
      </p:sp>
      <p:grpSp>
        <p:nvGrpSpPr>
          <p:cNvPr id="13" name="Group 107"/>
          <p:cNvGrpSpPr>
            <a:grpSpLocks/>
          </p:cNvGrpSpPr>
          <p:nvPr/>
        </p:nvGrpSpPr>
        <p:grpSpPr bwMode="auto">
          <a:xfrm>
            <a:off x="3259138" y="5311775"/>
            <a:ext cx="1497012" cy="101600"/>
            <a:chOff x="2053" y="3682"/>
            <a:chExt cx="943" cy="64"/>
          </a:xfrm>
        </p:grpSpPr>
        <p:sp>
          <p:nvSpPr>
            <p:cNvPr id="643177" name="Freeform 105"/>
            <p:cNvSpPr>
              <a:spLocks/>
            </p:cNvSpPr>
            <p:nvPr/>
          </p:nvSpPr>
          <p:spPr bwMode="auto">
            <a:xfrm>
              <a:off x="2921" y="3682"/>
              <a:ext cx="75" cy="64"/>
            </a:xfrm>
            <a:custGeom>
              <a:avLst/>
              <a:gdLst/>
              <a:ahLst/>
              <a:cxnLst>
                <a:cxn ang="0">
                  <a:pos x="75" y="32"/>
                </a:cxn>
                <a:cxn ang="0">
                  <a:pos x="0" y="64"/>
                </a:cxn>
                <a:cxn ang="0">
                  <a:pos x="0" y="0"/>
                </a:cxn>
                <a:cxn ang="0">
                  <a:pos x="75" y="32"/>
                </a:cxn>
              </a:cxnLst>
              <a:rect l="0" t="0" r="r" b="b"/>
              <a:pathLst>
                <a:path w="75" h="64">
                  <a:moveTo>
                    <a:pt x="75" y="32"/>
                  </a:moveTo>
                  <a:lnTo>
                    <a:pt x="0" y="64"/>
                  </a:lnTo>
                  <a:lnTo>
                    <a:pt x="0" y="0"/>
                  </a:lnTo>
                  <a:lnTo>
                    <a:pt x="75" y="3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43178" name="Line 106"/>
            <p:cNvSpPr>
              <a:spLocks noChangeShapeType="1"/>
            </p:cNvSpPr>
            <p:nvPr/>
          </p:nvSpPr>
          <p:spPr bwMode="auto">
            <a:xfrm flipH="1">
              <a:off x="2053" y="3714"/>
              <a:ext cx="906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43180" name="Line 108"/>
          <p:cNvSpPr>
            <a:spLocks noChangeShapeType="1"/>
          </p:cNvSpPr>
          <p:nvPr/>
        </p:nvSpPr>
        <p:spPr bwMode="auto">
          <a:xfrm flipH="1">
            <a:off x="5862638" y="5286375"/>
            <a:ext cx="77787" cy="76200"/>
          </a:xfrm>
          <a:prstGeom prst="line">
            <a:avLst/>
          </a:prstGeom>
          <a:noFill/>
          <a:ln w="79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643181" name="Rectangle 109"/>
          <p:cNvSpPr>
            <a:spLocks noChangeArrowheads="1"/>
          </p:cNvSpPr>
          <p:nvPr/>
        </p:nvSpPr>
        <p:spPr bwMode="auto">
          <a:xfrm>
            <a:off x="5054600" y="5184775"/>
            <a:ext cx="161925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charset="0"/>
              </a:rPr>
              <a:t>32</a:t>
            </a:r>
            <a:endParaRPr lang="en-US"/>
          </a:p>
        </p:txBody>
      </p:sp>
      <p:grpSp>
        <p:nvGrpSpPr>
          <p:cNvPr id="14" name="Group 112"/>
          <p:cNvGrpSpPr>
            <a:grpSpLocks/>
          </p:cNvGrpSpPr>
          <p:nvPr/>
        </p:nvGrpSpPr>
        <p:grpSpPr bwMode="auto">
          <a:xfrm>
            <a:off x="5021263" y="5311775"/>
            <a:ext cx="425450" cy="101600"/>
            <a:chOff x="3163" y="3682"/>
            <a:chExt cx="268" cy="64"/>
          </a:xfrm>
        </p:grpSpPr>
        <p:sp>
          <p:nvSpPr>
            <p:cNvPr id="643182" name="Freeform 110"/>
            <p:cNvSpPr>
              <a:spLocks/>
            </p:cNvSpPr>
            <p:nvPr/>
          </p:nvSpPr>
          <p:spPr bwMode="auto">
            <a:xfrm>
              <a:off x="3356" y="3682"/>
              <a:ext cx="75" cy="64"/>
            </a:xfrm>
            <a:custGeom>
              <a:avLst/>
              <a:gdLst/>
              <a:ahLst/>
              <a:cxnLst>
                <a:cxn ang="0">
                  <a:pos x="75" y="32"/>
                </a:cxn>
                <a:cxn ang="0">
                  <a:pos x="0" y="64"/>
                </a:cxn>
                <a:cxn ang="0">
                  <a:pos x="0" y="0"/>
                </a:cxn>
                <a:cxn ang="0">
                  <a:pos x="75" y="32"/>
                </a:cxn>
              </a:cxnLst>
              <a:rect l="0" t="0" r="r" b="b"/>
              <a:pathLst>
                <a:path w="75" h="64">
                  <a:moveTo>
                    <a:pt x="75" y="32"/>
                  </a:moveTo>
                  <a:lnTo>
                    <a:pt x="0" y="64"/>
                  </a:lnTo>
                  <a:lnTo>
                    <a:pt x="0" y="0"/>
                  </a:lnTo>
                  <a:lnTo>
                    <a:pt x="75" y="3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43183" name="Line 111"/>
            <p:cNvSpPr>
              <a:spLocks noChangeShapeType="1"/>
            </p:cNvSpPr>
            <p:nvPr/>
          </p:nvSpPr>
          <p:spPr bwMode="auto">
            <a:xfrm flipH="1">
              <a:off x="3163" y="3714"/>
              <a:ext cx="230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43185" name="Rectangle 113"/>
          <p:cNvSpPr>
            <a:spLocks noChangeArrowheads="1"/>
          </p:cNvSpPr>
          <p:nvPr/>
        </p:nvSpPr>
        <p:spPr bwMode="auto">
          <a:xfrm>
            <a:off x="7377113" y="3873500"/>
            <a:ext cx="331787" cy="187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900" b="1">
                <a:solidFill>
                  <a:srgbClr val="003399"/>
                </a:solidFill>
                <a:latin typeface="Arial" charset="0"/>
              </a:rPr>
              <a:t>Zero</a:t>
            </a:r>
            <a:endParaRPr lang="en-US"/>
          </a:p>
        </p:txBody>
      </p:sp>
      <p:sp>
        <p:nvSpPr>
          <p:cNvPr id="643186" name="Rectangle 114"/>
          <p:cNvSpPr>
            <a:spLocks noChangeArrowheads="1"/>
          </p:cNvSpPr>
          <p:nvPr/>
        </p:nvSpPr>
        <p:spPr bwMode="auto">
          <a:xfrm>
            <a:off x="1349375" y="3605213"/>
            <a:ext cx="1139825" cy="1063625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643187" name="Line 115"/>
          <p:cNvSpPr>
            <a:spLocks noChangeShapeType="1"/>
          </p:cNvSpPr>
          <p:nvPr/>
        </p:nvSpPr>
        <p:spPr bwMode="auto">
          <a:xfrm flipH="1">
            <a:off x="8237538" y="4291013"/>
            <a:ext cx="230187" cy="1587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643188" name="Rectangle 116"/>
          <p:cNvSpPr>
            <a:spLocks noChangeArrowheads="1"/>
          </p:cNvSpPr>
          <p:nvPr/>
        </p:nvSpPr>
        <p:spPr bwMode="auto">
          <a:xfrm>
            <a:off x="2271713" y="4068763"/>
            <a:ext cx="246062" cy="187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900" b="1">
                <a:solidFill>
                  <a:srgbClr val="000000"/>
                </a:solidFill>
                <a:latin typeface="Arial" charset="0"/>
              </a:rPr>
              <a:t>RD</a:t>
            </a:r>
            <a:endParaRPr lang="en-US"/>
          </a:p>
        </p:txBody>
      </p:sp>
      <p:sp>
        <p:nvSpPr>
          <p:cNvPr id="643189" name="Rectangle 117"/>
          <p:cNvSpPr>
            <a:spLocks noChangeArrowheads="1"/>
          </p:cNvSpPr>
          <p:nvPr/>
        </p:nvSpPr>
        <p:spPr bwMode="auto">
          <a:xfrm>
            <a:off x="1387475" y="4341813"/>
            <a:ext cx="263525" cy="187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900" b="1">
                <a:solidFill>
                  <a:srgbClr val="000000"/>
                </a:solidFill>
                <a:latin typeface="Arial" charset="0"/>
              </a:rPr>
              <a:t>WD</a:t>
            </a:r>
            <a:endParaRPr lang="en-US"/>
          </a:p>
        </p:txBody>
      </p:sp>
      <p:grpSp>
        <p:nvGrpSpPr>
          <p:cNvPr id="15" name="Group 120"/>
          <p:cNvGrpSpPr>
            <a:grpSpLocks/>
          </p:cNvGrpSpPr>
          <p:nvPr/>
        </p:nvGrpSpPr>
        <p:grpSpPr bwMode="auto">
          <a:xfrm>
            <a:off x="1914525" y="4673600"/>
            <a:ext cx="85725" cy="195263"/>
            <a:chOff x="1206" y="3280"/>
            <a:chExt cx="54" cy="123"/>
          </a:xfrm>
        </p:grpSpPr>
        <p:sp>
          <p:nvSpPr>
            <p:cNvPr id="643190" name="Freeform 118"/>
            <p:cNvSpPr>
              <a:spLocks/>
            </p:cNvSpPr>
            <p:nvPr/>
          </p:nvSpPr>
          <p:spPr bwMode="auto">
            <a:xfrm>
              <a:off x="1206" y="3280"/>
              <a:ext cx="54" cy="64"/>
            </a:xfrm>
            <a:custGeom>
              <a:avLst/>
              <a:gdLst/>
              <a:ahLst/>
              <a:cxnLst>
                <a:cxn ang="0">
                  <a:pos x="27" y="0"/>
                </a:cxn>
                <a:cxn ang="0">
                  <a:pos x="54" y="64"/>
                </a:cxn>
                <a:cxn ang="0">
                  <a:pos x="0" y="64"/>
                </a:cxn>
                <a:cxn ang="0">
                  <a:pos x="27" y="0"/>
                </a:cxn>
              </a:cxnLst>
              <a:rect l="0" t="0" r="r" b="b"/>
              <a:pathLst>
                <a:path w="54" h="64">
                  <a:moveTo>
                    <a:pt x="27" y="0"/>
                  </a:moveTo>
                  <a:lnTo>
                    <a:pt x="54" y="64"/>
                  </a:lnTo>
                  <a:lnTo>
                    <a:pt x="0" y="64"/>
                  </a:lnTo>
                  <a:lnTo>
                    <a:pt x="27" y="0"/>
                  </a:lnTo>
                  <a:close/>
                </a:path>
              </a:pathLst>
            </a:custGeom>
            <a:solidFill>
              <a:srgbClr val="0033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43191" name="Line 119"/>
            <p:cNvSpPr>
              <a:spLocks noChangeShapeType="1"/>
            </p:cNvSpPr>
            <p:nvPr/>
          </p:nvSpPr>
          <p:spPr bwMode="auto">
            <a:xfrm>
              <a:off x="1233" y="3301"/>
              <a:ext cx="1" cy="102"/>
            </a:xfrm>
            <a:prstGeom prst="line">
              <a:avLst/>
            </a:prstGeom>
            <a:noFill/>
            <a:ln w="17463">
              <a:solidFill>
                <a:srgbClr val="0033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43193" name="Rectangle 121"/>
          <p:cNvSpPr>
            <a:spLocks noChangeArrowheads="1"/>
          </p:cNvSpPr>
          <p:nvPr/>
        </p:nvSpPr>
        <p:spPr bwMode="auto">
          <a:xfrm>
            <a:off x="1633538" y="4503738"/>
            <a:ext cx="539750" cy="13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900" b="1">
                <a:solidFill>
                  <a:srgbClr val="0033FF"/>
                </a:solidFill>
                <a:latin typeface="Arial" charset="0"/>
              </a:rPr>
              <a:t>MemRead</a:t>
            </a:r>
            <a:endParaRPr lang="en-US"/>
          </a:p>
        </p:txBody>
      </p:sp>
      <p:sp>
        <p:nvSpPr>
          <p:cNvPr id="643194" name="Rectangle 122"/>
          <p:cNvSpPr>
            <a:spLocks noChangeArrowheads="1"/>
          </p:cNvSpPr>
          <p:nvPr/>
        </p:nvSpPr>
        <p:spPr bwMode="auto">
          <a:xfrm>
            <a:off x="1590675" y="3933825"/>
            <a:ext cx="68897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200" b="1">
                <a:solidFill>
                  <a:srgbClr val="000000"/>
                </a:solidFill>
                <a:latin typeface="Arial" charset="0"/>
              </a:rPr>
              <a:t>Memory</a:t>
            </a:r>
            <a:endParaRPr lang="en-US"/>
          </a:p>
        </p:txBody>
      </p:sp>
      <p:sp>
        <p:nvSpPr>
          <p:cNvPr id="643195" name="Rectangle 123"/>
          <p:cNvSpPr>
            <a:spLocks noChangeArrowheads="1"/>
          </p:cNvSpPr>
          <p:nvPr/>
        </p:nvSpPr>
        <p:spPr bwMode="auto">
          <a:xfrm>
            <a:off x="1387475" y="3762375"/>
            <a:ext cx="417513" cy="187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900" b="1">
                <a:solidFill>
                  <a:srgbClr val="000000"/>
                </a:solidFill>
                <a:latin typeface="Arial" charset="0"/>
              </a:rPr>
              <a:t>ADDR</a:t>
            </a:r>
            <a:endParaRPr lang="en-US"/>
          </a:p>
        </p:txBody>
      </p:sp>
      <p:grpSp>
        <p:nvGrpSpPr>
          <p:cNvPr id="16" name="Group 126"/>
          <p:cNvGrpSpPr>
            <a:grpSpLocks/>
          </p:cNvGrpSpPr>
          <p:nvPr/>
        </p:nvGrpSpPr>
        <p:grpSpPr bwMode="auto">
          <a:xfrm>
            <a:off x="952500" y="3371850"/>
            <a:ext cx="85725" cy="230188"/>
            <a:chOff x="600" y="2460"/>
            <a:chExt cx="54" cy="145"/>
          </a:xfrm>
        </p:grpSpPr>
        <p:sp>
          <p:nvSpPr>
            <p:cNvPr id="643196" name="Freeform 124"/>
            <p:cNvSpPr>
              <a:spLocks/>
            </p:cNvSpPr>
            <p:nvPr/>
          </p:nvSpPr>
          <p:spPr bwMode="auto">
            <a:xfrm>
              <a:off x="600" y="2540"/>
              <a:ext cx="54" cy="65"/>
            </a:xfrm>
            <a:custGeom>
              <a:avLst/>
              <a:gdLst/>
              <a:ahLst/>
              <a:cxnLst>
                <a:cxn ang="0">
                  <a:pos x="27" y="65"/>
                </a:cxn>
                <a:cxn ang="0">
                  <a:pos x="0" y="0"/>
                </a:cxn>
                <a:cxn ang="0">
                  <a:pos x="54" y="0"/>
                </a:cxn>
                <a:cxn ang="0">
                  <a:pos x="27" y="65"/>
                </a:cxn>
              </a:cxnLst>
              <a:rect l="0" t="0" r="r" b="b"/>
              <a:pathLst>
                <a:path w="54" h="65">
                  <a:moveTo>
                    <a:pt x="27" y="65"/>
                  </a:moveTo>
                  <a:lnTo>
                    <a:pt x="0" y="0"/>
                  </a:lnTo>
                  <a:lnTo>
                    <a:pt x="54" y="0"/>
                  </a:lnTo>
                  <a:lnTo>
                    <a:pt x="27" y="65"/>
                  </a:lnTo>
                  <a:close/>
                </a:path>
              </a:pathLst>
            </a:custGeom>
            <a:solidFill>
              <a:srgbClr val="0033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43197" name="Line 125"/>
            <p:cNvSpPr>
              <a:spLocks noChangeShapeType="1"/>
            </p:cNvSpPr>
            <p:nvPr/>
          </p:nvSpPr>
          <p:spPr bwMode="auto">
            <a:xfrm>
              <a:off x="627" y="2460"/>
              <a:ext cx="1" cy="123"/>
            </a:xfrm>
            <a:prstGeom prst="line">
              <a:avLst/>
            </a:prstGeom>
            <a:noFill/>
            <a:ln w="17463">
              <a:solidFill>
                <a:srgbClr val="0033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43199" name="Rectangle 127"/>
          <p:cNvSpPr>
            <a:spLocks noChangeArrowheads="1"/>
          </p:cNvSpPr>
          <p:nvPr/>
        </p:nvSpPr>
        <p:spPr bwMode="auto">
          <a:xfrm>
            <a:off x="1633538" y="3625850"/>
            <a:ext cx="546100" cy="13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900" b="1">
                <a:solidFill>
                  <a:srgbClr val="0033FF"/>
                </a:solidFill>
                <a:latin typeface="Arial" charset="0"/>
              </a:rPr>
              <a:t>MemWrite</a:t>
            </a:r>
            <a:endParaRPr lang="en-US"/>
          </a:p>
        </p:txBody>
      </p:sp>
      <p:sp>
        <p:nvSpPr>
          <p:cNvPr id="643200" name="Line 128"/>
          <p:cNvSpPr>
            <a:spLocks noChangeShapeType="1"/>
          </p:cNvSpPr>
          <p:nvPr/>
        </p:nvSpPr>
        <p:spPr bwMode="auto">
          <a:xfrm flipH="1">
            <a:off x="5130800" y="3371850"/>
            <a:ext cx="77788" cy="76200"/>
          </a:xfrm>
          <a:prstGeom prst="line">
            <a:avLst/>
          </a:prstGeom>
          <a:noFill/>
          <a:ln w="79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643201" name="Rectangle 129"/>
          <p:cNvSpPr>
            <a:spLocks noChangeArrowheads="1"/>
          </p:cNvSpPr>
          <p:nvPr/>
        </p:nvSpPr>
        <p:spPr bwMode="auto">
          <a:xfrm>
            <a:off x="5208588" y="3346450"/>
            <a:ext cx="10160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charset="0"/>
              </a:rPr>
              <a:t>5</a:t>
            </a:r>
            <a:endParaRPr lang="en-US"/>
          </a:p>
        </p:txBody>
      </p:sp>
      <p:grpSp>
        <p:nvGrpSpPr>
          <p:cNvPr id="17" name="Group 132"/>
          <p:cNvGrpSpPr>
            <a:grpSpLocks/>
          </p:cNvGrpSpPr>
          <p:nvPr/>
        </p:nvGrpSpPr>
        <p:grpSpPr bwMode="auto">
          <a:xfrm>
            <a:off x="5130800" y="3336925"/>
            <a:ext cx="85725" cy="230188"/>
            <a:chOff x="3232" y="2438"/>
            <a:chExt cx="54" cy="145"/>
          </a:xfrm>
        </p:grpSpPr>
        <p:sp>
          <p:nvSpPr>
            <p:cNvPr id="643202" name="Freeform 130"/>
            <p:cNvSpPr>
              <a:spLocks/>
            </p:cNvSpPr>
            <p:nvPr/>
          </p:nvSpPr>
          <p:spPr bwMode="auto">
            <a:xfrm>
              <a:off x="3232" y="2519"/>
              <a:ext cx="54" cy="64"/>
            </a:xfrm>
            <a:custGeom>
              <a:avLst/>
              <a:gdLst/>
              <a:ahLst/>
              <a:cxnLst>
                <a:cxn ang="0">
                  <a:pos x="27" y="64"/>
                </a:cxn>
                <a:cxn ang="0">
                  <a:pos x="0" y="0"/>
                </a:cxn>
                <a:cxn ang="0">
                  <a:pos x="54" y="0"/>
                </a:cxn>
                <a:cxn ang="0">
                  <a:pos x="27" y="64"/>
                </a:cxn>
              </a:cxnLst>
              <a:rect l="0" t="0" r="r" b="b"/>
              <a:pathLst>
                <a:path w="54" h="64">
                  <a:moveTo>
                    <a:pt x="27" y="64"/>
                  </a:moveTo>
                  <a:lnTo>
                    <a:pt x="0" y="0"/>
                  </a:lnTo>
                  <a:lnTo>
                    <a:pt x="54" y="0"/>
                  </a:lnTo>
                  <a:lnTo>
                    <a:pt x="27" y="6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43203" name="Line 131"/>
            <p:cNvSpPr>
              <a:spLocks noChangeShapeType="1"/>
            </p:cNvSpPr>
            <p:nvPr/>
          </p:nvSpPr>
          <p:spPr bwMode="auto">
            <a:xfrm>
              <a:off x="3259" y="2438"/>
              <a:ext cx="1" cy="124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8" name="Group 135"/>
          <p:cNvGrpSpPr>
            <a:grpSpLocks/>
          </p:cNvGrpSpPr>
          <p:nvPr/>
        </p:nvGrpSpPr>
        <p:grpSpPr bwMode="auto">
          <a:xfrm>
            <a:off x="6705600" y="4587875"/>
            <a:ext cx="195263" cy="103188"/>
            <a:chOff x="4224" y="3226"/>
            <a:chExt cx="123" cy="65"/>
          </a:xfrm>
        </p:grpSpPr>
        <p:sp>
          <p:nvSpPr>
            <p:cNvPr id="643205" name="Freeform 133"/>
            <p:cNvSpPr>
              <a:spLocks/>
            </p:cNvSpPr>
            <p:nvPr/>
          </p:nvSpPr>
          <p:spPr bwMode="auto">
            <a:xfrm>
              <a:off x="4272" y="3226"/>
              <a:ext cx="75" cy="65"/>
            </a:xfrm>
            <a:custGeom>
              <a:avLst/>
              <a:gdLst/>
              <a:ahLst/>
              <a:cxnLst>
                <a:cxn ang="0">
                  <a:pos x="75" y="33"/>
                </a:cxn>
                <a:cxn ang="0">
                  <a:pos x="0" y="65"/>
                </a:cxn>
                <a:cxn ang="0">
                  <a:pos x="0" y="0"/>
                </a:cxn>
                <a:cxn ang="0">
                  <a:pos x="75" y="33"/>
                </a:cxn>
              </a:cxnLst>
              <a:rect l="0" t="0" r="r" b="b"/>
              <a:pathLst>
                <a:path w="75" h="65">
                  <a:moveTo>
                    <a:pt x="75" y="33"/>
                  </a:moveTo>
                  <a:lnTo>
                    <a:pt x="0" y="65"/>
                  </a:lnTo>
                  <a:lnTo>
                    <a:pt x="0" y="0"/>
                  </a:lnTo>
                  <a:lnTo>
                    <a:pt x="75" y="3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43206" name="Line 134"/>
            <p:cNvSpPr>
              <a:spLocks noChangeShapeType="1"/>
            </p:cNvSpPr>
            <p:nvPr/>
          </p:nvSpPr>
          <p:spPr bwMode="auto">
            <a:xfrm flipH="1">
              <a:off x="4224" y="3259"/>
              <a:ext cx="86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43208" name="Rectangle 136"/>
          <p:cNvSpPr>
            <a:spLocks noChangeArrowheads="1"/>
          </p:cNvSpPr>
          <p:nvPr/>
        </p:nvSpPr>
        <p:spPr bwMode="auto">
          <a:xfrm>
            <a:off x="3302000" y="2698750"/>
            <a:ext cx="739775" cy="187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900" b="1">
                <a:solidFill>
                  <a:srgbClr val="000000"/>
                </a:solidFill>
                <a:latin typeface="Arial" charset="0"/>
              </a:rPr>
              <a:t>Instruction </a:t>
            </a:r>
            <a:endParaRPr lang="en-US"/>
          </a:p>
        </p:txBody>
      </p:sp>
      <p:sp>
        <p:nvSpPr>
          <p:cNvPr id="643209" name="Rectangle 137"/>
          <p:cNvSpPr>
            <a:spLocks noChangeArrowheads="1"/>
          </p:cNvSpPr>
          <p:nvPr/>
        </p:nvSpPr>
        <p:spPr bwMode="auto">
          <a:xfrm>
            <a:off x="3998913" y="2690813"/>
            <a:ext cx="119062" cy="187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900" b="1">
                <a:solidFill>
                  <a:srgbClr val="000000"/>
                </a:solidFill>
                <a:latin typeface="Bookman Old Style" pitchFamily="18" charset="0"/>
              </a:rPr>
              <a:t>I</a:t>
            </a:r>
            <a:endParaRPr lang="en-US"/>
          </a:p>
        </p:txBody>
      </p:sp>
      <p:sp>
        <p:nvSpPr>
          <p:cNvPr id="643210" name="Line 138"/>
          <p:cNvSpPr>
            <a:spLocks noChangeShapeType="1"/>
          </p:cNvSpPr>
          <p:nvPr/>
        </p:nvSpPr>
        <p:spPr bwMode="auto">
          <a:xfrm flipH="1">
            <a:off x="3216275" y="3184525"/>
            <a:ext cx="76200" cy="76200"/>
          </a:xfrm>
          <a:prstGeom prst="line">
            <a:avLst/>
          </a:prstGeom>
          <a:noFill/>
          <a:ln w="7938">
            <a:solidFill>
              <a:srgbClr val="44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643211" name="Rectangle 139"/>
          <p:cNvSpPr>
            <a:spLocks noChangeArrowheads="1"/>
          </p:cNvSpPr>
          <p:nvPr/>
        </p:nvSpPr>
        <p:spPr bwMode="auto">
          <a:xfrm>
            <a:off x="3292475" y="3159125"/>
            <a:ext cx="161925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charset="0"/>
              </a:rPr>
              <a:t>32</a:t>
            </a:r>
            <a:endParaRPr lang="en-US"/>
          </a:p>
        </p:txBody>
      </p:sp>
      <p:grpSp>
        <p:nvGrpSpPr>
          <p:cNvPr id="19" name="Group 142"/>
          <p:cNvGrpSpPr>
            <a:grpSpLocks/>
          </p:cNvGrpSpPr>
          <p:nvPr/>
        </p:nvGrpSpPr>
        <p:grpSpPr bwMode="auto">
          <a:xfrm>
            <a:off x="8467725" y="3286125"/>
            <a:ext cx="238125" cy="103188"/>
            <a:chOff x="5334" y="2406"/>
            <a:chExt cx="150" cy="65"/>
          </a:xfrm>
        </p:grpSpPr>
        <p:sp>
          <p:nvSpPr>
            <p:cNvPr id="643212" name="Freeform 140"/>
            <p:cNvSpPr>
              <a:spLocks/>
            </p:cNvSpPr>
            <p:nvPr/>
          </p:nvSpPr>
          <p:spPr bwMode="auto">
            <a:xfrm>
              <a:off x="5409" y="2406"/>
              <a:ext cx="75" cy="65"/>
            </a:xfrm>
            <a:custGeom>
              <a:avLst/>
              <a:gdLst/>
              <a:ahLst/>
              <a:cxnLst>
                <a:cxn ang="0">
                  <a:pos x="75" y="32"/>
                </a:cxn>
                <a:cxn ang="0">
                  <a:pos x="0" y="65"/>
                </a:cxn>
                <a:cxn ang="0">
                  <a:pos x="0" y="0"/>
                </a:cxn>
                <a:cxn ang="0">
                  <a:pos x="75" y="32"/>
                </a:cxn>
              </a:cxnLst>
              <a:rect l="0" t="0" r="r" b="b"/>
              <a:pathLst>
                <a:path w="75" h="65">
                  <a:moveTo>
                    <a:pt x="75" y="32"/>
                  </a:moveTo>
                  <a:lnTo>
                    <a:pt x="0" y="65"/>
                  </a:lnTo>
                  <a:lnTo>
                    <a:pt x="0" y="0"/>
                  </a:lnTo>
                  <a:lnTo>
                    <a:pt x="75" y="3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43213" name="Line 141"/>
            <p:cNvSpPr>
              <a:spLocks noChangeShapeType="1"/>
            </p:cNvSpPr>
            <p:nvPr/>
          </p:nvSpPr>
          <p:spPr bwMode="auto">
            <a:xfrm flipH="1">
              <a:off x="5334" y="2438"/>
              <a:ext cx="112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43215" name="Line 143"/>
          <p:cNvSpPr>
            <a:spLocks noChangeShapeType="1"/>
          </p:cNvSpPr>
          <p:nvPr/>
        </p:nvSpPr>
        <p:spPr bwMode="auto">
          <a:xfrm>
            <a:off x="6280150" y="4868863"/>
            <a:ext cx="1588" cy="46037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643216" name="Oval 144"/>
          <p:cNvSpPr>
            <a:spLocks noChangeArrowheads="1"/>
          </p:cNvSpPr>
          <p:nvPr/>
        </p:nvSpPr>
        <p:spPr bwMode="auto">
          <a:xfrm>
            <a:off x="7680325" y="4278313"/>
            <a:ext cx="33338" cy="25400"/>
          </a:xfrm>
          <a:prstGeom prst="ellipse">
            <a:avLst/>
          </a:prstGeom>
          <a:solidFill>
            <a:srgbClr val="440000"/>
          </a:solidFill>
          <a:ln w="254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grpSp>
        <p:nvGrpSpPr>
          <p:cNvPr id="20" name="Group 147"/>
          <p:cNvGrpSpPr>
            <a:grpSpLocks/>
          </p:cNvGrpSpPr>
          <p:nvPr/>
        </p:nvGrpSpPr>
        <p:grpSpPr bwMode="auto">
          <a:xfrm>
            <a:off x="6543675" y="4903788"/>
            <a:ext cx="85725" cy="195262"/>
            <a:chOff x="4122" y="3425"/>
            <a:chExt cx="54" cy="123"/>
          </a:xfrm>
        </p:grpSpPr>
        <p:sp>
          <p:nvSpPr>
            <p:cNvPr id="643217" name="Freeform 145"/>
            <p:cNvSpPr>
              <a:spLocks/>
            </p:cNvSpPr>
            <p:nvPr/>
          </p:nvSpPr>
          <p:spPr bwMode="auto">
            <a:xfrm>
              <a:off x="4122" y="3425"/>
              <a:ext cx="54" cy="64"/>
            </a:xfrm>
            <a:custGeom>
              <a:avLst/>
              <a:gdLst/>
              <a:ahLst/>
              <a:cxnLst>
                <a:cxn ang="0">
                  <a:pos x="27" y="0"/>
                </a:cxn>
                <a:cxn ang="0">
                  <a:pos x="54" y="64"/>
                </a:cxn>
                <a:cxn ang="0">
                  <a:pos x="0" y="64"/>
                </a:cxn>
                <a:cxn ang="0">
                  <a:pos x="27" y="0"/>
                </a:cxn>
              </a:cxnLst>
              <a:rect l="0" t="0" r="r" b="b"/>
              <a:pathLst>
                <a:path w="54" h="64">
                  <a:moveTo>
                    <a:pt x="27" y="0"/>
                  </a:moveTo>
                  <a:lnTo>
                    <a:pt x="54" y="64"/>
                  </a:lnTo>
                  <a:lnTo>
                    <a:pt x="0" y="64"/>
                  </a:lnTo>
                  <a:lnTo>
                    <a:pt x="27" y="0"/>
                  </a:lnTo>
                  <a:close/>
                </a:path>
              </a:pathLst>
            </a:custGeom>
            <a:solidFill>
              <a:srgbClr val="0033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43218" name="Line 146"/>
            <p:cNvSpPr>
              <a:spLocks noChangeShapeType="1"/>
            </p:cNvSpPr>
            <p:nvPr/>
          </p:nvSpPr>
          <p:spPr bwMode="auto">
            <a:xfrm>
              <a:off x="4149" y="3446"/>
              <a:ext cx="1" cy="102"/>
            </a:xfrm>
            <a:prstGeom prst="line">
              <a:avLst/>
            </a:prstGeom>
            <a:noFill/>
            <a:ln w="17463">
              <a:solidFill>
                <a:srgbClr val="0033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43220" name="Rectangle 148"/>
          <p:cNvSpPr>
            <a:spLocks noChangeArrowheads="1"/>
          </p:cNvSpPr>
          <p:nvPr/>
        </p:nvSpPr>
        <p:spPr bwMode="auto">
          <a:xfrm>
            <a:off x="6348413" y="5114925"/>
            <a:ext cx="501650" cy="13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900" b="1">
                <a:solidFill>
                  <a:srgbClr val="0033FF"/>
                </a:solidFill>
                <a:latin typeface="Arial" charset="0"/>
              </a:rPr>
              <a:t>ALUSrcB</a:t>
            </a:r>
            <a:endParaRPr lang="en-US"/>
          </a:p>
        </p:txBody>
      </p:sp>
      <p:sp>
        <p:nvSpPr>
          <p:cNvPr id="643221" name="Line 149"/>
          <p:cNvSpPr>
            <a:spLocks noChangeShapeType="1"/>
          </p:cNvSpPr>
          <p:nvPr/>
        </p:nvSpPr>
        <p:spPr bwMode="auto">
          <a:xfrm>
            <a:off x="7700963" y="3524250"/>
            <a:ext cx="1587" cy="766763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643222" name="Line 150"/>
          <p:cNvSpPr>
            <a:spLocks noChangeShapeType="1"/>
          </p:cNvSpPr>
          <p:nvPr/>
        </p:nvSpPr>
        <p:spPr bwMode="auto">
          <a:xfrm flipH="1">
            <a:off x="5821363" y="5329238"/>
            <a:ext cx="458787" cy="1587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643223" name="AutoShape 151"/>
          <p:cNvSpPr>
            <a:spLocks noChangeArrowheads="1"/>
          </p:cNvSpPr>
          <p:nvPr/>
        </p:nvSpPr>
        <p:spPr bwMode="auto">
          <a:xfrm>
            <a:off x="5441950" y="5213350"/>
            <a:ext cx="374650" cy="298450"/>
          </a:xfrm>
          <a:prstGeom prst="roundRect">
            <a:avLst>
              <a:gd name="adj" fmla="val 47370"/>
            </a:avLst>
          </a:prstGeom>
          <a:noFill/>
          <a:ln w="254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643224" name="Rectangle 152"/>
          <p:cNvSpPr>
            <a:spLocks noChangeArrowheads="1"/>
          </p:cNvSpPr>
          <p:nvPr/>
        </p:nvSpPr>
        <p:spPr bwMode="auto">
          <a:xfrm>
            <a:off x="5472113" y="5268913"/>
            <a:ext cx="374650" cy="220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200" b="1">
                <a:solidFill>
                  <a:srgbClr val="000000"/>
                </a:solidFill>
                <a:latin typeface="Courier New" pitchFamily="49" charset="0"/>
              </a:rPr>
              <a:t>&lt;&lt;2</a:t>
            </a:r>
            <a:endParaRPr lang="en-US"/>
          </a:p>
        </p:txBody>
      </p:sp>
      <p:sp>
        <p:nvSpPr>
          <p:cNvPr id="643225" name="Line 153"/>
          <p:cNvSpPr>
            <a:spLocks noChangeShapeType="1"/>
          </p:cNvSpPr>
          <p:nvPr/>
        </p:nvSpPr>
        <p:spPr bwMode="auto">
          <a:xfrm flipH="1">
            <a:off x="688975" y="2341563"/>
            <a:ext cx="6859588" cy="1587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643226" name="Rectangle 154"/>
          <p:cNvSpPr>
            <a:spLocks noChangeArrowheads="1"/>
          </p:cNvSpPr>
          <p:nvPr/>
        </p:nvSpPr>
        <p:spPr bwMode="auto">
          <a:xfrm>
            <a:off x="276225" y="3341688"/>
            <a:ext cx="298450" cy="714375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grpSp>
        <p:nvGrpSpPr>
          <p:cNvPr id="21" name="Group 157"/>
          <p:cNvGrpSpPr>
            <a:grpSpLocks/>
          </p:cNvGrpSpPr>
          <p:nvPr/>
        </p:nvGrpSpPr>
        <p:grpSpPr bwMode="auto">
          <a:xfrm>
            <a:off x="76200" y="3668713"/>
            <a:ext cx="204788" cy="103187"/>
            <a:chOff x="48" y="2647"/>
            <a:chExt cx="129" cy="65"/>
          </a:xfrm>
        </p:grpSpPr>
        <p:sp>
          <p:nvSpPr>
            <p:cNvPr id="643227" name="Freeform 155"/>
            <p:cNvSpPr>
              <a:spLocks/>
            </p:cNvSpPr>
            <p:nvPr/>
          </p:nvSpPr>
          <p:spPr bwMode="auto">
            <a:xfrm>
              <a:off x="102" y="2647"/>
              <a:ext cx="75" cy="65"/>
            </a:xfrm>
            <a:custGeom>
              <a:avLst/>
              <a:gdLst/>
              <a:ahLst/>
              <a:cxnLst>
                <a:cxn ang="0">
                  <a:pos x="75" y="33"/>
                </a:cxn>
                <a:cxn ang="0">
                  <a:pos x="0" y="65"/>
                </a:cxn>
                <a:cxn ang="0">
                  <a:pos x="0" y="0"/>
                </a:cxn>
                <a:cxn ang="0">
                  <a:pos x="75" y="33"/>
                </a:cxn>
              </a:cxnLst>
              <a:rect l="0" t="0" r="r" b="b"/>
              <a:pathLst>
                <a:path w="75" h="65">
                  <a:moveTo>
                    <a:pt x="75" y="33"/>
                  </a:moveTo>
                  <a:lnTo>
                    <a:pt x="0" y="65"/>
                  </a:lnTo>
                  <a:lnTo>
                    <a:pt x="0" y="0"/>
                  </a:lnTo>
                  <a:lnTo>
                    <a:pt x="75" y="3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43228" name="Line 156"/>
            <p:cNvSpPr>
              <a:spLocks noChangeShapeType="1"/>
            </p:cNvSpPr>
            <p:nvPr/>
          </p:nvSpPr>
          <p:spPr bwMode="auto">
            <a:xfrm flipH="1">
              <a:off x="48" y="2680"/>
              <a:ext cx="91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2" name="Group 160"/>
          <p:cNvGrpSpPr>
            <a:grpSpLocks/>
          </p:cNvGrpSpPr>
          <p:nvPr/>
        </p:nvGrpSpPr>
        <p:grpSpPr bwMode="auto">
          <a:xfrm>
            <a:off x="579438" y="3668713"/>
            <a:ext cx="314325" cy="103187"/>
            <a:chOff x="365" y="2647"/>
            <a:chExt cx="198" cy="65"/>
          </a:xfrm>
        </p:grpSpPr>
        <p:sp>
          <p:nvSpPr>
            <p:cNvPr id="643230" name="Freeform 158"/>
            <p:cNvSpPr>
              <a:spLocks/>
            </p:cNvSpPr>
            <p:nvPr/>
          </p:nvSpPr>
          <p:spPr bwMode="auto">
            <a:xfrm>
              <a:off x="488" y="2647"/>
              <a:ext cx="75" cy="65"/>
            </a:xfrm>
            <a:custGeom>
              <a:avLst/>
              <a:gdLst/>
              <a:ahLst/>
              <a:cxnLst>
                <a:cxn ang="0">
                  <a:pos x="75" y="33"/>
                </a:cxn>
                <a:cxn ang="0">
                  <a:pos x="0" y="65"/>
                </a:cxn>
                <a:cxn ang="0">
                  <a:pos x="0" y="0"/>
                </a:cxn>
                <a:cxn ang="0">
                  <a:pos x="75" y="33"/>
                </a:cxn>
              </a:cxnLst>
              <a:rect l="0" t="0" r="r" b="b"/>
              <a:pathLst>
                <a:path w="75" h="65">
                  <a:moveTo>
                    <a:pt x="75" y="33"/>
                  </a:moveTo>
                  <a:lnTo>
                    <a:pt x="0" y="65"/>
                  </a:lnTo>
                  <a:lnTo>
                    <a:pt x="0" y="0"/>
                  </a:lnTo>
                  <a:lnTo>
                    <a:pt x="75" y="3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43231" name="Line 159"/>
            <p:cNvSpPr>
              <a:spLocks noChangeShapeType="1"/>
            </p:cNvSpPr>
            <p:nvPr/>
          </p:nvSpPr>
          <p:spPr bwMode="auto">
            <a:xfrm flipH="1">
              <a:off x="365" y="2680"/>
              <a:ext cx="160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43233" name="Rectangle 161"/>
          <p:cNvSpPr>
            <a:spLocks noChangeArrowheads="1"/>
          </p:cNvSpPr>
          <p:nvPr/>
        </p:nvSpPr>
        <p:spPr bwMode="auto">
          <a:xfrm>
            <a:off x="314325" y="3440113"/>
            <a:ext cx="2889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200" b="1">
                <a:solidFill>
                  <a:srgbClr val="000000"/>
                </a:solidFill>
                <a:latin typeface="Arial" charset="0"/>
              </a:rPr>
              <a:t>PC</a:t>
            </a:r>
            <a:endParaRPr lang="en-US"/>
          </a:p>
        </p:txBody>
      </p:sp>
      <p:sp>
        <p:nvSpPr>
          <p:cNvPr id="643234" name="Rectangle 162"/>
          <p:cNvSpPr>
            <a:spLocks noChangeArrowheads="1"/>
          </p:cNvSpPr>
          <p:nvPr/>
        </p:nvSpPr>
        <p:spPr bwMode="auto">
          <a:xfrm>
            <a:off x="6143625" y="4476750"/>
            <a:ext cx="127000" cy="187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900" b="1">
                <a:solidFill>
                  <a:srgbClr val="000000"/>
                </a:solidFill>
                <a:latin typeface="Arial" charset="0"/>
              </a:rPr>
              <a:t>4</a:t>
            </a:r>
            <a:endParaRPr lang="en-US"/>
          </a:p>
        </p:txBody>
      </p:sp>
      <p:sp>
        <p:nvSpPr>
          <p:cNvPr id="643235" name="Line 163"/>
          <p:cNvSpPr>
            <a:spLocks noChangeShapeType="1"/>
          </p:cNvSpPr>
          <p:nvPr/>
        </p:nvSpPr>
        <p:spPr bwMode="auto">
          <a:xfrm>
            <a:off x="688975" y="2341563"/>
            <a:ext cx="1588" cy="1379537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643236" name="Line 164"/>
          <p:cNvSpPr>
            <a:spLocks noChangeShapeType="1"/>
          </p:cNvSpPr>
          <p:nvPr/>
        </p:nvSpPr>
        <p:spPr bwMode="auto">
          <a:xfrm>
            <a:off x="76200" y="2146300"/>
            <a:ext cx="1588" cy="157480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643237" name="Line 165"/>
          <p:cNvSpPr>
            <a:spLocks noChangeShapeType="1"/>
          </p:cNvSpPr>
          <p:nvPr/>
        </p:nvSpPr>
        <p:spPr bwMode="auto">
          <a:xfrm>
            <a:off x="6169025" y="2341563"/>
            <a:ext cx="1588" cy="141287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grpSp>
        <p:nvGrpSpPr>
          <p:cNvPr id="23" name="Group 168"/>
          <p:cNvGrpSpPr>
            <a:grpSpLocks/>
          </p:cNvGrpSpPr>
          <p:nvPr/>
        </p:nvGrpSpPr>
        <p:grpSpPr bwMode="auto">
          <a:xfrm>
            <a:off x="7497763" y="2341563"/>
            <a:ext cx="101600" cy="392112"/>
            <a:chOff x="4723" y="1811"/>
            <a:chExt cx="64" cy="247"/>
          </a:xfrm>
        </p:grpSpPr>
        <p:sp>
          <p:nvSpPr>
            <p:cNvPr id="643238" name="Freeform 166"/>
            <p:cNvSpPr>
              <a:spLocks/>
            </p:cNvSpPr>
            <p:nvPr/>
          </p:nvSpPr>
          <p:spPr bwMode="auto">
            <a:xfrm>
              <a:off x="4723" y="1983"/>
              <a:ext cx="64" cy="75"/>
            </a:xfrm>
            <a:custGeom>
              <a:avLst/>
              <a:gdLst/>
              <a:ahLst/>
              <a:cxnLst>
                <a:cxn ang="0">
                  <a:pos x="32" y="75"/>
                </a:cxn>
                <a:cxn ang="0">
                  <a:pos x="0" y="0"/>
                </a:cxn>
                <a:cxn ang="0">
                  <a:pos x="64" y="0"/>
                </a:cxn>
                <a:cxn ang="0">
                  <a:pos x="32" y="75"/>
                </a:cxn>
              </a:cxnLst>
              <a:rect l="0" t="0" r="r" b="b"/>
              <a:pathLst>
                <a:path w="64" h="75">
                  <a:moveTo>
                    <a:pt x="32" y="75"/>
                  </a:moveTo>
                  <a:lnTo>
                    <a:pt x="0" y="0"/>
                  </a:lnTo>
                  <a:lnTo>
                    <a:pt x="64" y="0"/>
                  </a:lnTo>
                  <a:lnTo>
                    <a:pt x="32" y="7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43239" name="Line 167"/>
            <p:cNvSpPr>
              <a:spLocks noChangeShapeType="1"/>
            </p:cNvSpPr>
            <p:nvPr/>
          </p:nvSpPr>
          <p:spPr bwMode="auto">
            <a:xfrm>
              <a:off x="4755" y="1811"/>
              <a:ext cx="1" cy="20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43241" name="Line 169"/>
          <p:cNvSpPr>
            <a:spLocks noChangeShapeType="1"/>
          </p:cNvSpPr>
          <p:nvPr/>
        </p:nvSpPr>
        <p:spPr bwMode="auto">
          <a:xfrm>
            <a:off x="8237538" y="2878138"/>
            <a:ext cx="1587" cy="26352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643242" name="Oval 170"/>
          <p:cNvSpPr>
            <a:spLocks noChangeArrowheads="1"/>
          </p:cNvSpPr>
          <p:nvPr/>
        </p:nvSpPr>
        <p:spPr bwMode="auto">
          <a:xfrm>
            <a:off x="5194300" y="5349875"/>
            <a:ext cx="26988" cy="25400"/>
          </a:xfrm>
          <a:prstGeom prst="ellipse">
            <a:avLst/>
          </a:prstGeom>
          <a:solidFill>
            <a:srgbClr val="440000"/>
          </a:solidFill>
          <a:ln w="254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643243" name="Oval 171"/>
          <p:cNvSpPr>
            <a:spLocks noChangeArrowheads="1"/>
          </p:cNvSpPr>
          <p:nvPr/>
        </p:nvSpPr>
        <p:spPr bwMode="auto">
          <a:xfrm>
            <a:off x="676275" y="3698875"/>
            <a:ext cx="25400" cy="34925"/>
          </a:xfrm>
          <a:prstGeom prst="ellipse">
            <a:avLst/>
          </a:prstGeom>
          <a:solidFill>
            <a:srgbClr val="440000"/>
          </a:solidFill>
          <a:ln w="254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643244" name="Line 172"/>
          <p:cNvSpPr>
            <a:spLocks noChangeShapeType="1"/>
          </p:cNvSpPr>
          <p:nvPr/>
        </p:nvSpPr>
        <p:spPr bwMode="auto">
          <a:xfrm flipH="1">
            <a:off x="7854950" y="2878138"/>
            <a:ext cx="382588" cy="1587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643245" name="Line 173"/>
          <p:cNvSpPr>
            <a:spLocks noChangeShapeType="1"/>
          </p:cNvSpPr>
          <p:nvPr/>
        </p:nvSpPr>
        <p:spPr bwMode="auto">
          <a:xfrm flipH="1">
            <a:off x="8926513" y="3336925"/>
            <a:ext cx="153987" cy="1588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grpSp>
        <p:nvGrpSpPr>
          <p:cNvPr id="24" name="Group 176"/>
          <p:cNvGrpSpPr>
            <a:grpSpLocks/>
          </p:cNvGrpSpPr>
          <p:nvPr/>
        </p:nvGrpSpPr>
        <p:grpSpPr bwMode="auto">
          <a:xfrm>
            <a:off x="5403850" y="3141663"/>
            <a:ext cx="187325" cy="85725"/>
            <a:chOff x="3404" y="2315"/>
            <a:chExt cx="118" cy="54"/>
          </a:xfrm>
        </p:grpSpPr>
        <p:sp>
          <p:nvSpPr>
            <p:cNvPr id="643246" name="Freeform 174"/>
            <p:cNvSpPr>
              <a:spLocks/>
            </p:cNvSpPr>
            <p:nvPr/>
          </p:nvSpPr>
          <p:spPr bwMode="auto">
            <a:xfrm>
              <a:off x="3404" y="2315"/>
              <a:ext cx="64" cy="54"/>
            </a:xfrm>
            <a:custGeom>
              <a:avLst/>
              <a:gdLst/>
              <a:ahLst/>
              <a:cxnLst>
                <a:cxn ang="0">
                  <a:pos x="0" y="27"/>
                </a:cxn>
                <a:cxn ang="0">
                  <a:pos x="64" y="0"/>
                </a:cxn>
                <a:cxn ang="0">
                  <a:pos x="64" y="54"/>
                </a:cxn>
                <a:cxn ang="0">
                  <a:pos x="0" y="27"/>
                </a:cxn>
              </a:cxnLst>
              <a:rect l="0" t="0" r="r" b="b"/>
              <a:pathLst>
                <a:path w="64" h="54">
                  <a:moveTo>
                    <a:pt x="0" y="27"/>
                  </a:moveTo>
                  <a:lnTo>
                    <a:pt x="64" y="0"/>
                  </a:lnTo>
                  <a:lnTo>
                    <a:pt x="64" y="54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0033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43247" name="Line 175"/>
            <p:cNvSpPr>
              <a:spLocks noChangeShapeType="1"/>
            </p:cNvSpPr>
            <p:nvPr/>
          </p:nvSpPr>
          <p:spPr bwMode="auto">
            <a:xfrm flipH="1">
              <a:off x="3425" y="2342"/>
              <a:ext cx="97" cy="1"/>
            </a:xfrm>
            <a:prstGeom prst="line">
              <a:avLst/>
            </a:prstGeom>
            <a:noFill/>
            <a:ln w="17463">
              <a:solidFill>
                <a:srgbClr val="0033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43249" name="Rectangle 177"/>
          <p:cNvSpPr>
            <a:spLocks noChangeArrowheads="1"/>
          </p:cNvSpPr>
          <p:nvPr/>
        </p:nvSpPr>
        <p:spPr bwMode="auto">
          <a:xfrm>
            <a:off x="5624513" y="3116263"/>
            <a:ext cx="400050" cy="13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900" b="1">
                <a:solidFill>
                  <a:srgbClr val="0033FF"/>
                </a:solidFill>
                <a:latin typeface="Arial" charset="0"/>
              </a:rPr>
              <a:t>RegDst</a:t>
            </a:r>
            <a:endParaRPr lang="en-US"/>
          </a:p>
        </p:txBody>
      </p:sp>
      <p:grpSp>
        <p:nvGrpSpPr>
          <p:cNvPr id="25" name="Group 180"/>
          <p:cNvGrpSpPr>
            <a:grpSpLocks/>
          </p:cNvGrpSpPr>
          <p:nvPr/>
        </p:nvGrpSpPr>
        <p:grpSpPr bwMode="auto">
          <a:xfrm>
            <a:off x="5284788" y="2878138"/>
            <a:ext cx="84137" cy="230187"/>
            <a:chOff x="3329" y="2149"/>
            <a:chExt cx="53" cy="145"/>
          </a:xfrm>
        </p:grpSpPr>
        <p:sp>
          <p:nvSpPr>
            <p:cNvPr id="643250" name="Freeform 178"/>
            <p:cNvSpPr>
              <a:spLocks/>
            </p:cNvSpPr>
            <p:nvPr/>
          </p:nvSpPr>
          <p:spPr bwMode="auto">
            <a:xfrm>
              <a:off x="3329" y="2229"/>
              <a:ext cx="53" cy="65"/>
            </a:xfrm>
            <a:custGeom>
              <a:avLst/>
              <a:gdLst/>
              <a:ahLst/>
              <a:cxnLst>
                <a:cxn ang="0">
                  <a:pos x="27" y="65"/>
                </a:cxn>
                <a:cxn ang="0">
                  <a:pos x="0" y="0"/>
                </a:cxn>
                <a:cxn ang="0">
                  <a:pos x="53" y="0"/>
                </a:cxn>
                <a:cxn ang="0">
                  <a:pos x="27" y="65"/>
                </a:cxn>
              </a:cxnLst>
              <a:rect l="0" t="0" r="r" b="b"/>
              <a:pathLst>
                <a:path w="53" h="65">
                  <a:moveTo>
                    <a:pt x="27" y="65"/>
                  </a:moveTo>
                  <a:lnTo>
                    <a:pt x="0" y="0"/>
                  </a:lnTo>
                  <a:lnTo>
                    <a:pt x="53" y="0"/>
                  </a:lnTo>
                  <a:lnTo>
                    <a:pt x="27" y="6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43251" name="Line 179"/>
            <p:cNvSpPr>
              <a:spLocks noChangeShapeType="1"/>
            </p:cNvSpPr>
            <p:nvPr/>
          </p:nvSpPr>
          <p:spPr bwMode="auto">
            <a:xfrm>
              <a:off x="3356" y="2149"/>
              <a:ext cx="1" cy="123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6" name="Group 183"/>
          <p:cNvGrpSpPr>
            <a:grpSpLocks/>
          </p:cNvGrpSpPr>
          <p:nvPr/>
        </p:nvGrpSpPr>
        <p:grpSpPr bwMode="auto">
          <a:xfrm>
            <a:off x="4978400" y="2954338"/>
            <a:ext cx="84138" cy="153987"/>
            <a:chOff x="3136" y="2197"/>
            <a:chExt cx="53" cy="97"/>
          </a:xfrm>
        </p:grpSpPr>
        <p:sp>
          <p:nvSpPr>
            <p:cNvPr id="643253" name="Freeform 181"/>
            <p:cNvSpPr>
              <a:spLocks/>
            </p:cNvSpPr>
            <p:nvPr/>
          </p:nvSpPr>
          <p:spPr bwMode="auto">
            <a:xfrm>
              <a:off x="3136" y="2229"/>
              <a:ext cx="53" cy="65"/>
            </a:xfrm>
            <a:custGeom>
              <a:avLst/>
              <a:gdLst/>
              <a:ahLst/>
              <a:cxnLst>
                <a:cxn ang="0">
                  <a:pos x="27" y="65"/>
                </a:cxn>
                <a:cxn ang="0">
                  <a:pos x="0" y="0"/>
                </a:cxn>
                <a:cxn ang="0">
                  <a:pos x="53" y="0"/>
                </a:cxn>
                <a:cxn ang="0">
                  <a:pos x="27" y="65"/>
                </a:cxn>
              </a:cxnLst>
              <a:rect l="0" t="0" r="r" b="b"/>
              <a:pathLst>
                <a:path w="53" h="65">
                  <a:moveTo>
                    <a:pt x="27" y="65"/>
                  </a:moveTo>
                  <a:lnTo>
                    <a:pt x="0" y="0"/>
                  </a:lnTo>
                  <a:lnTo>
                    <a:pt x="53" y="0"/>
                  </a:lnTo>
                  <a:lnTo>
                    <a:pt x="27" y="6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43254" name="Line 182"/>
            <p:cNvSpPr>
              <a:spLocks noChangeShapeType="1"/>
            </p:cNvSpPr>
            <p:nvPr/>
          </p:nvSpPr>
          <p:spPr bwMode="auto">
            <a:xfrm>
              <a:off x="3163" y="2197"/>
              <a:ext cx="1" cy="75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43256" name="Line 184"/>
          <p:cNvSpPr>
            <a:spLocks noChangeShapeType="1"/>
          </p:cNvSpPr>
          <p:nvPr/>
        </p:nvSpPr>
        <p:spPr bwMode="auto">
          <a:xfrm flipH="1">
            <a:off x="4791075" y="2954338"/>
            <a:ext cx="230188" cy="1587"/>
          </a:xfrm>
          <a:prstGeom prst="line">
            <a:avLst/>
          </a:prstGeom>
          <a:noFill/>
          <a:ln w="174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643257" name="Oval 185"/>
          <p:cNvSpPr>
            <a:spLocks noChangeArrowheads="1"/>
          </p:cNvSpPr>
          <p:nvPr/>
        </p:nvSpPr>
        <p:spPr bwMode="auto">
          <a:xfrm>
            <a:off x="4764088" y="2928938"/>
            <a:ext cx="44450" cy="42862"/>
          </a:xfrm>
          <a:prstGeom prst="ellipse">
            <a:avLst/>
          </a:prstGeom>
          <a:solidFill>
            <a:srgbClr val="000000"/>
          </a:solidFill>
          <a:ln w="174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643258" name="Line 186"/>
          <p:cNvSpPr>
            <a:spLocks noChangeShapeType="1"/>
          </p:cNvSpPr>
          <p:nvPr/>
        </p:nvSpPr>
        <p:spPr bwMode="auto">
          <a:xfrm flipH="1">
            <a:off x="5284788" y="2895600"/>
            <a:ext cx="76200" cy="76200"/>
          </a:xfrm>
          <a:prstGeom prst="line">
            <a:avLst/>
          </a:prstGeom>
          <a:noFill/>
          <a:ln w="79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643259" name="Rectangle 187"/>
          <p:cNvSpPr>
            <a:spLocks noChangeArrowheads="1"/>
          </p:cNvSpPr>
          <p:nvPr/>
        </p:nvSpPr>
        <p:spPr bwMode="auto">
          <a:xfrm>
            <a:off x="5208588" y="2870200"/>
            <a:ext cx="10160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charset="0"/>
              </a:rPr>
              <a:t>5</a:t>
            </a:r>
            <a:endParaRPr lang="en-US"/>
          </a:p>
        </p:txBody>
      </p:sp>
      <p:grpSp>
        <p:nvGrpSpPr>
          <p:cNvPr id="27" name="Group 190"/>
          <p:cNvGrpSpPr>
            <a:grpSpLocks/>
          </p:cNvGrpSpPr>
          <p:nvPr/>
        </p:nvGrpSpPr>
        <p:grpSpPr bwMode="auto">
          <a:xfrm>
            <a:off x="1114425" y="3779838"/>
            <a:ext cx="238125" cy="101600"/>
            <a:chOff x="702" y="2717"/>
            <a:chExt cx="150" cy="64"/>
          </a:xfrm>
        </p:grpSpPr>
        <p:sp>
          <p:nvSpPr>
            <p:cNvPr id="643260" name="Freeform 188"/>
            <p:cNvSpPr>
              <a:spLocks/>
            </p:cNvSpPr>
            <p:nvPr/>
          </p:nvSpPr>
          <p:spPr bwMode="auto">
            <a:xfrm>
              <a:off x="777" y="2717"/>
              <a:ext cx="75" cy="64"/>
            </a:xfrm>
            <a:custGeom>
              <a:avLst/>
              <a:gdLst/>
              <a:ahLst/>
              <a:cxnLst>
                <a:cxn ang="0">
                  <a:pos x="75" y="32"/>
                </a:cxn>
                <a:cxn ang="0">
                  <a:pos x="0" y="64"/>
                </a:cxn>
                <a:cxn ang="0">
                  <a:pos x="0" y="0"/>
                </a:cxn>
                <a:cxn ang="0">
                  <a:pos x="75" y="32"/>
                </a:cxn>
              </a:cxnLst>
              <a:rect l="0" t="0" r="r" b="b"/>
              <a:pathLst>
                <a:path w="75" h="64">
                  <a:moveTo>
                    <a:pt x="75" y="32"/>
                  </a:moveTo>
                  <a:lnTo>
                    <a:pt x="0" y="64"/>
                  </a:lnTo>
                  <a:lnTo>
                    <a:pt x="0" y="0"/>
                  </a:lnTo>
                  <a:lnTo>
                    <a:pt x="75" y="3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43261" name="Line 189"/>
            <p:cNvSpPr>
              <a:spLocks noChangeShapeType="1"/>
            </p:cNvSpPr>
            <p:nvPr/>
          </p:nvSpPr>
          <p:spPr bwMode="auto">
            <a:xfrm flipH="1">
              <a:off x="702" y="2749"/>
              <a:ext cx="113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43263" name="Rectangle 191"/>
          <p:cNvSpPr>
            <a:spLocks noChangeArrowheads="1"/>
          </p:cNvSpPr>
          <p:nvPr/>
        </p:nvSpPr>
        <p:spPr bwMode="auto">
          <a:xfrm>
            <a:off x="2838450" y="2498725"/>
            <a:ext cx="296863" cy="715963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643264" name="Rectangle 192"/>
          <p:cNvSpPr>
            <a:spLocks noChangeArrowheads="1"/>
          </p:cNvSpPr>
          <p:nvPr/>
        </p:nvSpPr>
        <p:spPr bwMode="auto">
          <a:xfrm>
            <a:off x="2970213" y="2597150"/>
            <a:ext cx="119062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200" b="1">
                <a:solidFill>
                  <a:srgbClr val="000000"/>
                </a:solidFill>
                <a:latin typeface="Arial" charset="0"/>
              </a:rPr>
              <a:t>I</a:t>
            </a:r>
            <a:endParaRPr lang="en-US"/>
          </a:p>
        </p:txBody>
      </p:sp>
      <p:sp>
        <p:nvSpPr>
          <p:cNvPr id="643265" name="Rectangle 193"/>
          <p:cNvSpPr>
            <a:spLocks noChangeArrowheads="1"/>
          </p:cNvSpPr>
          <p:nvPr/>
        </p:nvSpPr>
        <p:spPr bwMode="auto">
          <a:xfrm>
            <a:off x="2935288" y="2751138"/>
            <a:ext cx="1873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200" b="1">
                <a:solidFill>
                  <a:srgbClr val="000000"/>
                </a:solidFill>
                <a:latin typeface="Arial" charset="0"/>
              </a:rPr>
              <a:t>R</a:t>
            </a:r>
            <a:endParaRPr lang="en-US"/>
          </a:p>
        </p:txBody>
      </p:sp>
      <p:sp>
        <p:nvSpPr>
          <p:cNvPr id="643266" name="Rectangle 194"/>
          <p:cNvSpPr>
            <a:spLocks noChangeArrowheads="1"/>
          </p:cNvSpPr>
          <p:nvPr/>
        </p:nvSpPr>
        <p:spPr bwMode="auto">
          <a:xfrm>
            <a:off x="2838450" y="3648075"/>
            <a:ext cx="296863" cy="714375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643267" name="Rectangle 195"/>
          <p:cNvSpPr>
            <a:spLocks noChangeArrowheads="1"/>
          </p:cNvSpPr>
          <p:nvPr/>
        </p:nvSpPr>
        <p:spPr bwMode="auto">
          <a:xfrm>
            <a:off x="2927350" y="3746500"/>
            <a:ext cx="20478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200" b="1">
                <a:solidFill>
                  <a:srgbClr val="000000"/>
                </a:solidFill>
                <a:latin typeface="Arial" charset="0"/>
              </a:rPr>
              <a:t>M</a:t>
            </a:r>
            <a:endParaRPr lang="en-US"/>
          </a:p>
        </p:txBody>
      </p:sp>
      <p:sp>
        <p:nvSpPr>
          <p:cNvPr id="643268" name="Rectangle 196"/>
          <p:cNvSpPr>
            <a:spLocks noChangeArrowheads="1"/>
          </p:cNvSpPr>
          <p:nvPr/>
        </p:nvSpPr>
        <p:spPr bwMode="auto">
          <a:xfrm>
            <a:off x="2935288" y="3898900"/>
            <a:ext cx="1873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200" b="1">
                <a:solidFill>
                  <a:srgbClr val="000000"/>
                </a:solidFill>
                <a:latin typeface="Arial" charset="0"/>
              </a:rPr>
              <a:t>D</a:t>
            </a:r>
            <a:endParaRPr lang="en-US"/>
          </a:p>
        </p:txBody>
      </p:sp>
      <p:sp>
        <p:nvSpPr>
          <p:cNvPr id="643269" name="Rectangle 197"/>
          <p:cNvSpPr>
            <a:spLocks noChangeArrowheads="1"/>
          </p:cNvSpPr>
          <p:nvPr/>
        </p:nvSpPr>
        <p:spPr bwMode="auto">
          <a:xfrm>
            <a:off x="2935288" y="4052888"/>
            <a:ext cx="1873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200" b="1">
                <a:solidFill>
                  <a:srgbClr val="000000"/>
                </a:solidFill>
                <a:latin typeface="Arial" charset="0"/>
              </a:rPr>
              <a:t>R</a:t>
            </a:r>
            <a:endParaRPr lang="en-US"/>
          </a:p>
        </p:txBody>
      </p:sp>
      <p:sp>
        <p:nvSpPr>
          <p:cNvPr id="643270" name="Line 198"/>
          <p:cNvSpPr>
            <a:spLocks noChangeShapeType="1"/>
          </p:cNvSpPr>
          <p:nvPr/>
        </p:nvSpPr>
        <p:spPr bwMode="auto">
          <a:xfrm flipH="1">
            <a:off x="2493963" y="4179888"/>
            <a:ext cx="152400" cy="1587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grpSp>
        <p:nvGrpSpPr>
          <p:cNvPr id="28" name="Group 201"/>
          <p:cNvGrpSpPr>
            <a:grpSpLocks/>
          </p:cNvGrpSpPr>
          <p:nvPr/>
        </p:nvGrpSpPr>
        <p:grpSpPr bwMode="auto">
          <a:xfrm>
            <a:off x="2646363" y="2827338"/>
            <a:ext cx="195262" cy="101600"/>
            <a:chOff x="1667" y="2117"/>
            <a:chExt cx="123" cy="64"/>
          </a:xfrm>
        </p:grpSpPr>
        <p:sp>
          <p:nvSpPr>
            <p:cNvPr id="643271" name="Freeform 199"/>
            <p:cNvSpPr>
              <a:spLocks/>
            </p:cNvSpPr>
            <p:nvPr/>
          </p:nvSpPr>
          <p:spPr bwMode="auto">
            <a:xfrm>
              <a:off x="1715" y="2117"/>
              <a:ext cx="75" cy="64"/>
            </a:xfrm>
            <a:custGeom>
              <a:avLst/>
              <a:gdLst/>
              <a:ahLst/>
              <a:cxnLst>
                <a:cxn ang="0">
                  <a:pos x="75" y="32"/>
                </a:cxn>
                <a:cxn ang="0">
                  <a:pos x="0" y="64"/>
                </a:cxn>
                <a:cxn ang="0">
                  <a:pos x="0" y="0"/>
                </a:cxn>
                <a:cxn ang="0">
                  <a:pos x="75" y="32"/>
                </a:cxn>
              </a:cxnLst>
              <a:rect l="0" t="0" r="r" b="b"/>
              <a:pathLst>
                <a:path w="75" h="64">
                  <a:moveTo>
                    <a:pt x="75" y="32"/>
                  </a:moveTo>
                  <a:lnTo>
                    <a:pt x="0" y="64"/>
                  </a:lnTo>
                  <a:lnTo>
                    <a:pt x="0" y="0"/>
                  </a:lnTo>
                  <a:lnTo>
                    <a:pt x="75" y="3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43272" name="Line 200"/>
            <p:cNvSpPr>
              <a:spLocks noChangeShapeType="1"/>
            </p:cNvSpPr>
            <p:nvPr/>
          </p:nvSpPr>
          <p:spPr bwMode="auto">
            <a:xfrm flipH="1">
              <a:off x="1667" y="2149"/>
              <a:ext cx="86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9" name="Group 204"/>
          <p:cNvGrpSpPr>
            <a:grpSpLocks/>
          </p:cNvGrpSpPr>
          <p:nvPr/>
        </p:nvGrpSpPr>
        <p:grpSpPr bwMode="auto">
          <a:xfrm>
            <a:off x="2646363" y="3933825"/>
            <a:ext cx="195262" cy="101600"/>
            <a:chOff x="1667" y="2814"/>
            <a:chExt cx="123" cy="64"/>
          </a:xfrm>
        </p:grpSpPr>
        <p:sp>
          <p:nvSpPr>
            <p:cNvPr id="643274" name="Freeform 202"/>
            <p:cNvSpPr>
              <a:spLocks/>
            </p:cNvSpPr>
            <p:nvPr/>
          </p:nvSpPr>
          <p:spPr bwMode="auto">
            <a:xfrm>
              <a:off x="1715" y="2814"/>
              <a:ext cx="75" cy="64"/>
            </a:xfrm>
            <a:custGeom>
              <a:avLst/>
              <a:gdLst/>
              <a:ahLst/>
              <a:cxnLst>
                <a:cxn ang="0">
                  <a:pos x="75" y="32"/>
                </a:cxn>
                <a:cxn ang="0">
                  <a:pos x="0" y="64"/>
                </a:cxn>
                <a:cxn ang="0">
                  <a:pos x="0" y="0"/>
                </a:cxn>
                <a:cxn ang="0">
                  <a:pos x="75" y="32"/>
                </a:cxn>
              </a:cxnLst>
              <a:rect l="0" t="0" r="r" b="b"/>
              <a:pathLst>
                <a:path w="75" h="64">
                  <a:moveTo>
                    <a:pt x="75" y="32"/>
                  </a:moveTo>
                  <a:lnTo>
                    <a:pt x="0" y="64"/>
                  </a:lnTo>
                  <a:lnTo>
                    <a:pt x="0" y="0"/>
                  </a:lnTo>
                  <a:lnTo>
                    <a:pt x="75" y="3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43275" name="Line 203"/>
            <p:cNvSpPr>
              <a:spLocks noChangeShapeType="1"/>
            </p:cNvSpPr>
            <p:nvPr/>
          </p:nvSpPr>
          <p:spPr bwMode="auto">
            <a:xfrm flipH="1">
              <a:off x="1667" y="2846"/>
              <a:ext cx="86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43277" name="Line 205"/>
          <p:cNvSpPr>
            <a:spLocks noChangeShapeType="1"/>
          </p:cNvSpPr>
          <p:nvPr/>
        </p:nvSpPr>
        <p:spPr bwMode="auto">
          <a:xfrm>
            <a:off x="2646363" y="2878138"/>
            <a:ext cx="1587" cy="130175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643278" name="Oval 206"/>
          <p:cNvSpPr>
            <a:spLocks noChangeArrowheads="1"/>
          </p:cNvSpPr>
          <p:nvPr/>
        </p:nvSpPr>
        <p:spPr bwMode="auto">
          <a:xfrm>
            <a:off x="2625725" y="3971925"/>
            <a:ext cx="33338" cy="25400"/>
          </a:xfrm>
          <a:prstGeom prst="ellipse">
            <a:avLst/>
          </a:prstGeom>
          <a:solidFill>
            <a:srgbClr val="440000"/>
          </a:solidFill>
          <a:ln w="254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643279" name="Oval 207"/>
          <p:cNvSpPr>
            <a:spLocks noChangeArrowheads="1"/>
          </p:cNvSpPr>
          <p:nvPr/>
        </p:nvSpPr>
        <p:spPr bwMode="auto">
          <a:xfrm>
            <a:off x="3238500" y="2857500"/>
            <a:ext cx="33338" cy="33338"/>
          </a:xfrm>
          <a:prstGeom prst="ellipse">
            <a:avLst/>
          </a:prstGeom>
          <a:solidFill>
            <a:srgbClr val="440000"/>
          </a:solidFill>
          <a:ln w="254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grpSp>
        <p:nvGrpSpPr>
          <p:cNvPr id="30" name="Group 210"/>
          <p:cNvGrpSpPr>
            <a:grpSpLocks/>
          </p:cNvGrpSpPr>
          <p:nvPr/>
        </p:nvGrpSpPr>
        <p:grpSpPr bwMode="auto">
          <a:xfrm>
            <a:off x="3140075" y="3933825"/>
            <a:ext cx="511175" cy="101600"/>
            <a:chOff x="1978" y="2814"/>
            <a:chExt cx="322" cy="64"/>
          </a:xfrm>
        </p:grpSpPr>
        <p:sp>
          <p:nvSpPr>
            <p:cNvPr id="643280" name="Freeform 208"/>
            <p:cNvSpPr>
              <a:spLocks/>
            </p:cNvSpPr>
            <p:nvPr/>
          </p:nvSpPr>
          <p:spPr bwMode="auto">
            <a:xfrm>
              <a:off x="2225" y="2814"/>
              <a:ext cx="75" cy="64"/>
            </a:xfrm>
            <a:custGeom>
              <a:avLst/>
              <a:gdLst/>
              <a:ahLst/>
              <a:cxnLst>
                <a:cxn ang="0">
                  <a:pos x="75" y="32"/>
                </a:cxn>
                <a:cxn ang="0">
                  <a:pos x="0" y="64"/>
                </a:cxn>
                <a:cxn ang="0">
                  <a:pos x="0" y="0"/>
                </a:cxn>
                <a:cxn ang="0">
                  <a:pos x="75" y="32"/>
                </a:cxn>
              </a:cxnLst>
              <a:rect l="0" t="0" r="r" b="b"/>
              <a:pathLst>
                <a:path w="75" h="64">
                  <a:moveTo>
                    <a:pt x="75" y="32"/>
                  </a:moveTo>
                  <a:lnTo>
                    <a:pt x="0" y="64"/>
                  </a:lnTo>
                  <a:lnTo>
                    <a:pt x="0" y="0"/>
                  </a:lnTo>
                  <a:lnTo>
                    <a:pt x="75" y="3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43281" name="Line 209"/>
            <p:cNvSpPr>
              <a:spLocks noChangeShapeType="1"/>
            </p:cNvSpPr>
            <p:nvPr/>
          </p:nvSpPr>
          <p:spPr bwMode="auto">
            <a:xfrm flipH="1">
              <a:off x="1978" y="2846"/>
              <a:ext cx="284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1" name="Group 213"/>
          <p:cNvGrpSpPr>
            <a:grpSpLocks/>
          </p:cNvGrpSpPr>
          <p:nvPr/>
        </p:nvGrpSpPr>
        <p:grpSpPr bwMode="auto">
          <a:xfrm>
            <a:off x="3370263" y="4162425"/>
            <a:ext cx="280987" cy="103188"/>
            <a:chOff x="2123" y="2958"/>
            <a:chExt cx="177" cy="65"/>
          </a:xfrm>
        </p:grpSpPr>
        <p:sp>
          <p:nvSpPr>
            <p:cNvPr id="643283" name="Freeform 211"/>
            <p:cNvSpPr>
              <a:spLocks/>
            </p:cNvSpPr>
            <p:nvPr/>
          </p:nvSpPr>
          <p:spPr bwMode="auto">
            <a:xfrm>
              <a:off x="2225" y="2958"/>
              <a:ext cx="75" cy="65"/>
            </a:xfrm>
            <a:custGeom>
              <a:avLst/>
              <a:gdLst/>
              <a:ahLst/>
              <a:cxnLst>
                <a:cxn ang="0">
                  <a:pos x="75" y="33"/>
                </a:cxn>
                <a:cxn ang="0">
                  <a:pos x="0" y="65"/>
                </a:cxn>
                <a:cxn ang="0">
                  <a:pos x="0" y="0"/>
                </a:cxn>
                <a:cxn ang="0">
                  <a:pos x="75" y="33"/>
                </a:cxn>
              </a:cxnLst>
              <a:rect l="0" t="0" r="r" b="b"/>
              <a:pathLst>
                <a:path w="75" h="65">
                  <a:moveTo>
                    <a:pt x="75" y="33"/>
                  </a:moveTo>
                  <a:lnTo>
                    <a:pt x="0" y="65"/>
                  </a:lnTo>
                  <a:lnTo>
                    <a:pt x="0" y="0"/>
                  </a:lnTo>
                  <a:lnTo>
                    <a:pt x="75" y="3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43284" name="Line 212"/>
            <p:cNvSpPr>
              <a:spLocks noChangeShapeType="1"/>
            </p:cNvSpPr>
            <p:nvPr/>
          </p:nvSpPr>
          <p:spPr bwMode="auto">
            <a:xfrm flipH="1">
              <a:off x="2123" y="2991"/>
              <a:ext cx="139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43273" name="Group 216"/>
          <p:cNvGrpSpPr>
            <a:grpSpLocks/>
          </p:cNvGrpSpPr>
          <p:nvPr/>
        </p:nvGrpSpPr>
        <p:grpSpPr bwMode="auto">
          <a:xfrm>
            <a:off x="5208588" y="4699000"/>
            <a:ext cx="1276350" cy="101600"/>
            <a:chOff x="3281" y="3296"/>
            <a:chExt cx="804" cy="64"/>
          </a:xfrm>
        </p:grpSpPr>
        <p:sp>
          <p:nvSpPr>
            <p:cNvPr id="643286" name="Freeform 214"/>
            <p:cNvSpPr>
              <a:spLocks/>
            </p:cNvSpPr>
            <p:nvPr/>
          </p:nvSpPr>
          <p:spPr bwMode="auto">
            <a:xfrm>
              <a:off x="4010" y="3296"/>
              <a:ext cx="75" cy="64"/>
            </a:xfrm>
            <a:custGeom>
              <a:avLst/>
              <a:gdLst/>
              <a:ahLst/>
              <a:cxnLst>
                <a:cxn ang="0">
                  <a:pos x="75" y="32"/>
                </a:cxn>
                <a:cxn ang="0">
                  <a:pos x="0" y="64"/>
                </a:cxn>
                <a:cxn ang="0">
                  <a:pos x="0" y="0"/>
                </a:cxn>
                <a:cxn ang="0">
                  <a:pos x="75" y="32"/>
                </a:cxn>
              </a:cxnLst>
              <a:rect l="0" t="0" r="r" b="b"/>
              <a:pathLst>
                <a:path w="75" h="64">
                  <a:moveTo>
                    <a:pt x="75" y="32"/>
                  </a:moveTo>
                  <a:lnTo>
                    <a:pt x="0" y="64"/>
                  </a:lnTo>
                  <a:lnTo>
                    <a:pt x="0" y="0"/>
                  </a:lnTo>
                  <a:lnTo>
                    <a:pt x="75" y="3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43287" name="Line 215"/>
            <p:cNvSpPr>
              <a:spLocks noChangeShapeType="1"/>
            </p:cNvSpPr>
            <p:nvPr/>
          </p:nvSpPr>
          <p:spPr bwMode="auto">
            <a:xfrm flipH="1">
              <a:off x="3281" y="3328"/>
              <a:ext cx="766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43276" name="Group 219"/>
          <p:cNvGrpSpPr>
            <a:grpSpLocks/>
          </p:cNvGrpSpPr>
          <p:nvPr/>
        </p:nvGrpSpPr>
        <p:grpSpPr bwMode="auto">
          <a:xfrm>
            <a:off x="6280150" y="4818063"/>
            <a:ext cx="204788" cy="101600"/>
            <a:chOff x="3956" y="3371"/>
            <a:chExt cx="129" cy="64"/>
          </a:xfrm>
        </p:grpSpPr>
        <p:sp>
          <p:nvSpPr>
            <p:cNvPr id="643289" name="Freeform 217"/>
            <p:cNvSpPr>
              <a:spLocks/>
            </p:cNvSpPr>
            <p:nvPr/>
          </p:nvSpPr>
          <p:spPr bwMode="auto">
            <a:xfrm>
              <a:off x="4010" y="3371"/>
              <a:ext cx="75" cy="64"/>
            </a:xfrm>
            <a:custGeom>
              <a:avLst/>
              <a:gdLst/>
              <a:ahLst/>
              <a:cxnLst>
                <a:cxn ang="0">
                  <a:pos x="75" y="32"/>
                </a:cxn>
                <a:cxn ang="0">
                  <a:pos x="0" y="64"/>
                </a:cxn>
                <a:cxn ang="0">
                  <a:pos x="0" y="0"/>
                </a:cxn>
                <a:cxn ang="0">
                  <a:pos x="75" y="32"/>
                </a:cxn>
              </a:cxnLst>
              <a:rect l="0" t="0" r="r" b="b"/>
              <a:pathLst>
                <a:path w="75" h="64">
                  <a:moveTo>
                    <a:pt x="75" y="32"/>
                  </a:moveTo>
                  <a:lnTo>
                    <a:pt x="0" y="64"/>
                  </a:lnTo>
                  <a:lnTo>
                    <a:pt x="0" y="0"/>
                  </a:lnTo>
                  <a:lnTo>
                    <a:pt x="75" y="3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43290" name="Line 218"/>
            <p:cNvSpPr>
              <a:spLocks noChangeShapeType="1"/>
            </p:cNvSpPr>
            <p:nvPr/>
          </p:nvSpPr>
          <p:spPr bwMode="auto">
            <a:xfrm flipH="1">
              <a:off x="3956" y="3403"/>
              <a:ext cx="91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43282" name="Group 229"/>
          <p:cNvGrpSpPr>
            <a:grpSpLocks/>
          </p:cNvGrpSpPr>
          <p:nvPr/>
        </p:nvGrpSpPr>
        <p:grpSpPr bwMode="auto">
          <a:xfrm>
            <a:off x="6475413" y="4291013"/>
            <a:ext cx="230187" cy="688975"/>
            <a:chOff x="4079" y="3039"/>
            <a:chExt cx="145" cy="434"/>
          </a:xfrm>
        </p:grpSpPr>
        <p:sp>
          <p:nvSpPr>
            <p:cNvPr id="643292" name="Rectangle 220"/>
            <p:cNvSpPr>
              <a:spLocks noChangeArrowheads="1"/>
            </p:cNvSpPr>
            <p:nvPr/>
          </p:nvSpPr>
          <p:spPr bwMode="auto">
            <a:xfrm>
              <a:off x="4149" y="3162"/>
              <a:ext cx="75" cy="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1">
                  <a:solidFill>
                    <a:srgbClr val="000000"/>
                  </a:solidFill>
                  <a:latin typeface="Arial" charset="0"/>
                </a:rPr>
                <a:t>M</a:t>
              </a:r>
              <a:endParaRPr lang="en-US"/>
            </a:p>
          </p:txBody>
        </p:sp>
        <p:sp>
          <p:nvSpPr>
            <p:cNvPr id="643293" name="Rectangle 221"/>
            <p:cNvSpPr>
              <a:spLocks noChangeArrowheads="1"/>
            </p:cNvSpPr>
            <p:nvPr/>
          </p:nvSpPr>
          <p:spPr bwMode="auto">
            <a:xfrm>
              <a:off x="4149" y="3226"/>
              <a:ext cx="64" cy="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1">
                  <a:solidFill>
                    <a:srgbClr val="000000"/>
                  </a:solidFill>
                  <a:latin typeface="Arial" charset="0"/>
                </a:rPr>
                <a:t>U</a:t>
              </a:r>
              <a:endParaRPr lang="en-US"/>
            </a:p>
          </p:txBody>
        </p:sp>
        <p:sp>
          <p:nvSpPr>
            <p:cNvPr id="643294" name="Rectangle 222"/>
            <p:cNvSpPr>
              <a:spLocks noChangeArrowheads="1"/>
            </p:cNvSpPr>
            <p:nvPr/>
          </p:nvSpPr>
          <p:spPr bwMode="auto">
            <a:xfrm>
              <a:off x="4154" y="3290"/>
              <a:ext cx="64" cy="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1">
                  <a:solidFill>
                    <a:srgbClr val="000000"/>
                  </a:solidFill>
                  <a:latin typeface="Arial" charset="0"/>
                </a:rPr>
                <a:t>X</a:t>
              </a:r>
              <a:endParaRPr lang="en-US"/>
            </a:p>
          </p:txBody>
        </p:sp>
        <p:grpSp>
          <p:nvGrpSpPr>
            <p:cNvPr id="643285" name="Group 228"/>
            <p:cNvGrpSpPr>
              <a:grpSpLocks/>
            </p:cNvGrpSpPr>
            <p:nvPr/>
          </p:nvGrpSpPr>
          <p:grpSpPr bwMode="auto">
            <a:xfrm>
              <a:off x="4079" y="3039"/>
              <a:ext cx="145" cy="434"/>
              <a:chOff x="4079" y="3039"/>
              <a:chExt cx="145" cy="434"/>
            </a:xfrm>
          </p:grpSpPr>
          <p:sp>
            <p:nvSpPr>
              <p:cNvPr id="643295" name="Freeform 223"/>
              <p:cNvSpPr>
                <a:spLocks/>
              </p:cNvSpPr>
              <p:nvPr/>
            </p:nvSpPr>
            <p:spPr bwMode="auto">
              <a:xfrm>
                <a:off x="4079" y="3039"/>
                <a:ext cx="145" cy="43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434"/>
                  </a:cxn>
                  <a:cxn ang="0">
                    <a:pos x="145" y="338"/>
                  </a:cxn>
                  <a:cxn ang="0">
                    <a:pos x="145" y="96"/>
                  </a:cxn>
                  <a:cxn ang="0">
                    <a:pos x="0" y="0"/>
                  </a:cxn>
                </a:cxnLst>
                <a:rect l="0" t="0" r="r" b="b"/>
                <a:pathLst>
                  <a:path w="145" h="434">
                    <a:moveTo>
                      <a:pt x="0" y="0"/>
                    </a:moveTo>
                    <a:lnTo>
                      <a:pt x="0" y="434"/>
                    </a:lnTo>
                    <a:lnTo>
                      <a:pt x="145" y="338"/>
                    </a:lnTo>
                    <a:lnTo>
                      <a:pt x="145" y="96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254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643296" name="Rectangle 224"/>
              <p:cNvSpPr>
                <a:spLocks noChangeArrowheads="1"/>
              </p:cNvSpPr>
              <p:nvPr/>
            </p:nvSpPr>
            <p:spPr bwMode="auto">
              <a:xfrm>
                <a:off x="4090" y="3077"/>
                <a:ext cx="96" cy="11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900" b="1">
                    <a:solidFill>
                      <a:srgbClr val="0033FF"/>
                    </a:solidFill>
                    <a:latin typeface="Courier New" pitchFamily="49" charset="0"/>
                  </a:rPr>
                  <a:t>0</a:t>
                </a:r>
                <a:endParaRPr lang="en-US"/>
              </a:p>
            </p:txBody>
          </p:sp>
          <p:sp>
            <p:nvSpPr>
              <p:cNvPr id="643297" name="Rectangle 225"/>
              <p:cNvSpPr>
                <a:spLocks noChangeArrowheads="1"/>
              </p:cNvSpPr>
              <p:nvPr/>
            </p:nvSpPr>
            <p:spPr bwMode="auto">
              <a:xfrm>
                <a:off x="4090" y="3162"/>
                <a:ext cx="96" cy="11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900" b="1">
                    <a:solidFill>
                      <a:srgbClr val="0033FF"/>
                    </a:solidFill>
                    <a:latin typeface="Courier New" pitchFamily="49" charset="0"/>
                  </a:rPr>
                  <a:t>1</a:t>
                </a:r>
                <a:endParaRPr lang="en-US"/>
              </a:p>
            </p:txBody>
          </p:sp>
          <p:sp>
            <p:nvSpPr>
              <p:cNvPr id="643298" name="Rectangle 226"/>
              <p:cNvSpPr>
                <a:spLocks noChangeArrowheads="1"/>
              </p:cNvSpPr>
              <p:nvPr/>
            </p:nvSpPr>
            <p:spPr bwMode="auto">
              <a:xfrm>
                <a:off x="4090" y="3259"/>
                <a:ext cx="96" cy="11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900" b="1">
                    <a:solidFill>
                      <a:srgbClr val="0033FF"/>
                    </a:solidFill>
                    <a:latin typeface="Courier New" pitchFamily="49" charset="0"/>
                  </a:rPr>
                  <a:t>2</a:t>
                </a:r>
                <a:endParaRPr lang="en-US"/>
              </a:p>
            </p:txBody>
          </p:sp>
          <p:sp>
            <p:nvSpPr>
              <p:cNvPr id="643299" name="Rectangle 227"/>
              <p:cNvSpPr>
                <a:spLocks noChangeArrowheads="1"/>
              </p:cNvSpPr>
              <p:nvPr/>
            </p:nvSpPr>
            <p:spPr bwMode="auto">
              <a:xfrm>
                <a:off x="4090" y="3345"/>
                <a:ext cx="96" cy="11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900" b="1">
                    <a:solidFill>
                      <a:srgbClr val="0033FF"/>
                    </a:solidFill>
                    <a:latin typeface="Courier New" pitchFamily="49" charset="0"/>
                  </a:rPr>
                  <a:t>3</a:t>
                </a:r>
                <a:endParaRPr lang="en-US"/>
              </a:p>
            </p:txBody>
          </p:sp>
        </p:grpSp>
      </p:grpSp>
      <p:grpSp>
        <p:nvGrpSpPr>
          <p:cNvPr id="643288" name="Group 236"/>
          <p:cNvGrpSpPr>
            <a:grpSpLocks/>
          </p:cNvGrpSpPr>
          <p:nvPr/>
        </p:nvGrpSpPr>
        <p:grpSpPr bwMode="auto">
          <a:xfrm>
            <a:off x="3641725" y="3830638"/>
            <a:ext cx="230188" cy="536575"/>
            <a:chOff x="2294" y="2749"/>
            <a:chExt cx="145" cy="338"/>
          </a:xfrm>
        </p:grpSpPr>
        <p:sp>
          <p:nvSpPr>
            <p:cNvPr id="643302" name="Rectangle 230"/>
            <p:cNvSpPr>
              <a:spLocks noChangeArrowheads="1"/>
            </p:cNvSpPr>
            <p:nvPr/>
          </p:nvSpPr>
          <p:spPr bwMode="auto">
            <a:xfrm>
              <a:off x="2364" y="2824"/>
              <a:ext cx="75" cy="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1">
                  <a:solidFill>
                    <a:srgbClr val="000000"/>
                  </a:solidFill>
                  <a:latin typeface="Arial" charset="0"/>
                </a:rPr>
                <a:t>M</a:t>
              </a:r>
              <a:endParaRPr lang="en-US"/>
            </a:p>
          </p:txBody>
        </p:sp>
        <p:sp>
          <p:nvSpPr>
            <p:cNvPr id="643303" name="Rectangle 231"/>
            <p:cNvSpPr>
              <a:spLocks noChangeArrowheads="1"/>
            </p:cNvSpPr>
            <p:nvPr/>
          </p:nvSpPr>
          <p:spPr bwMode="auto">
            <a:xfrm>
              <a:off x="2364" y="2888"/>
              <a:ext cx="64" cy="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1">
                  <a:solidFill>
                    <a:srgbClr val="000000"/>
                  </a:solidFill>
                  <a:latin typeface="Arial" charset="0"/>
                </a:rPr>
                <a:t>U</a:t>
              </a:r>
              <a:endParaRPr lang="en-US"/>
            </a:p>
          </p:txBody>
        </p:sp>
        <p:sp>
          <p:nvSpPr>
            <p:cNvPr id="643304" name="Rectangle 232"/>
            <p:cNvSpPr>
              <a:spLocks noChangeArrowheads="1"/>
            </p:cNvSpPr>
            <p:nvPr/>
          </p:nvSpPr>
          <p:spPr bwMode="auto">
            <a:xfrm>
              <a:off x="2369" y="2953"/>
              <a:ext cx="64" cy="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1">
                  <a:solidFill>
                    <a:srgbClr val="000000"/>
                  </a:solidFill>
                  <a:latin typeface="Arial" charset="0"/>
                </a:rPr>
                <a:t>X</a:t>
              </a:r>
              <a:endParaRPr lang="en-US"/>
            </a:p>
          </p:txBody>
        </p:sp>
        <p:sp>
          <p:nvSpPr>
            <p:cNvPr id="643305" name="Freeform 233"/>
            <p:cNvSpPr>
              <a:spLocks/>
            </p:cNvSpPr>
            <p:nvPr/>
          </p:nvSpPr>
          <p:spPr bwMode="auto">
            <a:xfrm>
              <a:off x="2294" y="2749"/>
              <a:ext cx="145" cy="3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338"/>
                </a:cxn>
                <a:cxn ang="0">
                  <a:pos x="145" y="268"/>
                </a:cxn>
                <a:cxn ang="0">
                  <a:pos x="145" y="75"/>
                </a:cxn>
                <a:cxn ang="0">
                  <a:pos x="0" y="0"/>
                </a:cxn>
              </a:cxnLst>
              <a:rect l="0" t="0" r="r" b="b"/>
              <a:pathLst>
                <a:path w="145" h="338">
                  <a:moveTo>
                    <a:pt x="0" y="0"/>
                  </a:moveTo>
                  <a:lnTo>
                    <a:pt x="0" y="338"/>
                  </a:lnTo>
                  <a:lnTo>
                    <a:pt x="145" y="268"/>
                  </a:lnTo>
                  <a:lnTo>
                    <a:pt x="145" y="75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54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43306" name="Rectangle 234"/>
            <p:cNvSpPr>
              <a:spLocks noChangeArrowheads="1"/>
            </p:cNvSpPr>
            <p:nvPr/>
          </p:nvSpPr>
          <p:spPr bwMode="auto">
            <a:xfrm>
              <a:off x="2305" y="2803"/>
              <a:ext cx="43" cy="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900" b="1">
                  <a:solidFill>
                    <a:schemeClr val="folHlink"/>
                  </a:solidFill>
                  <a:latin typeface="Courier New" pitchFamily="49" charset="0"/>
                </a:rPr>
                <a:t>0</a:t>
              </a:r>
            </a:p>
          </p:txBody>
        </p:sp>
        <p:sp>
          <p:nvSpPr>
            <p:cNvPr id="643307" name="Rectangle 235"/>
            <p:cNvSpPr>
              <a:spLocks noChangeArrowheads="1"/>
            </p:cNvSpPr>
            <p:nvPr/>
          </p:nvSpPr>
          <p:spPr bwMode="auto">
            <a:xfrm>
              <a:off x="2305" y="2937"/>
              <a:ext cx="43" cy="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900" b="1">
                  <a:solidFill>
                    <a:srgbClr val="0033FF"/>
                  </a:solidFill>
                  <a:latin typeface="Courier New" pitchFamily="49" charset="0"/>
                </a:rPr>
                <a:t>1</a:t>
              </a:r>
              <a:endParaRPr lang="en-US"/>
            </a:p>
          </p:txBody>
        </p:sp>
      </p:grpSp>
      <p:grpSp>
        <p:nvGrpSpPr>
          <p:cNvPr id="643291" name="Group 239"/>
          <p:cNvGrpSpPr>
            <a:grpSpLocks/>
          </p:cNvGrpSpPr>
          <p:nvPr/>
        </p:nvGrpSpPr>
        <p:grpSpPr bwMode="auto">
          <a:xfrm>
            <a:off x="6705600" y="3822700"/>
            <a:ext cx="195263" cy="101600"/>
            <a:chOff x="4224" y="2744"/>
            <a:chExt cx="123" cy="64"/>
          </a:xfrm>
        </p:grpSpPr>
        <p:sp>
          <p:nvSpPr>
            <p:cNvPr id="643309" name="Freeform 237"/>
            <p:cNvSpPr>
              <a:spLocks/>
            </p:cNvSpPr>
            <p:nvPr/>
          </p:nvSpPr>
          <p:spPr bwMode="auto">
            <a:xfrm>
              <a:off x="4272" y="2744"/>
              <a:ext cx="75" cy="64"/>
            </a:xfrm>
            <a:custGeom>
              <a:avLst/>
              <a:gdLst/>
              <a:ahLst/>
              <a:cxnLst>
                <a:cxn ang="0">
                  <a:pos x="75" y="32"/>
                </a:cxn>
                <a:cxn ang="0">
                  <a:pos x="0" y="64"/>
                </a:cxn>
                <a:cxn ang="0">
                  <a:pos x="0" y="0"/>
                </a:cxn>
                <a:cxn ang="0">
                  <a:pos x="75" y="32"/>
                </a:cxn>
              </a:cxnLst>
              <a:rect l="0" t="0" r="r" b="b"/>
              <a:pathLst>
                <a:path w="75" h="64">
                  <a:moveTo>
                    <a:pt x="75" y="32"/>
                  </a:moveTo>
                  <a:lnTo>
                    <a:pt x="0" y="64"/>
                  </a:lnTo>
                  <a:lnTo>
                    <a:pt x="0" y="0"/>
                  </a:lnTo>
                  <a:lnTo>
                    <a:pt x="75" y="3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43310" name="Line 238"/>
            <p:cNvSpPr>
              <a:spLocks noChangeShapeType="1"/>
            </p:cNvSpPr>
            <p:nvPr/>
          </p:nvSpPr>
          <p:spPr bwMode="auto">
            <a:xfrm flipH="1">
              <a:off x="4224" y="2776"/>
              <a:ext cx="86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43300" name="Group 242"/>
          <p:cNvGrpSpPr>
            <a:grpSpLocks/>
          </p:cNvGrpSpPr>
          <p:nvPr/>
        </p:nvGrpSpPr>
        <p:grpSpPr bwMode="auto">
          <a:xfrm>
            <a:off x="5897563" y="3933825"/>
            <a:ext cx="587375" cy="101600"/>
            <a:chOff x="3715" y="2814"/>
            <a:chExt cx="370" cy="64"/>
          </a:xfrm>
        </p:grpSpPr>
        <p:sp>
          <p:nvSpPr>
            <p:cNvPr id="643312" name="Freeform 240"/>
            <p:cNvSpPr>
              <a:spLocks/>
            </p:cNvSpPr>
            <p:nvPr/>
          </p:nvSpPr>
          <p:spPr bwMode="auto">
            <a:xfrm>
              <a:off x="4010" y="2814"/>
              <a:ext cx="75" cy="64"/>
            </a:xfrm>
            <a:custGeom>
              <a:avLst/>
              <a:gdLst/>
              <a:ahLst/>
              <a:cxnLst>
                <a:cxn ang="0">
                  <a:pos x="75" y="32"/>
                </a:cxn>
                <a:cxn ang="0">
                  <a:pos x="0" y="64"/>
                </a:cxn>
                <a:cxn ang="0">
                  <a:pos x="0" y="0"/>
                </a:cxn>
                <a:cxn ang="0">
                  <a:pos x="75" y="32"/>
                </a:cxn>
              </a:cxnLst>
              <a:rect l="0" t="0" r="r" b="b"/>
              <a:pathLst>
                <a:path w="75" h="64">
                  <a:moveTo>
                    <a:pt x="75" y="32"/>
                  </a:moveTo>
                  <a:lnTo>
                    <a:pt x="0" y="64"/>
                  </a:lnTo>
                  <a:lnTo>
                    <a:pt x="0" y="0"/>
                  </a:lnTo>
                  <a:lnTo>
                    <a:pt x="75" y="3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43313" name="Line 241"/>
            <p:cNvSpPr>
              <a:spLocks noChangeShapeType="1"/>
            </p:cNvSpPr>
            <p:nvPr/>
          </p:nvSpPr>
          <p:spPr bwMode="auto">
            <a:xfrm flipH="1">
              <a:off x="3715" y="2846"/>
              <a:ext cx="332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43301" name="Group 245"/>
          <p:cNvGrpSpPr>
            <a:grpSpLocks/>
          </p:cNvGrpSpPr>
          <p:nvPr/>
        </p:nvGrpSpPr>
        <p:grpSpPr bwMode="auto">
          <a:xfrm>
            <a:off x="6169025" y="3703638"/>
            <a:ext cx="315913" cy="101600"/>
            <a:chOff x="3886" y="2669"/>
            <a:chExt cx="199" cy="64"/>
          </a:xfrm>
        </p:grpSpPr>
        <p:sp>
          <p:nvSpPr>
            <p:cNvPr id="643315" name="Freeform 243"/>
            <p:cNvSpPr>
              <a:spLocks/>
            </p:cNvSpPr>
            <p:nvPr/>
          </p:nvSpPr>
          <p:spPr bwMode="auto">
            <a:xfrm>
              <a:off x="4010" y="2669"/>
              <a:ext cx="75" cy="64"/>
            </a:xfrm>
            <a:custGeom>
              <a:avLst/>
              <a:gdLst/>
              <a:ahLst/>
              <a:cxnLst>
                <a:cxn ang="0">
                  <a:pos x="75" y="32"/>
                </a:cxn>
                <a:cxn ang="0">
                  <a:pos x="0" y="64"/>
                </a:cxn>
                <a:cxn ang="0">
                  <a:pos x="0" y="0"/>
                </a:cxn>
                <a:cxn ang="0">
                  <a:pos x="75" y="32"/>
                </a:cxn>
              </a:cxnLst>
              <a:rect l="0" t="0" r="r" b="b"/>
              <a:pathLst>
                <a:path w="75" h="64">
                  <a:moveTo>
                    <a:pt x="75" y="32"/>
                  </a:moveTo>
                  <a:lnTo>
                    <a:pt x="0" y="64"/>
                  </a:lnTo>
                  <a:lnTo>
                    <a:pt x="0" y="0"/>
                  </a:lnTo>
                  <a:lnTo>
                    <a:pt x="75" y="3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43316" name="Line 244"/>
            <p:cNvSpPr>
              <a:spLocks noChangeShapeType="1"/>
            </p:cNvSpPr>
            <p:nvPr/>
          </p:nvSpPr>
          <p:spPr bwMode="auto">
            <a:xfrm flipH="1">
              <a:off x="3886" y="2701"/>
              <a:ext cx="161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43308" name="Group 252"/>
          <p:cNvGrpSpPr>
            <a:grpSpLocks/>
          </p:cNvGrpSpPr>
          <p:nvPr/>
        </p:nvGrpSpPr>
        <p:grpSpPr bwMode="auto">
          <a:xfrm>
            <a:off x="6475413" y="3602038"/>
            <a:ext cx="230187" cy="534987"/>
            <a:chOff x="4079" y="2605"/>
            <a:chExt cx="145" cy="337"/>
          </a:xfrm>
        </p:grpSpPr>
        <p:sp>
          <p:nvSpPr>
            <p:cNvPr id="643318" name="Rectangle 246"/>
            <p:cNvSpPr>
              <a:spLocks noChangeArrowheads="1"/>
            </p:cNvSpPr>
            <p:nvPr/>
          </p:nvSpPr>
          <p:spPr bwMode="auto">
            <a:xfrm>
              <a:off x="4149" y="2679"/>
              <a:ext cx="75" cy="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1">
                  <a:solidFill>
                    <a:srgbClr val="000000"/>
                  </a:solidFill>
                  <a:latin typeface="Arial" charset="0"/>
                </a:rPr>
                <a:t>M</a:t>
              </a:r>
              <a:endParaRPr lang="en-US"/>
            </a:p>
          </p:txBody>
        </p:sp>
        <p:sp>
          <p:nvSpPr>
            <p:cNvPr id="643319" name="Rectangle 247"/>
            <p:cNvSpPr>
              <a:spLocks noChangeArrowheads="1"/>
            </p:cNvSpPr>
            <p:nvPr/>
          </p:nvSpPr>
          <p:spPr bwMode="auto">
            <a:xfrm>
              <a:off x="4149" y="2744"/>
              <a:ext cx="64" cy="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1">
                  <a:solidFill>
                    <a:srgbClr val="000000"/>
                  </a:solidFill>
                  <a:latin typeface="Arial" charset="0"/>
                </a:rPr>
                <a:t>U</a:t>
              </a:r>
              <a:endParaRPr lang="en-US"/>
            </a:p>
          </p:txBody>
        </p:sp>
        <p:sp>
          <p:nvSpPr>
            <p:cNvPr id="643320" name="Rectangle 248"/>
            <p:cNvSpPr>
              <a:spLocks noChangeArrowheads="1"/>
            </p:cNvSpPr>
            <p:nvPr/>
          </p:nvSpPr>
          <p:spPr bwMode="auto">
            <a:xfrm>
              <a:off x="4154" y="2808"/>
              <a:ext cx="64" cy="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1">
                  <a:solidFill>
                    <a:srgbClr val="000000"/>
                  </a:solidFill>
                  <a:latin typeface="Arial" charset="0"/>
                </a:rPr>
                <a:t>X</a:t>
              </a:r>
              <a:endParaRPr lang="en-US"/>
            </a:p>
          </p:txBody>
        </p:sp>
        <p:sp>
          <p:nvSpPr>
            <p:cNvPr id="643321" name="Freeform 249"/>
            <p:cNvSpPr>
              <a:spLocks/>
            </p:cNvSpPr>
            <p:nvPr/>
          </p:nvSpPr>
          <p:spPr bwMode="auto">
            <a:xfrm>
              <a:off x="4079" y="2605"/>
              <a:ext cx="145" cy="33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337"/>
                </a:cxn>
                <a:cxn ang="0">
                  <a:pos x="145" y="268"/>
                </a:cxn>
                <a:cxn ang="0">
                  <a:pos x="145" y="75"/>
                </a:cxn>
                <a:cxn ang="0">
                  <a:pos x="0" y="0"/>
                </a:cxn>
              </a:cxnLst>
              <a:rect l="0" t="0" r="r" b="b"/>
              <a:pathLst>
                <a:path w="145" h="337">
                  <a:moveTo>
                    <a:pt x="0" y="0"/>
                  </a:moveTo>
                  <a:lnTo>
                    <a:pt x="0" y="337"/>
                  </a:lnTo>
                  <a:lnTo>
                    <a:pt x="145" y="268"/>
                  </a:lnTo>
                  <a:lnTo>
                    <a:pt x="145" y="75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54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43322" name="Rectangle 250"/>
            <p:cNvSpPr>
              <a:spLocks noChangeArrowheads="1"/>
            </p:cNvSpPr>
            <p:nvPr/>
          </p:nvSpPr>
          <p:spPr bwMode="auto">
            <a:xfrm>
              <a:off x="4090" y="2659"/>
              <a:ext cx="96" cy="1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900" b="1">
                  <a:solidFill>
                    <a:srgbClr val="0033FF"/>
                  </a:solidFill>
                  <a:latin typeface="Courier New" pitchFamily="49" charset="0"/>
                </a:rPr>
                <a:t>0</a:t>
              </a:r>
              <a:endParaRPr lang="en-US"/>
            </a:p>
          </p:txBody>
        </p:sp>
        <p:sp>
          <p:nvSpPr>
            <p:cNvPr id="643323" name="Rectangle 251"/>
            <p:cNvSpPr>
              <a:spLocks noChangeArrowheads="1"/>
            </p:cNvSpPr>
            <p:nvPr/>
          </p:nvSpPr>
          <p:spPr bwMode="auto">
            <a:xfrm>
              <a:off x="4090" y="2793"/>
              <a:ext cx="96" cy="1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900" b="1">
                  <a:solidFill>
                    <a:srgbClr val="0033FF"/>
                  </a:solidFill>
                  <a:latin typeface="Courier New" pitchFamily="49" charset="0"/>
                </a:rPr>
                <a:t>1</a:t>
              </a:r>
              <a:endParaRPr lang="en-US"/>
            </a:p>
          </p:txBody>
        </p:sp>
      </p:grpSp>
      <p:sp>
        <p:nvSpPr>
          <p:cNvPr id="643325" name="Rectangle 253"/>
          <p:cNvSpPr>
            <a:spLocks noChangeArrowheads="1"/>
          </p:cNvSpPr>
          <p:nvPr/>
        </p:nvSpPr>
        <p:spPr bwMode="auto">
          <a:xfrm>
            <a:off x="5672138" y="3802063"/>
            <a:ext cx="220662" cy="373062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643326" name="Rectangle 254"/>
          <p:cNvSpPr>
            <a:spLocks noChangeArrowheads="1"/>
          </p:cNvSpPr>
          <p:nvPr/>
        </p:nvSpPr>
        <p:spPr bwMode="auto">
          <a:xfrm>
            <a:off x="5727700" y="3898900"/>
            <a:ext cx="1873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200" b="1">
                <a:solidFill>
                  <a:srgbClr val="000000"/>
                </a:solidFill>
                <a:latin typeface="Arial" charset="0"/>
              </a:rPr>
              <a:t>A</a:t>
            </a:r>
            <a:endParaRPr lang="en-US"/>
          </a:p>
        </p:txBody>
      </p:sp>
      <p:sp>
        <p:nvSpPr>
          <p:cNvPr id="643327" name="Rectangle 255"/>
          <p:cNvSpPr>
            <a:spLocks noChangeArrowheads="1"/>
          </p:cNvSpPr>
          <p:nvPr/>
        </p:nvSpPr>
        <p:spPr bwMode="auto">
          <a:xfrm>
            <a:off x="5672138" y="4260850"/>
            <a:ext cx="220662" cy="37465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643328" name="Rectangle 256"/>
          <p:cNvSpPr>
            <a:spLocks noChangeArrowheads="1"/>
          </p:cNvSpPr>
          <p:nvPr/>
        </p:nvSpPr>
        <p:spPr bwMode="auto">
          <a:xfrm>
            <a:off x="5727700" y="4316413"/>
            <a:ext cx="1873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200" b="1">
                <a:solidFill>
                  <a:srgbClr val="000000"/>
                </a:solidFill>
                <a:latin typeface="Arial" charset="0"/>
              </a:rPr>
              <a:t>B</a:t>
            </a:r>
            <a:endParaRPr lang="en-US"/>
          </a:p>
        </p:txBody>
      </p:sp>
      <p:grpSp>
        <p:nvGrpSpPr>
          <p:cNvPr id="643311" name="Group 259"/>
          <p:cNvGrpSpPr>
            <a:grpSpLocks/>
          </p:cNvGrpSpPr>
          <p:nvPr/>
        </p:nvGrpSpPr>
        <p:grpSpPr bwMode="auto">
          <a:xfrm>
            <a:off x="5480050" y="4359275"/>
            <a:ext cx="195263" cy="101600"/>
            <a:chOff x="3452" y="3082"/>
            <a:chExt cx="123" cy="64"/>
          </a:xfrm>
        </p:grpSpPr>
        <p:sp>
          <p:nvSpPr>
            <p:cNvPr id="643329" name="Freeform 257"/>
            <p:cNvSpPr>
              <a:spLocks/>
            </p:cNvSpPr>
            <p:nvPr/>
          </p:nvSpPr>
          <p:spPr bwMode="auto">
            <a:xfrm>
              <a:off x="3500" y="3082"/>
              <a:ext cx="75" cy="64"/>
            </a:xfrm>
            <a:custGeom>
              <a:avLst/>
              <a:gdLst/>
              <a:ahLst/>
              <a:cxnLst>
                <a:cxn ang="0">
                  <a:pos x="75" y="32"/>
                </a:cxn>
                <a:cxn ang="0">
                  <a:pos x="0" y="64"/>
                </a:cxn>
                <a:cxn ang="0">
                  <a:pos x="0" y="0"/>
                </a:cxn>
                <a:cxn ang="0">
                  <a:pos x="75" y="32"/>
                </a:cxn>
              </a:cxnLst>
              <a:rect l="0" t="0" r="r" b="b"/>
              <a:pathLst>
                <a:path w="75" h="64">
                  <a:moveTo>
                    <a:pt x="75" y="32"/>
                  </a:moveTo>
                  <a:lnTo>
                    <a:pt x="0" y="64"/>
                  </a:lnTo>
                  <a:lnTo>
                    <a:pt x="0" y="0"/>
                  </a:lnTo>
                  <a:lnTo>
                    <a:pt x="75" y="3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43330" name="Line 258"/>
            <p:cNvSpPr>
              <a:spLocks noChangeShapeType="1"/>
            </p:cNvSpPr>
            <p:nvPr/>
          </p:nvSpPr>
          <p:spPr bwMode="auto">
            <a:xfrm flipH="1">
              <a:off x="3452" y="3114"/>
              <a:ext cx="86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43314" name="Group 262"/>
          <p:cNvGrpSpPr>
            <a:grpSpLocks/>
          </p:cNvGrpSpPr>
          <p:nvPr/>
        </p:nvGrpSpPr>
        <p:grpSpPr bwMode="auto">
          <a:xfrm>
            <a:off x="5480050" y="3933825"/>
            <a:ext cx="195263" cy="101600"/>
            <a:chOff x="3452" y="2814"/>
            <a:chExt cx="123" cy="64"/>
          </a:xfrm>
        </p:grpSpPr>
        <p:sp>
          <p:nvSpPr>
            <p:cNvPr id="643332" name="Freeform 260"/>
            <p:cNvSpPr>
              <a:spLocks/>
            </p:cNvSpPr>
            <p:nvPr/>
          </p:nvSpPr>
          <p:spPr bwMode="auto">
            <a:xfrm>
              <a:off x="3500" y="2814"/>
              <a:ext cx="75" cy="64"/>
            </a:xfrm>
            <a:custGeom>
              <a:avLst/>
              <a:gdLst/>
              <a:ahLst/>
              <a:cxnLst>
                <a:cxn ang="0">
                  <a:pos x="75" y="32"/>
                </a:cxn>
                <a:cxn ang="0">
                  <a:pos x="0" y="64"/>
                </a:cxn>
                <a:cxn ang="0">
                  <a:pos x="0" y="0"/>
                </a:cxn>
                <a:cxn ang="0">
                  <a:pos x="75" y="32"/>
                </a:cxn>
              </a:cxnLst>
              <a:rect l="0" t="0" r="r" b="b"/>
              <a:pathLst>
                <a:path w="75" h="64">
                  <a:moveTo>
                    <a:pt x="75" y="32"/>
                  </a:moveTo>
                  <a:lnTo>
                    <a:pt x="0" y="64"/>
                  </a:lnTo>
                  <a:lnTo>
                    <a:pt x="0" y="0"/>
                  </a:lnTo>
                  <a:lnTo>
                    <a:pt x="75" y="3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43333" name="Line 261"/>
            <p:cNvSpPr>
              <a:spLocks noChangeShapeType="1"/>
            </p:cNvSpPr>
            <p:nvPr/>
          </p:nvSpPr>
          <p:spPr bwMode="auto">
            <a:xfrm flipH="1">
              <a:off x="3452" y="2846"/>
              <a:ext cx="86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43335" name="Rectangle 263"/>
          <p:cNvSpPr>
            <a:spLocks noChangeArrowheads="1"/>
          </p:cNvSpPr>
          <p:nvPr/>
        </p:nvSpPr>
        <p:spPr bwMode="auto">
          <a:xfrm>
            <a:off x="7935913" y="3911600"/>
            <a:ext cx="296862" cy="7239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643336" name="Rectangle 264"/>
          <p:cNvSpPr>
            <a:spLocks noChangeArrowheads="1"/>
          </p:cNvSpPr>
          <p:nvPr/>
        </p:nvSpPr>
        <p:spPr bwMode="auto">
          <a:xfrm>
            <a:off x="7974013" y="4164013"/>
            <a:ext cx="246062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 b="1">
                <a:solidFill>
                  <a:srgbClr val="000000"/>
                </a:solidFill>
                <a:latin typeface="Arial" charset="0"/>
              </a:rPr>
              <a:t>ALU</a:t>
            </a:r>
            <a:endParaRPr lang="en-US"/>
          </a:p>
        </p:txBody>
      </p:sp>
      <p:sp>
        <p:nvSpPr>
          <p:cNvPr id="643337" name="Rectangle 265"/>
          <p:cNvSpPr>
            <a:spLocks noChangeArrowheads="1"/>
          </p:cNvSpPr>
          <p:nvPr/>
        </p:nvSpPr>
        <p:spPr bwMode="auto">
          <a:xfrm>
            <a:off x="7964488" y="4265613"/>
            <a:ext cx="255587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 b="1">
                <a:solidFill>
                  <a:srgbClr val="000000"/>
                </a:solidFill>
                <a:latin typeface="Arial" charset="0"/>
              </a:rPr>
              <a:t>OUT</a:t>
            </a:r>
            <a:endParaRPr lang="en-US"/>
          </a:p>
        </p:txBody>
      </p:sp>
      <p:sp>
        <p:nvSpPr>
          <p:cNvPr id="643338" name="Line 266"/>
          <p:cNvSpPr>
            <a:spLocks noChangeShapeType="1"/>
          </p:cNvSpPr>
          <p:nvPr/>
        </p:nvSpPr>
        <p:spPr bwMode="auto">
          <a:xfrm flipH="1">
            <a:off x="5054600" y="5329238"/>
            <a:ext cx="76200" cy="76200"/>
          </a:xfrm>
          <a:prstGeom prst="line">
            <a:avLst/>
          </a:prstGeom>
          <a:noFill/>
          <a:ln w="7938">
            <a:solidFill>
              <a:srgbClr val="44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grpSp>
        <p:nvGrpSpPr>
          <p:cNvPr id="643317" name="Group 274"/>
          <p:cNvGrpSpPr>
            <a:grpSpLocks/>
          </p:cNvGrpSpPr>
          <p:nvPr/>
        </p:nvGrpSpPr>
        <p:grpSpPr bwMode="auto">
          <a:xfrm>
            <a:off x="8696325" y="2989263"/>
            <a:ext cx="230188" cy="688975"/>
            <a:chOff x="5478" y="2219"/>
            <a:chExt cx="145" cy="434"/>
          </a:xfrm>
        </p:grpSpPr>
        <p:sp>
          <p:nvSpPr>
            <p:cNvPr id="643339" name="Freeform 267"/>
            <p:cNvSpPr>
              <a:spLocks/>
            </p:cNvSpPr>
            <p:nvPr/>
          </p:nvSpPr>
          <p:spPr bwMode="auto">
            <a:xfrm>
              <a:off x="5478" y="2219"/>
              <a:ext cx="145" cy="43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434"/>
                </a:cxn>
                <a:cxn ang="0">
                  <a:pos x="145" y="337"/>
                </a:cxn>
                <a:cxn ang="0">
                  <a:pos x="145" y="96"/>
                </a:cxn>
                <a:cxn ang="0">
                  <a:pos x="0" y="0"/>
                </a:cxn>
              </a:cxnLst>
              <a:rect l="0" t="0" r="r" b="b"/>
              <a:pathLst>
                <a:path w="145" h="434">
                  <a:moveTo>
                    <a:pt x="0" y="0"/>
                  </a:moveTo>
                  <a:lnTo>
                    <a:pt x="0" y="434"/>
                  </a:lnTo>
                  <a:lnTo>
                    <a:pt x="145" y="337"/>
                  </a:lnTo>
                  <a:lnTo>
                    <a:pt x="145" y="96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54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43340" name="Rectangle 268"/>
            <p:cNvSpPr>
              <a:spLocks noChangeArrowheads="1"/>
            </p:cNvSpPr>
            <p:nvPr/>
          </p:nvSpPr>
          <p:spPr bwMode="auto">
            <a:xfrm>
              <a:off x="5489" y="2519"/>
              <a:ext cx="96" cy="1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900" b="1">
                  <a:solidFill>
                    <a:srgbClr val="0033FF"/>
                  </a:solidFill>
                  <a:latin typeface="Courier New" pitchFamily="49" charset="0"/>
                </a:rPr>
                <a:t>0</a:t>
              </a:r>
              <a:endParaRPr lang="en-US"/>
            </a:p>
          </p:txBody>
        </p:sp>
        <p:sp>
          <p:nvSpPr>
            <p:cNvPr id="643341" name="Rectangle 269"/>
            <p:cNvSpPr>
              <a:spLocks noChangeArrowheads="1"/>
            </p:cNvSpPr>
            <p:nvPr/>
          </p:nvSpPr>
          <p:spPr bwMode="auto">
            <a:xfrm>
              <a:off x="5489" y="2390"/>
              <a:ext cx="96" cy="1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900" b="1">
                  <a:solidFill>
                    <a:srgbClr val="0033FF"/>
                  </a:solidFill>
                  <a:latin typeface="Courier New" pitchFamily="49" charset="0"/>
                </a:rPr>
                <a:t>1</a:t>
              </a:r>
              <a:endParaRPr lang="en-US"/>
            </a:p>
          </p:txBody>
        </p:sp>
        <p:sp>
          <p:nvSpPr>
            <p:cNvPr id="643342" name="Rectangle 270"/>
            <p:cNvSpPr>
              <a:spLocks noChangeArrowheads="1"/>
            </p:cNvSpPr>
            <p:nvPr/>
          </p:nvSpPr>
          <p:spPr bwMode="auto">
            <a:xfrm>
              <a:off x="5489" y="2273"/>
              <a:ext cx="96" cy="1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900" b="1">
                  <a:solidFill>
                    <a:srgbClr val="0033FF"/>
                  </a:solidFill>
                  <a:latin typeface="Courier New" pitchFamily="49" charset="0"/>
                </a:rPr>
                <a:t>2</a:t>
              </a:r>
              <a:endParaRPr lang="en-US"/>
            </a:p>
          </p:txBody>
        </p:sp>
        <p:sp>
          <p:nvSpPr>
            <p:cNvPr id="643343" name="Rectangle 271"/>
            <p:cNvSpPr>
              <a:spLocks noChangeArrowheads="1"/>
            </p:cNvSpPr>
            <p:nvPr/>
          </p:nvSpPr>
          <p:spPr bwMode="auto">
            <a:xfrm>
              <a:off x="5548" y="2342"/>
              <a:ext cx="75" cy="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1">
                  <a:solidFill>
                    <a:srgbClr val="000000"/>
                  </a:solidFill>
                  <a:latin typeface="Arial" charset="0"/>
                </a:rPr>
                <a:t>M</a:t>
              </a:r>
              <a:endParaRPr lang="en-US"/>
            </a:p>
          </p:txBody>
        </p:sp>
        <p:sp>
          <p:nvSpPr>
            <p:cNvPr id="643344" name="Rectangle 272"/>
            <p:cNvSpPr>
              <a:spLocks noChangeArrowheads="1"/>
            </p:cNvSpPr>
            <p:nvPr/>
          </p:nvSpPr>
          <p:spPr bwMode="auto">
            <a:xfrm>
              <a:off x="5548" y="2406"/>
              <a:ext cx="64" cy="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1">
                  <a:solidFill>
                    <a:srgbClr val="000000"/>
                  </a:solidFill>
                  <a:latin typeface="Arial" charset="0"/>
                </a:rPr>
                <a:t>U</a:t>
              </a:r>
              <a:endParaRPr lang="en-US"/>
            </a:p>
          </p:txBody>
        </p:sp>
        <p:sp>
          <p:nvSpPr>
            <p:cNvPr id="643345" name="Rectangle 273"/>
            <p:cNvSpPr>
              <a:spLocks noChangeArrowheads="1"/>
            </p:cNvSpPr>
            <p:nvPr/>
          </p:nvSpPr>
          <p:spPr bwMode="auto">
            <a:xfrm>
              <a:off x="5553" y="2470"/>
              <a:ext cx="64" cy="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1">
                  <a:solidFill>
                    <a:srgbClr val="000000"/>
                  </a:solidFill>
                  <a:latin typeface="Arial" charset="0"/>
                </a:rPr>
                <a:t>X</a:t>
              </a:r>
              <a:endParaRPr lang="en-US"/>
            </a:p>
          </p:txBody>
        </p:sp>
      </p:grpSp>
      <p:grpSp>
        <p:nvGrpSpPr>
          <p:cNvPr id="643324" name="Group 277"/>
          <p:cNvGrpSpPr>
            <a:grpSpLocks/>
          </p:cNvGrpSpPr>
          <p:nvPr/>
        </p:nvGrpSpPr>
        <p:grpSpPr bwMode="auto">
          <a:xfrm>
            <a:off x="8237538" y="3090863"/>
            <a:ext cx="468312" cy="101600"/>
            <a:chOff x="5189" y="2283"/>
            <a:chExt cx="295" cy="64"/>
          </a:xfrm>
        </p:grpSpPr>
        <p:sp>
          <p:nvSpPr>
            <p:cNvPr id="643347" name="Freeform 275"/>
            <p:cNvSpPr>
              <a:spLocks/>
            </p:cNvSpPr>
            <p:nvPr/>
          </p:nvSpPr>
          <p:spPr bwMode="auto">
            <a:xfrm>
              <a:off x="5409" y="2283"/>
              <a:ext cx="75" cy="64"/>
            </a:xfrm>
            <a:custGeom>
              <a:avLst/>
              <a:gdLst/>
              <a:ahLst/>
              <a:cxnLst>
                <a:cxn ang="0">
                  <a:pos x="75" y="32"/>
                </a:cxn>
                <a:cxn ang="0">
                  <a:pos x="0" y="64"/>
                </a:cxn>
                <a:cxn ang="0">
                  <a:pos x="0" y="0"/>
                </a:cxn>
                <a:cxn ang="0">
                  <a:pos x="75" y="32"/>
                </a:cxn>
              </a:cxnLst>
              <a:rect l="0" t="0" r="r" b="b"/>
              <a:pathLst>
                <a:path w="75" h="64">
                  <a:moveTo>
                    <a:pt x="75" y="32"/>
                  </a:moveTo>
                  <a:lnTo>
                    <a:pt x="0" y="64"/>
                  </a:lnTo>
                  <a:lnTo>
                    <a:pt x="0" y="0"/>
                  </a:lnTo>
                  <a:lnTo>
                    <a:pt x="75" y="3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43348" name="Line 276"/>
            <p:cNvSpPr>
              <a:spLocks noChangeShapeType="1"/>
            </p:cNvSpPr>
            <p:nvPr/>
          </p:nvSpPr>
          <p:spPr bwMode="auto">
            <a:xfrm flipH="1">
              <a:off x="5189" y="2315"/>
              <a:ext cx="257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43331" name="Group 280"/>
          <p:cNvGrpSpPr>
            <a:grpSpLocks/>
          </p:cNvGrpSpPr>
          <p:nvPr/>
        </p:nvGrpSpPr>
        <p:grpSpPr bwMode="auto">
          <a:xfrm>
            <a:off x="7700963" y="3473450"/>
            <a:ext cx="1004887" cy="103188"/>
            <a:chOff x="4851" y="2524"/>
            <a:chExt cx="633" cy="65"/>
          </a:xfrm>
        </p:grpSpPr>
        <p:sp>
          <p:nvSpPr>
            <p:cNvPr id="643350" name="Freeform 278"/>
            <p:cNvSpPr>
              <a:spLocks/>
            </p:cNvSpPr>
            <p:nvPr/>
          </p:nvSpPr>
          <p:spPr bwMode="auto">
            <a:xfrm>
              <a:off x="5409" y="2524"/>
              <a:ext cx="75" cy="65"/>
            </a:xfrm>
            <a:custGeom>
              <a:avLst/>
              <a:gdLst/>
              <a:ahLst/>
              <a:cxnLst>
                <a:cxn ang="0">
                  <a:pos x="75" y="32"/>
                </a:cxn>
                <a:cxn ang="0">
                  <a:pos x="0" y="65"/>
                </a:cxn>
                <a:cxn ang="0">
                  <a:pos x="0" y="0"/>
                </a:cxn>
                <a:cxn ang="0">
                  <a:pos x="75" y="32"/>
                </a:cxn>
              </a:cxnLst>
              <a:rect l="0" t="0" r="r" b="b"/>
              <a:pathLst>
                <a:path w="75" h="65">
                  <a:moveTo>
                    <a:pt x="75" y="32"/>
                  </a:moveTo>
                  <a:lnTo>
                    <a:pt x="0" y="65"/>
                  </a:lnTo>
                  <a:lnTo>
                    <a:pt x="0" y="0"/>
                  </a:lnTo>
                  <a:lnTo>
                    <a:pt x="75" y="3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43351" name="Line 279"/>
            <p:cNvSpPr>
              <a:spLocks noChangeShapeType="1"/>
            </p:cNvSpPr>
            <p:nvPr/>
          </p:nvSpPr>
          <p:spPr bwMode="auto">
            <a:xfrm flipH="1">
              <a:off x="4851" y="2556"/>
              <a:ext cx="595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43353" name="AutoShape 281"/>
          <p:cNvSpPr>
            <a:spLocks noChangeArrowheads="1"/>
          </p:cNvSpPr>
          <p:nvPr/>
        </p:nvSpPr>
        <p:spPr bwMode="auto">
          <a:xfrm>
            <a:off x="6284913" y="2736850"/>
            <a:ext cx="374650" cy="298450"/>
          </a:xfrm>
          <a:prstGeom prst="roundRect">
            <a:avLst>
              <a:gd name="adj" fmla="val 47370"/>
            </a:avLst>
          </a:prstGeom>
          <a:noFill/>
          <a:ln w="254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643354" name="Rectangle 282"/>
          <p:cNvSpPr>
            <a:spLocks noChangeArrowheads="1"/>
          </p:cNvSpPr>
          <p:nvPr/>
        </p:nvSpPr>
        <p:spPr bwMode="auto">
          <a:xfrm>
            <a:off x="6330950" y="2792413"/>
            <a:ext cx="374650" cy="220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200" b="1">
                <a:solidFill>
                  <a:srgbClr val="000000"/>
                </a:solidFill>
                <a:latin typeface="Courier New" pitchFamily="49" charset="0"/>
              </a:rPr>
              <a:t>&lt;&lt;2</a:t>
            </a:r>
            <a:endParaRPr lang="en-US"/>
          </a:p>
        </p:txBody>
      </p:sp>
      <p:sp>
        <p:nvSpPr>
          <p:cNvPr id="643355" name="AutoShape 283"/>
          <p:cNvSpPr>
            <a:spLocks noChangeArrowheads="1"/>
          </p:cNvSpPr>
          <p:nvPr/>
        </p:nvSpPr>
        <p:spPr bwMode="auto">
          <a:xfrm>
            <a:off x="7204075" y="2736850"/>
            <a:ext cx="646113" cy="298450"/>
          </a:xfrm>
          <a:prstGeom prst="roundRect">
            <a:avLst>
              <a:gd name="adj" fmla="val 47370"/>
            </a:avLst>
          </a:prstGeom>
          <a:noFill/>
          <a:ln w="254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643356" name="Rectangle 284"/>
          <p:cNvSpPr>
            <a:spLocks noChangeArrowheads="1"/>
          </p:cNvSpPr>
          <p:nvPr/>
        </p:nvSpPr>
        <p:spPr bwMode="auto">
          <a:xfrm>
            <a:off x="7300913" y="2801938"/>
            <a:ext cx="536575" cy="187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900" b="1">
                <a:solidFill>
                  <a:srgbClr val="000000"/>
                </a:solidFill>
                <a:latin typeface="Courier New" pitchFamily="49" charset="0"/>
              </a:rPr>
              <a:t>CONCAT</a:t>
            </a:r>
            <a:endParaRPr lang="en-US"/>
          </a:p>
        </p:txBody>
      </p:sp>
      <p:grpSp>
        <p:nvGrpSpPr>
          <p:cNvPr id="643334" name="Group 287"/>
          <p:cNvGrpSpPr>
            <a:grpSpLocks/>
          </p:cNvGrpSpPr>
          <p:nvPr/>
        </p:nvGrpSpPr>
        <p:grpSpPr bwMode="auto">
          <a:xfrm>
            <a:off x="6662738" y="2835275"/>
            <a:ext cx="544512" cy="101600"/>
            <a:chOff x="4197" y="2122"/>
            <a:chExt cx="343" cy="64"/>
          </a:xfrm>
        </p:grpSpPr>
        <p:sp>
          <p:nvSpPr>
            <p:cNvPr id="643357" name="Freeform 285"/>
            <p:cNvSpPr>
              <a:spLocks/>
            </p:cNvSpPr>
            <p:nvPr/>
          </p:nvSpPr>
          <p:spPr bwMode="auto">
            <a:xfrm>
              <a:off x="4465" y="2122"/>
              <a:ext cx="75" cy="64"/>
            </a:xfrm>
            <a:custGeom>
              <a:avLst/>
              <a:gdLst/>
              <a:ahLst/>
              <a:cxnLst>
                <a:cxn ang="0">
                  <a:pos x="75" y="32"/>
                </a:cxn>
                <a:cxn ang="0">
                  <a:pos x="0" y="64"/>
                </a:cxn>
                <a:cxn ang="0">
                  <a:pos x="0" y="0"/>
                </a:cxn>
                <a:cxn ang="0">
                  <a:pos x="75" y="32"/>
                </a:cxn>
              </a:cxnLst>
              <a:rect l="0" t="0" r="r" b="b"/>
              <a:pathLst>
                <a:path w="75" h="64">
                  <a:moveTo>
                    <a:pt x="75" y="32"/>
                  </a:moveTo>
                  <a:lnTo>
                    <a:pt x="0" y="64"/>
                  </a:lnTo>
                  <a:lnTo>
                    <a:pt x="0" y="0"/>
                  </a:lnTo>
                  <a:lnTo>
                    <a:pt x="75" y="3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43358" name="Line 286"/>
            <p:cNvSpPr>
              <a:spLocks noChangeShapeType="1"/>
            </p:cNvSpPr>
            <p:nvPr/>
          </p:nvSpPr>
          <p:spPr bwMode="auto">
            <a:xfrm flipH="1">
              <a:off x="4197" y="2154"/>
              <a:ext cx="306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43360" name="Line 288"/>
          <p:cNvSpPr>
            <a:spLocks noChangeShapeType="1"/>
          </p:cNvSpPr>
          <p:nvPr/>
        </p:nvSpPr>
        <p:spPr bwMode="auto">
          <a:xfrm flipH="1">
            <a:off x="6781800" y="2844800"/>
            <a:ext cx="76200" cy="76200"/>
          </a:xfrm>
          <a:prstGeom prst="line">
            <a:avLst/>
          </a:prstGeom>
          <a:noFill/>
          <a:ln w="7938">
            <a:solidFill>
              <a:srgbClr val="44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643361" name="Rectangle 289"/>
          <p:cNvSpPr>
            <a:spLocks noChangeArrowheads="1"/>
          </p:cNvSpPr>
          <p:nvPr/>
        </p:nvSpPr>
        <p:spPr bwMode="auto">
          <a:xfrm>
            <a:off x="6781800" y="2665413"/>
            <a:ext cx="161925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charset="0"/>
              </a:rPr>
              <a:t>28</a:t>
            </a:r>
            <a:endParaRPr lang="en-US"/>
          </a:p>
        </p:txBody>
      </p:sp>
      <p:sp>
        <p:nvSpPr>
          <p:cNvPr id="643362" name="Line 290"/>
          <p:cNvSpPr>
            <a:spLocks noChangeShapeType="1"/>
          </p:cNvSpPr>
          <p:nvPr/>
        </p:nvSpPr>
        <p:spPr bwMode="auto">
          <a:xfrm flipH="1">
            <a:off x="8042275" y="2844800"/>
            <a:ext cx="76200" cy="76200"/>
          </a:xfrm>
          <a:prstGeom prst="line">
            <a:avLst/>
          </a:prstGeom>
          <a:noFill/>
          <a:ln w="7938">
            <a:solidFill>
              <a:srgbClr val="44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643363" name="Rectangle 291"/>
          <p:cNvSpPr>
            <a:spLocks noChangeArrowheads="1"/>
          </p:cNvSpPr>
          <p:nvPr/>
        </p:nvSpPr>
        <p:spPr bwMode="auto">
          <a:xfrm>
            <a:off x="8042275" y="2665413"/>
            <a:ext cx="161925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charset="0"/>
              </a:rPr>
              <a:t>32</a:t>
            </a:r>
            <a:endParaRPr lang="en-US"/>
          </a:p>
        </p:txBody>
      </p:sp>
      <p:grpSp>
        <p:nvGrpSpPr>
          <p:cNvPr id="643346" name="Group 294"/>
          <p:cNvGrpSpPr>
            <a:grpSpLocks/>
          </p:cNvGrpSpPr>
          <p:nvPr/>
        </p:nvGrpSpPr>
        <p:grpSpPr bwMode="auto">
          <a:xfrm>
            <a:off x="688975" y="3898900"/>
            <a:ext cx="204788" cy="103188"/>
            <a:chOff x="434" y="2792"/>
            <a:chExt cx="129" cy="65"/>
          </a:xfrm>
        </p:grpSpPr>
        <p:sp>
          <p:nvSpPr>
            <p:cNvPr id="643364" name="Freeform 292"/>
            <p:cNvSpPr>
              <a:spLocks/>
            </p:cNvSpPr>
            <p:nvPr/>
          </p:nvSpPr>
          <p:spPr bwMode="auto">
            <a:xfrm>
              <a:off x="488" y="2792"/>
              <a:ext cx="75" cy="65"/>
            </a:xfrm>
            <a:custGeom>
              <a:avLst/>
              <a:gdLst/>
              <a:ahLst/>
              <a:cxnLst>
                <a:cxn ang="0">
                  <a:pos x="75" y="32"/>
                </a:cxn>
                <a:cxn ang="0">
                  <a:pos x="0" y="65"/>
                </a:cxn>
                <a:cxn ang="0">
                  <a:pos x="0" y="0"/>
                </a:cxn>
                <a:cxn ang="0">
                  <a:pos x="75" y="32"/>
                </a:cxn>
              </a:cxnLst>
              <a:rect l="0" t="0" r="r" b="b"/>
              <a:pathLst>
                <a:path w="75" h="65">
                  <a:moveTo>
                    <a:pt x="75" y="32"/>
                  </a:moveTo>
                  <a:lnTo>
                    <a:pt x="0" y="65"/>
                  </a:lnTo>
                  <a:lnTo>
                    <a:pt x="0" y="0"/>
                  </a:lnTo>
                  <a:lnTo>
                    <a:pt x="75" y="3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43365" name="Line 293"/>
            <p:cNvSpPr>
              <a:spLocks noChangeShapeType="1"/>
            </p:cNvSpPr>
            <p:nvPr/>
          </p:nvSpPr>
          <p:spPr bwMode="auto">
            <a:xfrm flipH="1">
              <a:off x="434" y="2824"/>
              <a:ext cx="91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43349" name="Group 301"/>
          <p:cNvGrpSpPr>
            <a:grpSpLocks/>
          </p:cNvGrpSpPr>
          <p:nvPr/>
        </p:nvGrpSpPr>
        <p:grpSpPr bwMode="auto">
          <a:xfrm>
            <a:off x="884238" y="3567113"/>
            <a:ext cx="230187" cy="536575"/>
            <a:chOff x="557" y="2583"/>
            <a:chExt cx="145" cy="338"/>
          </a:xfrm>
        </p:grpSpPr>
        <p:sp>
          <p:nvSpPr>
            <p:cNvPr id="643367" name="Rectangle 295"/>
            <p:cNvSpPr>
              <a:spLocks noChangeArrowheads="1"/>
            </p:cNvSpPr>
            <p:nvPr/>
          </p:nvSpPr>
          <p:spPr bwMode="auto">
            <a:xfrm>
              <a:off x="627" y="2658"/>
              <a:ext cx="75" cy="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1">
                  <a:solidFill>
                    <a:srgbClr val="000000"/>
                  </a:solidFill>
                  <a:latin typeface="Arial" charset="0"/>
                </a:rPr>
                <a:t>M</a:t>
              </a:r>
              <a:endParaRPr lang="en-US"/>
            </a:p>
          </p:txBody>
        </p:sp>
        <p:sp>
          <p:nvSpPr>
            <p:cNvPr id="643368" name="Rectangle 296"/>
            <p:cNvSpPr>
              <a:spLocks noChangeArrowheads="1"/>
            </p:cNvSpPr>
            <p:nvPr/>
          </p:nvSpPr>
          <p:spPr bwMode="auto">
            <a:xfrm>
              <a:off x="627" y="2722"/>
              <a:ext cx="64" cy="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1">
                  <a:solidFill>
                    <a:srgbClr val="000000"/>
                  </a:solidFill>
                  <a:latin typeface="Arial" charset="0"/>
                </a:rPr>
                <a:t>U</a:t>
              </a:r>
              <a:endParaRPr lang="en-US"/>
            </a:p>
          </p:txBody>
        </p:sp>
        <p:sp>
          <p:nvSpPr>
            <p:cNvPr id="643369" name="Rectangle 297"/>
            <p:cNvSpPr>
              <a:spLocks noChangeArrowheads="1"/>
            </p:cNvSpPr>
            <p:nvPr/>
          </p:nvSpPr>
          <p:spPr bwMode="auto">
            <a:xfrm>
              <a:off x="633" y="2786"/>
              <a:ext cx="64" cy="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1">
                  <a:solidFill>
                    <a:srgbClr val="000000"/>
                  </a:solidFill>
                  <a:latin typeface="Arial" charset="0"/>
                </a:rPr>
                <a:t>X</a:t>
              </a:r>
              <a:endParaRPr lang="en-US"/>
            </a:p>
          </p:txBody>
        </p:sp>
        <p:sp>
          <p:nvSpPr>
            <p:cNvPr id="643370" name="Freeform 298"/>
            <p:cNvSpPr>
              <a:spLocks/>
            </p:cNvSpPr>
            <p:nvPr/>
          </p:nvSpPr>
          <p:spPr bwMode="auto">
            <a:xfrm>
              <a:off x="557" y="2583"/>
              <a:ext cx="145" cy="3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338"/>
                </a:cxn>
                <a:cxn ang="0">
                  <a:pos x="145" y="268"/>
                </a:cxn>
                <a:cxn ang="0">
                  <a:pos x="145" y="75"/>
                </a:cxn>
                <a:cxn ang="0">
                  <a:pos x="0" y="0"/>
                </a:cxn>
              </a:cxnLst>
              <a:rect l="0" t="0" r="r" b="b"/>
              <a:pathLst>
                <a:path w="145" h="338">
                  <a:moveTo>
                    <a:pt x="0" y="0"/>
                  </a:moveTo>
                  <a:lnTo>
                    <a:pt x="0" y="338"/>
                  </a:lnTo>
                  <a:lnTo>
                    <a:pt x="145" y="268"/>
                  </a:lnTo>
                  <a:lnTo>
                    <a:pt x="145" y="75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54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43371" name="Rectangle 299"/>
            <p:cNvSpPr>
              <a:spLocks noChangeArrowheads="1"/>
            </p:cNvSpPr>
            <p:nvPr/>
          </p:nvSpPr>
          <p:spPr bwMode="auto">
            <a:xfrm>
              <a:off x="568" y="2637"/>
              <a:ext cx="96" cy="1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900" b="1">
                  <a:solidFill>
                    <a:srgbClr val="0033FF"/>
                  </a:solidFill>
                  <a:latin typeface="Courier New" pitchFamily="49" charset="0"/>
                </a:rPr>
                <a:t>0</a:t>
              </a:r>
              <a:endParaRPr lang="en-US"/>
            </a:p>
          </p:txBody>
        </p:sp>
        <p:sp>
          <p:nvSpPr>
            <p:cNvPr id="643372" name="Rectangle 300"/>
            <p:cNvSpPr>
              <a:spLocks noChangeArrowheads="1"/>
            </p:cNvSpPr>
            <p:nvPr/>
          </p:nvSpPr>
          <p:spPr bwMode="auto">
            <a:xfrm>
              <a:off x="568" y="2771"/>
              <a:ext cx="96" cy="1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900" b="1">
                  <a:solidFill>
                    <a:srgbClr val="0033FF"/>
                  </a:solidFill>
                  <a:latin typeface="Courier New" pitchFamily="49" charset="0"/>
                </a:rPr>
                <a:t>1</a:t>
              </a:r>
              <a:endParaRPr lang="en-US"/>
            </a:p>
          </p:txBody>
        </p:sp>
      </p:grpSp>
      <p:grpSp>
        <p:nvGrpSpPr>
          <p:cNvPr id="643352" name="Group 304"/>
          <p:cNvGrpSpPr>
            <a:grpSpLocks/>
          </p:cNvGrpSpPr>
          <p:nvPr/>
        </p:nvGrpSpPr>
        <p:grpSpPr bwMode="auto">
          <a:xfrm>
            <a:off x="6586538" y="3448050"/>
            <a:ext cx="85725" cy="230188"/>
            <a:chOff x="4149" y="2508"/>
            <a:chExt cx="54" cy="145"/>
          </a:xfrm>
        </p:grpSpPr>
        <p:sp>
          <p:nvSpPr>
            <p:cNvPr id="643374" name="Freeform 302"/>
            <p:cNvSpPr>
              <a:spLocks/>
            </p:cNvSpPr>
            <p:nvPr/>
          </p:nvSpPr>
          <p:spPr bwMode="auto">
            <a:xfrm>
              <a:off x="4149" y="2589"/>
              <a:ext cx="54" cy="64"/>
            </a:xfrm>
            <a:custGeom>
              <a:avLst/>
              <a:gdLst/>
              <a:ahLst/>
              <a:cxnLst>
                <a:cxn ang="0">
                  <a:pos x="27" y="64"/>
                </a:cxn>
                <a:cxn ang="0">
                  <a:pos x="0" y="0"/>
                </a:cxn>
                <a:cxn ang="0">
                  <a:pos x="54" y="0"/>
                </a:cxn>
                <a:cxn ang="0">
                  <a:pos x="27" y="64"/>
                </a:cxn>
              </a:cxnLst>
              <a:rect l="0" t="0" r="r" b="b"/>
              <a:pathLst>
                <a:path w="54" h="64">
                  <a:moveTo>
                    <a:pt x="27" y="64"/>
                  </a:moveTo>
                  <a:lnTo>
                    <a:pt x="0" y="0"/>
                  </a:lnTo>
                  <a:lnTo>
                    <a:pt x="54" y="0"/>
                  </a:lnTo>
                  <a:lnTo>
                    <a:pt x="27" y="64"/>
                  </a:lnTo>
                  <a:close/>
                </a:path>
              </a:pathLst>
            </a:custGeom>
            <a:solidFill>
              <a:srgbClr val="0033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43375" name="Line 303"/>
            <p:cNvSpPr>
              <a:spLocks noChangeShapeType="1"/>
            </p:cNvSpPr>
            <p:nvPr/>
          </p:nvSpPr>
          <p:spPr bwMode="auto">
            <a:xfrm>
              <a:off x="4176" y="2508"/>
              <a:ext cx="1" cy="123"/>
            </a:xfrm>
            <a:prstGeom prst="line">
              <a:avLst/>
            </a:prstGeom>
            <a:noFill/>
            <a:ln w="17463">
              <a:solidFill>
                <a:srgbClr val="0033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43377" name="Rectangle 305"/>
          <p:cNvSpPr>
            <a:spLocks noChangeArrowheads="1"/>
          </p:cNvSpPr>
          <p:nvPr/>
        </p:nvSpPr>
        <p:spPr bwMode="auto">
          <a:xfrm>
            <a:off x="6348413" y="3319463"/>
            <a:ext cx="501650" cy="13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900" b="1">
                <a:solidFill>
                  <a:srgbClr val="0033FF"/>
                </a:solidFill>
                <a:latin typeface="Arial" charset="0"/>
              </a:rPr>
              <a:t>ALUSrcA</a:t>
            </a:r>
            <a:endParaRPr lang="en-US"/>
          </a:p>
        </p:txBody>
      </p:sp>
      <p:sp>
        <p:nvSpPr>
          <p:cNvPr id="643378" name="Line 306"/>
          <p:cNvSpPr>
            <a:spLocks noChangeShapeType="1"/>
          </p:cNvSpPr>
          <p:nvPr/>
        </p:nvSpPr>
        <p:spPr bwMode="auto">
          <a:xfrm flipH="1">
            <a:off x="76200" y="2146300"/>
            <a:ext cx="9004300" cy="1588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643379" name="Line 307"/>
          <p:cNvSpPr>
            <a:spLocks noChangeShapeType="1"/>
          </p:cNvSpPr>
          <p:nvPr/>
        </p:nvSpPr>
        <p:spPr bwMode="auto">
          <a:xfrm>
            <a:off x="9080500" y="2146300"/>
            <a:ext cx="1588" cy="119062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643380" name="Rectangle 308"/>
          <p:cNvSpPr>
            <a:spLocks noChangeArrowheads="1"/>
          </p:cNvSpPr>
          <p:nvPr/>
        </p:nvSpPr>
        <p:spPr bwMode="auto">
          <a:xfrm>
            <a:off x="5641975" y="2700338"/>
            <a:ext cx="477838" cy="13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900" b="1">
                <a:solidFill>
                  <a:srgbClr val="DD0000"/>
                </a:solidFill>
                <a:latin typeface="Courier New" pitchFamily="49" charset="0"/>
              </a:rPr>
              <a:t>jmpaddr</a:t>
            </a:r>
            <a:endParaRPr lang="en-US"/>
          </a:p>
        </p:txBody>
      </p:sp>
      <p:sp>
        <p:nvSpPr>
          <p:cNvPr id="643381" name="Rectangle 309"/>
          <p:cNvSpPr>
            <a:spLocks noChangeArrowheads="1"/>
          </p:cNvSpPr>
          <p:nvPr/>
        </p:nvSpPr>
        <p:spPr bwMode="auto">
          <a:xfrm>
            <a:off x="5641975" y="2844800"/>
            <a:ext cx="476250" cy="169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 b="1">
                <a:solidFill>
                  <a:srgbClr val="DD0000"/>
                </a:solidFill>
                <a:latin typeface="Courier New" pitchFamily="49" charset="0"/>
              </a:rPr>
              <a:t>I[25:0]</a:t>
            </a:r>
            <a:endParaRPr lang="en-US"/>
          </a:p>
        </p:txBody>
      </p:sp>
      <p:sp>
        <p:nvSpPr>
          <p:cNvPr id="643382" name="Line 310"/>
          <p:cNvSpPr>
            <a:spLocks noChangeShapeType="1"/>
          </p:cNvSpPr>
          <p:nvPr/>
        </p:nvSpPr>
        <p:spPr bwMode="auto">
          <a:xfrm>
            <a:off x="3370263" y="4214813"/>
            <a:ext cx="1587" cy="1760537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643383" name="Line 311"/>
          <p:cNvSpPr>
            <a:spLocks noChangeShapeType="1"/>
          </p:cNvSpPr>
          <p:nvPr/>
        </p:nvSpPr>
        <p:spPr bwMode="auto">
          <a:xfrm flipH="1">
            <a:off x="1149350" y="5822950"/>
            <a:ext cx="4900613" cy="1588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643384" name="Line 312"/>
          <p:cNvSpPr>
            <a:spLocks noChangeShapeType="1"/>
          </p:cNvSpPr>
          <p:nvPr/>
        </p:nvSpPr>
        <p:spPr bwMode="auto">
          <a:xfrm>
            <a:off x="6049963" y="4410075"/>
            <a:ext cx="1587" cy="141287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643385" name="Line 313"/>
          <p:cNvSpPr>
            <a:spLocks noChangeShapeType="1"/>
          </p:cNvSpPr>
          <p:nvPr/>
        </p:nvSpPr>
        <p:spPr bwMode="auto">
          <a:xfrm>
            <a:off x="688975" y="3949700"/>
            <a:ext cx="1588" cy="202565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grpSp>
        <p:nvGrpSpPr>
          <p:cNvPr id="643359" name="Group 316"/>
          <p:cNvGrpSpPr>
            <a:grpSpLocks/>
          </p:cNvGrpSpPr>
          <p:nvPr/>
        </p:nvGrpSpPr>
        <p:grpSpPr bwMode="auto">
          <a:xfrm>
            <a:off x="1149350" y="4359275"/>
            <a:ext cx="203200" cy="101600"/>
            <a:chOff x="724" y="3082"/>
            <a:chExt cx="128" cy="64"/>
          </a:xfrm>
        </p:grpSpPr>
        <p:sp>
          <p:nvSpPr>
            <p:cNvPr id="643386" name="Freeform 314"/>
            <p:cNvSpPr>
              <a:spLocks/>
            </p:cNvSpPr>
            <p:nvPr/>
          </p:nvSpPr>
          <p:spPr bwMode="auto">
            <a:xfrm>
              <a:off x="777" y="3082"/>
              <a:ext cx="75" cy="64"/>
            </a:xfrm>
            <a:custGeom>
              <a:avLst/>
              <a:gdLst/>
              <a:ahLst/>
              <a:cxnLst>
                <a:cxn ang="0">
                  <a:pos x="75" y="32"/>
                </a:cxn>
                <a:cxn ang="0">
                  <a:pos x="0" y="64"/>
                </a:cxn>
                <a:cxn ang="0">
                  <a:pos x="0" y="0"/>
                </a:cxn>
                <a:cxn ang="0">
                  <a:pos x="75" y="32"/>
                </a:cxn>
              </a:cxnLst>
              <a:rect l="0" t="0" r="r" b="b"/>
              <a:pathLst>
                <a:path w="75" h="64">
                  <a:moveTo>
                    <a:pt x="75" y="32"/>
                  </a:moveTo>
                  <a:lnTo>
                    <a:pt x="0" y="64"/>
                  </a:lnTo>
                  <a:lnTo>
                    <a:pt x="0" y="0"/>
                  </a:lnTo>
                  <a:lnTo>
                    <a:pt x="75" y="3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43387" name="Line 315"/>
            <p:cNvSpPr>
              <a:spLocks noChangeShapeType="1"/>
            </p:cNvSpPr>
            <p:nvPr/>
          </p:nvSpPr>
          <p:spPr bwMode="auto">
            <a:xfrm flipH="1">
              <a:off x="724" y="3114"/>
              <a:ext cx="91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43389" name="Line 317"/>
          <p:cNvSpPr>
            <a:spLocks noChangeShapeType="1"/>
          </p:cNvSpPr>
          <p:nvPr/>
        </p:nvSpPr>
        <p:spPr bwMode="auto">
          <a:xfrm>
            <a:off x="1149350" y="4410075"/>
            <a:ext cx="1588" cy="141287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643390" name="Rectangle 318"/>
          <p:cNvSpPr>
            <a:spLocks noChangeArrowheads="1"/>
          </p:cNvSpPr>
          <p:nvPr/>
        </p:nvSpPr>
        <p:spPr bwMode="auto">
          <a:xfrm>
            <a:off x="5386388" y="2938463"/>
            <a:ext cx="230187" cy="187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900" b="1">
                <a:solidFill>
                  <a:srgbClr val="DD0000"/>
                </a:solidFill>
                <a:latin typeface="Courier New" pitchFamily="49" charset="0"/>
              </a:rPr>
              <a:t>rd</a:t>
            </a:r>
            <a:endParaRPr lang="en-US"/>
          </a:p>
        </p:txBody>
      </p:sp>
      <p:grpSp>
        <p:nvGrpSpPr>
          <p:cNvPr id="643366" name="Group 323"/>
          <p:cNvGrpSpPr>
            <a:grpSpLocks/>
          </p:cNvGrpSpPr>
          <p:nvPr/>
        </p:nvGrpSpPr>
        <p:grpSpPr bwMode="auto">
          <a:xfrm>
            <a:off x="4902200" y="3098800"/>
            <a:ext cx="552450" cy="230188"/>
            <a:chOff x="3088" y="2288"/>
            <a:chExt cx="348" cy="145"/>
          </a:xfrm>
        </p:grpSpPr>
        <p:sp>
          <p:nvSpPr>
            <p:cNvPr id="643391" name="Rectangle 319"/>
            <p:cNvSpPr>
              <a:spLocks noChangeArrowheads="1"/>
            </p:cNvSpPr>
            <p:nvPr/>
          </p:nvSpPr>
          <p:spPr bwMode="auto">
            <a:xfrm>
              <a:off x="3189" y="2352"/>
              <a:ext cx="150" cy="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1">
                  <a:solidFill>
                    <a:srgbClr val="000000"/>
                  </a:solidFill>
                  <a:latin typeface="Arial" charset="0"/>
                </a:rPr>
                <a:t>MUX</a:t>
              </a:r>
              <a:endParaRPr lang="en-US"/>
            </a:p>
          </p:txBody>
        </p:sp>
        <p:sp>
          <p:nvSpPr>
            <p:cNvPr id="643392" name="Freeform 320"/>
            <p:cNvSpPr>
              <a:spLocks/>
            </p:cNvSpPr>
            <p:nvPr/>
          </p:nvSpPr>
          <p:spPr bwMode="auto">
            <a:xfrm>
              <a:off x="3088" y="2288"/>
              <a:ext cx="337" cy="145"/>
            </a:xfrm>
            <a:custGeom>
              <a:avLst/>
              <a:gdLst/>
              <a:ahLst/>
              <a:cxnLst>
                <a:cxn ang="0">
                  <a:pos x="337" y="0"/>
                </a:cxn>
                <a:cxn ang="0">
                  <a:pos x="0" y="0"/>
                </a:cxn>
                <a:cxn ang="0">
                  <a:pos x="75" y="145"/>
                </a:cxn>
                <a:cxn ang="0">
                  <a:pos x="268" y="145"/>
                </a:cxn>
                <a:cxn ang="0">
                  <a:pos x="337" y="0"/>
                </a:cxn>
              </a:cxnLst>
              <a:rect l="0" t="0" r="r" b="b"/>
              <a:pathLst>
                <a:path w="337" h="145">
                  <a:moveTo>
                    <a:pt x="337" y="0"/>
                  </a:moveTo>
                  <a:lnTo>
                    <a:pt x="0" y="0"/>
                  </a:lnTo>
                  <a:lnTo>
                    <a:pt x="75" y="145"/>
                  </a:lnTo>
                  <a:lnTo>
                    <a:pt x="268" y="145"/>
                  </a:lnTo>
                  <a:lnTo>
                    <a:pt x="337" y="0"/>
                  </a:lnTo>
                  <a:close/>
                </a:path>
              </a:pathLst>
            </a:custGeom>
            <a:noFill/>
            <a:ln w="254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43393" name="Rectangle 321"/>
            <p:cNvSpPr>
              <a:spLocks noChangeArrowheads="1"/>
            </p:cNvSpPr>
            <p:nvPr/>
          </p:nvSpPr>
          <p:spPr bwMode="auto">
            <a:xfrm>
              <a:off x="3147" y="2289"/>
              <a:ext cx="96" cy="1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900" b="1">
                  <a:solidFill>
                    <a:srgbClr val="0033FF"/>
                  </a:solidFill>
                  <a:latin typeface="Courier New" pitchFamily="49" charset="0"/>
                </a:rPr>
                <a:t>0</a:t>
              </a:r>
              <a:endParaRPr lang="en-US"/>
            </a:p>
          </p:txBody>
        </p:sp>
        <p:sp>
          <p:nvSpPr>
            <p:cNvPr id="643394" name="Rectangle 322"/>
            <p:cNvSpPr>
              <a:spLocks noChangeArrowheads="1"/>
            </p:cNvSpPr>
            <p:nvPr/>
          </p:nvSpPr>
          <p:spPr bwMode="auto">
            <a:xfrm>
              <a:off x="3340" y="2289"/>
              <a:ext cx="96" cy="1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900" b="1">
                  <a:solidFill>
                    <a:srgbClr val="0033FF"/>
                  </a:solidFill>
                  <a:latin typeface="Courier New" pitchFamily="49" charset="0"/>
                </a:rPr>
                <a:t>1</a:t>
              </a:r>
              <a:endParaRPr lang="en-US"/>
            </a:p>
          </p:txBody>
        </p:sp>
      </p:grpSp>
      <p:sp>
        <p:nvSpPr>
          <p:cNvPr id="643396" name="Rectangle 324"/>
          <p:cNvSpPr>
            <a:spLocks noChangeArrowheads="1"/>
          </p:cNvSpPr>
          <p:nvPr/>
        </p:nvSpPr>
        <p:spPr bwMode="auto">
          <a:xfrm>
            <a:off x="4603750" y="2938463"/>
            <a:ext cx="136525" cy="13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900" b="1">
                <a:solidFill>
                  <a:srgbClr val="DD0000"/>
                </a:solidFill>
                <a:latin typeface="Courier New" pitchFamily="49" charset="0"/>
              </a:rPr>
              <a:t>rt</a:t>
            </a:r>
            <a:endParaRPr lang="en-US"/>
          </a:p>
        </p:txBody>
      </p:sp>
      <p:sp>
        <p:nvSpPr>
          <p:cNvPr id="643397" name="Rectangle 325"/>
          <p:cNvSpPr>
            <a:spLocks noChangeArrowheads="1"/>
          </p:cNvSpPr>
          <p:nvPr/>
        </p:nvSpPr>
        <p:spPr bwMode="auto">
          <a:xfrm>
            <a:off x="4221163" y="2938463"/>
            <a:ext cx="136525" cy="13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900" b="1">
                <a:solidFill>
                  <a:srgbClr val="DD0000"/>
                </a:solidFill>
                <a:latin typeface="Courier New" pitchFamily="49" charset="0"/>
              </a:rPr>
              <a:t>rs</a:t>
            </a:r>
            <a:endParaRPr lang="en-US"/>
          </a:p>
        </p:txBody>
      </p:sp>
      <p:sp>
        <p:nvSpPr>
          <p:cNvPr id="643398" name="Rectangle 326"/>
          <p:cNvSpPr>
            <a:spLocks noChangeArrowheads="1"/>
          </p:cNvSpPr>
          <p:nvPr/>
        </p:nvSpPr>
        <p:spPr bwMode="auto">
          <a:xfrm>
            <a:off x="3565525" y="5202238"/>
            <a:ext cx="765175" cy="187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900" b="1">
                <a:solidFill>
                  <a:srgbClr val="DD0000"/>
                </a:solidFill>
                <a:latin typeface="Courier New" pitchFamily="49" charset="0"/>
              </a:rPr>
              <a:t>immediate</a:t>
            </a:r>
            <a:endParaRPr lang="en-US"/>
          </a:p>
        </p:txBody>
      </p:sp>
      <p:sp>
        <p:nvSpPr>
          <p:cNvPr id="643399" name="Oval 327"/>
          <p:cNvSpPr>
            <a:spLocks noChangeArrowheads="1"/>
          </p:cNvSpPr>
          <p:nvPr/>
        </p:nvSpPr>
        <p:spPr bwMode="auto">
          <a:xfrm>
            <a:off x="4386263" y="2857500"/>
            <a:ext cx="34925" cy="33338"/>
          </a:xfrm>
          <a:prstGeom prst="ellipse">
            <a:avLst/>
          </a:prstGeom>
          <a:solidFill>
            <a:srgbClr val="440000"/>
          </a:solidFill>
          <a:ln w="254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643400" name="Oval 328"/>
          <p:cNvSpPr>
            <a:spLocks noChangeArrowheads="1"/>
          </p:cNvSpPr>
          <p:nvPr/>
        </p:nvSpPr>
        <p:spPr bwMode="auto">
          <a:xfrm>
            <a:off x="4768850" y="2857500"/>
            <a:ext cx="34925" cy="33338"/>
          </a:xfrm>
          <a:prstGeom prst="ellipse">
            <a:avLst/>
          </a:prstGeom>
          <a:solidFill>
            <a:srgbClr val="440000"/>
          </a:solidFill>
          <a:ln w="254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643401" name="Oval 329"/>
          <p:cNvSpPr>
            <a:spLocks noChangeArrowheads="1"/>
          </p:cNvSpPr>
          <p:nvPr/>
        </p:nvSpPr>
        <p:spPr bwMode="auto">
          <a:xfrm>
            <a:off x="5305425" y="2857500"/>
            <a:ext cx="34925" cy="33338"/>
          </a:xfrm>
          <a:prstGeom prst="ellipse">
            <a:avLst/>
          </a:prstGeom>
          <a:solidFill>
            <a:srgbClr val="440000"/>
          </a:solidFill>
          <a:ln w="254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643402" name="Oval 330"/>
          <p:cNvSpPr>
            <a:spLocks noChangeArrowheads="1"/>
          </p:cNvSpPr>
          <p:nvPr/>
        </p:nvSpPr>
        <p:spPr bwMode="auto">
          <a:xfrm>
            <a:off x="6148388" y="2320925"/>
            <a:ext cx="33337" cy="33338"/>
          </a:xfrm>
          <a:prstGeom prst="ellipse">
            <a:avLst/>
          </a:prstGeom>
          <a:solidFill>
            <a:srgbClr val="440000"/>
          </a:solidFill>
          <a:ln w="254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643403" name="Oval 331"/>
          <p:cNvSpPr>
            <a:spLocks noChangeArrowheads="1"/>
          </p:cNvSpPr>
          <p:nvPr/>
        </p:nvSpPr>
        <p:spPr bwMode="auto">
          <a:xfrm>
            <a:off x="6037263" y="4387850"/>
            <a:ext cx="25400" cy="34925"/>
          </a:xfrm>
          <a:prstGeom prst="ellipse">
            <a:avLst/>
          </a:prstGeom>
          <a:solidFill>
            <a:srgbClr val="440000"/>
          </a:solidFill>
          <a:ln w="254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643404" name="Oval 332"/>
          <p:cNvSpPr>
            <a:spLocks noChangeArrowheads="1"/>
          </p:cNvSpPr>
          <p:nvPr/>
        </p:nvSpPr>
        <p:spPr bwMode="auto">
          <a:xfrm>
            <a:off x="8445500" y="4278313"/>
            <a:ext cx="34925" cy="25400"/>
          </a:xfrm>
          <a:prstGeom prst="ellipse">
            <a:avLst/>
          </a:prstGeom>
          <a:solidFill>
            <a:srgbClr val="440000"/>
          </a:solidFill>
          <a:ln w="254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643405" name="Oval 333"/>
          <p:cNvSpPr>
            <a:spLocks noChangeArrowheads="1"/>
          </p:cNvSpPr>
          <p:nvPr/>
        </p:nvSpPr>
        <p:spPr bwMode="auto">
          <a:xfrm>
            <a:off x="3357563" y="5962650"/>
            <a:ext cx="25400" cy="25400"/>
          </a:xfrm>
          <a:prstGeom prst="ellipse">
            <a:avLst/>
          </a:prstGeom>
          <a:solidFill>
            <a:srgbClr val="440000"/>
          </a:solidFill>
          <a:ln w="254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grpSp>
        <p:nvGrpSpPr>
          <p:cNvPr id="643373" name="Group 336"/>
          <p:cNvGrpSpPr>
            <a:grpSpLocks/>
          </p:cNvGrpSpPr>
          <p:nvPr/>
        </p:nvGrpSpPr>
        <p:grpSpPr bwMode="auto">
          <a:xfrm>
            <a:off x="8764588" y="3602038"/>
            <a:ext cx="85725" cy="195262"/>
            <a:chOff x="5521" y="2605"/>
            <a:chExt cx="54" cy="123"/>
          </a:xfrm>
        </p:grpSpPr>
        <p:sp>
          <p:nvSpPr>
            <p:cNvPr id="643406" name="Freeform 334"/>
            <p:cNvSpPr>
              <a:spLocks/>
            </p:cNvSpPr>
            <p:nvPr/>
          </p:nvSpPr>
          <p:spPr bwMode="auto">
            <a:xfrm>
              <a:off x="5521" y="2605"/>
              <a:ext cx="54" cy="64"/>
            </a:xfrm>
            <a:custGeom>
              <a:avLst/>
              <a:gdLst/>
              <a:ahLst/>
              <a:cxnLst>
                <a:cxn ang="0">
                  <a:pos x="27" y="0"/>
                </a:cxn>
                <a:cxn ang="0">
                  <a:pos x="54" y="64"/>
                </a:cxn>
                <a:cxn ang="0">
                  <a:pos x="0" y="64"/>
                </a:cxn>
                <a:cxn ang="0">
                  <a:pos x="27" y="0"/>
                </a:cxn>
              </a:cxnLst>
              <a:rect l="0" t="0" r="r" b="b"/>
              <a:pathLst>
                <a:path w="54" h="64">
                  <a:moveTo>
                    <a:pt x="27" y="0"/>
                  </a:moveTo>
                  <a:lnTo>
                    <a:pt x="54" y="64"/>
                  </a:lnTo>
                  <a:lnTo>
                    <a:pt x="0" y="64"/>
                  </a:lnTo>
                  <a:lnTo>
                    <a:pt x="27" y="0"/>
                  </a:lnTo>
                  <a:close/>
                </a:path>
              </a:pathLst>
            </a:custGeom>
            <a:solidFill>
              <a:srgbClr val="0033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43407" name="Line 335"/>
            <p:cNvSpPr>
              <a:spLocks noChangeShapeType="1"/>
            </p:cNvSpPr>
            <p:nvPr/>
          </p:nvSpPr>
          <p:spPr bwMode="auto">
            <a:xfrm>
              <a:off x="5548" y="2626"/>
              <a:ext cx="1" cy="102"/>
            </a:xfrm>
            <a:prstGeom prst="line">
              <a:avLst/>
            </a:prstGeom>
            <a:noFill/>
            <a:ln w="17463">
              <a:solidFill>
                <a:srgbClr val="0033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43409" name="Rectangle 337"/>
          <p:cNvSpPr>
            <a:spLocks noChangeArrowheads="1"/>
          </p:cNvSpPr>
          <p:nvPr/>
        </p:nvSpPr>
        <p:spPr bwMode="auto">
          <a:xfrm>
            <a:off x="8493125" y="3779838"/>
            <a:ext cx="546100" cy="13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900" b="1">
                <a:solidFill>
                  <a:srgbClr val="0033FF"/>
                </a:solidFill>
                <a:latin typeface="Arial" charset="0"/>
              </a:rPr>
              <a:t>PCSource</a:t>
            </a:r>
            <a:endParaRPr lang="en-US"/>
          </a:p>
        </p:txBody>
      </p:sp>
      <p:grpSp>
        <p:nvGrpSpPr>
          <p:cNvPr id="643376" name="Group 340"/>
          <p:cNvGrpSpPr>
            <a:grpSpLocks/>
          </p:cNvGrpSpPr>
          <p:nvPr/>
        </p:nvGrpSpPr>
        <p:grpSpPr bwMode="auto">
          <a:xfrm>
            <a:off x="3709988" y="4333875"/>
            <a:ext cx="85725" cy="187325"/>
            <a:chOff x="2337" y="3066"/>
            <a:chExt cx="54" cy="118"/>
          </a:xfrm>
        </p:grpSpPr>
        <p:sp>
          <p:nvSpPr>
            <p:cNvPr id="643410" name="Freeform 338"/>
            <p:cNvSpPr>
              <a:spLocks/>
            </p:cNvSpPr>
            <p:nvPr/>
          </p:nvSpPr>
          <p:spPr bwMode="auto">
            <a:xfrm>
              <a:off x="2337" y="3066"/>
              <a:ext cx="54" cy="64"/>
            </a:xfrm>
            <a:custGeom>
              <a:avLst/>
              <a:gdLst/>
              <a:ahLst/>
              <a:cxnLst>
                <a:cxn ang="0">
                  <a:pos x="27" y="0"/>
                </a:cxn>
                <a:cxn ang="0">
                  <a:pos x="54" y="64"/>
                </a:cxn>
                <a:cxn ang="0">
                  <a:pos x="0" y="64"/>
                </a:cxn>
                <a:cxn ang="0">
                  <a:pos x="27" y="0"/>
                </a:cxn>
              </a:cxnLst>
              <a:rect l="0" t="0" r="r" b="b"/>
              <a:pathLst>
                <a:path w="54" h="64">
                  <a:moveTo>
                    <a:pt x="27" y="0"/>
                  </a:moveTo>
                  <a:lnTo>
                    <a:pt x="54" y="64"/>
                  </a:lnTo>
                  <a:lnTo>
                    <a:pt x="0" y="64"/>
                  </a:lnTo>
                  <a:lnTo>
                    <a:pt x="27" y="0"/>
                  </a:lnTo>
                  <a:close/>
                </a:path>
              </a:pathLst>
            </a:custGeom>
            <a:solidFill>
              <a:srgbClr val="0033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43411" name="Line 339"/>
            <p:cNvSpPr>
              <a:spLocks noChangeShapeType="1"/>
            </p:cNvSpPr>
            <p:nvPr/>
          </p:nvSpPr>
          <p:spPr bwMode="auto">
            <a:xfrm>
              <a:off x="2364" y="3087"/>
              <a:ext cx="1" cy="97"/>
            </a:xfrm>
            <a:prstGeom prst="line">
              <a:avLst/>
            </a:prstGeom>
            <a:noFill/>
            <a:ln w="17463">
              <a:solidFill>
                <a:srgbClr val="0033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43413" name="Rectangle 341"/>
          <p:cNvSpPr>
            <a:spLocks noChangeArrowheads="1"/>
          </p:cNvSpPr>
          <p:nvPr/>
        </p:nvSpPr>
        <p:spPr bwMode="auto">
          <a:xfrm>
            <a:off x="3395663" y="4503738"/>
            <a:ext cx="584200" cy="13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900" b="1">
                <a:solidFill>
                  <a:srgbClr val="0033FF"/>
                </a:solidFill>
                <a:latin typeface="Arial" charset="0"/>
              </a:rPr>
              <a:t>MemtoReg</a:t>
            </a:r>
            <a:endParaRPr lang="en-US"/>
          </a:p>
        </p:txBody>
      </p:sp>
      <p:sp>
        <p:nvSpPr>
          <p:cNvPr id="643414" name="Rectangle 342"/>
          <p:cNvSpPr>
            <a:spLocks noChangeArrowheads="1"/>
          </p:cNvSpPr>
          <p:nvPr/>
        </p:nvSpPr>
        <p:spPr bwMode="auto">
          <a:xfrm>
            <a:off x="884238" y="3243263"/>
            <a:ext cx="228600" cy="13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900" b="1">
                <a:solidFill>
                  <a:srgbClr val="0033FF"/>
                </a:solidFill>
                <a:latin typeface="Arial" charset="0"/>
              </a:rPr>
              <a:t>IorD</a:t>
            </a:r>
            <a:endParaRPr lang="en-US"/>
          </a:p>
        </p:txBody>
      </p:sp>
      <p:grpSp>
        <p:nvGrpSpPr>
          <p:cNvPr id="643388" name="Group 345"/>
          <p:cNvGrpSpPr>
            <a:grpSpLocks/>
          </p:cNvGrpSpPr>
          <p:nvPr/>
        </p:nvGrpSpPr>
        <p:grpSpPr bwMode="auto">
          <a:xfrm>
            <a:off x="382588" y="3108325"/>
            <a:ext cx="85725" cy="228600"/>
            <a:chOff x="241" y="2294"/>
            <a:chExt cx="54" cy="144"/>
          </a:xfrm>
        </p:grpSpPr>
        <p:sp>
          <p:nvSpPr>
            <p:cNvPr id="643415" name="Freeform 343"/>
            <p:cNvSpPr>
              <a:spLocks/>
            </p:cNvSpPr>
            <p:nvPr/>
          </p:nvSpPr>
          <p:spPr bwMode="auto">
            <a:xfrm>
              <a:off x="241" y="2374"/>
              <a:ext cx="54" cy="64"/>
            </a:xfrm>
            <a:custGeom>
              <a:avLst/>
              <a:gdLst/>
              <a:ahLst/>
              <a:cxnLst>
                <a:cxn ang="0">
                  <a:pos x="27" y="64"/>
                </a:cxn>
                <a:cxn ang="0">
                  <a:pos x="0" y="0"/>
                </a:cxn>
                <a:cxn ang="0">
                  <a:pos x="54" y="0"/>
                </a:cxn>
                <a:cxn ang="0">
                  <a:pos x="27" y="64"/>
                </a:cxn>
              </a:cxnLst>
              <a:rect l="0" t="0" r="r" b="b"/>
              <a:pathLst>
                <a:path w="54" h="64">
                  <a:moveTo>
                    <a:pt x="27" y="64"/>
                  </a:moveTo>
                  <a:lnTo>
                    <a:pt x="0" y="0"/>
                  </a:lnTo>
                  <a:lnTo>
                    <a:pt x="54" y="0"/>
                  </a:lnTo>
                  <a:lnTo>
                    <a:pt x="27" y="64"/>
                  </a:lnTo>
                  <a:close/>
                </a:path>
              </a:pathLst>
            </a:custGeom>
            <a:solidFill>
              <a:srgbClr val="0033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43416" name="Line 344"/>
            <p:cNvSpPr>
              <a:spLocks noChangeShapeType="1"/>
            </p:cNvSpPr>
            <p:nvPr/>
          </p:nvSpPr>
          <p:spPr bwMode="auto">
            <a:xfrm>
              <a:off x="268" y="2294"/>
              <a:ext cx="1" cy="123"/>
            </a:xfrm>
            <a:prstGeom prst="line">
              <a:avLst/>
            </a:prstGeom>
            <a:noFill/>
            <a:ln w="17463">
              <a:solidFill>
                <a:srgbClr val="0033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43418" name="Rectangle 346"/>
          <p:cNvSpPr>
            <a:spLocks noChangeArrowheads="1"/>
          </p:cNvSpPr>
          <p:nvPr/>
        </p:nvSpPr>
        <p:spPr bwMode="auto">
          <a:xfrm>
            <a:off x="212725" y="2928938"/>
            <a:ext cx="355600" cy="13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900" b="1">
                <a:solidFill>
                  <a:srgbClr val="0033FF"/>
                </a:solidFill>
                <a:latin typeface="Arial" charset="0"/>
              </a:rPr>
              <a:t>PCWr*</a:t>
            </a:r>
            <a:endParaRPr lang="en-US"/>
          </a:p>
        </p:txBody>
      </p:sp>
      <p:grpSp>
        <p:nvGrpSpPr>
          <p:cNvPr id="643395" name="Group 349"/>
          <p:cNvGrpSpPr>
            <a:grpSpLocks/>
          </p:cNvGrpSpPr>
          <p:nvPr/>
        </p:nvGrpSpPr>
        <p:grpSpPr bwMode="auto">
          <a:xfrm>
            <a:off x="2944813" y="2070100"/>
            <a:ext cx="84137" cy="425450"/>
            <a:chOff x="1855" y="1640"/>
            <a:chExt cx="53" cy="268"/>
          </a:xfrm>
        </p:grpSpPr>
        <p:sp>
          <p:nvSpPr>
            <p:cNvPr id="643419" name="Freeform 347"/>
            <p:cNvSpPr>
              <a:spLocks/>
            </p:cNvSpPr>
            <p:nvPr/>
          </p:nvSpPr>
          <p:spPr bwMode="auto">
            <a:xfrm>
              <a:off x="1855" y="1843"/>
              <a:ext cx="53" cy="65"/>
            </a:xfrm>
            <a:custGeom>
              <a:avLst/>
              <a:gdLst/>
              <a:ahLst/>
              <a:cxnLst>
                <a:cxn ang="0">
                  <a:pos x="27" y="65"/>
                </a:cxn>
                <a:cxn ang="0">
                  <a:pos x="0" y="0"/>
                </a:cxn>
                <a:cxn ang="0">
                  <a:pos x="53" y="0"/>
                </a:cxn>
                <a:cxn ang="0">
                  <a:pos x="27" y="65"/>
                </a:cxn>
              </a:cxnLst>
              <a:rect l="0" t="0" r="r" b="b"/>
              <a:pathLst>
                <a:path w="53" h="65">
                  <a:moveTo>
                    <a:pt x="27" y="65"/>
                  </a:moveTo>
                  <a:lnTo>
                    <a:pt x="0" y="0"/>
                  </a:lnTo>
                  <a:lnTo>
                    <a:pt x="53" y="0"/>
                  </a:lnTo>
                  <a:lnTo>
                    <a:pt x="27" y="65"/>
                  </a:lnTo>
                  <a:close/>
                </a:path>
              </a:pathLst>
            </a:custGeom>
            <a:solidFill>
              <a:srgbClr val="0033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43420" name="Line 348"/>
            <p:cNvSpPr>
              <a:spLocks noChangeShapeType="1"/>
            </p:cNvSpPr>
            <p:nvPr/>
          </p:nvSpPr>
          <p:spPr bwMode="auto">
            <a:xfrm>
              <a:off x="1882" y="1640"/>
              <a:ext cx="1" cy="246"/>
            </a:xfrm>
            <a:prstGeom prst="line">
              <a:avLst/>
            </a:prstGeom>
            <a:noFill/>
            <a:ln w="17463">
              <a:solidFill>
                <a:srgbClr val="0033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43422" name="Rectangle 350"/>
          <p:cNvSpPr>
            <a:spLocks noChangeArrowheads="1"/>
          </p:cNvSpPr>
          <p:nvPr/>
        </p:nvSpPr>
        <p:spPr bwMode="auto">
          <a:xfrm>
            <a:off x="2714625" y="1941513"/>
            <a:ext cx="400050" cy="13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900" b="1">
                <a:solidFill>
                  <a:srgbClr val="0033FF"/>
                </a:solidFill>
                <a:latin typeface="Arial" charset="0"/>
              </a:rPr>
              <a:t>IRWrite</a:t>
            </a:r>
            <a:endParaRPr lang="en-US"/>
          </a:p>
        </p:txBody>
      </p:sp>
      <p:grpSp>
        <p:nvGrpSpPr>
          <p:cNvPr id="643408" name="Group 353"/>
          <p:cNvGrpSpPr>
            <a:grpSpLocks/>
          </p:cNvGrpSpPr>
          <p:nvPr/>
        </p:nvGrpSpPr>
        <p:grpSpPr bwMode="auto">
          <a:xfrm>
            <a:off x="1914525" y="3371850"/>
            <a:ext cx="85725" cy="230188"/>
            <a:chOff x="1206" y="2460"/>
            <a:chExt cx="54" cy="145"/>
          </a:xfrm>
        </p:grpSpPr>
        <p:sp>
          <p:nvSpPr>
            <p:cNvPr id="643423" name="Freeform 351"/>
            <p:cNvSpPr>
              <a:spLocks/>
            </p:cNvSpPr>
            <p:nvPr/>
          </p:nvSpPr>
          <p:spPr bwMode="auto">
            <a:xfrm>
              <a:off x="1206" y="2540"/>
              <a:ext cx="54" cy="65"/>
            </a:xfrm>
            <a:custGeom>
              <a:avLst/>
              <a:gdLst/>
              <a:ahLst/>
              <a:cxnLst>
                <a:cxn ang="0">
                  <a:pos x="27" y="65"/>
                </a:cxn>
                <a:cxn ang="0">
                  <a:pos x="0" y="0"/>
                </a:cxn>
                <a:cxn ang="0">
                  <a:pos x="54" y="0"/>
                </a:cxn>
                <a:cxn ang="0">
                  <a:pos x="27" y="65"/>
                </a:cxn>
              </a:cxnLst>
              <a:rect l="0" t="0" r="r" b="b"/>
              <a:pathLst>
                <a:path w="54" h="65">
                  <a:moveTo>
                    <a:pt x="27" y="65"/>
                  </a:moveTo>
                  <a:lnTo>
                    <a:pt x="0" y="0"/>
                  </a:lnTo>
                  <a:lnTo>
                    <a:pt x="54" y="0"/>
                  </a:lnTo>
                  <a:lnTo>
                    <a:pt x="27" y="65"/>
                  </a:lnTo>
                  <a:close/>
                </a:path>
              </a:pathLst>
            </a:custGeom>
            <a:solidFill>
              <a:srgbClr val="0033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43424" name="Line 352"/>
            <p:cNvSpPr>
              <a:spLocks noChangeShapeType="1"/>
            </p:cNvSpPr>
            <p:nvPr/>
          </p:nvSpPr>
          <p:spPr bwMode="auto">
            <a:xfrm>
              <a:off x="1233" y="2460"/>
              <a:ext cx="1" cy="123"/>
            </a:xfrm>
            <a:prstGeom prst="line">
              <a:avLst/>
            </a:prstGeom>
            <a:noFill/>
            <a:ln w="17463">
              <a:solidFill>
                <a:srgbClr val="0033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43103" name="Rectangle 31"/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/>
          <a:lstStyle/>
          <a:p>
            <a:r>
              <a:rPr lang="en-US" sz="3600" dirty="0" smtClean="0"/>
              <a:t>Control </a:t>
            </a:r>
            <a:r>
              <a:rPr lang="en-US" sz="3600" dirty="0"/>
              <a:t>Step (4</a:t>
            </a:r>
            <a:r>
              <a:rPr lang="en-US" sz="3600" dirty="0" smtClean="0"/>
              <a:t>): ALU </a:t>
            </a:r>
            <a:r>
              <a:rPr lang="en-US" sz="3600" dirty="0"/>
              <a:t>Instruction (R-Type)</a:t>
            </a:r>
          </a:p>
        </p:txBody>
      </p:sp>
      <p:sp>
        <p:nvSpPr>
          <p:cNvPr id="643104" name="Rectangle 32"/>
          <p:cNvSpPr>
            <a:spLocks noGrp="1" noChangeArrowheads="1"/>
          </p:cNvSpPr>
          <p:nvPr>
            <p:ph type="body" idx="1"/>
          </p:nvPr>
        </p:nvSpPr>
        <p:spPr>
          <a:xfrm>
            <a:off x="381000" y="1295400"/>
            <a:ext cx="8077200" cy="45720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sz="2000" dirty="0">
                <a:latin typeface="Courier" pitchFamily="49" charset="0"/>
              </a:rPr>
              <a:t>    </a:t>
            </a:r>
            <a:r>
              <a:rPr lang="en-US" sz="2000" dirty="0" err="1" smtClean="0">
                <a:latin typeface="Courier" pitchFamily="49" charset="0"/>
              </a:rPr>
              <a:t>Reg</a:t>
            </a:r>
            <a:r>
              <a:rPr lang="en-US" sz="2000" dirty="0" smtClean="0">
                <a:latin typeface="Courier" pitchFamily="49" charset="0"/>
              </a:rPr>
              <a:t>[IR[15:11</a:t>
            </a:r>
            <a:r>
              <a:rPr lang="en-US" sz="2000" dirty="0">
                <a:latin typeface="Courier" pitchFamily="49" charset="0"/>
              </a:rPr>
              <a:t>]] = </a:t>
            </a:r>
            <a:r>
              <a:rPr lang="en-US" sz="2000" dirty="0" err="1">
                <a:latin typeface="Courier" pitchFamily="49" charset="0"/>
              </a:rPr>
              <a:t>ALUOut</a:t>
            </a:r>
            <a:r>
              <a:rPr lang="en-US" sz="2000" dirty="0">
                <a:latin typeface="Courier" pitchFamily="49" charset="0"/>
              </a:rPr>
              <a:t>;  </a:t>
            </a:r>
            <a:r>
              <a:rPr lang="en-US" sz="2000" dirty="0" smtClean="0">
                <a:latin typeface="Courier" pitchFamily="49" charset="0"/>
              </a:rPr>
              <a:t>(</a:t>
            </a:r>
            <a:r>
              <a:rPr lang="en-US" sz="2000" dirty="0" err="1">
                <a:latin typeface="Courier" pitchFamily="49" charset="0"/>
              </a:rPr>
              <a:t>Reg</a:t>
            </a:r>
            <a:r>
              <a:rPr lang="en-US" sz="2000" dirty="0">
                <a:latin typeface="Courier" pitchFamily="49" charset="0"/>
              </a:rPr>
              <a:t>[Rd] = </a:t>
            </a:r>
            <a:r>
              <a:rPr lang="en-US" sz="2000" dirty="0" err="1">
                <a:latin typeface="Courier" pitchFamily="49" charset="0"/>
              </a:rPr>
              <a:t>ALUOut</a:t>
            </a:r>
            <a:r>
              <a:rPr lang="en-US" sz="2000" dirty="0">
                <a:latin typeface="Courier" pitchFamily="49" charset="0"/>
              </a:rPr>
              <a:t>)</a:t>
            </a:r>
          </a:p>
        </p:txBody>
      </p:sp>
      <p:grpSp>
        <p:nvGrpSpPr>
          <p:cNvPr id="643412" name="Group 33"/>
          <p:cNvGrpSpPr>
            <a:grpSpLocks/>
          </p:cNvGrpSpPr>
          <p:nvPr/>
        </p:nvGrpSpPr>
        <p:grpSpPr bwMode="auto">
          <a:xfrm>
            <a:off x="228600" y="1676400"/>
            <a:ext cx="8709025" cy="3940175"/>
            <a:chOff x="144" y="1200"/>
            <a:chExt cx="5486" cy="2482"/>
          </a:xfrm>
        </p:grpSpPr>
        <p:sp>
          <p:nvSpPr>
            <p:cNvPr id="643106" name="Rectangle 34"/>
            <p:cNvSpPr>
              <a:spLocks noChangeArrowheads="1"/>
            </p:cNvSpPr>
            <p:nvPr/>
          </p:nvSpPr>
          <p:spPr bwMode="auto">
            <a:xfrm>
              <a:off x="2777" y="3299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43107" name="Rectangle 35"/>
            <p:cNvSpPr>
              <a:spLocks noChangeArrowheads="1"/>
            </p:cNvSpPr>
            <p:nvPr/>
          </p:nvSpPr>
          <p:spPr bwMode="auto">
            <a:xfrm>
              <a:off x="144" y="1824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43108" name="Rectangle 36"/>
            <p:cNvSpPr>
              <a:spLocks noChangeArrowheads="1"/>
            </p:cNvSpPr>
            <p:nvPr/>
          </p:nvSpPr>
          <p:spPr bwMode="auto">
            <a:xfrm>
              <a:off x="528" y="2016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43109" name="Rectangle 37"/>
            <p:cNvSpPr>
              <a:spLocks noChangeArrowheads="1"/>
            </p:cNvSpPr>
            <p:nvPr/>
          </p:nvSpPr>
          <p:spPr bwMode="auto">
            <a:xfrm>
              <a:off x="1125" y="2112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43110" name="Rectangle 38"/>
            <p:cNvSpPr>
              <a:spLocks noChangeArrowheads="1"/>
            </p:cNvSpPr>
            <p:nvPr/>
          </p:nvSpPr>
          <p:spPr bwMode="auto">
            <a:xfrm>
              <a:off x="1138" y="3264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43111" name="Rectangle 39"/>
            <p:cNvSpPr>
              <a:spLocks noChangeArrowheads="1"/>
            </p:cNvSpPr>
            <p:nvPr/>
          </p:nvSpPr>
          <p:spPr bwMode="auto">
            <a:xfrm>
              <a:off x="1776" y="1200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43112" name="Rectangle 40"/>
            <p:cNvSpPr>
              <a:spLocks noChangeArrowheads="1"/>
            </p:cNvSpPr>
            <p:nvPr/>
          </p:nvSpPr>
          <p:spPr bwMode="auto">
            <a:xfrm>
              <a:off x="2256" y="3113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43113" name="Rectangle 41"/>
            <p:cNvSpPr>
              <a:spLocks noChangeArrowheads="1"/>
            </p:cNvSpPr>
            <p:nvPr/>
          </p:nvSpPr>
          <p:spPr bwMode="auto">
            <a:xfrm>
              <a:off x="3600" y="2242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43114" name="Rectangle 42"/>
            <p:cNvSpPr>
              <a:spLocks noChangeArrowheads="1"/>
            </p:cNvSpPr>
            <p:nvPr/>
          </p:nvSpPr>
          <p:spPr bwMode="auto">
            <a:xfrm>
              <a:off x="4073" y="3490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43115" name="Rectangle 43"/>
            <p:cNvSpPr>
              <a:spLocks noChangeArrowheads="1"/>
            </p:cNvSpPr>
            <p:nvPr/>
          </p:nvSpPr>
          <p:spPr bwMode="auto">
            <a:xfrm>
              <a:off x="4080" y="2119"/>
              <a:ext cx="192" cy="136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43116" name="Rectangle 44"/>
            <p:cNvSpPr>
              <a:spLocks noChangeArrowheads="1"/>
            </p:cNvSpPr>
            <p:nvPr/>
          </p:nvSpPr>
          <p:spPr bwMode="auto">
            <a:xfrm>
              <a:off x="4368" y="2159"/>
              <a:ext cx="288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43117" name="Rectangle 45"/>
            <p:cNvSpPr>
              <a:spLocks noChangeArrowheads="1"/>
            </p:cNvSpPr>
            <p:nvPr/>
          </p:nvSpPr>
          <p:spPr bwMode="auto">
            <a:xfrm>
              <a:off x="5438" y="2640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353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Mayank Pandey, MNNIT, Allahabad, India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430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430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430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430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430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430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430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430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430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430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43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43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430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430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643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43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6430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430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643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643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6430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6430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6430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6430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3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3090" grpId="0" autoUpdateAnimBg="0"/>
      <p:bldP spid="643091" grpId="0" autoUpdateAnimBg="0"/>
      <p:bldP spid="643092" grpId="0" autoUpdateAnimBg="0"/>
      <p:bldP spid="643093" grpId="0" autoUpdateAnimBg="0"/>
      <p:bldP spid="643094" grpId="0" autoUpdateAnimBg="0"/>
      <p:bldP spid="643095" grpId="0" autoUpdateAnimBg="0"/>
      <p:bldP spid="643096" grpId="0" autoUpdateAnimBg="0"/>
      <p:bldP spid="643097" grpId="0" autoUpdateAnimBg="0"/>
      <p:bldP spid="643098" grpId="0" autoUpdateAnimBg="0"/>
      <p:bldP spid="643099" grpId="0" autoUpdateAnimBg="0"/>
      <p:bldP spid="643100" grpId="0" autoUpdateAnimBg="0"/>
      <p:bldP spid="643101" grpId="0" autoUpdateAnimBg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203200" y="2447925"/>
            <a:ext cx="8077200" cy="2336800"/>
            <a:chOff x="128" y="1584"/>
            <a:chExt cx="5088" cy="1472"/>
          </a:xfrm>
        </p:grpSpPr>
        <p:sp>
          <p:nvSpPr>
            <p:cNvPr id="644099" name="Rectangle 3"/>
            <p:cNvSpPr>
              <a:spLocks noChangeArrowheads="1"/>
            </p:cNvSpPr>
            <p:nvPr/>
          </p:nvSpPr>
          <p:spPr bwMode="auto">
            <a:xfrm>
              <a:off x="3216" y="2152"/>
              <a:ext cx="96" cy="104"/>
            </a:xfrm>
            <a:prstGeom prst="rect">
              <a:avLst/>
            </a:prstGeom>
            <a:solidFill>
              <a:srgbClr val="00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44100" name="Rectangle 4"/>
            <p:cNvSpPr>
              <a:spLocks noChangeArrowheads="1"/>
            </p:cNvSpPr>
            <p:nvPr/>
          </p:nvSpPr>
          <p:spPr bwMode="auto">
            <a:xfrm>
              <a:off x="3000" y="1904"/>
              <a:ext cx="192" cy="48"/>
            </a:xfrm>
            <a:prstGeom prst="rect">
              <a:avLst/>
            </a:prstGeom>
            <a:solidFill>
              <a:srgbClr val="00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44101" name="Rectangle 5" descr="50%"/>
            <p:cNvSpPr>
              <a:spLocks noChangeArrowheads="1"/>
            </p:cNvSpPr>
            <p:nvPr/>
          </p:nvSpPr>
          <p:spPr bwMode="auto">
            <a:xfrm>
              <a:off x="4960" y="2496"/>
              <a:ext cx="256" cy="544"/>
            </a:xfrm>
            <a:prstGeom prst="rect">
              <a:avLst/>
            </a:prstGeom>
            <a:pattFill prst="pct50">
              <a:fgClr>
                <a:srgbClr val="FF9900"/>
              </a:fgClr>
              <a:bgClr>
                <a:srgbClr val="FFFFFF"/>
              </a:bgClr>
            </a:patt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44102" name="Rectangle 6" descr="50%"/>
            <p:cNvSpPr>
              <a:spLocks noChangeArrowheads="1"/>
            </p:cNvSpPr>
            <p:nvPr/>
          </p:nvSpPr>
          <p:spPr bwMode="auto">
            <a:xfrm>
              <a:off x="3528" y="2376"/>
              <a:ext cx="240" cy="672"/>
            </a:xfrm>
            <a:prstGeom prst="rect">
              <a:avLst/>
            </a:prstGeom>
            <a:pattFill prst="pct50">
              <a:fgClr>
                <a:srgbClr val="FF9900"/>
              </a:fgClr>
              <a:bgClr>
                <a:srgbClr val="FFFFFF"/>
              </a:bgClr>
            </a:patt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44103" name="Rectangle 7"/>
            <p:cNvSpPr>
              <a:spLocks noChangeArrowheads="1"/>
            </p:cNvSpPr>
            <p:nvPr/>
          </p:nvSpPr>
          <p:spPr bwMode="auto">
            <a:xfrm>
              <a:off x="2528" y="2256"/>
              <a:ext cx="984" cy="800"/>
            </a:xfrm>
            <a:prstGeom prst="rect">
              <a:avLst/>
            </a:prstGeom>
            <a:solidFill>
              <a:srgbClr val="FF33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44104" name="Rectangle 8"/>
            <p:cNvSpPr>
              <a:spLocks noChangeArrowheads="1"/>
            </p:cNvSpPr>
            <p:nvPr/>
          </p:nvSpPr>
          <p:spPr bwMode="auto">
            <a:xfrm>
              <a:off x="2439" y="2582"/>
              <a:ext cx="137" cy="106"/>
            </a:xfrm>
            <a:prstGeom prst="rect">
              <a:avLst/>
            </a:prstGeom>
            <a:solidFill>
              <a:srgbClr val="FF33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44105" name="Rectangle 9"/>
            <p:cNvSpPr>
              <a:spLocks noChangeArrowheads="1"/>
            </p:cNvSpPr>
            <p:nvPr/>
          </p:nvSpPr>
          <p:spPr bwMode="auto">
            <a:xfrm>
              <a:off x="1968" y="2544"/>
              <a:ext cx="336" cy="96"/>
            </a:xfrm>
            <a:prstGeom prst="rect">
              <a:avLst/>
            </a:prstGeom>
            <a:solidFill>
              <a:srgbClr val="FF33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44106" name="Rectangle 10"/>
            <p:cNvSpPr>
              <a:spLocks noChangeArrowheads="1"/>
            </p:cNvSpPr>
            <p:nvPr/>
          </p:nvSpPr>
          <p:spPr bwMode="auto">
            <a:xfrm flipV="1">
              <a:off x="1728" y="2296"/>
              <a:ext cx="288" cy="624"/>
            </a:xfrm>
            <a:prstGeom prst="rect">
              <a:avLst/>
            </a:prstGeom>
            <a:solidFill>
              <a:srgbClr val="FF33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44107" name="Rectangle 11"/>
            <p:cNvSpPr>
              <a:spLocks noChangeArrowheads="1"/>
            </p:cNvSpPr>
            <p:nvPr/>
          </p:nvSpPr>
          <p:spPr bwMode="auto">
            <a:xfrm>
              <a:off x="3120" y="1920"/>
              <a:ext cx="96" cy="104"/>
            </a:xfrm>
            <a:prstGeom prst="rect">
              <a:avLst/>
            </a:prstGeom>
            <a:solidFill>
              <a:srgbClr val="00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44108" name="Rectangle 12"/>
            <p:cNvSpPr>
              <a:spLocks noChangeArrowheads="1"/>
            </p:cNvSpPr>
            <p:nvPr/>
          </p:nvSpPr>
          <p:spPr bwMode="auto">
            <a:xfrm>
              <a:off x="2008" y="1832"/>
              <a:ext cx="1056" cy="88"/>
            </a:xfrm>
            <a:prstGeom prst="rect">
              <a:avLst/>
            </a:prstGeom>
            <a:solidFill>
              <a:srgbClr val="00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44109" name="Rectangle 13"/>
            <p:cNvSpPr>
              <a:spLocks noChangeArrowheads="1"/>
            </p:cNvSpPr>
            <p:nvPr/>
          </p:nvSpPr>
          <p:spPr bwMode="auto">
            <a:xfrm>
              <a:off x="1744" y="1584"/>
              <a:ext cx="288" cy="576"/>
            </a:xfrm>
            <a:prstGeom prst="rect">
              <a:avLst/>
            </a:prstGeom>
            <a:solidFill>
              <a:srgbClr val="00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44110" name="Rectangle 14"/>
            <p:cNvSpPr>
              <a:spLocks noChangeArrowheads="1"/>
            </p:cNvSpPr>
            <p:nvPr/>
          </p:nvSpPr>
          <p:spPr bwMode="auto">
            <a:xfrm>
              <a:off x="128" y="2136"/>
              <a:ext cx="288" cy="528"/>
            </a:xfrm>
            <a:prstGeom prst="rect">
              <a:avLst/>
            </a:prstGeom>
            <a:solidFill>
              <a:srgbClr val="00FF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644111" name="Rectangle 15"/>
          <p:cNvSpPr>
            <a:spLocks noGrp="1" noChangeArrowheads="1"/>
          </p:cNvSpPr>
          <p:nvPr>
            <p:ph type="title"/>
          </p:nvPr>
        </p:nvSpPr>
        <p:spPr>
          <a:xfrm>
            <a:off x="304800" y="457200"/>
            <a:ext cx="8686800" cy="1143000"/>
          </a:xfrm>
        </p:spPr>
        <p:txBody>
          <a:bodyPr/>
          <a:lstStyle/>
          <a:p>
            <a:r>
              <a:rPr lang="en-US" sz="3200" dirty="0" smtClean="0"/>
              <a:t>Execution </a:t>
            </a:r>
            <a:r>
              <a:rPr lang="en-US" sz="3200" dirty="0"/>
              <a:t>Steps (</a:t>
            </a:r>
            <a:r>
              <a:rPr lang="en-US" sz="3200" dirty="0" smtClean="0"/>
              <a:t>5) Memory </a:t>
            </a:r>
            <a:r>
              <a:rPr lang="en-US" sz="3200" dirty="0"/>
              <a:t>Read Completion (</a:t>
            </a:r>
            <a:r>
              <a:rPr lang="en-US" sz="3200" dirty="0" err="1"/>
              <a:t>lw</a:t>
            </a:r>
            <a:r>
              <a:rPr lang="en-US" sz="3200" dirty="0"/>
              <a:t>)</a:t>
            </a:r>
          </a:p>
        </p:txBody>
      </p:sp>
      <p:sp>
        <p:nvSpPr>
          <p:cNvPr id="644112" name="Rectangle 16"/>
          <p:cNvSpPr>
            <a:spLocks noGrp="1" noChangeArrowheads="1"/>
          </p:cNvSpPr>
          <p:nvPr>
            <p:ph type="body" idx="1"/>
          </p:nvPr>
        </p:nvSpPr>
        <p:spPr>
          <a:xfrm>
            <a:off x="1182688" y="1341437"/>
            <a:ext cx="7772400" cy="4114800"/>
          </a:xfrm>
        </p:spPr>
        <p:txBody>
          <a:bodyPr/>
          <a:lstStyle/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sz="2000">
                <a:latin typeface="Courier" pitchFamily="49" charset="0"/>
              </a:rPr>
              <a:t>Reg[IR[20-16]] = MDR;</a:t>
            </a:r>
            <a:endParaRPr lang="en-US" sz="2000"/>
          </a:p>
        </p:txBody>
      </p:sp>
      <p:sp>
        <p:nvSpPr>
          <p:cNvPr id="644113" name="Text Box 17"/>
          <p:cNvSpPr txBox="1">
            <a:spLocks noChangeArrowheads="1"/>
          </p:cNvSpPr>
          <p:nvPr/>
        </p:nvSpPr>
        <p:spPr bwMode="auto">
          <a:xfrm>
            <a:off x="4468813" y="4962525"/>
            <a:ext cx="311150" cy="3667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1</a:t>
            </a:r>
            <a:endParaRPr lang="en-US" sz="1800" b="1">
              <a:latin typeface="Helvetica" pitchFamily="34" charset="0"/>
            </a:endParaRPr>
          </a:p>
        </p:txBody>
      </p:sp>
      <p:sp>
        <p:nvSpPr>
          <p:cNvPr id="644114" name="Text Box 18"/>
          <p:cNvSpPr txBox="1">
            <a:spLocks noChangeArrowheads="1"/>
          </p:cNvSpPr>
          <p:nvPr/>
        </p:nvSpPr>
        <p:spPr bwMode="auto">
          <a:xfrm>
            <a:off x="3617913" y="4625975"/>
            <a:ext cx="311150" cy="3667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0</a:t>
            </a:r>
            <a:endParaRPr lang="en-US" sz="1800" b="1">
              <a:latin typeface="Helvetica" pitchFamily="34" charset="0"/>
            </a:endParaRPr>
          </a:p>
        </p:txBody>
      </p:sp>
      <p:sp>
        <p:nvSpPr>
          <p:cNvPr id="644115" name="Text Box 19"/>
          <p:cNvSpPr txBox="1">
            <a:spLocks noChangeArrowheads="1"/>
          </p:cNvSpPr>
          <p:nvPr/>
        </p:nvSpPr>
        <p:spPr bwMode="auto">
          <a:xfrm>
            <a:off x="5711825" y="3203575"/>
            <a:ext cx="311150" cy="3667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0</a:t>
            </a:r>
          </a:p>
        </p:txBody>
      </p:sp>
      <p:sp>
        <p:nvSpPr>
          <p:cNvPr id="644116" name="Text Box 20"/>
          <p:cNvSpPr txBox="1">
            <a:spLocks noChangeArrowheads="1"/>
          </p:cNvSpPr>
          <p:nvPr/>
        </p:nvSpPr>
        <p:spPr bwMode="auto">
          <a:xfrm>
            <a:off x="6434138" y="5197475"/>
            <a:ext cx="336550" cy="3667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X</a:t>
            </a:r>
            <a:endParaRPr lang="en-US" sz="1800" b="1">
              <a:latin typeface="Helvetica" pitchFamily="34" charset="0"/>
            </a:endParaRPr>
          </a:p>
        </p:txBody>
      </p:sp>
      <p:sp>
        <p:nvSpPr>
          <p:cNvPr id="644117" name="Text Box 21"/>
          <p:cNvSpPr txBox="1">
            <a:spLocks noChangeArrowheads="1"/>
          </p:cNvSpPr>
          <p:nvPr/>
        </p:nvSpPr>
        <p:spPr bwMode="auto">
          <a:xfrm>
            <a:off x="1812925" y="4829175"/>
            <a:ext cx="311150" cy="3667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0</a:t>
            </a:r>
            <a:endParaRPr lang="en-US" sz="1800" b="1">
              <a:latin typeface="Helvetica" pitchFamily="34" charset="0"/>
            </a:endParaRPr>
          </a:p>
        </p:txBody>
      </p:sp>
      <p:sp>
        <p:nvSpPr>
          <p:cNvPr id="644118" name="Text Box 22"/>
          <p:cNvSpPr txBox="1">
            <a:spLocks noChangeArrowheads="1"/>
          </p:cNvSpPr>
          <p:nvPr/>
        </p:nvSpPr>
        <p:spPr bwMode="auto">
          <a:xfrm>
            <a:off x="293688" y="2670175"/>
            <a:ext cx="311150" cy="3667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0</a:t>
            </a:r>
            <a:endParaRPr lang="en-US" sz="1800" b="1">
              <a:latin typeface="Helvetica" pitchFamily="34" charset="0"/>
            </a:endParaRPr>
          </a:p>
        </p:txBody>
      </p:sp>
      <p:sp>
        <p:nvSpPr>
          <p:cNvPr id="644119" name="Text Box 23"/>
          <p:cNvSpPr txBox="1">
            <a:spLocks noChangeArrowheads="1"/>
          </p:cNvSpPr>
          <p:nvPr/>
        </p:nvSpPr>
        <p:spPr bwMode="auto">
          <a:xfrm>
            <a:off x="836613" y="2974975"/>
            <a:ext cx="336550" cy="3667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X</a:t>
            </a:r>
            <a:endParaRPr lang="en-US" sz="1800" b="1">
              <a:latin typeface="Helvetica" pitchFamily="34" charset="0"/>
            </a:endParaRPr>
          </a:p>
        </p:txBody>
      </p:sp>
      <p:sp>
        <p:nvSpPr>
          <p:cNvPr id="644120" name="Text Box 24"/>
          <p:cNvSpPr txBox="1">
            <a:spLocks noChangeArrowheads="1"/>
          </p:cNvSpPr>
          <p:nvPr/>
        </p:nvSpPr>
        <p:spPr bwMode="auto">
          <a:xfrm>
            <a:off x="1811338" y="3127375"/>
            <a:ext cx="311150" cy="3667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0</a:t>
            </a:r>
            <a:endParaRPr lang="en-US" sz="1800" b="1">
              <a:latin typeface="Helvetica" pitchFamily="34" charset="0"/>
            </a:endParaRPr>
          </a:p>
        </p:txBody>
      </p:sp>
      <p:sp>
        <p:nvSpPr>
          <p:cNvPr id="644121" name="Text Box 25"/>
          <p:cNvSpPr txBox="1">
            <a:spLocks noChangeArrowheads="1"/>
          </p:cNvSpPr>
          <p:nvPr/>
        </p:nvSpPr>
        <p:spPr bwMode="auto">
          <a:xfrm>
            <a:off x="6462713" y="3051175"/>
            <a:ext cx="336550" cy="3667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X</a:t>
            </a:r>
            <a:endParaRPr lang="en-US" sz="1800" b="1">
              <a:latin typeface="Helvetica" pitchFamily="34" charset="0"/>
            </a:endParaRPr>
          </a:p>
        </p:txBody>
      </p:sp>
      <p:sp>
        <p:nvSpPr>
          <p:cNvPr id="644122" name="Text Box 26"/>
          <p:cNvSpPr txBox="1">
            <a:spLocks noChangeArrowheads="1"/>
          </p:cNvSpPr>
          <p:nvPr/>
        </p:nvSpPr>
        <p:spPr bwMode="auto">
          <a:xfrm>
            <a:off x="8670925" y="3889375"/>
            <a:ext cx="336550" cy="3667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X</a:t>
            </a:r>
            <a:endParaRPr lang="en-US" sz="1800" b="1">
              <a:latin typeface="Helvetica" pitchFamily="34" charset="0"/>
            </a:endParaRPr>
          </a:p>
        </p:txBody>
      </p:sp>
      <p:sp>
        <p:nvSpPr>
          <p:cNvPr id="644123" name="Text Box 27"/>
          <p:cNvSpPr txBox="1">
            <a:spLocks noChangeArrowheads="1"/>
          </p:cNvSpPr>
          <p:nvPr/>
        </p:nvSpPr>
        <p:spPr bwMode="auto">
          <a:xfrm>
            <a:off x="6815138" y="3203575"/>
            <a:ext cx="641350" cy="3667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XXX</a:t>
            </a:r>
            <a:endParaRPr lang="en-US" sz="1800" b="1">
              <a:latin typeface="Helvetica" pitchFamily="34" charset="0"/>
            </a:endParaRPr>
          </a:p>
        </p:txBody>
      </p:sp>
      <p:sp>
        <p:nvSpPr>
          <p:cNvPr id="644124" name="Text Box 28"/>
          <p:cNvSpPr txBox="1">
            <a:spLocks noChangeArrowheads="1"/>
          </p:cNvSpPr>
          <p:nvPr/>
        </p:nvSpPr>
        <p:spPr bwMode="auto">
          <a:xfrm>
            <a:off x="3186113" y="1857375"/>
            <a:ext cx="311150" cy="3667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800" b="1">
                <a:solidFill>
                  <a:srgbClr val="FF0000"/>
                </a:solidFill>
                <a:latin typeface="Helvetica" pitchFamily="34" charset="0"/>
              </a:rPr>
              <a:t>0</a:t>
            </a:r>
            <a:endParaRPr lang="en-US" sz="1800" b="1">
              <a:latin typeface="Helvetica" pitchFamily="34" charset="0"/>
            </a:endParaRPr>
          </a:p>
        </p:txBody>
      </p:sp>
      <p:sp>
        <p:nvSpPr>
          <p:cNvPr id="644139" name="Rectangle 43"/>
          <p:cNvSpPr>
            <a:spLocks noChangeArrowheads="1"/>
          </p:cNvSpPr>
          <p:nvPr/>
        </p:nvSpPr>
        <p:spPr bwMode="auto">
          <a:xfrm>
            <a:off x="4105275" y="3603625"/>
            <a:ext cx="1370013" cy="1063625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grpSp>
        <p:nvGrpSpPr>
          <p:cNvPr id="3" name="Group 46"/>
          <p:cNvGrpSpPr>
            <a:grpSpLocks/>
          </p:cNvGrpSpPr>
          <p:nvPr/>
        </p:nvGrpSpPr>
        <p:grpSpPr bwMode="auto">
          <a:xfrm>
            <a:off x="3871913" y="4084637"/>
            <a:ext cx="238125" cy="101600"/>
            <a:chOff x="2439" y="2832"/>
            <a:chExt cx="150" cy="64"/>
          </a:xfrm>
        </p:grpSpPr>
        <p:sp>
          <p:nvSpPr>
            <p:cNvPr id="644140" name="Freeform 44"/>
            <p:cNvSpPr>
              <a:spLocks/>
            </p:cNvSpPr>
            <p:nvPr/>
          </p:nvSpPr>
          <p:spPr bwMode="auto">
            <a:xfrm>
              <a:off x="2514" y="2832"/>
              <a:ext cx="75" cy="64"/>
            </a:xfrm>
            <a:custGeom>
              <a:avLst/>
              <a:gdLst/>
              <a:ahLst/>
              <a:cxnLst>
                <a:cxn ang="0">
                  <a:pos x="75" y="32"/>
                </a:cxn>
                <a:cxn ang="0">
                  <a:pos x="0" y="64"/>
                </a:cxn>
                <a:cxn ang="0">
                  <a:pos x="0" y="0"/>
                </a:cxn>
                <a:cxn ang="0">
                  <a:pos x="75" y="32"/>
                </a:cxn>
              </a:cxnLst>
              <a:rect l="0" t="0" r="r" b="b"/>
              <a:pathLst>
                <a:path w="75" h="64">
                  <a:moveTo>
                    <a:pt x="75" y="32"/>
                  </a:moveTo>
                  <a:lnTo>
                    <a:pt x="0" y="64"/>
                  </a:lnTo>
                  <a:lnTo>
                    <a:pt x="0" y="0"/>
                  </a:lnTo>
                  <a:lnTo>
                    <a:pt x="75" y="3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44141" name="Line 45"/>
            <p:cNvSpPr>
              <a:spLocks noChangeShapeType="1"/>
            </p:cNvSpPr>
            <p:nvPr/>
          </p:nvSpPr>
          <p:spPr bwMode="auto">
            <a:xfrm flipH="1">
              <a:off x="2439" y="2864"/>
              <a:ext cx="113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9"/>
          <p:cNvGrpSpPr>
            <a:grpSpLocks/>
          </p:cNvGrpSpPr>
          <p:nvPr/>
        </p:nvGrpSpPr>
        <p:grpSpPr bwMode="auto">
          <a:xfrm>
            <a:off x="4365625" y="2909887"/>
            <a:ext cx="84138" cy="688975"/>
            <a:chOff x="2750" y="2092"/>
            <a:chExt cx="53" cy="434"/>
          </a:xfrm>
        </p:grpSpPr>
        <p:sp>
          <p:nvSpPr>
            <p:cNvPr id="644143" name="Freeform 47"/>
            <p:cNvSpPr>
              <a:spLocks/>
            </p:cNvSpPr>
            <p:nvPr/>
          </p:nvSpPr>
          <p:spPr bwMode="auto">
            <a:xfrm>
              <a:off x="2750" y="2462"/>
              <a:ext cx="53" cy="64"/>
            </a:xfrm>
            <a:custGeom>
              <a:avLst/>
              <a:gdLst/>
              <a:ahLst/>
              <a:cxnLst>
                <a:cxn ang="0">
                  <a:pos x="27" y="64"/>
                </a:cxn>
                <a:cxn ang="0">
                  <a:pos x="0" y="0"/>
                </a:cxn>
                <a:cxn ang="0">
                  <a:pos x="53" y="0"/>
                </a:cxn>
                <a:cxn ang="0">
                  <a:pos x="27" y="64"/>
                </a:cxn>
              </a:cxnLst>
              <a:rect l="0" t="0" r="r" b="b"/>
              <a:pathLst>
                <a:path w="53" h="64">
                  <a:moveTo>
                    <a:pt x="27" y="64"/>
                  </a:moveTo>
                  <a:lnTo>
                    <a:pt x="0" y="0"/>
                  </a:lnTo>
                  <a:lnTo>
                    <a:pt x="53" y="0"/>
                  </a:lnTo>
                  <a:lnTo>
                    <a:pt x="27" y="6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44144" name="Line 48"/>
            <p:cNvSpPr>
              <a:spLocks noChangeShapeType="1"/>
            </p:cNvSpPr>
            <p:nvPr/>
          </p:nvSpPr>
          <p:spPr bwMode="auto">
            <a:xfrm>
              <a:off x="2777" y="2092"/>
              <a:ext cx="1" cy="413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52"/>
          <p:cNvGrpSpPr>
            <a:grpSpLocks/>
          </p:cNvGrpSpPr>
          <p:nvPr/>
        </p:nvGrpSpPr>
        <p:grpSpPr bwMode="auto">
          <a:xfrm>
            <a:off x="4748213" y="2909887"/>
            <a:ext cx="85725" cy="688975"/>
            <a:chOff x="2991" y="2092"/>
            <a:chExt cx="54" cy="434"/>
          </a:xfrm>
        </p:grpSpPr>
        <p:sp>
          <p:nvSpPr>
            <p:cNvPr id="644146" name="Freeform 50"/>
            <p:cNvSpPr>
              <a:spLocks/>
            </p:cNvSpPr>
            <p:nvPr/>
          </p:nvSpPr>
          <p:spPr bwMode="auto">
            <a:xfrm>
              <a:off x="2991" y="2462"/>
              <a:ext cx="54" cy="64"/>
            </a:xfrm>
            <a:custGeom>
              <a:avLst/>
              <a:gdLst/>
              <a:ahLst/>
              <a:cxnLst>
                <a:cxn ang="0">
                  <a:pos x="27" y="64"/>
                </a:cxn>
                <a:cxn ang="0">
                  <a:pos x="0" y="0"/>
                </a:cxn>
                <a:cxn ang="0">
                  <a:pos x="54" y="0"/>
                </a:cxn>
                <a:cxn ang="0">
                  <a:pos x="27" y="64"/>
                </a:cxn>
              </a:cxnLst>
              <a:rect l="0" t="0" r="r" b="b"/>
              <a:pathLst>
                <a:path w="54" h="64">
                  <a:moveTo>
                    <a:pt x="27" y="64"/>
                  </a:moveTo>
                  <a:lnTo>
                    <a:pt x="0" y="0"/>
                  </a:lnTo>
                  <a:lnTo>
                    <a:pt x="54" y="0"/>
                  </a:lnTo>
                  <a:lnTo>
                    <a:pt x="27" y="6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44147" name="Line 51"/>
            <p:cNvSpPr>
              <a:spLocks noChangeShapeType="1"/>
            </p:cNvSpPr>
            <p:nvPr/>
          </p:nvSpPr>
          <p:spPr bwMode="auto">
            <a:xfrm>
              <a:off x="3018" y="2092"/>
              <a:ext cx="1" cy="413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44149" name="Line 53"/>
          <p:cNvSpPr>
            <a:spLocks noChangeShapeType="1"/>
          </p:cNvSpPr>
          <p:nvPr/>
        </p:nvSpPr>
        <p:spPr bwMode="auto">
          <a:xfrm flipH="1">
            <a:off x="4365625" y="3249612"/>
            <a:ext cx="76200" cy="77788"/>
          </a:xfrm>
          <a:prstGeom prst="line">
            <a:avLst/>
          </a:prstGeom>
          <a:noFill/>
          <a:ln w="79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644150" name="Rectangle 54"/>
          <p:cNvSpPr>
            <a:spLocks noChangeArrowheads="1"/>
          </p:cNvSpPr>
          <p:nvPr/>
        </p:nvSpPr>
        <p:spPr bwMode="auto">
          <a:xfrm>
            <a:off x="4441825" y="3225800"/>
            <a:ext cx="10160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charset="0"/>
              </a:rPr>
              <a:t>5</a:t>
            </a:r>
            <a:endParaRPr lang="en-US"/>
          </a:p>
        </p:txBody>
      </p:sp>
      <p:sp>
        <p:nvSpPr>
          <p:cNvPr id="644151" name="Line 55"/>
          <p:cNvSpPr>
            <a:spLocks noChangeShapeType="1"/>
          </p:cNvSpPr>
          <p:nvPr/>
        </p:nvSpPr>
        <p:spPr bwMode="auto">
          <a:xfrm flipH="1">
            <a:off x="4748213" y="3249612"/>
            <a:ext cx="76200" cy="77788"/>
          </a:xfrm>
          <a:prstGeom prst="line">
            <a:avLst/>
          </a:prstGeom>
          <a:noFill/>
          <a:ln w="7938">
            <a:solidFill>
              <a:srgbClr val="44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644152" name="Rectangle 56"/>
          <p:cNvSpPr>
            <a:spLocks noChangeArrowheads="1"/>
          </p:cNvSpPr>
          <p:nvPr/>
        </p:nvSpPr>
        <p:spPr bwMode="auto">
          <a:xfrm>
            <a:off x="4824413" y="3225800"/>
            <a:ext cx="10160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charset="0"/>
              </a:rPr>
              <a:t>5</a:t>
            </a:r>
            <a:endParaRPr lang="en-US"/>
          </a:p>
        </p:txBody>
      </p:sp>
      <p:sp>
        <p:nvSpPr>
          <p:cNvPr id="644153" name="Rectangle 57"/>
          <p:cNvSpPr>
            <a:spLocks noChangeArrowheads="1"/>
          </p:cNvSpPr>
          <p:nvPr/>
        </p:nvSpPr>
        <p:spPr bwMode="auto">
          <a:xfrm>
            <a:off x="5181600" y="3948112"/>
            <a:ext cx="314325" cy="187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900" b="1">
                <a:solidFill>
                  <a:srgbClr val="000000"/>
                </a:solidFill>
                <a:latin typeface="Arial" charset="0"/>
              </a:rPr>
              <a:t>RD1</a:t>
            </a:r>
            <a:endParaRPr lang="en-US"/>
          </a:p>
        </p:txBody>
      </p:sp>
      <p:sp>
        <p:nvSpPr>
          <p:cNvPr id="644154" name="Rectangle 58"/>
          <p:cNvSpPr>
            <a:spLocks noChangeArrowheads="1"/>
          </p:cNvSpPr>
          <p:nvPr/>
        </p:nvSpPr>
        <p:spPr bwMode="auto">
          <a:xfrm>
            <a:off x="5181600" y="4373562"/>
            <a:ext cx="314325" cy="187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900" b="1">
                <a:solidFill>
                  <a:srgbClr val="000000"/>
                </a:solidFill>
                <a:latin typeface="Arial" charset="0"/>
              </a:rPr>
              <a:t>RD2</a:t>
            </a:r>
            <a:endParaRPr lang="en-US"/>
          </a:p>
        </p:txBody>
      </p:sp>
      <p:sp>
        <p:nvSpPr>
          <p:cNvPr id="644155" name="Rectangle 59"/>
          <p:cNvSpPr>
            <a:spLocks noChangeArrowheads="1"/>
          </p:cNvSpPr>
          <p:nvPr/>
        </p:nvSpPr>
        <p:spPr bwMode="auto">
          <a:xfrm>
            <a:off x="4297363" y="3606800"/>
            <a:ext cx="314325" cy="187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900" b="1">
                <a:solidFill>
                  <a:srgbClr val="000000"/>
                </a:solidFill>
                <a:latin typeface="Arial" charset="0"/>
              </a:rPr>
              <a:t>RN1</a:t>
            </a:r>
            <a:endParaRPr lang="en-US"/>
          </a:p>
        </p:txBody>
      </p:sp>
      <p:sp>
        <p:nvSpPr>
          <p:cNvPr id="644156" name="Rectangle 60"/>
          <p:cNvSpPr>
            <a:spLocks noChangeArrowheads="1"/>
          </p:cNvSpPr>
          <p:nvPr/>
        </p:nvSpPr>
        <p:spPr bwMode="auto">
          <a:xfrm>
            <a:off x="4679950" y="3606800"/>
            <a:ext cx="314325" cy="187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900" b="1">
                <a:solidFill>
                  <a:srgbClr val="000000"/>
                </a:solidFill>
                <a:latin typeface="Arial" charset="0"/>
              </a:rPr>
              <a:t>RN2</a:t>
            </a:r>
            <a:endParaRPr lang="en-US"/>
          </a:p>
        </p:txBody>
      </p:sp>
      <p:sp>
        <p:nvSpPr>
          <p:cNvPr id="644157" name="Rectangle 61"/>
          <p:cNvSpPr>
            <a:spLocks noChangeArrowheads="1"/>
          </p:cNvSpPr>
          <p:nvPr/>
        </p:nvSpPr>
        <p:spPr bwMode="auto">
          <a:xfrm>
            <a:off x="5062538" y="3606800"/>
            <a:ext cx="263525" cy="187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900" b="1">
                <a:solidFill>
                  <a:srgbClr val="000000"/>
                </a:solidFill>
                <a:latin typeface="Arial" charset="0"/>
              </a:rPr>
              <a:t>WN</a:t>
            </a:r>
            <a:endParaRPr lang="en-US"/>
          </a:p>
        </p:txBody>
      </p:sp>
      <p:sp>
        <p:nvSpPr>
          <p:cNvPr id="644158" name="Rectangle 62"/>
          <p:cNvSpPr>
            <a:spLocks noChangeArrowheads="1"/>
          </p:cNvSpPr>
          <p:nvPr/>
        </p:nvSpPr>
        <p:spPr bwMode="auto">
          <a:xfrm>
            <a:off x="4144963" y="4067175"/>
            <a:ext cx="263525" cy="187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900" b="1">
                <a:solidFill>
                  <a:srgbClr val="000000"/>
                </a:solidFill>
                <a:latin typeface="Arial" charset="0"/>
              </a:rPr>
              <a:t>WD</a:t>
            </a:r>
            <a:endParaRPr lang="en-US"/>
          </a:p>
        </p:txBody>
      </p:sp>
      <p:grpSp>
        <p:nvGrpSpPr>
          <p:cNvPr id="6" name="Group 65"/>
          <p:cNvGrpSpPr>
            <a:grpSpLocks/>
          </p:cNvGrpSpPr>
          <p:nvPr/>
        </p:nvGrpSpPr>
        <p:grpSpPr bwMode="auto">
          <a:xfrm>
            <a:off x="4552950" y="4672012"/>
            <a:ext cx="84138" cy="187325"/>
            <a:chOff x="2868" y="3202"/>
            <a:chExt cx="53" cy="118"/>
          </a:xfrm>
        </p:grpSpPr>
        <p:sp>
          <p:nvSpPr>
            <p:cNvPr id="644159" name="Freeform 63"/>
            <p:cNvSpPr>
              <a:spLocks/>
            </p:cNvSpPr>
            <p:nvPr/>
          </p:nvSpPr>
          <p:spPr bwMode="auto">
            <a:xfrm>
              <a:off x="2868" y="3202"/>
              <a:ext cx="53" cy="64"/>
            </a:xfrm>
            <a:custGeom>
              <a:avLst/>
              <a:gdLst/>
              <a:ahLst/>
              <a:cxnLst>
                <a:cxn ang="0">
                  <a:pos x="27" y="0"/>
                </a:cxn>
                <a:cxn ang="0">
                  <a:pos x="53" y="64"/>
                </a:cxn>
                <a:cxn ang="0">
                  <a:pos x="0" y="64"/>
                </a:cxn>
                <a:cxn ang="0">
                  <a:pos x="27" y="0"/>
                </a:cxn>
              </a:cxnLst>
              <a:rect l="0" t="0" r="r" b="b"/>
              <a:pathLst>
                <a:path w="53" h="64">
                  <a:moveTo>
                    <a:pt x="27" y="0"/>
                  </a:moveTo>
                  <a:lnTo>
                    <a:pt x="53" y="64"/>
                  </a:lnTo>
                  <a:lnTo>
                    <a:pt x="0" y="64"/>
                  </a:lnTo>
                  <a:lnTo>
                    <a:pt x="27" y="0"/>
                  </a:lnTo>
                  <a:close/>
                </a:path>
              </a:pathLst>
            </a:custGeom>
            <a:solidFill>
              <a:srgbClr val="0033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44160" name="Line 64"/>
            <p:cNvSpPr>
              <a:spLocks noChangeShapeType="1"/>
            </p:cNvSpPr>
            <p:nvPr/>
          </p:nvSpPr>
          <p:spPr bwMode="auto">
            <a:xfrm>
              <a:off x="2895" y="3223"/>
              <a:ext cx="1" cy="97"/>
            </a:xfrm>
            <a:prstGeom prst="line">
              <a:avLst/>
            </a:prstGeom>
            <a:noFill/>
            <a:ln w="17463">
              <a:solidFill>
                <a:srgbClr val="0033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44162" name="Rectangle 66"/>
          <p:cNvSpPr>
            <a:spLocks noChangeArrowheads="1"/>
          </p:cNvSpPr>
          <p:nvPr/>
        </p:nvSpPr>
        <p:spPr bwMode="auto">
          <a:xfrm>
            <a:off x="4305300" y="4857750"/>
            <a:ext cx="501650" cy="13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900" b="1">
                <a:solidFill>
                  <a:srgbClr val="0033FF"/>
                </a:solidFill>
                <a:latin typeface="Arial" charset="0"/>
              </a:rPr>
              <a:t>RegWrite</a:t>
            </a:r>
            <a:endParaRPr lang="en-US"/>
          </a:p>
        </p:txBody>
      </p:sp>
      <p:sp>
        <p:nvSpPr>
          <p:cNvPr id="644163" name="Rectangle 67"/>
          <p:cNvSpPr>
            <a:spLocks noChangeArrowheads="1"/>
          </p:cNvSpPr>
          <p:nvPr/>
        </p:nvSpPr>
        <p:spPr bwMode="auto">
          <a:xfrm>
            <a:off x="4398963" y="3854450"/>
            <a:ext cx="792162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200" b="1">
                <a:solidFill>
                  <a:srgbClr val="000000"/>
                </a:solidFill>
                <a:latin typeface="Arial" charset="0"/>
              </a:rPr>
              <a:t>Registers</a:t>
            </a:r>
            <a:endParaRPr lang="en-US"/>
          </a:p>
        </p:txBody>
      </p:sp>
      <p:sp>
        <p:nvSpPr>
          <p:cNvPr id="644164" name="Freeform 68"/>
          <p:cNvSpPr>
            <a:spLocks/>
          </p:cNvSpPr>
          <p:nvPr/>
        </p:nvSpPr>
        <p:spPr bwMode="auto">
          <a:xfrm>
            <a:off x="6884988" y="3743325"/>
            <a:ext cx="458787" cy="10731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290"/>
              </a:cxn>
              <a:cxn ang="0">
                <a:pos x="48" y="338"/>
              </a:cxn>
              <a:cxn ang="0">
                <a:pos x="0" y="386"/>
              </a:cxn>
              <a:cxn ang="0">
                <a:pos x="0" y="676"/>
              </a:cxn>
              <a:cxn ang="0">
                <a:pos x="289" y="531"/>
              </a:cxn>
              <a:cxn ang="0">
                <a:pos x="289" y="145"/>
              </a:cxn>
              <a:cxn ang="0">
                <a:pos x="0" y="0"/>
              </a:cxn>
            </a:cxnLst>
            <a:rect l="0" t="0" r="r" b="b"/>
            <a:pathLst>
              <a:path w="289" h="676">
                <a:moveTo>
                  <a:pt x="0" y="0"/>
                </a:moveTo>
                <a:lnTo>
                  <a:pt x="0" y="290"/>
                </a:lnTo>
                <a:lnTo>
                  <a:pt x="48" y="338"/>
                </a:lnTo>
                <a:lnTo>
                  <a:pt x="0" y="386"/>
                </a:lnTo>
                <a:lnTo>
                  <a:pt x="0" y="676"/>
                </a:lnTo>
                <a:lnTo>
                  <a:pt x="289" y="531"/>
                </a:lnTo>
                <a:lnTo>
                  <a:pt x="289" y="14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54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grpSp>
        <p:nvGrpSpPr>
          <p:cNvPr id="7" name="Group 71"/>
          <p:cNvGrpSpPr>
            <a:grpSpLocks/>
          </p:cNvGrpSpPr>
          <p:nvPr/>
        </p:nvGrpSpPr>
        <p:grpSpPr bwMode="auto">
          <a:xfrm>
            <a:off x="7351713" y="4271962"/>
            <a:ext cx="587375" cy="101600"/>
            <a:chOff x="4631" y="2950"/>
            <a:chExt cx="370" cy="64"/>
          </a:xfrm>
        </p:grpSpPr>
        <p:sp>
          <p:nvSpPr>
            <p:cNvPr id="644165" name="Freeform 69"/>
            <p:cNvSpPr>
              <a:spLocks/>
            </p:cNvSpPr>
            <p:nvPr/>
          </p:nvSpPr>
          <p:spPr bwMode="auto">
            <a:xfrm>
              <a:off x="4926" y="2950"/>
              <a:ext cx="75" cy="64"/>
            </a:xfrm>
            <a:custGeom>
              <a:avLst/>
              <a:gdLst/>
              <a:ahLst/>
              <a:cxnLst>
                <a:cxn ang="0">
                  <a:pos x="75" y="32"/>
                </a:cxn>
                <a:cxn ang="0">
                  <a:pos x="0" y="64"/>
                </a:cxn>
                <a:cxn ang="0">
                  <a:pos x="0" y="0"/>
                </a:cxn>
                <a:cxn ang="0">
                  <a:pos x="75" y="32"/>
                </a:cxn>
              </a:cxnLst>
              <a:rect l="0" t="0" r="r" b="b"/>
              <a:pathLst>
                <a:path w="75" h="64">
                  <a:moveTo>
                    <a:pt x="75" y="32"/>
                  </a:moveTo>
                  <a:lnTo>
                    <a:pt x="0" y="64"/>
                  </a:lnTo>
                  <a:lnTo>
                    <a:pt x="0" y="0"/>
                  </a:lnTo>
                  <a:lnTo>
                    <a:pt x="75" y="3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44166" name="Line 70"/>
            <p:cNvSpPr>
              <a:spLocks noChangeShapeType="1"/>
            </p:cNvSpPr>
            <p:nvPr/>
          </p:nvSpPr>
          <p:spPr bwMode="auto">
            <a:xfrm flipH="1">
              <a:off x="4631" y="2982"/>
              <a:ext cx="333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" name="Group 74"/>
          <p:cNvGrpSpPr>
            <a:grpSpLocks/>
          </p:cNvGrpSpPr>
          <p:nvPr/>
        </p:nvGrpSpPr>
        <p:grpSpPr bwMode="auto">
          <a:xfrm>
            <a:off x="7080250" y="3598862"/>
            <a:ext cx="84138" cy="263525"/>
            <a:chOff x="4460" y="2526"/>
            <a:chExt cx="53" cy="166"/>
          </a:xfrm>
        </p:grpSpPr>
        <p:sp>
          <p:nvSpPr>
            <p:cNvPr id="644168" name="Freeform 72"/>
            <p:cNvSpPr>
              <a:spLocks/>
            </p:cNvSpPr>
            <p:nvPr/>
          </p:nvSpPr>
          <p:spPr bwMode="auto">
            <a:xfrm>
              <a:off x="4460" y="2628"/>
              <a:ext cx="53" cy="64"/>
            </a:xfrm>
            <a:custGeom>
              <a:avLst/>
              <a:gdLst/>
              <a:ahLst/>
              <a:cxnLst>
                <a:cxn ang="0">
                  <a:pos x="27" y="64"/>
                </a:cxn>
                <a:cxn ang="0">
                  <a:pos x="0" y="0"/>
                </a:cxn>
                <a:cxn ang="0">
                  <a:pos x="53" y="0"/>
                </a:cxn>
                <a:cxn ang="0">
                  <a:pos x="27" y="64"/>
                </a:cxn>
              </a:cxnLst>
              <a:rect l="0" t="0" r="r" b="b"/>
              <a:pathLst>
                <a:path w="53" h="64">
                  <a:moveTo>
                    <a:pt x="27" y="64"/>
                  </a:moveTo>
                  <a:lnTo>
                    <a:pt x="0" y="0"/>
                  </a:lnTo>
                  <a:lnTo>
                    <a:pt x="53" y="0"/>
                  </a:lnTo>
                  <a:lnTo>
                    <a:pt x="27" y="64"/>
                  </a:lnTo>
                  <a:close/>
                </a:path>
              </a:pathLst>
            </a:custGeom>
            <a:solidFill>
              <a:srgbClr val="0033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44169" name="Line 73"/>
            <p:cNvSpPr>
              <a:spLocks noChangeShapeType="1"/>
            </p:cNvSpPr>
            <p:nvPr/>
          </p:nvSpPr>
          <p:spPr bwMode="auto">
            <a:xfrm>
              <a:off x="4487" y="2526"/>
              <a:ext cx="1" cy="145"/>
            </a:xfrm>
            <a:prstGeom prst="line">
              <a:avLst/>
            </a:prstGeom>
            <a:noFill/>
            <a:ln w="17463">
              <a:solidFill>
                <a:srgbClr val="0033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77"/>
          <p:cNvGrpSpPr>
            <a:grpSpLocks/>
          </p:cNvGrpSpPr>
          <p:nvPr/>
        </p:nvGrpSpPr>
        <p:grpSpPr bwMode="auto">
          <a:xfrm>
            <a:off x="7351713" y="4049712"/>
            <a:ext cx="230187" cy="85725"/>
            <a:chOff x="4631" y="2810"/>
            <a:chExt cx="145" cy="54"/>
          </a:xfrm>
        </p:grpSpPr>
        <p:sp>
          <p:nvSpPr>
            <p:cNvPr id="644171" name="Freeform 75"/>
            <p:cNvSpPr>
              <a:spLocks/>
            </p:cNvSpPr>
            <p:nvPr/>
          </p:nvSpPr>
          <p:spPr bwMode="auto">
            <a:xfrm>
              <a:off x="4712" y="2810"/>
              <a:ext cx="64" cy="54"/>
            </a:xfrm>
            <a:custGeom>
              <a:avLst/>
              <a:gdLst/>
              <a:ahLst/>
              <a:cxnLst>
                <a:cxn ang="0">
                  <a:pos x="64" y="27"/>
                </a:cxn>
                <a:cxn ang="0">
                  <a:pos x="0" y="54"/>
                </a:cxn>
                <a:cxn ang="0">
                  <a:pos x="0" y="0"/>
                </a:cxn>
                <a:cxn ang="0">
                  <a:pos x="64" y="27"/>
                </a:cxn>
              </a:cxnLst>
              <a:rect l="0" t="0" r="r" b="b"/>
              <a:pathLst>
                <a:path w="64" h="54">
                  <a:moveTo>
                    <a:pt x="64" y="27"/>
                  </a:moveTo>
                  <a:lnTo>
                    <a:pt x="0" y="54"/>
                  </a:lnTo>
                  <a:lnTo>
                    <a:pt x="0" y="0"/>
                  </a:lnTo>
                  <a:lnTo>
                    <a:pt x="64" y="27"/>
                  </a:lnTo>
                  <a:close/>
                </a:path>
              </a:pathLst>
            </a:custGeom>
            <a:solidFill>
              <a:srgbClr val="003399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44172" name="Line 76"/>
            <p:cNvSpPr>
              <a:spLocks noChangeShapeType="1"/>
            </p:cNvSpPr>
            <p:nvPr/>
          </p:nvSpPr>
          <p:spPr bwMode="auto">
            <a:xfrm flipH="1">
              <a:off x="4631" y="2837"/>
              <a:ext cx="124" cy="1"/>
            </a:xfrm>
            <a:prstGeom prst="line">
              <a:avLst/>
            </a:prstGeom>
            <a:noFill/>
            <a:ln w="17463">
              <a:solidFill>
                <a:srgbClr val="003399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44174" name="Rectangle 78"/>
          <p:cNvSpPr>
            <a:spLocks noChangeArrowheads="1"/>
          </p:cNvSpPr>
          <p:nvPr/>
        </p:nvSpPr>
        <p:spPr bwMode="auto">
          <a:xfrm>
            <a:off x="6816725" y="3479800"/>
            <a:ext cx="663575" cy="187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900" b="1">
                <a:solidFill>
                  <a:srgbClr val="0033FF"/>
                </a:solidFill>
                <a:latin typeface="Arial" charset="0"/>
              </a:rPr>
              <a:t>Operation</a:t>
            </a:r>
            <a:endParaRPr lang="en-US"/>
          </a:p>
        </p:txBody>
      </p:sp>
      <p:sp>
        <p:nvSpPr>
          <p:cNvPr id="644175" name="Rectangle 79"/>
          <p:cNvSpPr>
            <a:spLocks noChangeArrowheads="1"/>
          </p:cNvSpPr>
          <p:nvPr/>
        </p:nvSpPr>
        <p:spPr bwMode="auto">
          <a:xfrm>
            <a:off x="6969125" y="4041775"/>
            <a:ext cx="39211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200" b="1">
                <a:solidFill>
                  <a:srgbClr val="000000"/>
                </a:solidFill>
                <a:latin typeface="Arial" charset="0"/>
              </a:rPr>
              <a:t>ALU</a:t>
            </a:r>
            <a:endParaRPr lang="en-US"/>
          </a:p>
        </p:txBody>
      </p:sp>
      <p:sp>
        <p:nvSpPr>
          <p:cNvPr id="644176" name="Line 80"/>
          <p:cNvSpPr>
            <a:spLocks noChangeShapeType="1"/>
          </p:cNvSpPr>
          <p:nvPr/>
        </p:nvSpPr>
        <p:spPr bwMode="auto">
          <a:xfrm flipH="1">
            <a:off x="688975" y="6007100"/>
            <a:ext cx="7778750" cy="1587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644177" name="Line 81"/>
          <p:cNvSpPr>
            <a:spLocks noChangeShapeType="1"/>
          </p:cNvSpPr>
          <p:nvPr/>
        </p:nvSpPr>
        <p:spPr bwMode="auto">
          <a:xfrm>
            <a:off x="8467725" y="3368675"/>
            <a:ext cx="1588" cy="263842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644178" name="Line 82"/>
          <p:cNvSpPr>
            <a:spLocks noChangeShapeType="1"/>
          </p:cNvSpPr>
          <p:nvPr/>
        </p:nvSpPr>
        <p:spPr bwMode="auto">
          <a:xfrm>
            <a:off x="3259138" y="2909887"/>
            <a:ext cx="1587" cy="2484438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644179" name="Line 83"/>
          <p:cNvSpPr>
            <a:spLocks noChangeShapeType="1"/>
          </p:cNvSpPr>
          <p:nvPr/>
        </p:nvSpPr>
        <p:spPr bwMode="auto">
          <a:xfrm flipH="1">
            <a:off x="3140075" y="2909887"/>
            <a:ext cx="3140075" cy="1588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644180" name="Line 84"/>
          <p:cNvSpPr>
            <a:spLocks noChangeShapeType="1"/>
          </p:cNvSpPr>
          <p:nvPr/>
        </p:nvSpPr>
        <p:spPr bwMode="auto">
          <a:xfrm flipH="1">
            <a:off x="7088188" y="3675062"/>
            <a:ext cx="76200" cy="77788"/>
          </a:xfrm>
          <a:prstGeom prst="line">
            <a:avLst/>
          </a:prstGeom>
          <a:noFill/>
          <a:ln w="7938">
            <a:solidFill>
              <a:srgbClr val="0033FF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644181" name="Rectangle 85"/>
          <p:cNvSpPr>
            <a:spLocks noChangeArrowheads="1"/>
          </p:cNvSpPr>
          <p:nvPr/>
        </p:nvSpPr>
        <p:spPr bwMode="auto">
          <a:xfrm>
            <a:off x="7164388" y="3651250"/>
            <a:ext cx="10160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charset="0"/>
              </a:rPr>
              <a:t>3</a:t>
            </a:r>
            <a:endParaRPr lang="en-US"/>
          </a:p>
        </p:txBody>
      </p:sp>
      <p:grpSp>
        <p:nvGrpSpPr>
          <p:cNvPr id="10" name="Group 88"/>
          <p:cNvGrpSpPr>
            <a:grpSpLocks/>
          </p:cNvGrpSpPr>
          <p:nvPr/>
        </p:nvGrpSpPr>
        <p:grpSpPr bwMode="auto">
          <a:xfrm>
            <a:off x="5897563" y="4391025"/>
            <a:ext cx="587375" cy="101600"/>
            <a:chOff x="3715" y="3025"/>
            <a:chExt cx="370" cy="64"/>
          </a:xfrm>
        </p:grpSpPr>
        <p:sp>
          <p:nvSpPr>
            <p:cNvPr id="644182" name="Freeform 86"/>
            <p:cNvSpPr>
              <a:spLocks/>
            </p:cNvSpPr>
            <p:nvPr/>
          </p:nvSpPr>
          <p:spPr bwMode="auto">
            <a:xfrm>
              <a:off x="4010" y="3025"/>
              <a:ext cx="75" cy="64"/>
            </a:xfrm>
            <a:custGeom>
              <a:avLst/>
              <a:gdLst/>
              <a:ahLst/>
              <a:cxnLst>
                <a:cxn ang="0">
                  <a:pos x="75" y="32"/>
                </a:cxn>
                <a:cxn ang="0">
                  <a:pos x="0" y="64"/>
                </a:cxn>
                <a:cxn ang="0">
                  <a:pos x="0" y="0"/>
                </a:cxn>
                <a:cxn ang="0">
                  <a:pos x="75" y="32"/>
                </a:cxn>
              </a:cxnLst>
              <a:rect l="0" t="0" r="r" b="b"/>
              <a:pathLst>
                <a:path w="75" h="64">
                  <a:moveTo>
                    <a:pt x="75" y="32"/>
                  </a:moveTo>
                  <a:lnTo>
                    <a:pt x="0" y="64"/>
                  </a:lnTo>
                  <a:lnTo>
                    <a:pt x="0" y="0"/>
                  </a:lnTo>
                  <a:lnTo>
                    <a:pt x="75" y="3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44183" name="Line 87"/>
            <p:cNvSpPr>
              <a:spLocks noChangeShapeType="1"/>
            </p:cNvSpPr>
            <p:nvPr/>
          </p:nvSpPr>
          <p:spPr bwMode="auto">
            <a:xfrm flipH="1">
              <a:off x="3715" y="3057"/>
              <a:ext cx="332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1" name="Group 91"/>
          <p:cNvGrpSpPr>
            <a:grpSpLocks/>
          </p:cNvGrpSpPr>
          <p:nvPr/>
        </p:nvGrpSpPr>
        <p:grpSpPr bwMode="auto">
          <a:xfrm>
            <a:off x="6246813" y="4543425"/>
            <a:ext cx="238125" cy="103187"/>
            <a:chOff x="3935" y="3121"/>
            <a:chExt cx="150" cy="65"/>
          </a:xfrm>
        </p:grpSpPr>
        <p:sp>
          <p:nvSpPr>
            <p:cNvPr id="644185" name="Freeform 89"/>
            <p:cNvSpPr>
              <a:spLocks/>
            </p:cNvSpPr>
            <p:nvPr/>
          </p:nvSpPr>
          <p:spPr bwMode="auto">
            <a:xfrm>
              <a:off x="4010" y="3121"/>
              <a:ext cx="75" cy="65"/>
            </a:xfrm>
            <a:custGeom>
              <a:avLst/>
              <a:gdLst/>
              <a:ahLst/>
              <a:cxnLst>
                <a:cxn ang="0">
                  <a:pos x="75" y="32"/>
                </a:cxn>
                <a:cxn ang="0">
                  <a:pos x="0" y="65"/>
                </a:cxn>
                <a:cxn ang="0">
                  <a:pos x="0" y="0"/>
                </a:cxn>
                <a:cxn ang="0">
                  <a:pos x="75" y="32"/>
                </a:cxn>
              </a:cxnLst>
              <a:rect l="0" t="0" r="r" b="b"/>
              <a:pathLst>
                <a:path w="75" h="65">
                  <a:moveTo>
                    <a:pt x="75" y="32"/>
                  </a:moveTo>
                  <a:lnTo>
                    <a:pt x="0" y="65"/>
                  </a:lnTo>
                  <a:lnTo>
                    <a:pt x="0" y="0"/>
                  </a:lnTo>
                  <a:lnTo>
                    <a:pt x="75" y="3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44186" name="Line 90"/>
            <p:cNvSpPr>
              <a:spLocks noChangeShapeType="1"/>
            </p:cNvSpPr>
            <p:nvPr/>
          </p:nvSpPr>
          <p:spPr bwMode="auto">
            <a:xfrm flipH="1">
              <a:off x="3935" y="3153"/>
              <a:ext cx="112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44188" name="Line 92"/>
          <p:cNvSpPr>
            <a:spLocks noChangeShapeType="1"/>
          </p:cNvSpPr>
          <p:nvPr/>
        </p:nvSpPr>
        <p:spPr bwMode="auto">
          <a:xfrm>
            <a:off x="5208588" y="4781550"/>
            <a:ext cx="1587" cy="61277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grpSp>
        <p:nvGrpSpPr>
          <p:cNvPr id="12" name="Group 99"/>
          <p:cNvGrpSpPr>
            <a:grpSpLocks/>
          </p:cNvGrpSpPr>
          <p:nvPr/>
        </p:nvGrpSpPr>
        <p:grpSpPr bwMode="auto">
          <a:xfrm>
            <a:off x="4752975" y="5057775"/>
            <a:ext cx="255588" cy="685800"/>
            <a:chOff x="2994" y="3445"/>
            <a:chExt cx="161" cy="432"/>
          </a:xfrm>
        </p:grpSpPr>
        <p:sp>
          <p:nvSpPr>
            <p:cNvPr id="644189" name="AutoShape 93"/>
            <p:cNvSpPr>
              <a:spLocks noChangeArrowheads="1"/>
            </p:cNvSpPr>
            <p:nvPr/>
          </p:nvSpPr>
          <p:spPr bwMode="auto">
            <a:xfrm>
              <a:off x="2994" y="3445"/>
              <a:ext cx="161" cy="429"/>
            </a:xfrm>
            <a:prstGeom prst="roundRect">
              <a:avLst>
                <a:gd name="adj" fmla="val 50000"/>
              </a:avLst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44190" name="Rectangle 94"/>
            <p:cNvSpPr>
              <a:spLocks noChangeArrowheads="1"/>
            </p:cNvSpPr>
            <p:nvPr/>
          </p:nvSpPr>
          <p:spPr bwMode="auto">
            <a:xfrm>
              <a:off x="3050" y="3459"/>
              <a:ext cx="91" cy="1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900" b="1">
                  <a:solidFill>
                    <a:srgbClr val="000000"/>
                  </a:solidFill>
                  <a:latin typeface="Arial" charset="0"/>
                </a:rPr>
                <a:t>E</a:t>
              </a:r>
              <a:endParaRPr lang="en-US"/>
            </a:p>
          </p:txBody>
        </p:sp>
        <p:sp>
          <p:nvSpPr>
            <p:cNvPr id="644191" name="Rectangle 95"/>
            <p:cNvSpPr>
              <a:spLocks noChangeArrowheads="1"/>
            </p:cNvSpPr>
            <p:nvPr/>
          </p:nvSpPr>
          <p:spPr bwMode="auto">
            <a:xfrm>
              <a:off x="3050" y="3534"/>
              <a:ext cx="91" cy="1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900" b="1">
                  <a:solidFill>
                    <a:srgbClr val="000000"/>
                  </a:solidFill>
                  <a:latin typeface="Arial" charset="0"/>
                </a:rPr>
                <a:t>X</a:t>
              </a:r>
              <a:endParaRPr lang="en-US"/>
            </a:p>
          </p:txBody>
        </p:sp>
        <p:sp>
          <p:nvSpPr>
            <p:cNvPr id="644192" name="Rectangle 96"/>
            <p:cNvSpPr>
              <a:spLocks noChangeArrowheads="1"/>
            </p:cNvSpPr>
            <p:nvPr/>
          </p:nvSpPr>
          <p:spPr bwMode="auto">
            <a:xfrm>
              <a:off x="3055" y="3609"/>
              <a:ext cx="91" cy="1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900" b="1">
                  <a:solidFill>
                    <a:srgbClr val="000000"/>
                  </a:solidFill>
                  <a:latin typeface="Arial" charset="0"/>
                </a:rPr>
                <a:t>T</a:t>
              </a:r>
              <a:endParaRPr lang="en-US"/>
            </a:p>
          </p:txBody>
        </p:sp>
        <p:sp>
          <p:nvSpPr>
            <p:cNvPr id="644193" name="Rectangle 97"/>
            <p:cNvSpPr>
              <a:spLocks noChangeArrowheads="1"/>
            </p:cNvSpPr>
            <p:nvPr/>
          </p:nvSpPr>
          <p:spPr bwMode="auto">
            <a:xfrm>
              <a:off x="3050" y="3684"/>
              <a:ext cx="96" cy="1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900" b="1">
                  <a:solidFill>
                    <a:srgbClr val="000000"/>
                  </a:solidFill>
                  <a:latin typeface="Arial" charset="0"/>
                </a:rPr>
                <a:t>N</a:t>
              </a:r>
              <a:endParaRPr lang="en-US"/>
            </a:p>
          </p:txBody>
        </p:sp>
        <p:sp>
          <p:nvSpPr>
            <p:cNvPr id="644194" name="Rectangle 98"/>
            <p:cNvSpPr>
              <a:spLocks noChangeArrowheads="1"/>
            </p:cNvSpPr>
            <p:nvPr/>
          </p:nvSpPr>
          <p:spPr bwMode="auto">
            <a:xfrm>
              <a:off x="3050" y="3759"/>
              <a:ext cx="96" cy="1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900" b="1">
                  <a:solidFill>
                    <a:srgbClr val="000000"/>
                  </a:solidFill>
                  <a:latin typeface="Arial" charset="0"/>
                </a:rPr>
                <a:t>D</a:t>
              </a:r>
              <a:endParaRPr lang="en-US"/>
            </a:p>
          </p:txBody>
        </p:sp>
      </p:grpSp>
      <p:sp>
        <p:nvSpPr>
          <p:cNvPr id="644196" name="Line 100"/>
          <p:cNvSpPr>
            <a:spLocks noChangeShapeType="1"/>
          </p:cNvSpPr>
          <p:nvPr/>
        </p:nvSpPr>
        <p:spPr bwMode="auto">
          <a:xfrm flipH="1">
            <a:off x="4484688" y="5360987"/>
            <a:ext cx="76200" cy="76200"/>
          </a:xfrm>
          <a:prstGeom prst="line">
            <a:avLst/>
          </a:prstGeom>
          <a:noFill/>
          <a:ln w="7938">
            <a:solidFill>
              <a:srgbClr val="44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644197" name="Rectangle 101"/>
          <p:cNvSpPr>
            <a:spLocks noChangeArrowheads="1"/>
          </p:cNvSpPr>
          <p:nvPr/>
        </p:nvSpPr>
        <p:spPr bwMode="auto">
          <a:xfrm>
            <a:off x="4484688" y="5216525"/>
            <a:ext cx="161925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charset="0"/>
              </a:rPr>
              <a:t>16</a:t>
            </a:r>
            <a:endParaRPr lang="en-US"/>
          </a:p>
        </p:txBody>
      </p:sp>
      <p:grpSp>
        <p:nvGrpSpPr>
          <p:cNvPr id="13" name="Group 104"/>
          <p:cNvGrpSpPr>
            <a:grpSpLocks/>
          </p:cNvGrpSpPr>
          <p:nvPr/>
        </p:nvGrpSpPr>
        <p:grpSpPr bwMode="auto">
          <a:xfrm>
            <a:off x="3259138" y="5343525"/>
            <a:ext cx="1497012" cy="101600"/>
            <a:chOff x="2053" y="3625"/>
            <a:chExt cx="943" cy="64"/>
          </a:xfrm>
        </p:grpSpPr>
        <p:sp>
          <p:nvSpPr>
            <p:cNvPr id="644198" name="Freeform 102"/>
            <p:cNvSpPr>
              <a:spLocks/>
            </p:cNvSpPr>
            <p:nvPr/>
          </p:nvSpPr>
          <p:spPr bwMode="auto">
            <a:xfrm>
              <a:off x="2921" y="3625"/>
              <a:ext cx="75" cy="64"/>
            </a:xfrm>
            <a:custGeom>
              <a:avLst/>
              <a:gdLst/>
              <a:ahLst/>
              <a:cxnLst>
                <a:cxn ang="0">
                  <a:pos x="75" y="32"/>
                </a:cxn>
                <a:cxn ang="0">
                  <a:pos x="0" y="64"/>
                </a:cxn>
                <a:cxn ang="0">
                  <a:pos x="0" y="0"/>
                </a:cxn>
                <a:cxn ang="0">
                  <a:pos x="75" y="32"/>
                </a:cxn>
              </a:cxnLst>
              <a:rect l="0" t="0" r="r" b="b"/>
              <a:pathLst>
                <a:path w="75" h="64">
                  <a:moveTo>
                    <a:pt x="75" y="32"/>
                  </a:moveTo>
                  <a:lnTo>
                    <a:pt x="0" y="64"/>
                  </a:lnTo>
                  <a:lnTo>
                    <a:pt x="0" y="0"/>
                  </a:lnTo>
                  <a:lnTo>
                    <a:pt x="75" y="3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44199" name="Line 103"/>
            <p:cNvSpPr>
              <a:spLocks noChangeShapeType="1"/>
            </p:cNvSpPr>
            <p:nvPr/>
          </p:nvSpPr>
          <p:spPr bwMode="auto">
            <a:xfrm flipH="1">
              <a:off x="2053" y="3657"/>
              <a:ext cx="906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44201" name="Line 105"/>
          <p:cNvSpPr>
            <a:spLocks noChangeShapeType="1"/>
          </p:cNvSpPr>
          <p:nvPr/>
        </p:nvSpPr>
        <p:spPr bwMode="auto">
          <a:xfrm flipH="1">
            <a:off x="5862638" y="5318125"/>
            <a:ext cx="77787" cy="76200"/>
          </a:xfrm>
          <a:prstGeom prst="line">
            <a:avLst/>
          </a:prstGeom>
          <a:noFill/>
          <a:ln w="79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644202" name="Rectangle 106"/>
          <p:cNvSpPr>
            <a:spLocks noChangeArrowheads="1"/>
          </p:cNvSpPr>
          <p:nvPr/>
        </p:nvSpPr>
        <p:spPr bwMode="auto">
          <a:xfrm>
            <a:off x="5054600" y="5216525"/>
            <a:ext cx="161925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charset="0"/>
              </a:rPr>
              <a:t>32</a:t>
            </a:r>
            <a:endParaRPr lang="en-US"/>
          </a:p>
        </p:txBody>
      </p:sp>
      <p:grpSp>
        <p:nvGrpSpPr>
          <p:cNvPr id="14" name="Group 109"/>
          <p:cNvGrpSpPr>
            <a:grpSpLocks/>
          </p:cNvGrpSpPr>
          <p:nvPr/>
        </p:nvGrpSpPr>
        <p:grpSpPr bwMode="auto">
          <a:xfrm>
            <a:off x="5021263" y="5343525"/>
            <a:ext cx="425450" cy="101600"/>
            <a:chOff x="3163" y="3625"/>
            <a:chExt cx="268" cy="64"/>
          </a:xfrm>
        </p:grpSpPr>
        <p:sp>
          <p:nvSpPr>
            <p:cNvPr id="644203" name="Freeform 107"/>
            <p:cNvSpPr>
              <a:spLocks/>
            </p:cNvSpPr>
            <p:nvPr/>
          </p:nvSpPr>
          <p:spPr bwMode="auto">
            <a:xfrm>
              <a:off x="3356" y="3625"/>
              <a:ext cx="75" cy="64"/>
            </a:xfrm>
            <a:custGeom>
              <a:avLst/>
              <a:gdLst/>
              <a:ahLst/>
              <a:cxnLst>
                <a:cxn ang="0">
                  <a:pos x="75" y="32"/>
                </a:cxn>
                <a:cxn ang="0">
                  <a:pos x="0" y="64"/>
                </a:cxn>
                <a:cxn ang="0">
                  <a:pos x="0" y="0"/>
                </a:cxn>
                <a:cxn ang="0">
                  <a:pos x="75" y="32"/>
                </a:cxn>
              </a:cxnLst>
              <a:rect l="0" t="0" r="r" b="b"/>
              <a:pathLst>
                <a:path w="75" h="64">
                  <a:moveTo>
                    <a:pt x="75" y="32"/>
                  </a:moveTo>
                  <a:lnTo>
                    <a:pt x="0" y="64"/>
                  </a:lnTo>
                  <a:lnTo>
                    <a:pt x="0" y="0"/>
                  </a:lnTo>
                  <a:lnTo>
                    <a:pt x="75" y="3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44204" name="Line 108"/>
            <p:cNvSpPr>
              <a:spLocks noChangeShapeType="1"/>
            </p:cNvSpPr>
            <p:nvPr/>
          </p:nvSpPr>
          <p:spPr bwMode="auto">
            <a:xfrm flipH="1">
              <a:off x="3163" y="3657"/>
              <a:ext cx="230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44206" name="Rectangle 110"/>
          <p:cNvSpPr>
            <a:spLocks noChangeArrowheads="1"/>
          </p:cNvSpPr>
          <p:nvPr/>
        </p:nvSpPr>
        <p:spPr bwMode="auto">
          <a:xfrm>
            <a:off x="7377113" y="3905250"/>
            <a:ext cx="331787" cy="187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900" b="1">
                <a:solidFill>
                  <a:srgbClr val="003399"/>
                </a:solidFill>
                <a:latin typeface="Arial" charset="0"/>
              </a:rPr>
              <a:t>Zero</a:t>
            </a:r>
            <a:endParaRPr lang="en-US"/>
          </a:p>
        </p:txBody>
      </p:sp>
      <p:sp>
        <p:nvSpPr>
          <p:cNvPr id="644207" name="Rectangle 111"/>
          <p:cNvSpPr>
            <a:spLocks noChangeArrowheads="1"/>
          </p:cNvSpPr>
          <p:nvPr/>
        </p:nvSpPr>
        <p:spPr bwMode="auto">
          <a:xfrm>
            <a:off x="1349375" y="3636962"/>
            <a:ext cx="1139825" cy="1063625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644208" name="Line 112"/>
          <p:cNvSpPr>
            <a:spLocks noChangeShapeType="1"/>
          </p:cNvSpPr>
          <p:nvPr/>
        </p:nvSpPr>
        <p:spPr bwMode="auto">
          <a:xfrm flipH="1">
            <a:off x="8237538" y="4322762"/>
            <a:ext cx="230187" cy="1588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644209" name="Rectangle 113"/>
          <p:cNvSpPr>
            <a:spLocks noChangeArrowheads="1"/>
          </p:cNvSpPr>
          <p:nvPr/>
        </p:nvSpPr>
        <p:spPr bwMode="auto">
          <a:xfrm>
            <a:off x="2271713" y="4100512"/>
            <a:ext cx="246062" cy="187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900" b="1">
                <a:solidFill>
                  <a:srgbClr val="000000"/>
                </a:solidFill>
                <a:latin typeface="Arial" charset="0"/>
              </a:rPr>
              <a:t>RD</a:t>
            </a:r>
            <a:endParaRPr lang="en-US"/>
          </a:p>
        </p:txBody>
      </p:sp>
      <p:sp>
        <p:nvSpPr>
          <p:cNvPr id="644210" name="Rectangle 114"/>
          <p:cNvSpPr>
            <a:spLocks noChangeArrowheads="1"/>
          </p:cNvSpPr>
          <p:nvPr/>
        </p:nvSpPr>
        <p:spPr bwMode="auto">
          <a:xfrm>
            <a:off x="1387475" y="4373562"/>
            <a:ext cx="263525" cy="187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900" b="1">
                <a:solidFill>
                  <a:srgbClr val="000000"/>
                </a:solidFill>
                <a:latin typeface="Arial" charset="0"/>
              </a:rPr>
              <a:t>WD</a:t>
            </a:r>
            <a:endParaRPr lang="en-US"/>
          </a:p>
        </p:txBody>
      </p:sp>
      <p:grpSp>
        <p:nvGrpSpPr>
          <p:cNvPr id="15" name="Group 117"/>
          <p:cNvGrpSpPr>
            <a:grpSpLocks/>
          </p:cNvGrpSpPr>
          <p:nvPr/>
        </p:nvGrpSpPr>
        <p:grpSpPr bwMode="auto">
          <a:xfrm>
            <a:off x="1914525" y="4705350"/>
            <a:ext cx="85725" cy="195262"/>
            <a:chOff x="1206" y="3223"/>
            <a:chExt cx="54" cy="123"/>
          </a:xfrm>
        </p:grpSpPr>
        <p:sp>
          <p:nvSpPr>
            <p:cNvPr id="644211" name="Freeform 115"/>
            <p:cNvSpPr>
              <a:spLocks/>
            </p:cNvSpPr>
            <p:nvPr/>
          </p:nvSpPr>
          <p:spPr bwMode="auto">
            <a:xfrm>
              <a:off x="1206" y="3223"/>
              <a:ext cx="54" cy="64"/>
            </a:xfrm>
            <a:custGeom>
              <a:avLst/>
              <a:gdLst/>
              <a:ahLst/>
              <a:cxnLst>
                <a:cxn ang="0">
                  <a:pos x="27" y="0"/>
                </a:cxn>
                <a:cxn ang="0">
                  <a:pos x="54" y="64"/>
                </a:cxn>
                <a:cxn ang="0">
                  <a:pos x="0" y="64"/>
                </a:cxn>
                <a:cxn ang="0">
                  <a:pos x="27" y="0"/>
                </a:cxn>
              </a:cxnLst>
              <a:rect l="0" t="0" r="r" b="b"/>
              <a:pathLst>
                <a:path w="54" h="64">
                  <a:moveTo>
                    <a:pt x="27" y="0"/>
                  </a:moveTo>
                  <a:lnTo>
                    <a:pt x="54" y="64"/>
                  </a:lnTo>
                  <a:lnTo>
                    <a:pt x="0" y="64"/>
                  </a:lnTo>
                  <a:lnTo>
                    <a:pt x="27" y="0"/>
                  </a:lnTo>
                  <a:close/>
                </a:path>
              </a:pathLst>
            </a:custGeom>
            <a:solidFill>
              <a:srgbClr val="0033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44212" name="Line 116"/>
            <p:cNvSpPr>
              <a:spLocks noChangeShapeType="1"/>
            </p:cNvSpPr>
            <p:nvPr/>
          </p:nvSpPr>
          <p:spPr bwMode="auto">
            <a:xfrm>
              <a:off x="1233" y="3244"/>
              <a:ext cx="1" cy="102"/>
            </a:xfrm>
            <a:prstGeom prst="line">
              <a:avLst/>
            </a:prstGeom>
            <a:noFill/>
            <a:ln w="17463">
              <a:solidFill>
                <a:srgbClr val="0033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44214" name="Rectangle 118"/>
          <p:cNvSpPr>
            <a:spLocks noChangeArrowheads="1"/>
          </p:cNvSpPr>
          <p:nvPr/>
        </p:nvSpPr>
        <p:spPr bwMode="auto">
          <a:xfrm>
            <a:off x="1633538" y="4535487"/>
            <a:ext cx="539750" cy="13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900" b="1">
                <a:solidFill>
                  <a:srgbClr val="0033FF"/>
                </a:solidFill>
                <a:latin typeface="Arial" charset="0"/>
              </a:rPr>
              <a:t>MemRead</a:t>
            </a:r>
            <a:endParaRPr lang="en-US"/>
          </a:p>
        </p:txBody>
      </p:sp>
      <p:sp>
        <p:nvSpPr>
          <p:cNvPr id="644215" name="Rectangle 119"/>
          <p:cNvSpPr>
            <a:spLocks noChangeArrowheads="1"/>
          </p:cNvSpPr>
          <p:nvPr/>
        </p:nvSpPr>
        <p:spPr bwMode="auto">
          <a:xfrm>
            <a:off x="1590675" y="3965575"/>
            <a:ext cx="68897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200" b="1">
                <a:solidFill>
                  <a:srgbClr val="000000"/>
                </a:solidFill>
                <a:latin typeface="Arial" charset="0"/>
              </a:rPr>
              <a:t>Memory</a:t>
            </a:r>
            <a:endParaRPr lang="en-US"/>
          </a:p>
        </p:txBody>
      </p:sp>
      <p:sp>
        <p:nvSpPr>
          <p:cNvPr id="644216" name="Rectangle 120"/>
          <p:cNvSpPr>
            <a:spLocks noChangeArrowheads="1"/>
          </p:cNvSpPr>
          <p:nvPr/>
        </p:nvSpPr>
        <p:spPr bwMode="auto">
          <a:xfrm>
            <a:off x="1387475" y="3794125"/>
            <a:ext cx="417513" cy="187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900" b="1">
                <a:solidFill>
                  <a:srgbClr val="000000"/>
                </a:solidFill>
                <a:latin typeface="Arial" charset="0"/>
              </a:rPr>
              <a:t>ADDR</a:t>
            </a:r>
            <a:endParaRPr lang="en-US"/>
          </a:p>
        </p:txBody>
      </p:sp>
      <p:grpSp>
        <p:nvGrpSpPr>
          <p:cNvPr id="16" name="Group 123"/>
          <p:cNvGrpSpPr>
            <a:grpSpLocks/>
          </p:cNvGrpSpPr>
          <p:nvPr/>
        </p:nvGrpSpPr>
        <p:grpSpPr bwMode="auto">
          <a:xfrm>
            <a:off x="952500" y="3403600"/>
            <a:ext cx="85725" cy="230187"/>
            <a:chOff x="600" y="2403"/>
            <a:chExt cx="54" cy="145"/>
          </a:xfrm>
        </p:grpSpPr>
        <p:sp>
          <p:nvSpPr>
            <p:cNvPr id="644217" name="Freeform 121"/>
            <p:cNvSpPr>
              <a:spLocks/>
            </p:cNvSpPr>
            <p:nvPr/>
          </p:nvSpPr>
          <p:spPr bwMode="auto">
            <a:xfrm>
              <a:off x="600" y="2483"/>
              <a:ext cx="54" cy="65"/>
            </a:xfrm>
            <a:custGeom>
              <a:avLst/>
              <a:gdLst/>
              <a:ahLst/>
              <a:cxnLst>
                <a:cxn ang="0">
                  <a:pos x="27" y="65"/>
                </a:cxn>
                <a:cxn ang="0">
                  <a:pos x="0" y="0"/>
                </a:cxn>
                <a:cxn ang="0">
                  <a:pos x="54" y="0"/>
                </a:cxn>
                <a:cxn ang="0">
                  <a:pos x="27" y="65"/>
                </a:cxn>
              </a:cxnLst>
              <a:rect l="0" t="0" r="r" b="b"/>
              <a:pathLst>
                <a:path w="54" h="65">
                  <a:moveTo>
                    <a:pt x="27" y="65"/>
                  </a:moveTo>
                  <a:lnTo>
                    <a:pt x="0" y="0"/>
                  </a:lnTo>
                  <a:lnTo>
                    <a:pt x="54" y="0"/>
                  </a:lnTo>
                  <a:lnTo>
                    <a:pt x="27" y="65"/>
                  </a:lnTo>
                  <a:close/>
                </a:path>
              </a:pathLst>
            </a:custGeom>
            <a:solidFill>
              <a:srgbClr val="0033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44218" name="Line 122"/>
            <p:cNvSpPr>
              <a:spLocks noChangeShapeType="1"/>
            </p:cNvSpPr>
            <p:nvPr/>
          </p:nvSpPr>
          <p:spPr bwMode="auto">
            <a:xfrm>
              <a:off x="627" y="2403"/>
              <a:ext cx="1" cy="123"/>
            </a:xfrm>
            <a:prstGeom prst="line">
              <a:avLst/>
            </a:prstGeom>
            <a:noFill/>
            <a:ln w="17463">
              <a:solidFill>
                <a:srgbClr val="0033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44220" name="Rectangle 124"/>
          <p:cNvSpPr>
            <a:spLocks noChangeArrowheads="1"/>
          </p:cNvSpPr>
          <p:nvPr/>
        </p:nvSpPr>
        <p:spPr bwMode="auto">
          <a:xfrm>
            <a:off x="1633538" y="3657600"/>
            <a:ext cx="546100" cy="13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900" b="1">
                <a:solidFill>
                  <a:srgbClr val="0033FF"/>
                </a:solidFill>
                <a:latin typeface="Arial" charset="0"/>
              </a:rPr>
              <a:t>MemWrite</a:t>
            </a:r>
            <a:endParaRPr lang="en-US"/>
          </a:p>
        </p:txBody>
      </p:sp>
      <p:sp>
        <p:nvSpPr>
          <p:cNvPr id="644221" name="Line 125"/>
          <p:cNvSpPr>
            <a:spLocks noChangeShapeType="1"/>
          </p:cNvSpPr>
          <p:nvPr/>
        </p:nvSpPr>
        <p:spPr bwMode="auto">
          <a:xfrm flipH="1">
            <a:off x="5130800" y="3403600"/>
            <a:ext cx="77788" cy="76200"/>
          </a:xfrm>
          <a:prstGeom prst="line">
            <a:avLst/>
          </a:prstGeom>
          <a:noFill/>
          <a:ln w="79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644222" name="Rectangle 126"/>
          <p:cNvSpPr>
            <a:spLocks noChangeArrowheads="1"/>
          </p:cNvSpPr>
          <p:nvPr/>
        </p:nvSpPr>
        <p:spPr bwMode="auto">
          <a:xfrm>
            <a:off x="5208588" y="3378200"/>
            <a:ext cx="10160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charset="0"/>
              </a:rPr>
              <a:t>5</a:t>
            </a:r>
            <a:endParaRPr lang="en-US"/>
          </a:p>
        </p:txBody>
      </p:sp>
      <p:grpSp>
        <p:nvGrpSpPr>
          <p:cNvPr id="17" name="Group 129"/>
          <p:cNvGrpSpPr>
            <a:grpSpLocks/>
          </p:cNvGrpSpPr>
          <p:nvPr/>
        </p:nvGrpSpPr>
        <p:grpSpPr bwMode="auto">
          <a:xfrm>
            <a:off x="5130800" y="3368675"/>
            <a:ext cx="85725" cy="230187"/>
            <a:chOff x="3232" y="2381"/>
            <a:chExt cx="54" cy="145"/>
          </a:xfrm>
        </p:grpSpPr>
        <p:sp>
          <p:nvSpPr>
            <p:cNvPr id="644223" name="Freeform 127"/>
            <p:cNvSpPr>
              <a:spLocks/>
            </p:cNvSpPr>
            <p:nvPr/>
          </p:nvSpPr>
          <p:spPr bwMode="auto">
            <a:xfrm>
              <a:off x="3232" y="2462"/>
              <a:ext cx="54" cy="64"/>
            </a:xfrm>
            <a:custGeom>
              <a:avLst/>
              <a:gdLst/>
              <a:ahLst/>
              <a:cxnLst>
                <a:cxn ang="0">
                  <a:pos x="27" y="64"/>
                </a:cxn>
                <a:cxn ang="0">
                  <a:pos x="0" y="0"/>
                </a:cxn>
                <a:cxn ang="0">
                  <a:pos x="54" y="0"/>
                </a:cxn>
                <a:cxn ang="0">
                  <a:pos x="27" y="64"/>
                </a:cxn>
              </a:cxnLst>
              <a:rect l="0" t="0" r="r" b="b"/>
              <a:pathLst>
                <a:path w="54" h="64">
                  <a:moveTo>
                    <a:pt x="27" y="64"/>
                  </a:moveTo>
                  <a:lnTo>
                    <a:pt x="0" y="0"/>
                  </a:lnTo>
                  <a:lnTo>
                    <a:pt x="54" y="0"/>
                  </a:lnTo>
                  <a:lnTo>
                    <a:pt x="27" y="6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44224" name="Line 128"/>
            <p:cNvSpPr>
              <a:spLocks noChangeShapeType="1"/>
            </p:cNvSpPr>
            <p:nvPr/>
          </p:nvSpPr>
          <p:spPr bwMode="auto">
            <a:xfrm>
              <a:off x="3259" y="2381"/>
              <a:ext cx="1" cy="124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8" name="Group 132"/>
          <p:cNvGrpSpPr>
            <a:grpSpLocks/>
          </p:cNvGrpSpPr>
          <p:nvPr/>
        </p:nvGrpSpPr>
        <p:grpSpPr bwMode="auto">
          <a:xfrm>
            <a:off x="6705600" y="4619625"/>
            <a:ext cx="195263" cy="103187"/>
            <a:chOff x="4224" y="3169"/>
            <a:chExt cx="123" cy="65"/>
          </a:xfrm>
        </p:grpSpPr>
        <p:sp>
          <p:nvSpPr>
            <p:cNvPr id="644226" name="Freeform 130"/>
            <p:cNvSpPr>
              <a:spLocks/>
            </p:cNvSpPr>
            <p:nvPr/>
          </p:nvSpPr>
          <p:spPr bwMode="auto">
            <a:xfrm>
              <a:off x="4272" y="3169"/>
              <a:ext cx="75" cy="65"/>
            </a:xfrm>
            <a:custGeom>
              <a:avLst/>
              <a:gdLst/>
              <a:ahLst/>
              <a:cxnLst>
                <a:cxn ang="0">
                  <a:pos x="75" y="33"/>
                </a:cxn>
                <a:cxn ang="0">
                  <a:pos x="0" y="65"/>
                </a:cxn>
                <a:cxn ang="0">
                  <a:pos x="0" y="0"/>
                </a:cxn>
                <a:cxn ang="0">
                  <a:pos x="75" y="33"/>
                </a:cxn>
              </a:cxnLst>
              <a:rect l="0" t="0" r="r" b="b"/>
              <a:pathLst>
                <a:path w="75" h="65">
                  <a:moveTo>
                    <a:pt x="75" y="33"/>
                  </a:moveTo>
                  <a:lnTo>
                    <a:pt x="0" y="65"/>
                  </a:lnTo>
                  <a:lnTo>
                    <a:pt x="0" y="0"/>
                  </a:lnTo>
                  <a:lnTo>
                    <a:pt x="75" y="3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44227" name="Line 131"/>
            <p:cNvSpPr>
              <a:spLocks noChangeShapeType="1"/>
            </p:cNvSpPr>
            <p:nvPr/>
          </p:nvSpPr>
          <p:spPr bwMode="auto">
            <a:xfrm flipH="1">
              <a:off x="4224" y="3202"/>
              <a:ext cx="86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44229" name="Rectangle 133"/>
          <p:cNvSpPr>
            <a:spLocks noChangeArrowheads="1"/>
          </p:cNvSpPr>
          <p:nvPr/>
        </p:nvSpPr>
        <p:spPr bwMode="auto">
          <a:xfrm>
            <a:off x="3302000" y="2730500"/>
            <a:ext cx="739775" cy="187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900" b="1">
                <a:solidFill>
                  <a:srgbClr val="000000"/>
                </a:solidFill>
                <a:latin typeface="Arial" charset="0"/>
              </a:rPr>
              <a:t>Instruction </a:t>
            </a:r>
            <a:endParaRPr lang="en-US"/>
          </a:p>
        </p:txBody>
      </p:sp>
      <p:sp>
        <p:nvSpPr>
          <p:cNvPr id="644230" name="Rectangle 134"/>
          <p:cNvSpPr>
            <a:spLocks noChangeArrowheads="1"/>
          </p:cNvSpPr>
          <p:nvPr/>
        </p:nvSpPr>
        <p:spPr bwMode="auto">
          <a:xfrm>
            <a:off x="3998913" y="2722562"/>
            <a:ext cx="119062" cy="187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900" b="1">
                <a:solidFill>
                  <a:srgbClr val="000000"/>
                </a:solidFill>
                <a:latin typeface="Bookman Old Style" pitchFamily="18" charset="0"/>
              </a:rPr>
              <a:t>I</a:t>
            </a:r>
            <a:endParaRPr lang="en-US"/>
          </a:p>
        </p:txBody>
      </p:sp>
      <p:sp>
        <p:nvSpPr>
          <p:cNvPr id="644231" name="Line 135"/>
          <p:cNvSpPr>
            <a:spLocks noChangeShapeType="1"/>
          </p:cNvSpPr>
          <p:nvPr/>
        </p:nvSpPr>
        <p:spPr bwMode="auto">
          <a:xfrm flipH="1">
            <a:off x="3216275" y="3216275"/>
            <a:ext cx="76200" cy="76200"/>
          </a:xfrm>
          <a:prstGeom prst="line">
            <a:avLst/>
          </a:prstGeom>
          <a:noFill/>
          <a:ln w="7938">
            <a:solidFill>
              <a:srgbClr val="44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644232" name="Rectangle 136"/>
          <p:cNvSpPr>
            <a:spLocks noChangeArrowheads="1"/>
          </p:cNvSpPr>
          <p:nvPr/>
        </p:nvSpPr>
        <p:spPr bwMode="auto">
          <a:xfrm>
            <a:off x="3292475" y="3190875"/>
            <a:ext cx="161925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charset="0"/>
              </a:rPr>
              <a:t>32</a:t>
            </a:r>
            <a:endParaRPr lang="en-US"/>
          </a:p>
        </p:txBody>
      </p:sp>
      <p:grpSp>
        <p:nvGrpSpPr>
          <p:cNvPr id="19" name="Group 139"/>
          <p:cNvGrpSpPr>
            <a:grpSpLocks/>
          </p:cNvGrpSpPr>
          <p:nvPr/>
        </p:nvGrpSpPr>
        <p:grpSpPr bwMode="auto">
          <a:xfrm>
            <a:off x="8467725" y="3317875"/>
            <a:ext cx="238125" cy="103187"/>
            <a:chOff x="5334" y="2349"/>
            <a:chExt cx="150" cy="65"/>
          </a:xfrm>
        </p:grpSpPr>
        <p:sp>
          <p:nvSpPr>
            <p:cNvPr id="644233" name="Freeform 137"/>
            <p:cNvSpPr>
              <a:spLocks/>
            </p:cNvSpPr>
            <p:nvPr/>
          </p:nvSpPr>
          <p:spPr bwMode="auto">
            <a:xfrm>
              <a:off x="5409" y="2349"/>
              <a:ext cx="75" cy="65"/>
            </a:xfrm>
            <a:custGeom>
              <a:avLst/>
              <a:gdLst/>
              <a:ahLst/>
              <a:cxnLst>
                <a:cxn ang="0">
                  <a:pos x="75" y="32"/>
                </a:cxn>
                <a:cxn ang="0">
                  <a:pos x="0" y="65"/>
                </a:cxn>
                <a:cxn ang="0">
                  <a:pos x="0" y="0"/>
                </a:cxn>
                <a:cxn ang="0">
                  <a:pos x="75" y="32"/>
                </a:cxn>
              </a:cxnLst>
              <a:rect l="0" t="0" r="r" b="b"/>
              <a:pathLst>
                <a:path w="75" h="65">
                  <a:moveTo>
                    <a:pt x="75" y="32"/>
                  </a:moveTo>
                  <a:lnTo>
                    <a:pt x="0" y="65"/>
                  </a:lnTo>
                  <a:lnTo>
                    <a:pt x="0" y="0"/>
                  </a:lnTo>
                  <a:lnTo>
                    <a:pt x="75" y="3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44234" name="Line 138"/>
            <p:cNvSpPr>
              <a:spLocks noChangeShapeType="1"/>
            </p:cNvSpPr>
            <p:nvPr/>
          </p:nvSpPr>
          <p:spPr bwMode="auto">
            <a:xfrm flipH="1">
              <a:off x="5334" y="2381"/>
              <a:ext cx="112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44236" name="Line 140"/>
          <p:cNvSpPr>
            <a:spLocks noChangeShapeType="1"/>
          </p:cNvSpPr>
          <p:nvPr/>
        </p:nvSpPr>
        <p:spPr bwMode="auto">
          <a:xfrm>
            <a:off x="6280150" y="4900612"/>
            <a:ext cx="1588" cy="46037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644237" name="Oval 141"/>
          <p:cNvSpPr>
            <a:spLocks noChangeArrowheads="1"/>
          </p:cNvSpPr>
          <p:nvPr/>
        </p:nvSpPr>
        <p:spPr bwMode="auto">
          <a:xfrm>
            <a:off x="7680325" y="4310062"/>
            <a:ext cx="33338" cy="25400"/>
          </a:xfrm>
          <a:prstGeom prst="ellipse">
            <a:avLst/>
          </a:prstGeom>
          <a:solidFill>
            <a:srgbClr val="440000"/>
          </a:solidFill>
          <a:ln w="254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grpSp>
        <p:nvGrpSpPr>
          <p:cNvPr id="20" name="Group 144"/>
          <p:cNvGrpSpPr>
            <a:grpSpLocks/>
          </p:cNvGrpSpPr>
          <p:nvPr/>
        </p:nvGrpSpPr>
        <p:grpSpPr bwMode="auto">
          <a:xfrm>
            <a:off x="6543675" y="4935537"/>
            <a:ext cx="85725" cy="195263"/>
            <a:chOff x="4122" y="3368"/>
            <a:chExt cx="54" cy="123"/>
          </a:xfrm>
        </p:grpSpPr>
        <p:sp>
          <p:nvSpPr>
            <p:cNvPr id="644238" name="Freeform 142"/>
            <p:cNvSpPr>
              <a:spLocks/>
            </p:cNvSpPr>
            <p:nvPr/>
          </p:nvSpPr>
          <p:spPr bwMode="auto">
            <a:xfrm>
              <a:off x="4122" y="3368"/>
              <a:ext cx="54" cy="64"/>
            </a:xfrm>
            <a:custGeom>
              <a:avLst/>
              <a:gdLst/>
              <a:ahLst/>
              <a:cxnLst>
                <a:cxn ang="0">
                  <a:pos x="27" y="0"/>
                </a:cxn>
                <a:cxn ang="0">
                  <a:pos x="54" y="64"/>
                </a:cxn>
                <a:cxn ang="0">
                  <a:pos x="0" y="64"/>
                </a:cxn>
                <a:cxn ang="0">
                  <a:pos x="27" y="0"/>
                </a:cxn>
              </a:cxnLst>
              <a:rect l="0" t="0" r="r" b="b"/>
              <a:pathLst>
                <a:path w="54" h="64">
                  <a:moveTo>
                    <a:pt x="27" y="0"/>
                  </a:moveTo>
                  <a:lnTo>
                    <a:pt x="54" y="64"/>
                  </a:lnTo>
                  <a:lnTo>
                    <a:pt x="0" y="64"/>
                  </a:lnTo>
                  <a:lnTo>
                    <a:pt x="27" y="0"/>
                  </a:lnTo>
                  <a:close/>
                </a:path>
              </a:pathLst>
            </a:custGeom>
            <a:solidFill>
              <a:srgbClr val="0033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44239" name="Line 143"/>
            <p:cNvSpPr>
              <a:spLocks noChangeShapeType="1"/>
            </p:cNvSpPr>
            <p:nvPr/>
          </p:nvSpPr>
          <p:spPr bwMode="auto">
            <a:xfrm>
              <a:off x="4149" y="3389"/>
              <a:ext cx="1" cy="102"/>
            </a:xfrm>
            <a:prstGeom prst="line">
              <a:avLst/>
            </a:prstGeom>
            <a:noFill/>
            <a:ln w="17463">
              <a:solidFill>
                <a:srgbClr val="0033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44241" name="Rectangle 145"/>
          <p:cNvSpPr>
            <a:spLocks noChangeArrowheads="1"/>
          </p:cNvSpPr>
          <p:nvPr/>
        </p:nvSpPr>
        <p:spPr bwMode="auto">
          <a:xfrm>
            <a:off x="6348413" y="5146675"/>
            <a:ext cx="501650" cy="13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900" b="1">
                <a:solidFill>
                  <a:srgbClr val="0033FF"/>
                </a:solidFill>
                <a:latin typeface="Arial" charset="0"/>
              </a:rPr>
              <a:t>ALUSrcB</a:t>
            </a:r>
            <a:endParaRPr lang="en-US"/>
          </a:p>
        </p:txBody>
      </p:sp>
      <p:sp>
        <p:nvSpPr>
          <p:cNvPr id="644242" name="Line 146"/>
          <p:cNvSpPr>
            <a:spLocks noChangeShapeType="1"/>
          </p:cNvSpPr>
          <p:nvPr/>
        </p:nvSpPr>
        <p:spPr bwMode="auto">
          <a:xfrm>
            <a:off x="7700963" y="3556000"/>
            <a:ext cx="1587" cy="766762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644243" name="Line 147"/>
          <p:cNvSpPr>
            <a:spLocks noChangeShapeType="1"/>
          </p:cNvSpPr>
          <p:nvPr/>
        </p:nvSpPr>
        <p:spPr bwMode="auto">
          <a:xfrm flipH="1">
            <a:off x="5821363" y="5360987"/>
            <a:ext cx="458787" cy="1588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644244" name="AutoShape 148"/>
          <p:cNvSpPr>
            <a:spLocks noChangeArrowheads="1"/>
          </p:cNvSpPr>
          <p:nvPr/>
        </p:nvSpPr>
        <p:spPr bwMode="auto">
          <a:xfrm>
            <a:off x="5441950" y="5245100"/>
            <a:ext cx="374650" cy="298450"/>
          </a:xfrm>
          <a:prstGeom prst="roundRect">
            <a:avLst>
              <a:gd name="adj" fmla="val 47370"/>
            </a:avLst>
          </a:prstGeom>
          <a:noFill/>
          <a:ln w="254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644245" name="Rectangle 149"/>
          <p:cNvSpPr>
            <a:spLocks noChangeArrowheads="1"/>
          </p:cNvSpPr>
          <p:nvPr/>
        </p:nvSpPr>
        <p:spPr bwMode="auto">
          <a:xfrm>
            <a:off x="5472113" y="5300662"/>
            <a:ext cx="374650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200" b="1">
                <a:solidFill>
                  <a:srgbClr val="000000"/>
                </a:solidFill>
                <a:latin typeface="Courier New" pitchFamily="49" charset="0"/>
              </a:rPr>
              <a:t>&lt;&lt;2</a:t>
            </a:r>
            <a:endParaRPr lang="en-US"/>
          </a:p>
        </p:txBody>
      </p:sp>
      <p:sp>
        <p:nvSpPr>
          <p:cNvPr id="644246" name="Line 150"/>
          <p:cNvSpPr>
            <a:spLocks noChangeShapeType="1"/>
          </p:cNvSpPr>
          <p:nvPr/>
        </p:nvSpPr>
        <p:spPr bwMode="auto">
          <a:xfrm flipH="1">
            <a:off x="688975" y="2373312"/>
            <a:ext cx="6859588" cy="1588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644247" name="Rectangle 151"/>
          <p:cNvSpPr>
            <a:spLocks noChangeArrowheads="1"/>
          </p:cNvSpPr>
          <p:nvPr/>
        </p:nvSpPr>
        <p:spPr bwMode="auto">
          <a:xfrm>
            <a:off x="276225" y="3373437"/>
            <a:ext cx="298450" cy="714375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grpSp>
        <p:nvGrpSpPr>
          <p:cNvPr id="21" name="Group 154"/>
          <p:cNvGrpSpPr>
            <a:grpSpLocks/>
          </p:cNvGrpSpPr>
          <p:nvPr/>
        </p:nvGrpSpPr>
        <p:grpSpPr bwMode="auto">
          <a:xfrm>
            <a:off x="76200" y="3700462"/>
            <a:ext cx="204788" cy="103188"/>
            <a:chOff x="48" y="2590"/>
            <a:chExt cx="129" cy="65"/>
          </a:xfrm>
        </p:grpSpPr>
        <p:sp>
          <p:nvSpPr>
            <p:cNvPr id="644248" name="Freeform 152"/>
            <p:cNvSpPr>
              <a:spLocks/>
            </p:cNvSpPr>
            <p:nvPr/>
          </p:nvSpPr>
          <p:spPr bwMode="auto">
            <a:xfrm>
              <a:off x="102" y="2590"/>
              <a:ext cx="75" cy="65"/>
            </a:xfrm>
            <a:custGeom>
              <a:avLst/>
              <a:gdLst/>
              <a:ahLst/>
              <a:cxnLst>
                <a:cxn ang="0">
                  <a:pos x="75" y="33"/>
                </a:cxn>
                <a:cxn ang="0">
                  <a:pos x="0" y="65"/>
                </a:cxn>
                <a:cxn ang="0">
                  <a:pos x="0" y="0"/>
                </a:cxn>
                <a:cxn ang="0">
                  <a:pos x="75" y="33"/>
                </a:cxn>
              </a:cxnLst>
              <a:rect l="0" t="0" r="r" b="b"/>
              <a:pathLst>
                <a:path w="75" h="65">
                  <a:moveTo>
                    <a:pt x="75" y="33"/>
                  </a:moveTo>
                  <a:lnTo>
                    <a:pt x="0" y="65"/>
                  </a:lnTo>
                  <a:lnTo>
                    <a:pt x="0" y="0"/>
                  </a:lnTo>
                  <a:lnTo>
                    <a:pt x="75" y="3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44249" name="Line 153"/>
            <p:cNvSpPr>
              <a:spLocks noChangeShapeType="1"/>
            </p:cNvSpPr>
            <p:nvPr/>
          </p:nvSpPr>
          <p:spPr bwMode="auto">
            <a:xfrm flipH="1">
              <a:off x="48" y="2623"/>
              <a:ext cx="91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2" name="Group 157"/>
          <p:cNvGrpSpPr>
            <a:grpSpLocks/>
          </p:cNvGrpSpPr>
          <p:nvPr/>
        </p:nvGrpSpPr>
        <p:grpSpPr bwMode="auto">
          <a:xfrm>
            <a:off x="579438" y="3700462"/>
            <a:ext cx="314325" cy="103188"/>
            <a:chOff x="365" y="2590"/>
            <a:chExt cx="198" cy="65"/>
          </a:xfrm>
        </p:grpSpPr>
        <p:sp>
          <p:nvSpPr>
            <p:cNvPr id="644251" name="Freeform 155"/>
            <p:cNvSpPr>
              <a:spLocks/>
            </p:cNvSpPr>
            <p:nvPr/>
          </p:nvSpPr>
          <p:spPr bwMode="auto">
            <a:xfrm>
              <a:off x="488" y="2590"/>
              <a:ext cx="75" cy="65"/>
            </a:xfrm>
            <a:custGeom>
              <a:avLst/>
              <a:gdLst/>
              <a:ahLst/>
              <a:cxnLst>
                <a:cxn ang="0">
                  <a:pos x="75" y="33"/>
                </a:cxn>
                <a:cxn ang="0">
                  <a:pos x="0" y="65"/>
                </a:cxn>
                <a:cxn ang="0">
                  <a:pos x="0" y="0"/>
                </a:cxn>
                <a:cxn ang="0">
                  <a:pos x="75" y="33"/>
                </a:cxn>
              </a:cxnLst>
              <a:rect l="0" t="0" r="r" b="b"/>
              <a:pathLst>
                <a:path w="75" h="65">
                  <a:moveTo>
                    <a:pt x="75" y="33"/>
                  </a:moveTo>
                  <a:lnTo>
                    <a:pt x="0" y="65"/>
                  </a:lnTo>
                  <a:lnTo>
                    <a:pt x="0" y="0"/>
                  </a:lnTo>
                  <a:lnTo>
                    <a:pt x="75" y="3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44252" name="Line 156"/>
            <p:cNvSpPr>
              <a:spLocks noChangeShapeType="1"/>
            </p:cNvSpPr>
            <p:nvPr/>
          </p:nvSpPr>
          <p:spPr bwMode="auto">
            <a:xfrm flipH="1">
              <a:off x="365" y="2623"/>
              <a:ext cx="160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44254" name="Rectangle 158"/>
          <p:cNvSpPr>
            <a:spLocks noChangeArrowheads="1"/>
          </p:cNvSpPr>
          <p:nvPr/>
        </p:nvSpPr>
        <p:spPr bwMode="auto">
          <a:xfrm>
            <a:off x="314325" y="3471862"/>
            <a:ext cx="2889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200" b="1">
                <a:solidFill>
                  <a:srgbClr val="000000"/>
                </a:solidFill>
                <a:latin typeface="Arial" charset="0"/>
              </a:rPr>
              <a:t>PC</a:t>
            </a:r>
            <a:endParaRPr lang="en-US"/>
          </a:p>
        </p:txBody>
      </p:sp>
      <p:sp>
        <p:nvSpPr>
          <p:cNvPr id="644255" name="Rectangle 159"/>
          <p:cNvSpPr>
            <a:spLocks noChangeArrowheads="1"/>
          </p:cNvSpPr>
          <p:nvPr/>
        </p:nvSpPr>
        <p:spPr bwMode="auto">
          <a:xfrm>
            <a:off x="6143625" y="4508500"/>
            <a:ext cx="127000" cy="187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900" b="1">
                <a:solidFill>
                  <a:srgbClr val="000000"/>
                </a:solidFill>
                <a:latin typeface="Arial" charset="0"/>
              </a:rPr>
              <a:t>4</a:t>
            </a:r>
            <a:endParaRPr lang="en-US"/>
          </a:p>
        </p:txBody>
      </p:sp>
      <p:sp>
        <p:nvSpPr>
          <p:cNvPr id="644256" name="Line 160"/>
          <p:cNvSpPr>
            <a:spLocks noChangeShapeType="1"/>
          </p:cNvSpPr>
          <p:nvPr/>
        </p:nvSpPr>
        <p:spPr bwMode="auto">
          <a:xfrm>
            <a:off x="688975" y="2373312"/>
            <a:ext cx="1588" cy="1379538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644257" name="Line 161"/>
          <p:cNvSpPr>
            <a:spLocks noChangeShapeType="1"/>
          </p:cNvSpPr>
          <p:nvPr/>
        </p:nvSpPr>
        <p:spPr bwMode="auto">
          <a:xfrm>
            <a:off x="76200" y="2178050"/>
            <a:ext cx="1588" cy="157480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644258" name="Line 162"/>
          <p:cNvSpPr>
            <a:spLocks noChangeShapeType="1"/>
          </p:cNvSpPr>
          <p:nvPr/>
        </p:nvSpPr>
        <p:spPr bwMode="auto">
          <a:xfrm>
            <a:off x="6169025" y="2373312"/>
            <a:ext cx="1588" cy="141287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grpSp>
        <p:nvGrpSpPr>
          <p:cNvPr id="23" name="Group 165"/>
          <p:cNvGrpSpPr>
            <a:grpSpLocks/>
          </p:cNvGrpSpPr>
          <p:nvPr/>
        </p:nvGrpSpPr>
        <p:grpSpPr bwMode="auto">
          <a:xfrm>
            <a:off x="7497763" y="2373312"/>
            <a:ext cx="101600" cy="392113"/>
            <a:chOff x="4723" y="1754"/>
            <a:chExt cx="64" cy="247"/>
          </a:xfrm>
        </p:grpSpPr>
        <p:sp>
          <p:nvSpPr>
            <p:cNvPr id="644259" name="Freeform 163"/>
            <p:cNvSpPr>
              <a:spLocks/>
            </p:cNvSpPr>
            <p:nvPr/>
          </p:nvSpPr>
          <p:spPr bwMode="auto">
            <a:xfrm>
              <a:off x="4723" y="1926"/>
              <a:ext cx="64" cy="75"/>
            </a:xfrm>
            <a:custGeom>
              <a:avLst/>
              <a:gdLst/>
              <a:ahLst/>
              <a:cxnLst>
                <a:cxn ang="0">
                  <a:pos x="32" y="75"/>
                </a:cxn>
                <a:cxn ang="0">
                  <a:pos x="0" y="0"/>
                </a:cxn>
                <a:cxn ang="0">
                  <a:pos x="64" y="0"/>
                </a:cxn>
                <a:cxn ang="0">
                  <a:pos x="32" y="75"/>
                </a:cxn>
              </a:cxnLst>
              <a:rect l="0" t="0" r="r" b="b"/>
              <a:pathLst>
                <a:path w="64" h="75">
                  <a:moveTo>
                    <a:pt x="32" y="75"/>
                  </a:moveTo>
                  <a:lnTo>
                    <a:pt x="0" y="0"/>
                  </a:lnTo>
                  <a:lnTo>
                    <a:pt x="64" y="0"/>
                  </a:lnTo>
                  <a:lnTo>
                    <a:pt x="32" y="7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44260" name="Line 164"/>
            <p:cNvSpPr>
              <a:spLocks noChangeShapeType="1"/>
            </p:cNvSpPr>
            <p:nvPr/>
          </p:nvSpPr>
          <p:spPr bwMode="auto">
            <a:xfrm>
              <a:off x="4755" y="1754"/>
              <a:ext cx="1" cy="20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44262" name="Line 166"/>
          <p:cNvSpPr>
            <a:spLocks noChangeShapeType="1"/>
          </p:cNvSpPr>
          <p:nvPr/>
        </p:nvSpPr>
        <p:spPr bwMode="auto">
          <a:xfrm>
            <a:off x="8237538" y="2909887"/>
            <a:ext cx="1587" cy="26352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644263" name="Oval 167"/>
          <p:cNvSpPr>
            <a:spLocks noChangeArrowheads="1"/>
          </p:cNvSpPr>
          <p:nvPr/>
        </p:nvSpPr>
        <p:spPr bwMode="auto">
          <a:xfrm>
            <a:off x="5194300" y="5381625"/>
            <a:ext cx="26988" cy="25400"/>
          </a:xfrm>
          <a:prstGeom prst="ellipse">
            <a:avLst/>
          </a:prstGeom>
          <a:solidFill>
            <a:srgbClr val="440000"/>
          </a:solidFill>
          <a:ln w="254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644264" name="Oval 168"/>
          <p:cNvSpPr>
            <a:spLocks noChangeArrowheads="1"/>
          </p:cNvSpPr>
          <p:nvPr/>
        </p:nvSpPr>
        <p:spPr bwMode="auto">
          <a:xfrm>
            <a:off x="676275" y="3730625"/>
            <a:ext cx="25400" cy="34925"/>
          </a:xfrm>
          <a:prstGeom prst="ellipse">
            <a:avLst/>
          </a:prstGeom>
          <a:solidFill>
            <a:srgbClr val="440000"/>
          </a:solidFill>
          <a:ln w="254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644265" name="Line 169"/>
          <p:cNvSpPr>
            <a:spLocks noChangeShapeType="1"/>
          </p:cNvSpPr>
          <p:nvPr/>
        </p:nvSpPr>
        <p:spPr bwMode="auto">
          <a:xfrm flipH="1">
            <a:off x="7854950" y="2909887"/>
            <a:ext cx="382588" cy="1588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644266" name="Line 170"/>
          <p:cNvSpPr>
            <a:spLocks noChangeShapeType="1"/>
          </p:cNvSpPr>
          <p:nvPr/>
        </p:nvSpPr>
        <p:spPr bwMode="auto">
          <a:xfrm flipH="1">
            <a:off x="8926513" y="3368675"/>
            <a:ext cx="153987" cy="1587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grpSp>
        <p:nvGrpSpPr>
          <p:cNvPr id="24" name="Group 173"/>
          <p:cNvGrpSpPr>
            <a:grpSpLocks/>
          </p:cNvGrpSpPr>
          <p:nvPr/>
        </p:nvGrpSpPr>
        <p:grpSpPr bwMode="auto">
          <a:xfrm>
            <a:off x="5403850" y="3173412"/>
            <a:ext cx="187325" cy="85725"/>
            <a:chOff x="3404" y="2258"/>
            <a:chExt cx="118" cy="54"/>
          </a:xfrm>
        </p:grpSpPr>
        <p:sp>
          <p:nvSpPr>
            <p:cNvPr id="644267" name="Freeform 171"/>
            <p:cNvSpPr>
              <a:spLocks/>
            </p:cNvSpPr>
            <p:nvPr/>
          </p:nvSpPr>
          <p:spPr bwMode="auto">
            <a:xfrm>
              <a:off x="3404" y="2258"/>
              <a:ext cx="64" cy="54"/>
            </a:xfrm>
            <a:custGeom>
              <a:avLst/>
              <a:gdLst/>
              <a:ahLst/>
              <a:cxnLst>
                <a:cxn ang="0">
                  <a:pos x="0" y="27"/>
                </a:cxn>
                <a:cxn ang="0">
                  <a:pos x="64" y="0"/>
                </a:cxn>
                <a:cxn ang="0">
                  <a:pos x="64" y="54"/>
                </a:cxn>
                <a:cxn ang="0">
                  <a:pos x="0" y="27"/>
                </a:cxn>
              </a:cxnLst>
              <a:rect l="0" t="0" r="r" b="b"/>
              <a:pathLst>
                <a:path w="64" h="54">
                  <a:moveTo>
                    <a:pt x="0" y="27"/>
                  </a:moveTo>
                  <a:lnTo>
                    <a:pt x="64" y="0"/>
                  </a:lnTo>
                  <a:lnTo>
                    <a:pt x="64" y="54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0033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44268" name="Line 172"/>
            <p:cNvSpPr>
              <a:spLocks noChangeShapeType="1"/>
            </p:cNvSpPr>
            <p:nvPr/>
          </p:nvSpPr>
          <p:spPr bwMode="auto">
            <a:xfrm flipH="1">
              <a:off x="3425" y="2285"/>
              <a:ext cx="97" cy="1"/>
            </a:xfrm>
            <a:prstGeom prst="line">
              <a:avLst/>
            </a:prstGeom>
            <a:noFill/>
            <a:ln w="17463">
              <a:solidFill>
                <a:srgbClr val="0033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44270" name="Rectangle 174"/>
          <p:cNvSpPr>
            <a:spLocks noChangeArrowheads="1"/>
          </p:cNvSpPr>
          <p:nvPr/>
        </p:nvSpPr>
        <p:spPr bwMode="auto">
          <a:xfrm>
            <a:off x="5624513" y="3148012"/>
            <a:ext cx="400050" cy="13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900" b="1">
                <a:solidFill>
                  <a:srgbClr val="0033FF"/>
                </a:solidFill>
                <a:latin typeface="Arial" charset="0"/>
              </a:rPr>
              <a:t>RegDst</a:t>
            </a:r>
            <a:endParaRPr lang="en-US"/>
          </a:p>
        </p:txBody>
      </p:sp>
      <p:grpSp>
        <p:nvGrpSpPr>
          <p:cNvPr id="25" name="Group 177"/>
          <p:cNvGrpSpPr>
            <a:grpSpLocks/>
          </p:cNvGrpSpPr>
          <p:nvPr/>
        </p:nvGrpSpPr>
        <p:grpSpPr bwMode="auto">
          <a:xfrm>
            <a:off x="5284788" y="2909887"/>
            <a:ext cx="84137" cy="230188"/>
            <a:chOff x="3329" y="2092"/>
            <a:chExt cx="53" cy="145"/>
          </a:xfrm>
        </p:grpSpPr>
        <p:sp>
          <p:nvSpPr>
            <p:cNvPr id="644271" name="Freeform 175"/>
            <p:cNvSpPr>
              <a:spLocks/>
            </p:cNvSpPr>
            <p:nvPr/>
          </p:nvSpPr>
          <p:spPr bwMode="auto">
            <a:xfrm>
              <a:off x="3329" y="2172"/>
              <a:ext cx="53" cy="65"/>
            </a:xfrm>
            <a:custGeom>
              <a:avLst/>
              <a:gdLst/>
              <a:ahLst/>
              <a:cxnLst>
                <a:cxn ang="0">
                  <a:pos x="27" y="65"/>
                </a:cxn>
                <a:cxn ang="0">
                  <a:pos x="0" y="0"/>
                </a:cxn>
                <a:cxn ang="0">
                  <a:pos x="53" y="0"/>
                </a:cxn>
                <a:cxn ang="0">
                  <a:pos x="27" y="65"/>
                </a:cxn>
              </a:cxnLst>
              <a:rect l="0" t="0" r="r" b="b"/>
              <a:pathLst>
                <a:path w="53" h="65">
                  <a:moveTo>
                    <a:pt x="27" y="65"/>
                  </a:moveTo>
                  <a:lnTo>
                    <a:pt x="0" y="0"/>
                  </a:lnTo>
                  <a:lnTo>
                    <a:pt x="53" y="0"/>
                  </a:lnTo>
                  <a:lnTo>
                    <a:pt x="27" y="6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44272" name="Line 176"/>
            <p:cNvSpPr>
              <a:spLocks noChangeShapeType="1"/>
            </p:cNvSpPr>
            <p:nvPr/>
          </p:nvSpPr>
          <p:spPr bwMode="auto">
            <a:xfrm>
              <a:off x="3356" y="2092"/>
              <a:ext cx="1" cy="123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6" name="Group 180"/>
          <p:cNvGrpSpPr>
            <a:grpSpLocks/>
          </p:cNvGrpSpPr>
          <p:nvPr/>
        </p:nvGrpSpPr>
        <p:grpSpPr bwMode="auto">
          <a:xfrm>
            <a:off x="4978400" y="2986087"/>
            <a:ext cx="84138" cy="153988"/>
            <a:chOff x="3136" y="2140"/>
            <a:chExt cx="53" cy="97"/>
          </a:xfrm>
        </p:grpSpPr>
        <p:sp>
          <p:nvSpPr>
            <p:cNvPr id="644274" name="Freeform 178"/>
            <p:cNvSpPr>
              <a:spLocks/>
            </p:cNvSpPr>
            <p:nvPr/>
          </p:nvSpPr>
          <p:spPr bwMode="auto">
            <a:xfrm>
              <a:off x="3136" y="2172"/>
              <a:ext cx="53" cy="65"/>
            </a:xfrm>
            <a:custGeom>
              <a:avLst/>
              <a:gdLst/>
              <a:ahLst/>
              <a:cxnLst>
                <a:cxn ang="0">
                  <a:pos x="27" y="65"/>
                </a:cxn>
                <a:cxn ang="0">
                  <a:pos x="0" y="0"/>
                </a:cxn>
                <a:cxn ang="0">
                  <a:pos x="53" y="0"/>
                </a:cxn>
                <a:cxn ang="0">
                  <a:pos x="27" y="65"/>
                </a:cxn>
              </a:cxnLst>
              <a:rect l="0" t="0" r="r" b="b"/>
              <a:pathLst>
                <a:path w="53" h="65">
                  <a:moveTo>
                    <a:pt x="27" y="65"/>
                  </a:moveTo>
                  <a:lnTo>
                    <a:pt x="0" y="0"/>
                  </a:lnTo>
                  <a:lnTo>
                    <a:pt x="53" y="0"/>
                  </a:lnTo>
                  <a:lnTo>
                    <a:pt x="27" y="6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44275" name="Line 179"/>
            <p:cNvSpPr>
              <a:spLocks noChangeShapeType="1"/>
            </p:cNvSpPr>
            <p:nvPr/>
          </p:nvSpPr>
          <p:spPr bwMode="auto">
            <a:xfrm>
              <a:off x="3163" y="2140"/>
              <a:ext cx="1" cy="75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44277" name="Line 181"/>
          <p:cNvSpPr>
            <a:spLocks noChangeShapeType="1"/>
          </p:cNvSpPr>
          <p:nvPr/>
        </p:nvSpPr>
        <p:spPr bwMode="auto">
          <a:xfrm flipH="1">
            <a:off x="4791075" y="2986087"/>
            <a:ext cx="230188" cy="1588"/>
          </a:xfrm>
          <a:prstGeom prst="line">
            <a:avLst/>
          </a:prstGeom>
          <a:noFill/>
          <a:ln w="174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644278" name="Oval 182"/>
          <p:cNvSpPr>
            <a:spLocks noChangeArrowheads="1"/>
          </p:cNvSpPr>
          <p:nvPr/>
        </p:nvSpPr>
        <p:spPr bwMode="auto">
          <a:xfrm>
            <a:off x="4764088" y="2960687"/>
            <a:ext cx="44450" cy="42863"/>
          </a:xfrm>
          <a:prstGeom prst="ellipse">
            <a:avLst/>
          </a:prstGeom>
          <a:solidFill>
            <a:srgbClr val="000000"/>
          </a:solidFill>
          <a:ln w="174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644279" name="Line 183"/>
          <p:cNvSpPr>
            <a:spLocks noChangeShapeType="1"/>
          </p:cNvSpPr>
          <p:nvPr/>
        </p:nvSpPr>
        <p:spPr bwMode="auto">
          <a:xfrm flipH="1">
            <a:off x="5284788" y="2927350"/>
            <a:ext cx="76200" cy="76200"/>
          </a:xfrm>
          <a:prstGeom prst="line">
            <a:avLst/>
          </a:prstGeom>
          <a:noFill/>
          <a:ln w="79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644280" name="Rectangle 184"/>
          <p:cNvSpPr>
            <a:spLocks noChangeArrowheads="1"/>
          </p:cNvSpPr>
          <p:nvPr/>
        </p:nvSpPr>
        <p:spPr bwMode="auto">
          <a:xfrm>
            <a:off x="5208588" y="2901950"/>
            <a:ext cx="10160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charset="0"/>
              </a:rPr>
              <a:t>5</a:t>
            </a:r>
            <a:endParaRPr lang="en-US"/>
          </a:p>
        </p:txBody>
      </p:sp>
      <p:grpSp>
        <p:nvGrpSpPr>
          <p:cNvPr id="27" name="Group 187"/>
          <p:cNvGrpSpPr>
            <a:grpSpLocks/>
          </p:cNvGrpSpPr>
          <p:nvPr/>
        </p:nvGrpSpPr>
        <p:grpSpPr bwMode="auto">
          <a:xfrm>
            <a:off x="1114425" y="3811587"/>
            <a:ext cx="238125" cy="101600"/>
            <a:chOff x="702" y="2660"/>
            <a:chExt cx="150" cy="64"/>
          </a:xfrm>
        </p:grpSpPr>
        <p:sp>
          <p:nvSpPr>
            <p:cNvPr id="644281" name="Freeform 185"/>
            <p:cNvSpPr>
              <a:spLocks/>
            </p:cNvSpPr>
            <p:nvPr/>
          </p:nvSpPr>
          <p:spPr bwMode="auto">
            <a:xfrm>
              <a:off x="777" y="2660"/>
              <a:ext cx="75" cy="64"/>
            </a:xfrm>
            <a:custGeom>
              <a:avLst/>
              <a:gdLst/>
              <a:ahLst/>
              <a:cxnLst>
                <a:cxn ang="0">
                  <a:pos x="75" y="32"/>
                </a:cxn>
                <a:cxn ang="0">
                  <a:pos x="0" y="64"/>
                </a:cxn>
                <a:cxn ang="0">
                  <a:pos x="0" y="0"/>
                </a:cxn>
                <a:cxn ang="0">
                  <a:pos x="75" y="32"/>
                </a:cxn>
              </a:cxnLst>
              <a:rect l="0" t="0" r="r" b="b"/>
              <a:pathLst>
                <a:path w="75" h="64">
                  <a:moveTo>
                    <a:pt x="75" y="32"/>
                  </a:moveTo>
                  <a:lnTo>
                    <a:pt x="0" y="64"/>
                  </a:lnTo>
                  <a:lnTo>
                    <a:pt x="0" y="0"/>
                  </a:lnTo>
                  <a:lnTo>
                    <a:pt x="75" y="3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44282" name="Line 186"/>
            <p:cNvSpPr>
              <a:spLocks noChangeShapeType="1"/>
            </p:cNvSpPr>
            <p:nvPr/>
          </p:nvSpPr>
          <p:spPr bwMode="auto">
            <a:xfrm flipH="1">
              <a:off x="702" y="2692"/>
              <a:ext cx="113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44284" name="Rectangle 188"/>
          <p:cNvSpPr>
            <a:spLocks noChangeArrowheads="1"/>
          </p:cNvSpPr>
          <p:nvPr/>
        </p:nvSpPr>
        <p:spPr bwMode="auto">
          <a:xfrm>
            <a:off x="2838450" y="2530475"/>
            <a:ext cx="296863" cy="715962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644285" name="Rectangle 189"/>
          <p:cNvSpPr>
            <a:spLocks noChangeArrowheads="1"/>
          </p:cNvSpPr>
          <p:nvPr/>
        </p:nvSpPr>
        <p:spPr bwMode="auto">
          <a:xfrm>
            <a:off x="2970213" y="2628900"/>
            <a:ext cx="119062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200" b="1">
                <a:solidFill>
                  <a:srgbClr val="000000"/>
                </a:solidFill>
                <a:latin typeface="Arial" charset="0"/>
              </a:rPr>
              <a:t>I</a:t>
            </a:r>
            <a:endParaRPr lang="en-US"/>
          </a:p>
        </p:txBody>
      </p:sp>
      <p:sp>
        <p:nvSpPr>
          <p:cNvPr id="644286" name="Rectangle 190"/>
          <p:cNvSpPr>
            <a:spLocks noChangeArrowheads="1"/>
          </p:cNvSpPr>
          <p:nvPr/>
        </p:nvSpPr>
        <p:spPr bwMode="auto">
          <a:xfrm>
            <a:off x="2935288" y="2782887"/>
            <a:ext cx="1873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200" b="1">
                <a:solidFill>
                  <a:srgbClr val="000000"/>
                </a:solidFill>
                <a:latin typeface="Arial" charset="0"/>
              </a:rPr>
              <a:t>R</a:t>
            </a:r>
            <a:endParaRPr lang="en-US"/>
          </a:p>
        </p:txBody>
      </p:sp>
      <p:sp>
        <p:nvSpPr>
          <p:cNvPr id="644287" name="Rectangle 191"/>
          <p:cNvSpPr>
            <a:spLocks noChangeArrowheads="1"/>
          </p:cNvSpPr>
          <p:nvPr/>
        </p:nvSpPr>
        <p:spPr bwMode="auto">
          <a:xfrm>
            <a:off x="2838450" y="3679825"/>
            <a:ext cx="296863" cy="714375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644288" name="Rectangle 192"/>
          <p:cNvSpPr>
            <a:spLocks noChangeArrowheads="1"/>
          </p:cNvSpPr>
          <p:nvPr/>
        </p:nvSpPr>
        <p:spPr bwMode="auto">
          <a:xfrm>
            <a:off x="2927350" y="3778250"/>
            <a:ext cx="20478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200" b="1">
                <a:solidFill>
                  <a:srgbClr val="000000"/>
                </a:solidFill>
                <a:latin typeface="Arial" charset="0"/>
              </a:rPr>
              <a:t>M</a:t>
            </a:r>
            <a:endParaRPr lang="en-US"/>
          </a:p>
        </p:txBody>
      </p:sp>
      <p:sp>
        <p:nvSpPr>
          <p:cNvPr id="644289" name="Rectangle 193"/>
          <p:cNvSpPr>
            <a:spLocks noChangeArrowheads="1"/>
          </p:cNvSpPr>
          <p:nvPr/>
        </p:nvSpPr>
        <p:spPr bwMode="auto">
          <a:xfrm>
            <a:off x="2935288" y="3930650"/>
            <a:ext cx="1873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200" b="1">
                <a:solidFill>
                  <a:srgbClr val="000000"/>
                </a:solidFill>
                <a:latin typeface="Arial" charset="0"/>
              </a:rPr>
              <a:t>D</a:t>
            </a:r>
            <a:endParaRPr lang="en-US"/>
          </a:p>
        </p:txBody>
      </p:sp>
      <p:sp>
        <p:nvSpPr>
          <p:cNvPr id="644290" name="Rectangle 194"/>
          <p:cNvSpPr>
            <a:spLocks noChangeArrowheads="1"/>
          </p:cNvSpPr>
          <p:nvPr/>
        </p:nvSpPr>
        <p:spPr bwMode="auto">
          <a:xfrm>
            <a:off x="2935288" y="4084637"/>
            <a:ext cx="1873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200" b="1">
                <a:solidFill>
                  <a:srgbClr val="000000"/>
                </a:solidFill>
                <a:latin typeface="Arial" charset="0"/>
              </a:rPr>
              <a:t>R</a:t>
            </a:r>
            <a:endParaRPr lang="en-US"/>
          </a:p>
        </p:txBody>
      </p:sp>
      <p:sp>
        <p:nvSpPr>
          <p:cNvPr id="644291" name="Line 195"/>
          <p:cNvSpPr>
            <a:spLocks noChangeShapeType="1"/>
          </p:cNvSpPr>
          <p:nvPr/>
        </p:nvSpPr>
        <p:spPr bwMode="auto">
          <a:xfrm flipH="1">
            <a:off x="2493963" y="4211637"/>
            <a:ext cx="152400" cy="1588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grpSp>
        <p:nvGrpSpPr>
          <p:cNvPr id="28" name="Group 198"/>
          <p:cNvGrpSpPr>
            <a:grpSpLocks/>
          </p:cNvGrpSpPr>
          <p:nvPr/>
        </p:nvGrpSpPr>
        <p:grpSpPr bwMode="auto">
          <a:xfrm>
            <a:off x="2646363" y="2859087"/>
            <a:ext cx="195262" cy="101600"/>
            <a:chOff x="1667" y="2060"/>
            <a:chExt cx="123" cy="64"/>
          </a:xfrm>
        </p:grpSpPr>
        <p:sp>
          <p:nvSpPr>
            <p:cNvPr id="644292" name="Freeform 196"/>
            <p:cNvSpPr>
              <a:spLocks/>
            </p:cNvSpPr>
            <p:nvPr/>
          </p:nvSpPr>
          <p:spPr bwMode="auto">
            <a:xfrm>
              <a:off x="1715" y="2060"/>
              <a:ext cx="75" cy="64"/>
            </a:xfrm>
            <a:custGeom>
              <a:avLst/>
              <a:gdLst/>
              <a:ahLst/>
              <a:cxnLst>
                <a:cxn ang="0">
                  <a:pos x="75" y="32"/>
                </a:cxn>
                <a:cxn ang="0">
                  <a:pos x="0" y="64"/>
                </a:cxn>
                <a:cxn ang="0">
                  <a:pos x="0" y="0"/>
                </a:cxn>
                <a:cxn ang="0">
                  <a:pos x="75" y="32"/>
                </a:cxn>
              </a:cxnLst>
              <a:rect l="0" t="0" r="r" b="b"/>
              <a:pathLst>
                <a:path w="75" h="64">
                  <a:moveTo>
                    <a:pt x="75" y="32"/>
                  </a:moveTo>
                  <a:lnTo>
                    <a:pt x="0" y="64"/>
                  </a:lnTo>
                  <a:lnTo>
                    <a:pt x="0" y="0"/>
                  </a:lnTo>
                  <a:lnTo>
                    <a:pt x="75" y="3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44293" name="Line 197"/>
            <p:cNvSpPr>
              <a:spLocks noChangeShapeType="1"/>
            </p:cNvSpPr>
            <p:nvPr/>
          </p:nvSpPr>
          <p:spPr bwMode="auto">
            <a:xfrm flipH="1">
              <a:off x="1667" y="2092"/>
              <a:ext cx="86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9" name="Group 201"/>
          <p:cNvGrpSpPr>
            <a:grpSpLocks/>
          </p:cNvGrpSpPr>
          <p:nvPr/>
        </p:nvGrpSpPr>
        <p:grpSpPr bwMode="auto">
          <a:xfrm>
            <a:off x="2646363" y="3965575"/>
            <a:ext cx="195262" cy="101600"/>
            <a:chOff x="1667" y="2757"/>
            <a:chExt cx="123" cy="64"/>
          </a:xfrm>
        </p:grpSpPr>
        <p:sp>
          <p:nvSpPr>
            <p:cNvPr id="644295" name="Freeform 199"/>
            <p:cNvSpPr>
              <a:spLocks/>
            </p:cNvSpPr>
            <p:nvPr/>
          </p:nvSpPr>
          <p:spPr bwMode="auto">
            <a:xfrm>
              <a:off x="1715" y="2757"/>
              <a:ext cx="75" cy="64"/>
            </a:xfrm>
            <a:custGeom>
              <a:avLst/>
              <a:gdLst/>
              <a:ahLst/>
              <a:cxnLst>
                <a:cxn ang="0">
                  <a:pos x="75" y="32"/>
                </a:cxn>
                <a:cxn ang="0">
                  <a:pos x="0" y="64"/>
                </a:cxn>
                <a:cxn ang="0">
                  <a:pos x="0" y="0"/>
                </a:cxn>
                <a:cxn ang="0">
                  <a:pos x="75" y="32"/>
                </a:cxn>
              </a:cxnLst>
              <a:rect l="0" t="0" r="r" b="b"/>
              <a:pathLst>
                <a:path w="75" h="64">
                  <a:moveTo>
                    <a:pt x="75" y="32"/>
                  </a:moveTo>
                  <a:lnTo>
                    <a:pt x="0" y="64"/>
                  </a:lnTo>
                  <a:lnTo>
                    <a:pt x="0" y="0"/>
                  </a:lnTo>
                  <a:lnTo>
                    <a:pt x="75" y="3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44296" name="Line 200"/>
            <p:cNvSpPr>
              <a:spLocks noChangeShapeType="1"/>
            </p:cNvSpPr>
            <p:nvPr/>
          </p:nvSpPr>
          <p:spPr bwMode="auto">
            <a:xfrm flipH="1">
              <a:off x="1667" y="2789"/>
              <a:ext cx="86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44298" name="Line 202"/>
          <p:cNvSpPr>
            <a:spLocks noChangeShapeType="1"/>
          </p:cNvSpPr>
          <p:nvPr/>
        </p:nvSpPr>
        <p:spPr bwMode="auto">
          <a:xfrm>
            <a:off x="2646363" y="2909887"/>
            <a:ext cx="1587" cy="130175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644299" name="Oval 203"/>
          <p:cNvSpPr>
            <a:spLocks noChangeArrowheads="1"/>
          </p:cNvSpPr>
          <p:nvPr/>
        </p:nvSpPr>
        <p:spPr bwMode="auto">
          <a:xfrm>
            <a:off x="2625725" y="4003675"/>
            <a:ext cx="33338" cy="25400"/>
          </a:xfrm>
          <a:prstGeom prst="ellipse">
            <a:avLst/>
          </a:prstGeom>
          <a:solidFill>
            <a:srgbClr val="440000"/>
          </a:solidFill>
          <a:ln w="254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644300" name="Oval 204"/>
          <p:cNvSpPr>
            <a:spLocks noChangeArrowheads="1"/>
          </p:cNvSpPr>
          <p:nvPr/>
        </p:nvSpPr>
        <p:spPr bwMode="auto">
          <a:xfrm>
            <a:off x="3238500" y="2889250"/>
            <a:ext cx="33338" cy="33337"/>
          </a:xfrm>
          <a:prstGeom prst="ellipse">
            <a:avLst/>
          </a:prstGeom>
          <a:solidFill>
            <a:srgbClr val="440000"/>
          </a:solidFill>
          <a:ln w="254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grpSp>
        <p:nvGrpSpPr>
          <p:cNvPr id="30" name="Group 207"/>
          <p:cNvGrpSpPr>
            <a:grpSpLocks/>
          </p:cNvGrpSpPr>
          <p:nvPr/>
        </p:nvGrpSpPr>
        <p:grpSpPr bwMode="auto">
          <a:xfrm>
            <a:off x="3140075" y="3965575"/>
            <a:ext cx="511175" cy="101600"/>
            <a:chOff x="1978" y="2757"/>
            <a:chExt cx="322" cy="64"/>
          </a:xfrm>
        </p:grpSpPr>
        <p:sp>
          <p:nvSpPr>
            <p:cNvPr id="644301" name="Freeform 205"/>
            <p:cNvSpPr>
              <a:spLocks/>
            </p:cNvSpPr>
            <p:nvPr/>
          </p:nvSpPr>
          <p:spPr bwMode="auto">
            <a:xfrm>
              <a:off x="2225" y="2757"/>
              <a:ext cx="75" cy="64"/>
            </a:xfrm>
            <a:custGeom>
              <a:avLst/>
              <a:gdLst/>
              <a:ahLst/>
              <a:cxnLst>
                <a:cxn ang="0">
                  <a:pos x="75" y="32"/>
                </a:cxn>
                <a:cxn ang="0">
                  <a:pos x="0" y="64"/>
                </a:cxn>
                <a:cxn ang="0">
                  <a:pos x="0" y="0"/>
                </a:cxn>
                <a:cxn ang="0">
                  <a:pos x="75" y="32"/>
                </a:cxn>
              </a:cxnLst>
              <a:rect l="0" t="0" r="r" b="b"/>
              <a:pathLst>
                <a:path w="75" h="64">
                  <a:moveTo>
                    <a:pt x="75" y="32"/>
                  </a:moveTo>
                  <a:lnTo>
                    <a:pt x="0" y="64"/>
                  </a:lnTo>
                  <a:lnTo>
                    <a:pt x="0" y="0"/>
                  </a:lnTo>
                  <a:lnTo>
                    <a:pt x="75" y="3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44302" name="Line 206"/>
            <p:cNvSpPr>
              <a:spLocks noChangeShapeType="1"/>
            </p:cNvSpPr>
            <p:nvPr/>
          </p:nvSpPr>
          <p:spPr bwMode="auto">
            <a:xfrm flipH="1">
              <a:off x="1978" y="2789"/>
              <a:ext cx="284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1" name="Group 210"/>
          <p:cNvGrpSpPr>
            <a:grpSpLocks/>
          </p:cNvGrpSpPr>
          <p:nvPr/>
        </p:nvGrpSpPr>
        <p:grpSpPr bwMode="auto">
          <a:xfrm>
            <a:off x="3370263" y="4194175"/>
            <a:ext cx="280987" cy="103187"/>
            <a:chOff x="2123" y="2901"/>
            <a:chExt cx="177" cy="65"/>
          </a:xfrm>
        </p:grpSpPr>
        <p:sp>
          <p:nvSpPr>
            <p:cNvPr id="644304" name="Freeform 208"/>
            <p:cNvSpPr>
              <a:spLocks/>
            </p:cNvSpPr>
            <p:nvPr/>
          </p:nvSpPr>
          <p:spPr bwMode="auto">
            <a:xfrm>
              <a:off x="2225" y="2901"/>
              <a:ext cx="75" cy="65"/>
            </a:xfrm>
            <a:custGeom>
              <a:avLst/>
              <a:gdLst/>
              <a:ahLst/>
              <a:cxnLst>
                <a:cxn ang="0">
                  <a:pos x="75" y="33"/>
                </a:cxn>
                <a:cxn ang="0">
                  <a:pos x="0" y="65"/>
                </a:cxn>
                <a:cxn ang="0">
                  <a:pos x="0" y="0"/>
                </a:cxn>
                <a:cxn ang="0">
                  <a:pos x="75" y="33"/>
                </a:cxn>
              </a:cxnLst>
              <a:rect l="0" t="0" r="r" b="b"/>
              <a:pathLst>
                <a:path w="75" h="65">
                  <a:moveTo>
                    <a:pt x="75" y="33"/>
                  </a:moveTo>
                  <a:lnTo>
                    <a:pt x="0" y="65"/>
                  </a:lnTo>
                  <a:lnTo>
                    <a:pt x="0" y="0"/>
                  </a:lnTo>
                  <a:lnTo>
                    <a:pt x="75" y="3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44305" name="Line 209"/>
            <p:cNvSpPr>
              <a:spLocks noChangeShapeType="1"/>
            </p:cNvSpPr>
            <p:nvPr/>
          </p:nvSpPr>
          <p:spPr bwMode="auto">
            <a:xfrm flipH="1">
              <a:off x="2123" y="2934"/>
              <a:ext cx="139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44096" name="Group 213"/>
          <p:cNvGrpSpPr>
            <a:grpSpLocks/>
          </p:cNvGrpSpPr>
          <p:nvPr/>
        </p:nvGrpSpPr>
        <p:grpSpPr bwMode="auto">
          <a:xfrm>
            <a:off x="5208588" y="4730750"/>
            <a:ext cx="1276350" cy="101600"/>
            <a:chOff x="3281" y="3239"/>
            <a:chExt cx="804" cy="64"/>
          </a:xfrm>
        </p:grpSpPr>
        <p:sp>
          <p:nvSpPr>
            <p:cNvPr id="644307" name="Freeform 211"/>
            <p:cNvSpPr>
              <a:spLocks/>
            </p:cNvSpPr>
            <p:nvPr/>
          </p:nvSpPr>
          <p:spPr bwMode="auto">
            <a:xfrm>
              <a:off x="4010" y="3239"/>
              <a:ext cx="75" cy="64"/>
            </a:xfrm>
            <a:custGeom>
              <a:avLst/>
              <a:gdLst/>
              <a:ahLst/>
              <a:cxnLst>
                <a:cxn ang="0">
                  <a:pos x="75" y="32"/>
                </a:cxn>
                <a:cxn ang="0">
                  <a:pos x="0" y="64"/>
                </a:cxn>
                <a:cxn ang="0">
                  <a:pos x="0" y="0"/>
                </a:cxn>
                <a:cxn ang="0">
                  <a:pos x="75" y="32"/>
                </a:cxn>
              </a:cxnLst>
              <a:rect l="0" t="0" r="r" b="b"/>
              <a:pathLst>
                <a:path w="75" h="64">
                  <a:moveTo>
                    <a:pt x="75" y="32"/>
                  </a:moveTo>
                  <a:lnTo>
                    <a:pt x="0" y="64"/>
                  </a:lnTo>
                  <a:lnTo>
                    <a:pt x="0" y="0"/>
                  </a:lnTo>
                  <a:lnTo>
                    <a:pt x="75" y="3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44308" name="Line 212"/>
            <p:cNvSpPr>
              <a:spLocks noChangeShapeType="1"/>
            </p:cNvSpPr>
            <p:nvPr/>
          </p:nvSpPr>
          <p:spPr bwMode="auto">
            <a:xfrm flipH="1">
              <a:off x="3281" y="3271"/>
              <a:ext cx="766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44097" name="Group 216"/>
          <p:cNvGrpSpPr>
            <a:grpSpLocks/>
          </p:cNvGrpSpPr>
          <p:nvPr/>
        </p:nvGrpSpPr>
        <p:grpSpPr bwMode="auto">
          <a:xfrm>
            <a:off x="6280150" y="4849812"/>
            <a:ext cx="204788" cy="101600"/>
            <a:chOff x="3956" y="3314"/>
            <a:chExt cx="129" cy="64"/>
          </a:xfrm>
        </p:grpSpPr>
        <p:sp>
          <p:nvSpPr>
            <p:cNvPr id="644310" name="Freeform 214"/>
            <p:cNvSpPr>
              <a:spLocks/>
            </p:cNvSpPr>
            <p:nvPr/>
          </p:nvSpPr>
          <p:spPr bwMode="auto">
            <a:xfrm>
              <a:off x="4010" y="3314"/>
              <a:ext cx="75" cy="64"/>
            </a:xfrm>
            <a:custGeom>
              <a:avLst/>
              <a:gdLst/>
              <a:ahLst/>
              <a:cxnLst>
                <a:cxn ang="0">
                  <a:pos x="75" y="32"/>
                </a:cxn>
                <a:cxn ang="0">
                  <a:pos x="0" y="64"/>
                </a:cxn>
                <a:cxn ang="0">
                  <a:pos x="0" y="0"/>
                </a:cxn>
                <a:cxn ang="0">
                  <a:pos x="75" y="32"/>
                </a:cxn>
              </a:cxnLst>
              <a:rect l="0" t="0" r="r" b="b"/>
              <a:pathLst>
                <a:path w="75" h="64">
                  <a:moveTo>
                    <a:pt x="75" y="32"/>
                  </a:moveTo>
                  <a:lnTo>
                    <a:pt x="0" y="64"/>
                  </a:lnTo>
                  <a:lnTo>
                    <a:pt x="0" y="0"/>
                  </a:lnTo>
                  <a:lnTo>
                    <a:pt x="75" y="3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44311" name="Line 215"/>
            <p:cNvSpPr>
              <a:spLocks noChangeShapeType="1"/>
            </p:cNvSpPr>
            <p:nvPr/>
          </p:nvSpPr>
          <p:spPr bwMode="auto">
            <a:xfrm flipH="1">
              <a:off x="3956" y="3346"/>
              <a:ext cx="91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44098" name="Group 226"/>
          <p:cNvGrpSpPr>
            <a:grpSpLocks/>
          </p:cNvGrpSpPr>
          <p:nvPr/>
        </p:nvGrpSpPr>
        <p:grpSpPr bwMode="auto">
          <a:xfrm>
            <a:off x="6475413" y="4322762"/>
            <a:ext cx="230187" cy="688975"/>
            <a:chOff x="4079" y="2982"/>
            <a:chExt cx="145" cy="434"/>
          </a:xfrm>
        </p:grpSpPr>
        <p:sp>
          <p:nvSpPr>
            <p:cNvPr id="644313" name="Rectangle 217"/>
            <p:cNvSpPr>
              <a:spLocks noChangeArrowheads="1"/>
            </p:cNvSpPr>
            <p:nvPr/>
          </p:nvSpPr>
          <p:spPr bwMode="auto">
            <a:xfrm>
              <a:off x="4149" y="3105"/>
              <a:ext cx="75" cy="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1">
                  <a:solidFill>
                    <a:srgbClr val="000000"/>
                  </a:solidFill>
                  <a:latin typeface="Arial" charset="0"/>
                </a:rPr>
                <a:t>M</a:t>
              </a:r>
              <a:endParaRPr lang="en-US"/>
            </a:p>
          </p:txBody>
        </p:sp>
        <p:sp>
          <p:nvSpPr>
            <p:cNvPr id="644314" name="Rectangle 218"/>
            <p:cNvSpPr>
              <a:spLocks noChangeArrowheads="1"/>
            </p:cNvSpPr>
            <p:nvPr/>
          </p:nvSpPr>
          <p:spPr bwMode="auto">
            <a:xfrm>
              <a:off x="4149" y="3169"/>
              <a:ext cx="64" cy="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1">
                  <a:solidFill>
                    <a:srgbClr val="000000"/>
                  </a:solidFill>
                  <a:latin typeface="Arial" charset="0"/>
                </a:rPr>
                <a:t>U</a:t>
              </a:r>
              <a:endParaRPr lang="en-US"/>
            </a:p>
          </p:txBody>
        </p:sp>
        <p:sp>
          <p:nvSpPr>
            <p:cNvPr id="644315" name="Rectangle 219"/>
            <p:cNvSpPr>
              <a:spLocks noChangeArrowheads="1"/>
            </p:cNvSpPr>
            <p:nvPr/>
          </p:nvSpPr>
          <p:spPr bwMode="auto">
            <a:xfrm>
              <a:off x="4154" y="3233"/>
              <a:ext cx="64" cy="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1">
                  <a:solidFill>
                    <a:srgbClr val="000000"/>
                  </a:solidFill>
                  <a:latin typeface="Arial" charset="0"/>
                </a:rPr>
                <a:t>X</a:t>
              </a:r>
              <a:endParaRPr lang="en-US"/>
            </a:p>
          </p:txBody>
        </p:sp>
        <p:grpSp>
          <p:nvGrpSpPr>
            <p:cNvPr id="644125" name="Group 225"/>
            <p:cNvGrpSpPr>
              <a:grpSpLocks/>
            </p:cNvGrpSpPr>
            <p:nvPr/>
          </p:nvGrpSpPr>
          <p:grpSpPr bwMode="auto">
            <a:xfrm>
              <a:off x="4079" y="2982"/>
              <a:ext cx="145" cy="434"/>
              <a:chOff x="4079" y="2982"/>
              <a:chExt cx="145" cy="434"/>
            </a:xfrm>
          </p:grpSpPr>
          <p:sp>
            <p:nvSpPr>
              <p:cNvPr id="644316" name="Freeform 220"/>
              <p:cNvSpPr>
                <a:spLocks/>
              </p:cNvSpPr>
              <p:nvPr/>
            </p:nvSpPr>
            <p:spPr bwMode="auto">
              <a:xfrm>
                <a:off x="4079" y="2982"/>
                <a:ext cx="145" cy="43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434"/>
                  </a:cxn>
                  <a:cxn ang="0">
                    <a:pos x="145" y="338"/>
                  </a:cxn>
                  <a:cxn ang="0">
                    <a:pos x="145" y="96"/>
                  </a:cxn>
                  <a:cxn ang="0">
                    <a:pos x="0" y="0"/>
                  </a:cxn>
                </a:cxnLst>
                <a:rect l="0" t="0" r="r" b="b"/>
                <a:pathLst>
                  <a:path w="145" h="434">
                    <a:moveTo>
                      <a:pt x="0" y="0"/>
                    </a:moveTo>
                    <a:lnTo>
                      <a:pt x="0" y="434"/>
                    </a:lnTo>
                    <a:lnTo>
                      <a:pt x="145" y="338"/>
                    </a:lnTo>
                    <a:lnTo>
                      <a:pt x="145" y="96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254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644317" name="Rectangle 221"/>
              <p:cNvSpPr>
                <a:spLocks noChangeArrowheads="1"/>
              </p:cNvSpPr>
              <p:nvPr/>
            </p:nvSpPr>
            <p:spPr bwMode="auto">
              <a:xfrm>
                <a:off x="4090" y="3020"/>
                <a:ext cx="96" cy="11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900" b="1">
                    <a:solidFill>
                      <a:srgbClr val="0033FF"/>
                    </a:solidFill>
                    <a:latin typeface="Courier New" pitchFamily="49" charset="0"/>
                  </a:rPr>
                  <a:t>0</a:t>
                </a:r>
                <a:endParaRPr lang="en-US"/>
              </a:p>
            </p:txBody>
          </p:sp>
          <p:sp>
            <p:nvSpPr>
              <p:cNvPr id="644318" name="Rectangle 222"/>
              <p:cNvSpPr>
                <a:spLocks noChangeArrowheads="1"/>
              </p:cNvSpPr>
              <p:nvPr/>
            </p:nvSpPr>
            <p:spPr bwMode="auto">
              <a:xfrm>
                <a:off x="4090" y="3105"/>
                <a:ext cx="96" cy="11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900" b="1">
                    <a:solidFill>
                      <a:srgbClr val="0033FF"/>
                    </a:solidFill>
                    <a:latin typeface="Courier New" pitchFamily="49" charset="0"/>
                  </a:rPr>
                  <a:t>1</a:t>
                </a:r>
                <a:endParaRPr lang="en-US"/>
              </a:p>
            </p:txBody>
          </p:sp>
          <p:sp>
            <p:nvSpPr>
              <p:cNvPr id="644319" name="Rectangle 223"/>
              <p:cNvSpPr>
                <a:spLocks noChangeArrowheads="1"/>
              </p:cNvSpPr>
              <p:nvPr/>
            </p:nvSpPr>
            <p:spPr bwMode="auto">
              <a:xfrm>
                <a:off x="4090" y="3202"/>
                <a:ext cx="96" cy="11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900" b="1">
                    <a:solidFill>
                      <a:srgbClr val="0033FF"/>
                    </a:solidFill>
                    <a:latin typeface="Courier New" pitchFamily="49" charset="0"/>
                  </a:rPr>
                  <a:t>2</a:t>
                </a:r>
                <a:endParaRPr lang="en-US"/>
              </a:p>
            </p:txBody>
          </p:sp>
          <p:sp>
            <p:nvSpPr>
              <p:cNvPr id="644320" name="Rectangle 224"/>
              <p:cNvSpPr>
                <a:spLocks noChangeArrowheads="1"/>
              </p:cNvSpPr>
              <p:nvPr/>
            </p:nvSpPr>
            <p:spPr bwMode="auto">
              <a:xfrm>
                <a:off x="4090" y="3288"/>
                <a:ext cx="96" cy="11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900" b="1">
                    <a:solidFill>
                      <a:srgbClr val="0033FF"/>
                    </a:solidFill>
                    <a:latin typeface="Courier New" pitchFamily="49" charset="0"/>
                  </a:rPr>
                  <a:t>3</a:t>
                </a:r>
                <a:endParaRPr lang="en-US"/>
              </a:p>
            </p:txBody>
          </p:sp>
        </p:grpSp>
      </p:grpSp>
      <p:grpSp>
        <p:nvGrpSpPr>
          <p:cNvPr id="644126" name="Group 233"/>
          <p:cNvGrpSpPr>
            <a:grpSpLocks/>
          </p:cNvGrpSpPr>
          <p:nvPr/>
        </p:nvGrpSpPr>
        <p:grpSpPr bwMode="auto">
          <a:xfrm>
            <a:off x="3641725" y="3862387"/>
            <a:ext cx="230188" cy="536575"/>
            <a:chOff x="2294" y="2692"/>
            <a:chExt cx="145" cy="338"/>
          </a:xfrm>
        </p:grpSpPr>
        <p:sp>
          <p:nvSpPr>
            <p:cNvPr id="644323" name="Rectangle 227"/>
            <p:cNvSpPr>
              <a:spLocks noChangeArrowheads="1"/>
            </p:cNvSpPr>
            <p:nvPr/>
          </p:nvSpPr>
          <p:spPr bwMode="auto">
            <a:xfrm>
              <a:off x="2364" y="2767"/>
              <a:ext cx="75" cy="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1">
                  <a:solidFill>
                    <a:srgbClr val="000000"/>
                  </a:solidFill>
                  <a:latin typeface="Arial" charset="0"/>
                </a:rPr>
                <a:t>M</a:t>
              </a:r>
              <a:endParaRPr lang="en-US"/>
            </a:p>
          </p:txBody>
        </p:sp>
        <p:sp>
          <p:nvSpPr>
            <p:cNvPr id="644324" name="Rectangle 228"/>
            <p:cNvSpPr>
              <a:spLocks noChangeArrowheads="1"/>
            </p:cNvSpPr>
            <p:nvPr/>
          </p:nvSpPr>
          <p:spPr bwMode="auto">
            <a:xfrm>
              <a:off x="2364" y="2831"/>
              <a:ext cx="64" cy="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1">
                  <a:solidFill>
                    <a:srgbClr val="000000"/>
                  </a:solidFill>
                  <a:latin typeface="Arial" charset="0"/>
                </a:rPr>
                <a:t>U</a:t>
              </a:r>
              <a:endParaRPr lang="en-US"/>
            </a:p>
          </p:txBody>
        </p:sp>
        <p:sp>
          <p:nvSpPr>
            <p:cNvPr id="644325" name="Rectangle 229"/>
            <p:cNvSpPr>
              <a:spLocks noChangeArrowheads="1"/>
            </p:cNvSpPr>
            <p:nvPr/>
          </p:nvSpPr>
          <p:spPr bwMode="auto">
            <a:xfrm>
              <a:off x="2369" y="2896"/>
              <a:ext cx="64" cy="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1">
                  <a:solidFill>
                    <a:srgbClr val="000000"/>
                  </a:solidFill>
                  <a:latin typeface="Arial" charset="0"/>
                </a:rPr>
                <a:t>X</a:t>
              </a:r>
              <a:endParaRPr lang="en-US"/>
            </a:p>
          </p:txBody>
        </p:sp>
        <p:sp>
          <p:nvSpPr>
            <p:cNvPr id="644326" name="Freeform 230"/>
            <p:cNvSpPr>
              <a:spLocks/>
            </p:cNvSpPr>
            <p:nvPr/>
          </p:nvSpPr>
          <p:spPr bwMode="auto">
            <a:xfrm>
              <a:off x="2294" y="2692"/>
              <a:ext cx="145" cy="3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338"/>
                </a:cxn>
                <a:cxn ang="0">
                  <a:pos x="145" y="268"/>
                </a:cxn>
                <a:cxn ang="0">
                  <a:pos x="145" y="75"/>
                </a:cxn>
                <a:cxn ang="0">
                  <a:pos x="0" y="0"/>
                </a:cxn>
              </a:cxnLst>
              <a:rect l="0" t="0" r="r" b="b"/>
              <a:pathLst>
                <a:path w="145" h="338">
                  <a:moveTo>
                    <a:pt x="0" y="0"/>
                  </a:moveTo>
                  <a:lnTo>
                    <a:pt x="0" y="338"/>
                  </a:lnTo>
                  <a:lnTo>
                    <a:pt x="145" y="268"/>
                  </a:lnTo>
                  <a:lnTo>
                    <a:pt x="145" y="75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54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44327" name="Rectangle 231"/>
            <p:cNvSpPr>
              <a:spLocks noChangeArrowheads="1"/>
            </p:cNvSpPr>
            <p:nvPr/>
          </p:nvSpPr>
          <p:spPr bwMode="auto">
            <a:xfrm>
              <a:off x="2305" y="2746"/>
              <a:ext cx="43" cy="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900" b="1">
                  <a:solidFill>
                    <a:srgbClr val="0033FF"/>
                  </a:solidFill>
                  <a:latin typeface="Courier New" pitchFamily="49" charset="0"/>
                </a:rPr>
                <a:t>0</a:t>
              </a:r>
              <a:endParaRPr lang="en-US"/>
            </a:p>
          </p:txBody>
        </p:sp>
        <p:sp>
          <p:nvSpPr>
            <p:cNvPr id="644328" name="Rectangle 232"/>
            <p:cNvSpPr>
              <a:spLocks noChangeArrowheads="1"/>
            </p:cNvSpPr>
            <p:nvPr/>
          </p:nvSpPr>
          <p:spPr bwMode="auto">
            <a:xfrm>
              <a:off x="2305" y="2880"/>
              <a:ext cx="43" cy="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900" b="1">
                  <a:solidFill>
                    <a:srgbClr val="0033FF"/>
                  </a:solidFill>
                  <a:latin typeface="Courier New" pitchFamily="49" charset="0"/>
                </a:rPr>
                <a:t>1</a:t>
              </a:r>
              <a:endParaRPr lang="en-US"/>
            </a:p>
          </p:txBody>
        </p:sp>
      </p:grpSp>
      <p:grpSp>
        <p:nvGrpSpPr>
          <p:cNvPr id="644142" name="Group 236"/>
          <p:cNvGrpSpPr>
            <a:grpSpLocks/>
          </p:cNvGrpSpPr>
          <p:nvPr/>
        </p:nvGrpSpPr>
        <p:grpSpPr bwMode="auto">
          <a:xfrm>
            <a:off x="6705600" y="3854450"/>
            <a:ext cx="195263" cy="101600"/>
            <a:chOff x="4224" y="2687"/>
            <a:chExt cx="123" cy="64"/>
          </a:xfrm>
        </p:grpSpPr>
        <p:sp>
          <p:nvSpPr>
            <p:cNvPr id="644330" name="Freeform 234"/>
            <p:cNvSpPr>
              <a:spLocks/>
            </p:cNvSpPr>
            <p:nvPr/>
          </p:nvSpPr>
          <p:spPr bwMode="auto">
            <a:xfrm>
              <a:off x="4272" y="2687"/>
              <a:ext cx="75" cy="64"/>
            </a:xfrm>
            <a:custGeom>
              <a:avLst/>
              <a:gdLst/>
              <a:ahLst/>
              <a:cxnLst>
                <a:cxn ang="0">
                  <a:pos x="75" y="32"/>
                </a:cxn>
                <a:cxn ang="0">
                  <a:pos x="0" y="64"/>
                </a:cxn>
                <a:cxn ang="0">
                  <a:pos x="0" y="0"/>
                </a:cxn>
                <a:cxn ang="0">
                  <a:pos x="75" y="32"/>
                </a:cxn>
              </a:cxnLst>
              <a:rect l="0" t="0" r="r" b="b"/>
              <a:pathLst>
                <a:path w="75" h="64">
                  <a:moveTo>
                    <a:pt x="75" y="32"/>
                  </a:moveTo>
                  <a:lnTo>
                    <a:pt x="0" y="64"/>
                  </a:lnTo>
                  <a:lnTo>
                    <a:pt x="0" y="0"/>
                  </a:lnTo>
                  <a:lnTo>
                    <a:pt x="75" y="3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44331" name="Line 235"/>
            <p:cNvSpPr>
              <a:spLocks noChangeShapeType="1"/>
            </p:cNvSpPr>
            <p:nvPr/>
          </p:nvSpPr>
          <p:spPr bwMode="auto">
            <a:xfrm flipH="1">
              <a:off x="4224" y="2719"/>
              <a:ext cx="86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44145" name="Group 239"/>
          <p:cNvGrpSpPr>
            <a:grpSpLocks/>
          </p:cNvGrpSpPr>
          <p:nvPr/>
        </p:nvGrpSpPr>
        <p:grpSpPr bwMode="auto">
          <a:xfrm>
            <a:off x="5897563" y="3965575"/>
            <a:ext cx="587375" cy="101600"/>
            <a:chOff x="3715" y="2757"/>
            <a:chExt cx="370" cy="64"/>
          </a:xfrm>
        </p:grpSpPr>
        <p:sp>
          <p:nvSpPr>
            <p:cNvPr id="644333" name="Freeform 237"/>
            <p:cNvSpPr>
              <a:spLocks/>
            </p:cNvSpPr>
            <p:nvPr/>
          </p:nvSpPr>
          <p:spPr bwMode="auto">
            <a:xfrm>
              <a:off x="4010" y="2757"/>
              <a:ext cx="75" cy="64"/>
            </a:xfrm>
            <a:custGeom>
              <a:avLst/>
              <a:gdLst/>
              <a:ahLst/>
              <a:cxnLst>
                <a:cxn ang="0">
                  <a:pos x="75" y="32"/>
                </a:cxn>
                <a:cxn ang="0">
                  <a:pos x="0" y="64"/>
                </a:cxn>
                <a:cxn ang="0">
                  <a:pos x="0" y="0"/>
                </a:cxn>
                <a:cxn ang="0">
                  <a:pos x="75" y="32"/>
                </a:cxn>
              </a:cxnLst>
              <a:rect l="0" t="0" r="r" b="b"/>
              <a:pathLst>
                <a:path w="75" h="64">
                  <a:moveTo>
                    <a:pt x="75" y="32"/>
                  </a:moveTo>
                  <a:lnTo>
                    <a:pt x="0" y="64"/>
                  </a:lnTo>
                  <a:lnTo>
                    <a:pt x="0" y="0"/>
                  </a:lnTo>
                  <a:lnTo>
                    <a:pt x="75" y="3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44334" name="Line 238"/>
            <p:cNvSpPr>
              <a:spLocks noChangeShapeType="1"/>
            </p:cNvSpPr>
            <p:nvPr/>
          </p:nvSpPr>
          <p:spPr bwMode="auto">
            <a:xfrm flipH="1">
              <a:off x="3715" y="2789"/>
              <a:ext cx="332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44148" name="Group 242"/>
          <p:cNvGrpSpPr>
            <a:grpSpLocks/>
          </p:cNvGrpSpPr>
          <p:nvPr/>
        </p:nvGrpSpPr>
        <p:grpSpPr bwMode="auto">
          <a:xfrm>
            <a:off x="6169025" y="3735387"/>
            <a:ext cx="315913" cy="101600"/>
            <a:chOff x="3886" y="2612"/>
            <a:chExt cx="199" cy="64"/>
          </a:xfrm>
        </p:grpSpPr>
        <p:sp>
          <p:nvSpPr>
            <p:cNvPr id="644336" name="Freeform 240"/>
            <p:cNvSpPr>
              <a:spLocks/>
            </p:cNvSpPr>
            <p:nvPr/>
          </p:nvSpPr>
          <p:spPr bwMode="auto">
            <a:xfrm>
              <a:off x="4010" y="2612"/>
              <a:ext cx="75" cy="64"/>
            </a:xfrm>
            <a:custGeom>
              <a:avLst/>
              <a:gdLst/>
              <a:ahLst/>
              <a:cxnLst>
                <a:cxn ang="0">
                  <a:pos x="75" y="32"/>
                </a:cxn>
                <a:cxn ang="0">
                  <a:pos x="0" y="64"/>
                </a:cxn>
                <a:cxn ang="0">
                  <a:pos x="0" y="0"/>
                </a:cxn>
                <a:cxn ang="0">
                  <a:pos x="75" y="32"/>
                </a:cxn>
              </a:cxnLst>
              <a:rect l="0" t="0" r="r" b="b"/>
              <a:pathLst>
                <a:path w="75" h="64">
                  <a:moveTo>
                    <a:pt x="75" y="32"/>
                  </a:moveTo>
                  <a:lnTo>
                    <a:pt x="0" y="64"/>
                  </a:lnTo>
                  <a:lnTo>
                    <a:pt x="0" y="0"/>
                  </a:lnTo>
                  <a:lnTo>
                    <a:pt x="75" y="3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44337" name="Line 241"/>
            <p:cNvSpPr>
              <a:spLocks noChangeShapeType="1"/>
            </p:cNvSpPr>
            <p:nvPr/>
          </p:nvSpPr>
          <p:spPr bwMode="auto">
            <a:xfrm flipH="1">
              <a:off x="3886" y="2644"/>
              <a:ext cx="161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44161" name="Group 249"/>
          <p:cNvGrpSpPr>
            <a:grpSpLocks/>
          </p:cNvGrpSpPr>
          <p:nvPr/>
        </p:nvGrpSpPr>
        <p:grpSpPr bwMode="auto">
          <a:xfrm>
            <a:off x="6475413" y="3633787"/>
            <a:ext cx="230187" cy="534988"/>
            <a:chOff x="4079" y="2548"/>
            <a:chExt cx="145" cy="337"/>
          </a:xfrm>
        </p:grpSpPr>
        <p:sp>
          <p:nvSpPr>
            <p:cNvPr id="644339" name="Rectangle 243"/>
            <p:cNvSpPr>
              <a:spLocks noChangeArrowheads="1"/>
            </p:cNvSpPr>
            <p:nvPr/>
          </p:nvSpPr>
          <p:spPr bwMode="auto">
            <a:xfrm>
              <a:off x="4149" y="2622"/>
              <a:ext cx="75" cy="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1">
                  <a:solidFill>
                    <a:srgbClr val="000000"/>
                  </a:solidFill>
                  <a:latin typeface="Arial" charset="0"/>
                </a:rPr>
                <a:t>M</a:t>
              </a:r>
              <a:endParaRPr lang="en-US"/>
            </a:p>
          </p:txBody>
        </p:sp>
        <p:sp>
          <p:nvSpPr>
            <p:cNvPr id="644340" name="Rectangle 244"/>
            <p:cNvSpPr>
              <a:spLocks noChangeArrowheads="1"/>
            </p:cNvSpPr>
            <p:nvPr/>
          </p:nvSpPr>
          <p:spPr bwMode="auto">
            <a:xfrm>
              <a:off x="4149" y="2687"/>
              <a:ext cx="64" cy="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1">
                  <a:solidFill>
                    <a:srgbClr val="000000"/>
                  </a:solidFill>
                  <a:latin typeface="Arial" charset="0"/>
                </a:rPr>
                <a:t>U</a:t>
              </a:r>
              <a:endParaRPr lang="en-US"/>
            </a:p>
          </p:txBody>
        </p:sp>
        <p:sp>
          <p:nvSpPr>
            <p:cNvPr id="644341" name="Rectangle 245"/>
            <p:cNvSpPr>
              <a:spLocks noChangeArrowheads="1"/>
            </p:cNvSpPr>
            <p:nvPr/>
          </p:nvSpPr>
          <p:spPr bwMode="auto">
            <a:xfrm>
              <a:off x="4154" y="2751"/>
              <a:ext cx="64" cy="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1">
                  <a:solidFill>
                    <a:srgbClr val="000000"/>
                  </a:solidFill>
                  <a:latin typeface="Arial" charset="0"/>
                </a:rPr>
                <a:t>X</a:t>
              </a:r>
              <a:endParaRPr lang="en-US"/>
            </a:p>
          </p:txBody>
        </p:sp>
        <p:sp>
          <p:nvSpPr>
            <p:cNvPr id="644342" name="Freeform 246"/>
            <p:cNvSpPr>
              <a:spLocks/>
            </p:cNvSpPr>
            <p:nvPr/>
          </p:nvSpPr>
          <p:spPr bwMode="auto">
            <a:xfrm>
              <a:off x="4079" y="2548"/>
              <a:ext cx="145" cy="33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337"/>
                </a:cxn>
                <a:cxn ang="0">
                  <a:pos x="145" y="268"/>
                </a:cxn>
                <a:cxn ang="0">
                  <a:pos x="145" y="75"/>
                </a:cxn>
                <a:cxn ang="0">
                  <a:pos x="0" y="0"/>
                </a:cxn>
              </a:cxnLst>
              <a:rect l="0" t="0" r="r" b="b"/>
              <a:pathLst>
                <a:path w="145" h="337">
                  <a:moveTo>
                    <a:pt x="0" y="0"/>
                  </a:moveTo>
                  <a:lnTo>
                    <a:pt x="0" y="337"/>
                  </a:lnTo>
                  <a:lnTo>
                    <a:pt x="145" y="268"/>
                  </a:lnTo>
                  <a:lnTo>
                    <a:pt x="145" y="75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54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44343" name="Rectangle 247"/>
            <p:cNvSpPr>
              <a:spLocks noChangeArrowheads="1"/>
            </p:cNvSpPr>
            <p:nvPr/>
          </p:nvSpPr>
          <p:spPr bwMode="auto">
            <a:xfrm>
              <a:off x="4090" y="2602"/>
              <a:ext cx="96" cy="1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900" b="1">
                  <a:solidFill>
                    <a:srgbClr val="0033FF"/>
                  </a:solidFill>
                  <a:latin typeface="Courier New" pitchFamily="49" charset="0"/>
                </a:rPr>
                <a:t>0</a:t>
              </a:r>
              <a:endParaRPr lang="en-US"/>
            </a:p>
          </p:txBody>
        </p:sp>
        <p:sp>
          <p:nvSpPr>
            <p:cNvPr id="644344" name="Rectangle 248"/>
            <p:cNvSpPr>
              <a:spLocks noChangeArrowheads="1"/>
            </p:cNvSpPr>
            <p:nvPr/>
          </p:nvSpPr>
          <p:spPr bwMode="auto">
            <a:xfrm>
              <a:off x="4090" y="2736"/>
              <a:ext cx="96" cy="1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900" b="1">
                  <a:solidFill>
                    <a:srgbClr val="0033FF"/>
                  </a:solidFill>
                  <a:latin typeface="Courier New" pitchFamily="49" charset="0"/>
                </a:rPr>
                <a:t>1</a:t>
              </a:r>
              <a:endParaRPr lang="en-US"/>
            </a:p>
          </p:txBody>
        </p:sp>
      </p:grpSp>
      <p:sp>
        <p:nvSpPr>
          <p:cNvPr id="644346" name="Rectangle 250"/>
          <p:cNvSpPr>
            <a:spLocks noChangeArrowheads="1"/>
          </p:cNvSpPr>
          <p:nvPr/>
        </p:nvSpPr>
        <p:spPr bwMode="auto">
          <a:xfrm>
            <a:off x="5672138" y="3833812"/>
            <a:ext cx="220662" cy="373063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644347" name="Rectangle 251"/>
          <p:cNvSpPr>
            <a:spLocks noChangeArrowheads="1"/>
          </p:cNvSpPr>
          <p:nvPr/>
        </p:nvSpPr>
        <p:spPr bwMode="auto">
          <a:xfrm>
            <a:off x="5727700" y="3930650"/>
            <a:ext cx="1873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200" b="1">
                <a:solidFill>
                  <a:srgbClr val="000000"/>
                </a:solidFill>
                <a:latin typeface="Arial" charset="0"/>
              </a:rPr>
              <a:t>A</a:t>
            </a:r>
            <a:endParaRPr lang="en-US"/>
          </a:p>
        </p:txBody>
      </p:sp>
      <p:sp>
        <p:nvSpPr>
          <p:cNvPr id="644348" name="Rectangle 252"/>
          <p:cNvSpPr>
            <a:spLocks noChangeArrowheads="1"/>
          </p:cNvSpPr>
          <p:nvPr/>
        </p:nvSpPr>
        <p:spPr bwMode="auto">
          <a:xfrm>
            <a:off x="5672138" y="4292600"/>
            <a:ext cx="220662" cy="37465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644349" name="Rectangle 253"/>
          <p:cNvSpPr>
            <a:spLocks noChangeArrowheads="1"/>
          </p:cNvSpPr>
          <p:nvPr/>
        </p:nvSpPr>
        <p:spPr bwMode="auto">
          <a:xfrm>
            <a:off x="5727700" y="4348162"/>
            <a:ext cx="1873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200" b="1">
                <a:solidFill>
                  <a:srgbClr val="000000"/>
                </a:solidFill>
                <a:latin typeface="Arial" charset="0"/>
              </a:rPr>
              <a:t>B</a:t>
            </a:r>
            <a:endParaRPr lang="en-US"/>
          </a:p>
        </p:txBody>
      </p:sp>
      <p:grpSp>
        <p:nvGrpSpPr>
          <p:cNvPr id="644167" name="Group 256"/>
          <p:cNvGrpSpPr>
            <a:grpSpLocks/>
          </p:cNvGrpSpPr>
          <p:nvPr/>
        </p:nvGrpSpPr>
        <p:grpSpPr bwMode="auto">
          <a:xfrm>
            <a:off x="5480050" y="4391025"/>
            <a:ext cx="195263" cy="101600"/>
            <a:chOff x="3452" y="3025"/>
            <a:chExt cx="123" cy="64"/>
          </a:xfrm>
        </p:grpSpPr>
        <p:sp>
          <p:nvSpPr>
            <p:cNvPr id="644350" name="Freeform 254"/>
            <p:cNvSpPr>
              <a:spLocks/>
            </p:cNvSpPr>
            <p:nvPr/>
          </p:nvSpPr>
          <p:spPr bwMode="auto">
            <a:xfrm>
              <a:off x="3500" y="3025"/>
              <a:ext cx="75" cy="64"/>
            </a:xfrm>
            <a:custGeom>
              <a:avLst/>
              <a:gdLst/>
              <a:ahLst/>
              <a:cxnLst>
                <a:cxn ang="0">
                  <a:pos x="75" y="32"/>
                </a:cxn>
                <a:cxn ang="0">
                  <a:pos x="0" y="64"/>
                </a:cxn>
                <a:cxn ang="0">
                  <a:pos x="0" y="0"/>
                </a:cxn>
                <a:cxn ang="0">
                  <a:pos x="75" y="32"/>
                </a:cxn>
              </a:cxnLst>
              <a:rect l="0" t="0" r="r" b="b"/>
              <a:pathLst>
                <a:path w="75" h="64">
                  <a:moveTo>
                    <a:pt x="75" y="32"/>
                  </a:moveTo>
                  <a:lnTo>
                    <a:pt x="0" y="64"/>
                  </a:lnTo>
                  <a:lnTo>
                    <a:pt x="0" y="0"/>
                  </a:lnTo>
                  <a:lnTo>
                    <a:pt x="75" y="3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44351" name="Line 255"/>
            <p:cNvSpPr>
              <a:spLocks noChangeShapeType="1"/>
            </p:cNvSpPr>
            <p:nvPr/>
          </p:nvSpPr>
          <p:spPr bwMode="auto">
            <a:xfrm flipH="1">
              <a:off x="3452" y="3057"/>
              <a:ext cx="86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44170" name="Group 259"/>
          <p:cNvGrpSpPr>
            <a:grpSpLocks/>
          </p:cNvGrpSpPr>
          <p:nvPr/>
        </p:nvGrpSpPr>
        <p:grpSpPr bwMode="auto">
          <a:xfrm>
            <a:off x="5480050" y="3965575"/>
            <a:ext cx="195263" cy="101600"/>
            <a:chOff x="3452" y="2757"/>
            <a:chExt cx="123" cy="64"/>
          </a:xfrm>
        </p:grpSpPr>
        <p:sp>
          <p:nvSpPr>
            <p:cNvPr id="644353" name="Freeform 257"/>
            <p:cNvSpPr>
              <a:spLocks/>
            </p:cNvSpPr>
            <p:nvPr/>
          </p:nvSpPr>
          <p:spPr bwMode="auto">
            <a:xfrm>
              <a:off x="3500" y="2757"/>
              <a:ext cx="75" cy="64"/>
            </a:xfrm>
            <a:custGeom>
              <a:avLst/>
              <a:gdLst/>
              <a:ahLst/>
              <a:cxnLst>
                <a:cxn ang="0">
                  <a:pos x="75" y="32"/>
                </a:cxn>
                <a:cxn ang="0">
                  <a:pos x="0" y="64"/>
                </a:cxn>
                <a:cxn ang="0">
                  <a:pos x="0" y="0"/>
                </a:cxn>
                <a:cxn ang="0">
                  <a:pos x="75" y="32"/>
                </a:cxn>
              </a:cxnLst>
              <a:rect l="0" t="0" r="r" b="b"/>
              <a:pathLst>
                <a:path w="75" h="64">
                  <a:moveTo>
                    <a:pt x="75" y="32"/>
                  </a:moveTo>
                  <a:lnTo>
                    <a:pt x="0" y="64"/>
                  </a:lnTo>
                  <a:lnTo>
                    <a:pt x="0" y="0"/>
                  </a:lnTo>
                  <a:lnTo>
                    <a:pt x="75" y="3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44354" name="Line 258"/>
            <p:cNvSpPr>
              <a:spLocks noChangeShapeType="1"/>
            </p:cNvSpPr>
            <p:nvPr/>
          </p:nvSpPr>
          <p:spPr bwMode="auto">
            <a:xfrm flipH="1">
              <a:off x="3452" y="2789"/>
              <a:ext cx="86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44356" name="Rectangle 260"/>
          <p:cNvSpPr>
            <a:spLocks noChangeArrowheads="1"/>
          </p:cNvSpPr>
          <p:nvPr/>
        </p:nvSpPr>
        <p:spPr bwMode="auto">
          <a:xfrm>
            <a:off x="7935913" y="3943350"/>
            <a:ext cx="296862" cy="7239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644357" name="Rectangle 261"/>
          <p:cNvSpPr>
            <a:spLocks noChangeArrowheads="1"/>
          </p:cNvSpPr>
          <p:nvPr/>
        </p:nvSpPr>
        <p:spPr bwMode="auto">
          <a:xfrm>
            <a:off x="7974013" y="4195762"/>
            <a:ext cx="246062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 b="1">
                <a:solidFill>
                  <a:srgbClr val="000000"/>
                </a:solidFill>
                <a:latin typeface="Arial" charset="0"/>
              </a:rPr>
              <a:t>ALU</a:t>
            </a:r>
            <a:endParaRPr lang="en-US"/>
          </a:p>
        </p:txBody>
      </p:sp>
      <p:sp>
        <p:nvSpPr>
          <p:cNvPr id="644358" name="Rectangle 262"/>
          <p:cNvSpPr>
            <a:spLocks noChangeArrowheads="1"/>
          </p:cNvSpPr>
          <p:nvPr/>
        </p:nvSpPr>
        <p:spPr bwMode="auto">
          <a:xfrm>
            <a:off x="7964488" y="4297362"/>
            <a:ext cx="255587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 b="1">
                <a:solidFill>
                  <a:srgbClr val="000000"/>
                </a:solidFill>
                <a:latin typeface="Arial" charset="0"/>
              </a:rPr>
              <a:t>OUT</a:t>
            </a:r>
            <a:endParaRPr lang="en-US"/>
          </a:p>
        </p:txBody>
      </p:sp>
      <p:sp>
        <p:nvSpPr>
          <p:cNvPr id="644359" name="Line 263"/>
          <p:cNvSpPr>
            <a:spLocks noChangeShapeType="1"/>
          </p:cNvSpPr>
          <p:nvPr/>
        </p:nvSpPr>
        <p:spPr bwMode="auto">
          <a:xfrm flipH="1">
            <a:off x="5054600" y="5360987"/>
            <a:ext cx="76200" cy="76200"/>
          </a:xfrm>
          <a:prstGeom prst="line">
            <a:avLst/>
          </a:prstGeom>
          <a:noFill/>
          <a:ln w="7938">
            <a:solidFill>
              <a:srgbClr val="44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grpSp>
        <p:nvGrpSpPr>
          <p:cNvPr id="644173" name="Group 271"/>
          <p:cNvGrpSpPr>
            <a:grpSpLocks/>
          </p:cNvGrpSpPr>
          <p:nvPr/>
        </p:nvGrpSpPr>
        <p:grpSpPr bwMode="auto">
          <a:xfrm>
            <a:off x="8696325" y="3021012"/>
            <a:ext cx="230188" cy="688975"/>
            <a:chOff x="5478" y="2162"/>
            <a:chExt cx="145" cy="434"/>
          </a:xfrm>
        </p:grpSpPr>
        <p:sp>
          <p:nvSpPr>
            <p:cNvPr id="644360" name="Freeform 264"/>
            <p:cNvSpPr>
              <a:spLocks/>
            </p:cNvSpPr>
            <p:nvPr/>
          </p:nvSpPr>
          <p:spPr bwMode="auto">
            <a:xfrm>
              <a:off x="5478" y="2162"/>
              <a:ext cx="145" cy="43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434"/>
                </a:cxn>
                <a:cxn ang="0">
                  <a:pos x="145" y="337"/>
                </a:cxn>
                <a:cxn ang="0">
                  <a:pos x="145" y="96"/>
                </a:cxn>
                <a:cxn ang="0">
                  <a:pos x="0" y="0"/>
                </a:cxn>
              </a:cxnLst>
              <a:rect l="0" t="0" r="r" b="b"/>
              <a:pathLst>
                <a:path w="145" h="434">
                  <a:moveTo>
                    <a:pt x="0" y="0"/>
                  </a:moveTo>
                  <a:lnTo>
                    <a:pt x="0" y="434"/>
                  </a:lnTo>
                  <a:lnTo>
                    <a:pt x="145" y="337"/>
                  </a:lnTo>
                  <a:lnTo>
                    <a:pt x="145" y="96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54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44361" name="Rectangle 265"/>
            <p:cNvSpPr>
              <a:spLocks noChangeArrowheads="1"/>
            </p:cNvSpPr>
            <p:nvPr/>
          </p:nvSpPr>
          <p:spPr bwMode="auto">
            <a:xfrm>
              <a:off x="5489" y="2462"/>
              <a:ext cx="96" cy="1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900" b="1">
                  <a:solidFill>
                    <a:srgbClr val="0033FF"/>
                  </a:solidFill>
                  <a:latin typeface="Courier New" pitchFamily="49" charset="0"/>
                </a:rPr>
                <a:t>0</a:t>
              </a:r>
              <a:endParaRPr lang="en-US"/>
            </a:p>
          </p:txBody>
        </p:sp>
        <p:sp>
          <p:nvSpPr>
            <p:cNvPr id="644362" name="Rectangle 266"/>
            <p:cNvSpPr>
              <a:spLocks noChangeArrowheads="1"/>
            </p:cNvSpPr>
            <p:nvPr/>
          </p:nvSpPr>
          <p:spPr bwMode="auto">
            <a:xfrm>
              <a:off x="5489" y="2333"/>
              <a:ext cx="96" cy="1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900" b="1">
                  <a:solidFill>
                    <a:srgbClr val="0033FF"/>
                  </a:solidFill>
                  <a:latin typeface="Courier New" pitchFamily="49" charset="0"/>
                </a:rPr>
                <a:t>1</a:t>
              </a:r>
              <a:endParaRPr lang="en-US"/>
            </a:p>
          </p:txBody>
        </p:sp>
        <p:sp>
          <p:nvSpPr>
            <p:cNvPr id="644363" name="Rectangle 267"/>
            <p:cNvSpPr>
              <a:spLocks noChangeArrowheads="1"/>
            </p:cNvSpPr>
            <p:nvPr/>
          </p:nvSpPr>
          <p:spPr bwMode="auto">
            <a:xfrm>
              <a:off x="5489" y="2216"/>
              <a:ext cx="96" cy="1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900" b="1">
                  <a:solidFill>
                    <a:srgbClr val="0033FF"/>
                  </a:solidFill>
                  <a:latin typeface="Courier New" pitchFamily="49" charset="0"/>
                </a:rPr>
                <a:t>2</a:t>
              </a:r>
              <a:endParaRPr lang="en-US"/>
            </a:p>
          </p:txBody>
        </p:sp>
        <p:sp>
          <p:nvSpPr>
            <p:cNvPr id="644364" name="Rectangle 268"/>
            <p:cNvSpPr>
              <a:spLocks noChangeArrowheads="1"/>
            </p:cNvSpPr>
            <p:nvPr/>
          </p:nvSpPr>
          <p:spPr bwMode="auto">
            <a:xfrm>
              <a:off x="5548" y="2285"/>
              <a:ext cx="75" cy="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1">
                  <a:solidFill>
                    <a:srgbClr val="000000"/>
                  </a:solidFill>
                  <a:latin typeface="Arial" charset="0"/>
                </a:rPr>
                <a:t>M</a:t>
              </a:r>
              <a:endParaRPr lang="en-US"/>
            </a:p>
          </p:txBody>
        </p:sp>
        <p:sp>
          <p:nvSpPr>
            <p:cNvPr id="644365" name="Rectangle 269"/>
            <p:cNvSpPr>
              <a:spLocks noChangeArrowheads="1"/>
            </p:cNvSpPr>
            <p:nvPr/>
          </p:nvSpPr>
          <p:spPr bwMode="auto">
            <a:xfrm>
              <a:off x="5548" y="2349"/>
              <a:ext cx="64" cy="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1">
                  <a:solidFill>
                    <a:srgbClr val="000000"/>
                  </a:solidFill>
                  <a:latin typeface="Arial" charset="0"/>
                </a:rPr>
                <a:t>U</a:t>
              </a:r>
              <a:endParaRPr lang="en-US"/>
            </a:p>
          </p:txBody>
        </p:sp>
        <p:sp>
          <p:nvSpPr>
            <p:cNvPr id="644366" name="Rectangle 270"/>
            <p:cNvSpPr>
              <a:spLocks noChangeArrowheads="1"/>
            </p:cNvSpPr>
            <p:nvPr/>
          </p:nvSpPr>
          <p:spPr bwMode="auto">
            <a:xfrm>
              <a:off x="5553" y="2413"/>
              <a:ext cx="64" cy="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1">
                  <a:solidFill>
                    <a:srgbClr val="000000"/>
                  </a:solidFill>
                  <a:latin typeface="Arial" charset="0"/>
                </a:rPr>
                <a:t>X</a:t>
              </a:r>
              <a:endParaRPr lang="en-US"/>
            </a:p>
          </p:txBody>
        </p:sp>
      </p:grpSp>
      <p:grpSp>
        <p:nvGrpSpPr>
          <p:cNvPr id="644184" name="Group 274"/>
          <p:cNvGrpSpPr>
            <a:grpSpLocks/>
          </p:cNvGrpSpPr>
          <p:nvPr/>
        </p:nvGrpSpPr>
        <p:grpSpPr bwMode="auto">
          <a:xfrm>
            <a:off x="8237538" y="3122612"/>
            <a:ext cx="468312" cy="101600"/>
            <a:chOff x="5189" y="2226"/>
            <a:chExt cx="295" cy="64"/>
          </a:xfrm>
        </p:grpSpPr>
        <p:sp>
          <p:nvSpPr>
            <p:cNvPr id="644368" name="Freeform 272"/>
            <p:cNvSpPr>
              <a:spLocks/>
            </p:cNvSpPr>
            <p:nvPr/>
          </p:nvSpPr>
          <p:spPr bwMode="auto">
            <a:xfrm>
              <a:off x="5409" y="2226"/>
              <a:ext cx="75" cy="64"/>
            </a:xfrm>
            <a:custGeom>
              <a:avLst/>
              <a:gdLst/>
              <a:ahLst/>
              <a:cxnLst>
                <a:cxn ang="0">
                  <a:pos x="75" y="32"/>
                </a:cxn>
                <a:cxn ang="0">
                  <a:pos x="0" y="64"/>
                </a:cxn>
                <a:cxn ang="0">
                  <a:pos x="0" y="0"/>
                </a:cxn>
                <a:cxn ang="0">
                  <a:pos x="75" y="32"/>
                </a:cxn>
              </a:cxnLst>
              <a:rect l="0" t="0" r="r" b="b"/>
              <a:pathLst>
                <a:path w="75" h="64">
                  <a:moveTo>
                    <a:pt x="75" y="32"/>
                  </a:moveTo>
                  <a:lnTo>
                    <a:pt x="0" y="64"/>
                  </a:lnTo>
                  <a:lnTo>
                    <a:pt x="0" y="0"/>
                  </a:lnTo>
                  <a:lnTo>
                    <a:pt x="75" y="3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44369" name="Line 273"/>
            <p:cNvSpPr>
              <a:spLocks noChangeShapeType="1"/>
            </p:cNvSpPr>
            <p:nvPr/>
          </p:nvSpPr>
          <p:spPr bwMode="auto">
            <a:xfrm flipH="1">
              <a:off x="5189" y="2258"/>
              <a:ext cx="257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44187" name="Group 277"/>
          <p:cNvGrpSpPr>
            <a:grpSpLocks/>
          </p:cNvGrpSpPr>
          <p:nvPr/>
        </p:nvGrpSpPr>
        <p:grpSpPr bwMode="auto">
          <a:xfrm>
            <a:off x="7700963" y="3505200"/>
            <a:ext cx="1004887" cy="103187"/>
            <a:chOff x="4851" y="2467"/>
            <a:chExt cx="633" cy="65"/>
          </a:xfrm>
        </p:grpSpPr>
        <p:sp>
          <p:nvSpPr>
            <p:cNvPr id="644371" name="Freeform 275"/>
            <p:cNvSpPr>
              <a:spLocks/>
            </p:cNvSpPr>
            <p:nvPr/>
          </p:nvSpPr>
          <p:spPr bwMode="auto">
            <a:xfrm>
              <a:off x="5409" y="2467"/>
              <a:ext cx="75" cy="65"/>
            </a:xfrm>
            <a:custGeom>
              <a:avLst/>
              <a:gdLst/>
              <a:ahLst/>
              <a:cxnLst>
                <a:cxn ang="0">
                  <a:pos x="75" y="32"/>
                </a:cxn>
                <a:cxn ang="0">
                  <a:pos x="0" y="65"/>
                </a:cxn>
                <a:cxn ang="0">
                  <a:pos x="0" y="0"/>
                </a:cxn>
                <a:cxn ang="0">
                  <a:pos x="75" y="32"/>
                </a:cxn>
              </a:cxnLst>
              <a:rect l="0" t="0" r="r" b="b"/>
              <a:pathLst>
                <a:path w="75" h="65">
                  <a:moveTo>
                    <a:pt x="75" y="32"/>
                  </a:moveTo>
                  <a:lnTo>
                    <a:pt x="0" y="65"/>
                  </a:lnTo>
                  <a:lnTo>
                    <a:pt x="0" y="0"/>
                  </a:lnTo>
                  <a:lnTo>
                    <a:pt x="75" y="3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44372" name="Line 276"/>
            <p:cNvSpPr>
              <a:spLocks noChangeShapeType="1"/>
            </p:cNvSpPr>
            <p:nvPr/>
          </p:nvSpPr>
          <p:spPr bwMode="auto">
            <a:xfrm flipH="1">
              <a:off x="4851" y="2499"/>
              <a:ext cx="595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44374" name="AutoShape 278"/>
          <p:cNvSpPr>
            <a:spLocks noChangeArrowheads="1"/>
          </p:cNvSpPr>
          <p:nvPr/>
        </p:nvSpPr>
        <p:spPr bwMode="auto">
          <a:xfrm>
            <a:off x="6284913" y="2768600"/>
            <a:ext cx="374650" cy="298450"/>
          </a:xfrm>
          <a:prstGeom prst="roundRect">
            <a:avLst>
              <a:gd name="adj" fmla="val 47370"/>
            </a:avLst>
          </a:prstGeom>
          <a:noFill/>
          <a:ln w="254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644375" name="Rectangle 279"/>
          <p:cNvSpPr>
            <a:spLocks noChangeArrowheads="1"/>
          </p:cNvSpPr>
          <p:nvPr/>
        </p:nvSpPr>
        <p:spPr bwMode="auto">
          <a:xfrm>
            <a:off x="6330950" y="2824162"/>
            <a:ext cx="374650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200" b="1">
                <a:solidFill>
                  <a:srgbClr val="000000"/>
                </a:solidFill>
                <a:latin typeface="Courier New" pitchFamily="49" charset="0"/>
              </a:rPr>
              <a:t>&lt;&lt;2</a:t>
            </a:r>
            <a:endParaRPr lang="en-US"/>
          </a:p>
        </p:txBody>
      </p:sp>
      <p:sp>
        <p:nvSpPr>
          <p:cNvPr id="644376" name="AutoShape 280"/>
          <p:cNvSpPr>
            <a:spLocks noChangeArrowheads="1"/>
          </p:cNvSpPr>
          <p:nvPr/>
        </p:nvSpPr>
        <p:spPr bwMode="auto">
          <a:xfrm>
            <a:off x="7204075" y="2768600"/>
            <a:ext cx="646113" cy="298450"/>
          </a:xfrm>
          <a:prstGeom prst="roundRect">
            <a:avLst>
              <a:gd name="adj" fmla="val 47370"/>
            </a:avLst>
          </a:prstGeom>
          <a:noFill/>
          <a:ln w="254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644377" name="Rectangle 281"/>
          <p:cNvSpPr>
            <a:spLocks noChangeArrowheads="1"/>
          </p:cNvSpPr>
          <p:nvPr/>
        </p:nvSpPr>
        <p:spPr bwMode="auto">
          <a:xfrm>
            <a:off x="7300913" y="2833687"/>
            <a:ext cx="536575" cy="187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900" b="1">
                <a:solidFill>
                  <a:srgbClr val="000000"/>
                </a:solidFill>
                <a:latin typeface="Courier New" pitchFamily="49" charset="0"/>
              </a:rPr>
              <a:t>CONCAT</a:t>
            </a:r>
            <a:endParaRPr lang="en-US"/>
          </a:p>
        </p:txBody>
      </p:sp>
      <p:grpSp>
        <p:nvGrpSpPr>
          <p:cNvPr id="644195" name="Group 284"/>
          <p:cNvGrpSpPr>
            <a:grpSpLocks/>
          </p:cNvGrpSpPr>
          <p:nvPr/>
        </p:nvGrpSpPr>
        <p:grpSpPr bwMode="auto">
          <a:xfrm>
            <a:off x="6662738" y="2867025"/>
            <a:ext cx="544512" cy="101600"/>
            <a:chOff x="4197" y="2065"/>
            <a:chExt cx="343" cy="64"/>
          </a:xfrm>
        </p:grpSpPr>
        <p:sp>
          <p:nvSpPr>
            <p:cNvPr id="644378" name="Freeform 282"/>
            <p:cNvSpPr>
              <a:spLocks/>
            </p:cNvSpPr>
            <p:nvPr/>
          </p:nvSpPr>
          <p:spPr bwMode="auto">
            <a:xfrm>
              <a:off x="4465" y="2065"/>
              <a:ext cx="75" cy="64"/>
            </a:xfrm>
            <a:custGeom>
              <a:avLst/>
              <a:gdLst/>
              <a:ahLst/>
              <a:cxnLst>
                <a:cxn ang="0">
                  <a:pos x="75" y="32"/>
                </a:cxn>
                <a:cxn ang="0">
                  <a:pos x="0" y="64"/>
                </a:cxn>
                <a:cxn ang="0">
                  <a:pos x="0" y="0"/>
                </a:cxn>
                <a:cxn ang="0">
                  <a:pos x="75" y="32"/>
                </a:cxn>
              </a:cxnLst>
              <a:rect l="0" t="0" r="r" b="b"/>
              <a:pathLst>
                <a:path w="75" h="64">
                  <a:moveTo>
                    <a:pt x="75" y="32"/>
                  </a:moveTo>
                  <a:lnTo>
                    <a:pt x="0" y="64"/>
                  </a:lnTo>
                  <a:lnTo>
                    <a:pt x="0" y="0"/>
                  </a:lnTo>
                  <a:lnTo>
                    <a:pt x="75" y="3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44379" name="Line 283"/>
            <p:cNvSpPr>
              <a:spLocks noChangeShapeType="1"/>
            </p:cNvSpPr>
            <p:nvPr/>
          </p:nvSpPr>
          <p:spPr bwMode="auto">
            <a:xfrm flipH="1">
              <a:off x="4197" y="2097"/>
              <a:ext cx="306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44381" name="Line 285"/>
          <p:cNvSpPr>
            <a:spLocks noChangeShapeType="1"/>
          </p:cNvSpPr>
          <p:nvPr/>
        </p:nvSpPr>
        <p:spPr bwMode="auto">
          <a:xfrm flipH="1">
            <a:off x="6781800" y="2876550"/>
            <a:ext cx="76200" cy="76200"/>
          </a:xfrm>
          <a:prstGeom prst="line">
            <a:avLst/>
          </a:prstGeom>
          <a:noFill/>
          <a:ln w="7938">
            <a:solidFill>
              <a:srgbClr val="44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644382" name="Rectangle 286"/>
          <p:cNvSpPr>
            <a:spLocks noChangeArrowheads="1"/>
          </p:cNvSpPr>
          <p:nvPr/>
        </p:nvSpPr>
        <p:spPr bwMode="auto">
          <a:xfrm>
            <a:off x="6781800" y="2697162"/>
            <a:ext cx="161925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charset="0"/>
              </a:rPr>
              <a:t>28</a:t>
            </a:r>
            <a:endParaRPr lang="en-US"/>
          </a:p>
        </p:txBody>
      </p:sp>
      <p:sp>
        <p:nvSpPr>
          <p:cNvPr id="644383" name="Line 287"/>
          <p:cNvSpPr>
            <a:spLocks noChangeShapeType="1"/>
          </p:cNvSpPr>
          <p:nvPr/>
        </p:nvSpPr>
        <p:spPr bwMode="auto">
          <a:xfrm flipH="1">
            <a:off x="8042275" y="2876550"/>
            <a:ext cx="76200" cy="76200"/>
          </a:xfrm>
          <a:prstGeom prst="line">
            <a:avLst/>
          </a:prstGeom>
          <a:noFill/>
          <a:ln w="7938">
            <a:solidFill>
              <a:srgbClr val="44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644384" name="Rectangle 288"/>
          <p:cNvSpPr>
            <a:spLocks noChangeArrowheads="1"/>
          </p:cNvSpPr>
          <p:nvPr/>
        </p:nvSpPr>
        <p:spPr bwMode="auto">
          <a:xfrm>
            <a:off x="8042275" y="2697162"/>
            <a:ext cx="161925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charset="0"/>
              </a:rPr>
              <a:t>32</a:t>
            </a:r>
            <a:endParaRPr lang="en-US"/>
          </a:p>
        </p:txBody>
      </p:sp>
      <p:grpSp>
        <p:nvGrpSpPr>
          <p:cNvPr id="644200" name="Group 291"/>
          <p:cNvGrpSpPr>
            <a:grpSpLocks/>
          </p:cNvGrpSpPr>
          <p:nvPr/>
        </p:nvGrpSpPr>
        <p:grpSpPr bwMode="auto">
          <a:xfrm>
            <a:off x="688975" y="3930650"/>
            <a:ext cx="204788" cy="103187"/>
            <a:chOff x="434" y="2735"/>
            <a:chExt cx="129" cy="65"/>
          </a:xfrm>
        </p:grpSpPr>
        <p:sp>
          <p:nvSpPr>
            <p:cNvPr id="644385" name="Freeform 289"/>
            <p:cNvSpPr>
              <a:spLocks/>
            </p:cNvSpPr>
            <p:nvPr/>
          </p:nvSpPr>
          <p:spPr bwMode="auto">
            <a:xfrm>
              <a:off x="488" y="2735"/>
              <a:ext cx="75" cy="65"/>
            </a:xfrm>
            <a:custGeom>
              <a:avLst/>
              <a:gdLst/>
              <a:ahLst/>
              <a:cxnLst>
                <a:cxn ang="0">
                  <a:pos x="75" y="32"/>
                </a:cxn>
                <a:cxn ang="0">
                  <a:pos x="0" y="65"/>
                </a:cxn>
                <a:cxn ang="0">
                  <a:pos x="0" y="0"/>
                </a:cxn>
                <a:cxn ang="0">
                  <a:pos x="75" y="32"/>
                </a:cxn>
              </a:cxnLst>
              <a:rect l="0" t="0" r="r" b="b"/>
              <a:pathLst>
                <a:path w="75" h="65">
                  <a:moveTo>
                    <a:pt x="75" y="32"/>
                  </a:moveTo>
                  <a:lnTo>
                    <a:pt x="0" y="65"/>
                  </a:lnTo>
                  <a:lnTo>
                    <a:pt x="0" y="0"/>
                  </a:lnTo>
                  <a:lnTo>
                    <a:pt x="75" y="3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44386" name="Line 290"/>
            <p:cNvSpPr>
              <a:spLocks noChangeShapeType="1"/>
            </p:cNvSpPr>
            <p:nvPr/>
          </p:nvSpPr>
          <p:spPr bwMode="auto">
            <a:xfrm flipH="1">
              <a:off x="434" y="2767"/>
              <a:ext cx="91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44205" name="Group 298"/>
          <p:cNvGrpSpPr>
            <a:grpSpLocks/>
          </p:cNvGrpSpPr>
          <p:nvPr/>
        </p:nvGrpSpPr>
        <p:grpSpPr bwMode="auto">
          <a:xfrm>
            <a:off x="884238" y="3598862"/>
            <a:ext cx="230187" cy="536575"/>
            <a:chOff x="557" y="2526"/>
            <a:chExt cx="145" cy="338"/>
          </a:xfrm>
        </p:grpSpPr>
        <p:sp>
          <p:nvSpPr>
            <p:cNvPr id="644388" name="Rectangle 292"/>
            <p:cNvSpPr>
              <a:spLocks noChangeArrowheads="1"/>
            </p:cNvSpPr>
            <p:nvPr/>
          </p:nvSpPr>
          <p:spPr bwMode="auto">
            <a:xfrm>
              <a:off x="627" y="2601"/>
              <a:ext cx="75" cy="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1">
                  <a:solidFill>
                    <a:srgbClr val="000000"/>
                  </a:solidFill>
                  <a:latin typeface="Arial" charset="0"/>
                </a:rPr>
                <a:t>M</a:t>
              </a:r>
              <a:endParaRPr lang="en-US"/>
            </a:p>
          </p:txBody>
        </p:sp>
        <p:sp>
          <p:nvSpPr>
            <p:cNvPr id="644389" name="Rectangle 293"/>
            <p:cNvSpPr>
              <a:spLocks noChangeArrowheads="1"/>
            </p:cNvSpPr>
            <p:nvPr/>
          </p:nvSpPr>
          <p:spPr bwMode="auto">
            <a:xfrm>
              <a:off x="627" y="2665"/>
              <a:ext cx="64" cy="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1">
                  <a:solidFill>
                    <a:srgbClr val="000000"/>
                  </a:solidFill>
                  <a:latin typeface="Arial" charset="0"/>
                </a:rPr>
                <a:t>U</a:t>
              </a:r>
              <a:endParaRPr lang="en-US"/>
            </a:p>
          </p:txBody>
        </p:sp>
        <p:sp>
          <p:nvSpPr>
            <p:cNvPr id="644390" name="Rectangle 294"/>
            <p:cNvSpPr>
              <a:spLocks noChangeArrowheads="1"/>
            </p:cNvSpPr>
            <p:nvPr/>
          </p:nvSpPr>
          <p:spPr bwMode="auto">
            <a:xfrm>
              <a:off x="633" y="2729"/>
              <a:ext cx="64" cy="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1">
                  <a:solidFill>
                    <a:srgbClr val="000000"/>
                  </a:solidFill>
                  <a:latin typeface="Arial" charset="0"/>
                </a:rPr>
                <a:t>X</a:t>
              </a:r>
              <a:endParaRPr lang="en-US"/>
            </a:p>
          </p:txBody>
        </p:sp>
        <p:sp>
          <p:nvSpPr>
            <p:cNvPr id="644391" name="Freeform 295"/>
            <p:cNvSpPr>
              <a:spLocks/>
            </p:cNvSpPr>
            <p:nvPr/>
          </p:nvSpPr>
          <p:spPr bwMode="auto">
            <a:xfrm>
              <a:off x="557" y="2526"/>
              <a:ext cx="145" cy="3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338"/>
                </a:cxn>
                <a:cxn ang="0">
                  <a:pos x="145" y="268"/>
                </a:cxn>
                <a:cxn ang="0">
                  <a:pos x="145" y="75"/>
                </a:cxn>
                <a:cxn ang="0">
                  <a:pos x="0" y="0"/>
                </a:cxn>
              </a:cxnLst>
              <a:rect l="0" t="0" r="r" b="b"/>
              <a:pathLst>
                <a:path w="145" h="338">
                  <a:moveTo>
                    <a:pt x="0" y="0"/>
                  </a:moveTo>
                  <a:lnTo>
                    <a:pt x="0" y="338"/>
                  </a:lnTo>
                  <a:lnTo>
                    <a:pt x="145" y="268"/>
                  </a:lnTo>
                  <a:lnTo>
                    <a:pt x="145" y="75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54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44392" name="Rectangle 296"/>
            <p:cNvSpPr>
              <a:spLocks noChangeArrowheads="1"/>
            </p:cNvSpPr>
            <p:nvPr/>
          </p:nvSpPr>
          <p:spPr bwMode="auto">
            <a:xfrm>
              <a:off x="568" y="2580"/>
              <a:ext cx="96" cy="1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900" b="1">
                  <a:solidFill>
                    <a:srgbClr val="0033FF"/>
                  </a:solidFill>
                  <a:latin typeface="Courier New" pitchFamily="49" charset="0"/>
                </a:rPr>
                <a:t>0</a:t>
              </a:r>
              <a:endParaRPr lang="en-US"/>
            </a:p>
          </p:txBody>
        </p:sp>
        <p:sp>
          <p:nvSpPr>
            <p:cNvPr id="644393" name="Rectangle 297"/>
            <p:cNvSpPr>
              <a:spLocks noChangeArrowheads="1"/>
            </p:cNvSpPr>
            <p:nvPr/>
          </p:nvSpPr>
          <p:spPr bwMode="auto">
            <a:xfrm>
              <a:off x="568" y="2714"/>
              <a:ext cx="96" cy="1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900" b="1">
                  <a:solidFill>
                    <a:srgbClr val="0033FF"/>
                  </a:solidFill>
                  <a:latin typeface="Courier New" pitchFamily="49" charset="0"/>
                </a:rPr>
                <a:t>1</a:t>
              </a:r>
              <a:endParaRPr lang="en-US"/>
            </a:p>
          </p:txBody>
        </p:sp>
      </p:grpSp>
      <p:grpSp>
        <p:nvGrpSpPr>
          <p:cNvPr id="644213" name="Group 301"/>
          <p:cNvGrpSpPr>
            <a:grpSpLocks/>
          </p:cNvGrpSpPr>
          <p:nvPr/>
        </p:nvGrpSpPr>
        <p:grpSpPr bwMode="auto">
          <a:xfrm>
            <a:off x="6586538" y="3479800"/>
            <a:ext cx="85725" cy="230187"/>
            <a:chOff x="4149" y="2451"/>
            <a:chExt cx="54" cy="145"/>
          </a:xfrm>
        </p:grpSpPr>
        <p:sp>
          <p:nvSpPr>
            <p:cNvPr id="644395" name="Freeform 299"/>
            <p:cNvSpPr>
              <a:spLocks/>
            </p:cNvSpPr>
            <p:nvPr/>
          </p:nvSpPr>
          <p:spPr bwMode="auto">
            <a:xfrm>
              <a:off x="4149" y="2532"/>
              <a:ext cx="54" cy="64"/>
            </a:xfrm>
            <a:custGeom>
              <a:avLst/>
              <a:gdLst/>
              <a:ahLst/>
              <a:cxnLst>
                <a:cxn ang="0">
                  <a:pos x="27" y="64"/>
                </a:cxn>
                <a:cxn ang="0">
                  <a:pos x="0" y="0"/>
                </a:cxn>
                <a:cxn ang="0">
                  <a:pos x="54" y="0"/>
                </a:cxn>
                <a:cxn ang="0">
                  <a:pos x="27" y="64"/>
                </a:cxn>
              </a:cxnLst>
              <a:rect l="0" t="0" r="r" b="b"/>
              <a:pathLst>
                <a:path w="54" h="64">
                  <a:moveTo>
                    <a:pt x="27" y="64"/>
                  </a:moveTo>
                  <a:lnTo>
                    <a:pt x="0" y="0"/>
                  </a:lnTo>
                  <a:lnTo>
                    <a:pt x="54" y="0"/>
                  </a:lnTo>
                  <a:lnTo>
                    <a:pt x="27" y="64"/>
                  </a:lnTo>
                  <a:close/>
                </a:path>
              </a:pathLst>
            </a:custGeom>
            <a:solidFill>
              <a:srgbClr val="0033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44396" name="Line 300"/>
            <p:cNvSpPr>
              <a:spLocks noChangeShapeType="1"/>
            </p:cNvSpPr>
            <p:nvPr/>
          </p:nvSpPr>
          <p:spPr bwMode="auto">
            <a:xfrm>
              <a:off x="4176" y="2451"/>
              <a:ext cx="1" cy="123"/>
            </a:xfrm>
            <a:prstGeom prst="line">
              <a:avLst/>
            </a:prstGeom>
            <a:noFill/>
            <a:ln w="17463">
              <a:solidFill>
                <a:srgbClr val="0033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44398" name="Rectangle 302"/>
          <p:cNvSpPr>
            <a:spLocks noChangeArrowheads="1"/>
          </p:cNvSpPr>
          <p:nvPr/>
        </p:nvSpPr>
        <p:spPr bwMode="auto">
          <a:xfrm>
            <a:off x="6348413" y="3351212"/>
            <a:ext cx="501650" cy="13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900" b="1">
                <a:solidFill>
                  <a:srgbClr val="0033FF"/>
                </a:solidFill>
                <a:latin typeface="Arial" charset="0"/>
              </a:rPr>
              <a:t>ALUSrcA</a:t>
            </a:r>
            <a:endParaRPr lang="en-US"/>
          </a:p>
        </p:txBody>
      </p:sp>
      <p:sp>
        <p:nvSpPr>
          <p:cNvPr id="644399" name="Line 303"/>
          <p:cNvSpPr>
            <a:spLocks noChangeShapeType="1"/>
          </p:cNvSpPr>
          <p:nvPr/>
        </p:nvSpPr>
        <p:spPr bwMode="auto">
          <a:xfrm flipH="1">
            <a:off x="76200" y="2178050"/>
            <a:ext cx="9004300" cy="1587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644400" name="Line 304"/>
          <p:cNvSpPr>
            <a:spLocks noChangeShapeType="1"/>
          </p:cNvSpPr>
          <p:nvPr/>
        </p:nvSpPr>
        <p:spPr bwMode="auto">
          <a:xfrm>
            <a:off x="9080500" y="2178050"/>
            <a:ext cx="1588" cy="119062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644401" name="Rectangle 305"/>
          <p:cNvSpPr>
            <a:spLocks noChangeArrowheads="1"/>
          </p:cNvSpPr>
          <p:nvPr/>
        </p:nvSpPr>
        <p:spPr bwMode="auto">
          <a:xfrm>
            <a:off x="5641975" y="2732087"/>
            <a:ext cx="477838" cy="13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900" b="1">
                <a:solidFill>
                  <a:srgbClr val="DD0000"/>
                </a:solidFill>
                <a:latin typeface="Courier New" pitchFamily="49" charset="0"/>
              </a:rPr>
              <a:t>jmpaddr</a:t>
            </a:r>
            <a:endParaRPr lang="en-US"/>
          </a:p>
        </p:txBody>
      </p:sp>
      <p:sp>
        <p:nvSpPr>
          <p:cNvPr id="644402" name="Rectangle 306"/>
          <p:cNvSpPr>
            <a:spLocks noChangeArrowheads="1"/>
          </p:cNvSpPr>
          <p:nvPr/>
        </p:nvSpPr>
        <p:spPr bwMode="auto">
          <a:xfrm>
            <a:off x="5641975" y="2876550"/>
            <a:ext cx="476250" cy="169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 b="1">
                <a:solidFill>
                  <a:srgbClr val="DD0000"/>
                </a:solidFill>
                <a:latin typeface="Courier New" pitchFamily="49" charset="0"/>
              </a:rPr>
              <a:t>I[25:0]</a:t>
            </a:r>
            <a:endParaRPr lang="en-US"/>
          </a:p>
        </p:txBody>
      </p:sp>
      <p:sp>
        <p:nvSpPr>
          <p:cNvPr id="644403" name="Line 307"/>
          <p:cNvSpPr>
            <a:spLocks noChangeShapeType="1"/>
          </p:cNvSpPr>
          <p:nvPr/>
        </p:nvSpPr>
        <p:spPr bwMode="auto">
          <a:xfrm>
            <a:off x="3370263" y="4246562"/>
            <a:ext cx="1587" cy="1760538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644404" name="Line 308"/>
          <p:cNvSpPr>
            <a:spLocks noChangeShapeType="1"/>
          </p:cNvSpPr>
          <p:nvPr/>
        </p:nvSpPr>
        <p:spPr bwMode="auto">
          <a:xfrm flipH="1">
            <a:off x="1149350" y="5854700"/>
            <a:ext cx="4900613" cy="1587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644405" name="Line 309"/>
          <p:cNvSpPr>
            <a:spLocks noChangeShapeType="1"/>
          </p:cNvSpPr>
          <p:nvPr/>
        </p:nvSpPr>
        <p:spPr bwMode="auto">
          <a:xfrm>
            <a:off x="6049963" y="4441825"/>
            <a:ext cx="1587" cy="141287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644406" name="Line 310"/>
          <p:cNvSpPr>
            <a:spLocks noChangeShapeType="1"/>
          </p:cNvSpPr>
          <p:nvPr/>
        </p:nvSpPr>
        <p:spPr bwMode="auto">
          <a:xfrm>
            <a:off x="688975" y="3981450"/>
            <a:ext cx="1588" cy="202565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grpSp>
        <p:nvGrpSpPr>
          <p:cNvPr id="644219" name="Group 313"/>
          <p:cNvGrpSpPr>
            <a:grpSpLocks/>
          </p:cNvGrpSpPr>
          <p:nvPr/>
        </p:nvGrpSpPr>
        <p:grpSpPr bwMode="auto">
          <a:xfrm>
            <a:off x="1149350" y="4391025"/>
            <a:ext cx="203200" cy="101600"/>
            <a:chOff x="724" y="3025"/>
            <a:chExt cx="128" cy="64"/>
          </a:xfrm>
        </p:grpSpPr>
        <p:sp>
          <p:nvSpPr>
            <p:cNvPr id="644407" name="Freeform 311"/>
            <p:cNvSpPr>
              <a:spLocks/>
            </p:cNvSpPr>
            <p:nvPr/>
          </p:nvSpPr>
          <p:spPr bwMode="auto">
            <a:xfrm>
              <a:off x="777" y="3025"/>
              <a:ext cx="75" cy="64"/>
            </a:xfrm>
            <a:custGeom>
              <a:avLst/>
              <a:gdLst/>
              <a:ahLst/>
              <a:cxnLst>
                <a:cxn ang="0">
                  <a:pos x="75" y="32"/>
                </a:cxn>
                <a:cxn ang="0">
                  <a:pos x="0" y="64"/>
                </a:cxn>
                <a:cxn ang="0">
                  <a:pos x="0" y="0"/>
                </a:cxn>
                <a:cxn ang="0">
                  <a:pos x="75" y="32"/>
                </a:cxn>
              </a:cxnLst>
              <a:rect l="0" t="0" r="r" b="b"/>
              <a:pathLst>
                <a:path w="75" h="64">
                  <a:moveTo>
                    <a:pt x="75" y="32"/>
                  </a:moveTo>
                  <a:lnTo>
                    <a:pt x="0" y="64"/>
                  </a:lnTo>
                  <a:lnTo>
                    <a:pt x="0" y="0"/>
                  </a:lnTo>
                  <a:lnTo>
                    <a:pt x="75" y="3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44408" name="Line 312"/>
            <p:cNvSpPr>
              <a:spLocks noChangeShapeType="1"/>
            </p:cNvSpPr>
            <p:nvPr/>
          </p:nvSpPr>
          <p:spPr bwMode="auto">
            <a:xfrm flipH="1">
              <a:off x="724" y="3057"/>
              <a:ext cx="91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44410" name="Line 314"/>
          <p:cNvSpPr>
            <a:spLocks noChangeShapeType="1"/>
          </p:cNvSpPr>
          <p:nvPr/>
        </p:nvSpPr>
        <p:spPr bwMode="auto">
          <a:xfrm>
            <a:off x="1149350" y="4441825"/>
            <a:ext cx="1588" cy="141287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644411" name="Rectangle 315"/>
          <p:cNvSpPr>
            <a:spLocks noChangeArrowheads="1"/>
          </p:cNvSpPr>
          <p:nvPr/>
        </p:nvSpPr>
        <p:spPr bwMode="auto">
          <a:xfrm>
            <a:off x="5386388" y="2970212"/>
            <a:ext cx="230187" cy="187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900" b="1">
                <a:solidFill>
                  <a:srgbClr val="DD0000"/>
                </a:solidFill>
                <a:latin typeface="Courier New" pitchFamily="49" charset="0"/>
              </a:rPr>
              <a:t>rd</a:t>
            </a:r>
            <a:endParaRPr lang="en-US"/>
          </a:p>
        </p:txBody>
      </p:sp>
      <p:grpSp>
        <p:nvGrpSpPr>
          <p:cNvPr id="644225" name="Group 320"/>
          <p:cNvGrpSpPr>
            <a:grpSpLocks/>
          </p:cNvGrpSpPr>
          <p:nvPr/>
        </p:nvGrpSpPr>
        <p:grpSpPr bwMode="auto">
          <a:xfrm>
            <a:off x="4902200" y="3130550"/>
            <a:ext cx="552450" cy="230187"/>
            <a:chOff x="3088" y="2231"/>
            <a:chExt cx="348" cy="145"/>
          </a:xfrm>
        </p:grpSpPr>
        <p:sp>
          <p:nvSpPr>
            <p:cNvPr id="644412" name="Rectangle 316"/>
            <p:cNvSpPr>
              <a:spLocks noChangeArrowheads="1"/>
            </p:cNvSpPr>
            <p:nvPr/>
          </p:nvSpPr>
          <p:spPr bwMode="auto">
            <a:xfrm>
              <a:off x="3189" y="2295"/>
              <a:ext cx="150" cy="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1">
                  <a:solidFill>
                    <a:srgbClr val="000000"/>
                  </a:solidFill>
                  <a:latin typeface="Arial" charset="0"/>
                </a:rPr>
                <a:t>MUX</a:t>
              </a:r>
              <a:endParaRPr lang="en-US"/>
            </a:p>
          </p:txBody>
        </p:sp>
        <p:sp>
          <p:nvSpPr>
            <p:cNvPr id="644413" name="Freeform 317"/>
            <p:cNvSpPr>
              <a:spLocks/>
            </p:cNvSpPr>
            <p:nvPr/>
          </p:nvSpPr>
          <p:spPr bwMode="auto">
            <a:xfrm>
              <a:off x="3088" y="2231"/>
              <a:ext cx="337" cy="145"/>
            </a:xfrm>
            <a:custGeom>
              <a:avLst/>
              <a:gdLst/>
              <a:ahLst/>
              <a:cxnLst>
                <a:cxn ang="0">
                  <a:pos x="337" y="0"/>
                </a:cxn>
                <a:cxn ang="0">
                  <a:pos x="0" y="0"/>
                </a:cxn>
                <a:cxn ang="0">
                  <a:pos x="75" y="145"/>
                </a:cxn>
                <a:cxn ang="0">
                  <a:pos x="268" y="145"/>
                </a:cxn>
                <a:cxn ang="0">
                  <a:pos x="337" y="0"/>
                </a:cxn>
              </a:cxnLst>
              <a:rect l="0" t="0" r="r" b="b"/>
              <a:pathLst>
                <a:path w="337" h="145">
                  <a:moveTo>
                    <a:pt x="337" y="0"/>
                  </a:moveTo>
                  <a:lnTo>
                    <a:pt x="0" y="0"/>
                  </a:lnTo>
                  <a:lnTo>
                    <a:pt x="75" y="145"/>
                  </a:lnTo>
                  <a:lnTo>
                    <a:pt x="268" y="145"/>
                  </a:lnTo>
                  <a:lnTo>
                    <a:pt x="337" y="0"/>
                  </a:lnTo>
                  <a:close/>
                </a:path>
              </a:pathLst>
            </a:custGeom>
            <a:noFill/>
            <a:ln w="254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44414" name="Rectangle 318"/>
            <p:cNvSpPr>
              <a:spLocks noChangeArrowheads="1"/>
            </p:cNvSpPr>
            <p:nvPr/>
          </p:nvSpPr>
          <p:spPr bwMode="auto">
            <a:xfrm>
              <a:off x="3147" y="2232"/>
              <a:ext cx="96" cy="1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900" b="1">
                  <a:solidFill>
                    <a:srgbClr val="0033FF"/>
                  </a:solidFill>
                  <a:latin typeface="Courier New" pitchFamily="49" charset="0"/>
                </a:rPr>
                <a:t>0</a:t>
              </a:r>
              <a:endParaRPr lang="en-US"/>
            </a:p>
          </p:txBody>
        </p:sp>
        <p:sp>
          <p:nvSpPr>
            <p:cNvPr id="644415" name="Rectangle 319"/>
            <p:cNvSpPr>
              <a:spLocks noChangeArrowheads="1"/>
            </p:cNvSpPr>
            <p:nvPr/>
          </p:nvSpPr>
          <p:spPr bwMode="auto">
            <a:xfrm>
              <a:off x="3340" y="2232"/>
              <a:ext cx="96" cy="1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900" b="1">
                  <a:solidFill>
                    <a:srgbClr val="0033FF"/>
                  </a:solidFill>
                  <a:latin typeface="Courier New" pitchFamily="49" charset="0"/>
                </a:rPr>
                <a:t>1</a:t>
              </a:r>
              <a:endParaRPr lang="en-US"/>
            </a:p>
          </p:txBody>
        </p:sp>
      </p:grpSp>
      <p:sp>
        <p:nvSpPr>
          <p:cNvPr id="644417" name="Rectangle 321"/>
          <p:cNvSpPr>
            <a:spLocks noChangeArrowheads="1"/>
          </p:cNvSpPr>
          <p:nvPr/>
        </p:nvSpPr>
        <p:spPr bwMode="auto">
          <a:xfrm>
            <a:off x="4603750" y="2970212"/>
            <a:ext cx="136525" cy="13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900" b="1">
                <a:solidFill>
                  <a:srgbClr val="DD0000"/>
                </a:solidFill>
                <a:latin typeface="Courier New" pitchFamily="49" charset="0"/>
              </a:rPr>
              <a:t>rt</a:t>
            </a:r>
            <a:endParaRPr lang="en-US"/>
          </a:p>
        </p:txBody>
      </p:sp>
      <p:sp>
        <p:nvSpPr>
          <p:cNvPr id="644418" name="Rectangle 322"/>
          <p:cNvSpPr>
            <a:spLocks noChangeArrowheads="1"/>
          </p:cNvSpPr>
          <p:nvPr/>
        </p:nvSpPr>
        <p:spPr bwMode="auto">
          <a:xfrm>
            <a:off x="4221163" y="2970212"/>
            <a:ext cx="136525" cy="13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900" b="1">
                <a:solidFill>
                  <a:srgbClr val="DD0000"/>
                </a:solidFill>
                <a:latin typeface="Courier New" pitchFamily="49" charset="0"/>
              </a:rPr>
              <a:t>rs</a:t>
            </a:r>
            <a:endParaRPr lang="en-US"/>
          </a:p>
        </p:txBody>
      </p:sp>
      <p:sp>
        <p:nvSpPr>
          <p:cNvPr id="644419" name="Rectangle 323"/>
          <p:cNvSpPr>
            <a:spLocks noChangeArrowheads="1"/>
          </p:cNvSpPr>
          <p:nvPr/>
        </p:nvSpPr>
        <p:spPr bwMode="auto">
          <a:xfrm>
            <a:off x="3565525" y="5233987"/>
            <a:ext cx="765175" cy="187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900" b="1">
                <a:solidFill>
                  <a:srgbClr val="DD0000"/>
                </a:solidFill>
                <a:latin typeface="Courier New" pitchFamily="49" charset="0"/>
              </a:rPr>
              <a:t>immediate</a:t>
            </a:r>
            <a:endParaRPr lang="en-US"/>
          </a:p>
        </p:txBody>
      </p:sp>
      <p:sp>
        <p:nvSpPr>
          <p:cNvPr id="644420" name="Oval 324"/>
          <p:cNvSpPr>
            <a:spLocks noChangeArrowheads="1"/>
          </p:cNvSpPr>
          <p:nvPr/>
        </p:nvSpPr>
        <p:spPr bwMode="auto">
          <a:xfrm>
            <a:off x="4386263" y="2889250"/>
            <a:ext cx="34925" cy="33337"/>
          </a:xfrm>
          <a:prstGeom prst="ellipse">
            <a:avLst/>
          </a:prstGeom>
          <a:solidFill>
            <a:srgbClr val="440000"/>
          </a:solidFill>
          <a:ln w="254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644421" name="Oval 325"/>
          <p:cNvSpPr>
            <a:spLocks noChangeArrowheads="1"/>
          </p:cNvSpPr>
          <p:nvPr/>
        </p:nvSpPr>
        <p:spPr bwMode="auto">
          <a:xfrm>
            <a:off x="4768850" y="2889250"/>
            <a:ext cx="34925" cy="33337"/>
          </a:xfrm>
          <a:prstGeom prst="ellipse">
            <a:avLst/>
          </a:prstGeom>
          <a:solidFill>
            <a:srgbClr val="440000"/>
          </a:solidFill>
          <a:ln w="254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644422" name="Oval 326"/>
          <p:cNvSpPr>
            <a:spLocks noChangeArrowheads="1"/>
          </p:cNvSpPr>
          <p:nvPr/>
        </p:nvSpPr>
        <p:spPr bwMode="auto">
          <a:xfrm>
            <a:off x="5305425" y="2889250"/>
            <a:ext cx="34925" cy="33337"/>
          </a:xfrm>
          <a:prstGeom prst="ellipse">
            <a:avLst/>
          </a:prstGeom>
          <a:solidFill>
            <a:srgbClr val="440000"/>
          </a:solidFill>
          <a:ln w="254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644423" name="Oval 327"/>
          <p:cNvSpPr>
            <a:spLocks noChangeArrowheads="1"/>
          </p:cNvSpPr>
          <p:nvPr/>
        </p:nvSpPr>
        <p:spPr bwMode="auto">
          <a:xfrm>
            <a:off x="6148388" y="2352675"/>
            <a:ext cx="33337" cy="33337"/>
          </a:xfrm>
          <a:prstGeom prst="ellipse">
            <a:avLst/>
          </a:prstGeom>
          <a:solidFill>
            <a:srgbClr val="440000"/>
          </a:solidFill>
          <a:ln w="254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644424" name="Oval 328"/>
          <p:cNvSpPr>
            <a:spLocks noChangeArrowheads="1"/>
          </p:cNvSpPr>
          <p:nvPr/>
        </p:nvSpPr>
        <p:spPr bwMode="auto">
          <a:xfrm>
            <a:off x="6037263" y="4419600"/>
            <a:ext cx="25400" cy="34925"/>
          </a:xfrm>
          <a:prstGeom prst="ellipse">
            <a:avLst/>
          </a:prstGeom>
          <a:solidFill>
            <a:srgbClr val="440000"/>
          </a:solidFill>
          <a:ln w="254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644425" name="Oval 329"/>
          <p:cNvSpPr>
            <a:spLocks noChangeArrowheads="1"/>
          </p:cNvSpPr>
          <p:nvPr/>
        </p:nvSpPr>
        <p:spPr bwMode="auto">
          <a:xfrm>
            <a:off x="8445500" y="4310062"/>
            <a:ext cx="34925" cy="25400"/>
          </a:xfrm>
          <a:prstGeom prst="ellipse">
            <a:avLst/>
          </a:prstGeom>
          <a:solidFill>
            <a:srgbClr val="440000"/>
          </a:solidFill>
          <a:ln w="254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644426" name="Oval 330"/>
          <p:cNvSpPr>
            <a:spLocks noChangeArrowheads="1"/>
          </p:cNvSpPr>
          <p:nvPr/>
        </p:nvSpPr>
        <p:spPr bwMode="auto">
          <a:xfrm>
            <a:off x="3357563" y="5994400"/>
            <a:ext cx="25400" cy="25400"/>
          </a:xfrm>
          <a:prstGeom prst="ellipse">
            <a:avLst/>
          </a:prstGeom>
          <a:solidFill>
            <a:srgbClr val="440000"/>
          </a:solidFill>
          <a:ln w="254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grpSp>
        <p:nvGrpSpPr>
          <p:cNvPr id="644228" name="Group 333"/>
          <p:cNvGrpSpPr>
            <a:grpSpLocks/>
          </p:cNvGrpSpPr>
          <p:nvPr/>
        </p:nvGrpSpPr>
        <p:grpSpPr bwMode="auto">
          <a:xfrm>
            <a:off x="8764588" y="3633787"/>
            <a:ext cx="85725" cy="195263"/>
            <a:chOff x="5521" y="2548"/>
            <a:chExt cx="54" cy="123"/>
          </a:xfrm>
        </p:grpSpPr>
        <p:sp>
          <p:nvSpPr>
            <p:cNvPr id="644427" name="Freeform 331"/>
            <p:cNvSpPr>
              <a:spLocks/>
            </p:cNvSpPr>
            <p:nvPr/>
          </p:nvSpPr>
          <p:spPr bwMode="auto">
            <a:xfrm>
              <a:off x="5521" y="2548"/>
              <a:ext cx="54" cy="64"/>
            </a:xfrm>
            <a:custGeom>
              <a:avLst/>
              <a:gdLst/>
              <a:ahLst/>
              <a:cxnLst>
                <a:cxn ang="0">
                  <a:pos x="27" y="0"/>
                </a:cxn>
                <a:cxn ang="0">
                  <a:pos x="54" y="64"/>
                </a:cxn>
                <a:cxn ang="0">
                  <a:pos x="0" y="64"/>
                </a:cxn>
                <a:cxn ang="0">
                  <a:pos x="27" y="0"/>
                </a:cxn>
              </a:cxnLst>
              <a:rect l="0" t="0" r="r" b="b"/>
              <a:pathLst>
                <a:path w="54" h="64">
                  <a:moveTo>
                    <a:pt x="27" y="0"/>
                  </a:moveTo>
                  <a:lnTo>
                    <a:pt x="54" y="64"/>
                  </a:lnTo>
                  <a:lnTo>
                    <a:pt x="0" y="64"/>
                  </a:lnTo>
                  <a:lnTo>
                    <a:pt x="27" y="0"/>
                  </a:lnTo>
                  <a:close/>
                </a:path>
              </a:pathLst>
            </a:custGeom>
            <a:solidFill>
              <a:srgbClr val="0033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44428" name="Line 332"/>
            <p:cNvSpPr>
              <a:spLocks noChangeShapeType="1"/>
            </p:cNvSpPr>
            <p:nvPr/>
          </p:nvSpPr>
          <p:spPr bwMode="auto">
            <a:xfrm>
              <a:off x="5548" y="2569"/>
              <a:ext cx="1" cy="102"/>
            </a:xfrm>
            <a:prstGeom prst="line">
              <a:avLst/>
            </a:prstGeom>
            <a:noFill/>
            <a:ln w="17463">
              <a:solidFill>
                <a:srgbClr val="0033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44430" name="Rectangle 334"/>
          <p:cNvSpPr>
            <a:spLocks noChangeArrowheads="1"/>
          </p:cNvSpPr>
          <p:nvPr/>
        </p:nvSpPr>
        <p:spPr bwMode="auto">
          <a:xfrm>
            <a:off x="8493125" y="3811587"/>
            <a:ext cx="546100" cy="13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900" b="1">
                <a:solidFill>
                  <a:srgbClr val="0033FF"/>
                </a:solidFill>
                <a:latin typeface="Arial" charset="0"/>
              </a:rPr>
              <a:t>PCSource</a:t>
            </a:r>
            <a:endParaRPr lang="en-US"/>
          </a:p>
        </p:txBody>
      </p:sp>
      <p:grpSp>
        <p:nvGrpSpPr>
          <p:cNvPr id="644235" name="Group 337"/>
          <p:cNvGrpSpPr>
            <a:grpSpLocks/>
          </p:cNvGrpSpPr>
          <p:nvPr/>
        </p:nvGrpSpPr>
        <p:grpSpPr bwMode="auto">
          <a:xfrm>
            <a:off x="3709988" y="4365625"/>
            <a:ext cx="85725" cy="187325"/>
            <a:chOff x="2337" y="3009"/>
            <a:chExt cx="54" cy="118"/>
          </a:xfrm>
        </p:grpSpPr>
        <p:sp>
          <p:nvSpPr>
            <p:cNvPr id="644431" name="Freeform 335"/>
            <p:cNvSpPr>
              <a:spLocks/>
            </p:cNvSpPr>
            <p:nvPr/>
          </p:nvSpPr>
          <p:spPr bwMode="auto">
            <a:xfrm>
              <a:off x="2337" y="3009"/>
              <a:ext cx="54" cy="64"/>
            </a:xfrm>
            <a:custGeom>
              <a:avLst/>
              <a:gdLst/>
              <a:ahLst/>
              <a:cxnLst>
                <a:cxn ang="0">
                  <a:pos x="27" y="0"/>
                </a:cxn>
                <a:cxn ang="0">
                  <a:pos x="54" y="64"/>
                </a:cxn>
                <a:cxn ang="0">
                  <a:pos x="0" y="64"/>
                </a:cxn>
                <a:cxn ang="0">
                  <a:pos x="27" y="0"/>
                </a:cxn>
              </a:cxnLst>
              <a:rect l="0" t="0" r="r" b="b"/>
              <a:pathLst>
                <a:path w="54" h="64">
                  <a:moveTo>
                    <a:pt x="27" y="0"/>
                  </a:moveTo>
                  <a:lnTo>
                    <a:pt x="54" y="64"/>
                  </a:lnTo>
                  <a:lnTo>
                    <a:pt x="0" y="64"/>
                  </a:lnTo>
                  <a:lnTo>
                    <a:pt x="27" y="0"/>
                  </a:lnTo>
                  <a:close/>
                </a:path>
              </a:pathLst>
            </a:custGeom>
            <a:solidFill>
              <a:srgbClr val="0033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44432" name="Line 336"/>
            <p:cNvSpPr>
              <a:spLocks noChangeShapeType="1"/>
            </p:cNvSpPr>
            <p:nvPr/>
          </p:nvSpPr>
          <p:spPr bwMode="auto">
            <a:xfrm>
              <a:off x="2364" y="3030"/>
              <a:ext cx="1" cy="97"/>
            </a:xfrm>
            <a:prstGeom prst="line">
              <a:avLst/>
            </a:prstGeom>
            <a:noFill/>
            <a:ln w="17463">
              <a:solidFill>
                <a:srgbClr val="0033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44434" name="Rectangle 338"/>
          <p:cNvSpPr>
            <a:spLocks noChangeArrowheads="1"/>
          </p:cNvSpPr>
          <p:nvPr/>
        </p:nvSpPr>
        <p:spPr bwMode="auto">
          <a:xfrm>
            <a:off x="3395663" y="4535487"/>
            <a:ext cx="584200" cy="13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900" b="1">
                <a:solidFill>
                  <a:srgbClr val="0033FF"/>
                </a:solidFill>
                <a:latin typeface="Arial" charset="0"/>
              </a:rPr>
              <a:t>MemtoReg</a:t>
            </a:r>
            <a:endParaRPr lang="en-US"/>
          </a:p>
        </p:txBody>
      </p:sp>
      <p:sp>
        <p:nvSpPr>
          <p:cNvPr id="644435" name="Rectangle 339"/>
          <p:cNvSpPr>
            <a:spLocks noChangeArrowheads="1"/>
          </p:cNvSpPr>
          <p:nvPr/>
        </p:nvSpPr>
        <p:spPr bwMode="auto">
          <a:xfrm>
            <a:off x="884238" y="3275012"/>
            <a:ext cx="228600" cy="13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900" b="1">
                <a:solidFill>
                  <a:srgbClr val="0033FF"/>
                </a:solidFill>
                <a:latin typeface="Arial" charset="0"/>
              </a:rPr>
              <a:t>IorD</a:t>
            </a:r>
            <a:endParaRPr lang="en-US"/>
          </a:p>
        </p:txBody>
      </p:sp>
      <p:grpSp>
        <p:nvGrpSpPr>
          <p:cNvPr id="644240" name="Group 342"/>
          <p:cNvGrpSpPr>
            <a:grpSpLocks/>
          </p:cNvGrpSpPr>
          <p:nvPr/>
        </p:nvGrpSpPr>
        <p:grpSpPr bwMode="auto">
          <a:xfrm>
            <a:off x="382588" y="3140075"/>
            <a:ext cx="85725" cy="228600"/>
            <a:chOff x="241" y="2237"/>
            <a:chExt cx="54" cy="144"/>
          </a:xfrm>
        </p:grpSpPr>
        <p:sp>
          <p:nvSpPr>
            <p:cNvPr id="644436" name="Freeform 340"/>
            <p:cNvSpPr>
              <a:spLocks/>
            </p:cNvSpPr>
            <p:nvPr/>
          </p:nvSpPr>
          <p:spPr bwMode="auto">
            <a:xfrm>
              <a:off x="241" y="2317"/>
              <a:ext cx="54" cy="64"/>
            </a:xfrm>
            <a:custGeom>
              <a:avLst/>
              <a:gdLst/>
              <a:ahLst/>
              <a:cxnLst>
                <a:cxn ang="0">
                  <a:pos x="27" y="64"/>
                </a:cxn>
                <a:cxn ang="0">
                  <a:pos x="0" y="0"/>
                </a:cxn>
                <a:cxn ang="0">
                  <a:pos x="54" y="0"/>
                </a:cxn>
                <a:cxn ang="0">
                  <a:pos x="27" y="64"/>
                </a:cxn>
              </a:cxnLst>
              <a:rect l="0" t="0" r="r" b="b"/>
              <a:pathLst>
                <a:path w="54" h="64">
                  <a:moveTo>
                    <a:pt x="27" y="64"/>
                  </a:moveTo>
                  <a:lnTo>
                    <a:pt x="0" y="0"/>
                  </a:lnTo>
                  <a:lnTo>
                    <a:pt x="54" y="0"/>
                  </a:lnTo>
                  <a:lnTo>
                    <a:pt x="27" y="64"/>
                  </a:lnTo>
                  <a:close/>
                </a:path>
              </a:pathLst>
            </a:custGeom>
            <a:solidFill>
              <a:srgbClr val="0033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44437" name="Line 341"/>
            <p:cNvSpPr>
              <a:spLocks noChangeShapeType="1"/>
            </p:cNvSpPr>
            <p:nvPr/>
          </p:nvSpPr>
          <p:spPr bwMode="auto">
            <a:xfrm>
              <a:off x="268" y="2237"/>
              <a:ext cx="1" cy="123"/>
            </a:xfrm>
            <a:prstGeom prst="line">
              <a:avLst/>
            </a:prstGeom>
            <a:noFill/>
            <a:ln w="17463">
              <a:solidFill>
                <a:srgbClr val="0033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44439" name="Rectangle 343"/>
          <p:cNvSpPr>
            <a:spLocks noChangeArrowheads="1"/>
          </p:cNvSpPr>
          <p:nvPr/>
        </p:nvSpPr>
        <p:spPr bwMode="auto">
          <a:xfrm>
            <a:off x="212725" y="2960687"/>
            <a:ext cx="355600" cy="13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900" b="1">
                <a:solidFill>
                  <a:srgbClr val="0033FF"/>
                </a:solidFill>
                <a:latin typeface="Arial" charset="0"/>
              </a:rPr>
              <a:t>PCWr*</a:t>
            </a:r>
            <a:endParaRPr lang="en-US"/>
          </a:p>
        </p:txBody>
      </p:sp>
      <p:grpSp>
        <p:nvGrpSpPr>
          <p:cNvPr id="644250" name="Group 346"/>
          <p:cNvGrpSpPr>
            <a:grpSpLocks/>
          </p:cNvGrpSpPr>
          <p:nvPr/>
        </p:nvGrpSpPr>
        <p:grpSpPr bwMode="auto">
          <a:xfrm>
            <a:off x="2944813" y="2101850"/>
            <a:ext cx="84137" cy="425450"/>
            <a:chOff x="1855" y="1583"/>
            <a:chExt cx="53" cy="268"/>
          </a:xfrm>
        </p:grpSpPr>
        <p:sp>
          <p:nvSpPr>
            <p:cNvPr id="644440" name="Freeform 344"/>
            <p:cNvSpPr>
              <a:spLocks/>
            </p:cNvSpPr>
            <p:nvPr/>
          </p:nvSpPr>
          <p:spPr bwMode="auto">
            <a:xfrm>
              <a:off x="1855" y="1786"/>
              <a:ext cx="53" cy="65"/>
            </a:xfrm>
            <a:custGeom>
              <a:avLst/>
              <a:gdLst/>
              <a:ahLst/>
              <a:cxnLst>
                <a:cxn ang="0">
                  <a:pos x="27" y="65"/>
                </a:cxn>
                <a:cxn ang="0">
                  <a:pos x="0" y="0"/>
                </a:cxn>
                <a:cxn ang="0">
                  <a:pos x="53" y="0"/>
                </a:cxn>
                <a:cxn ang="0">
                  <a:pos x="27" y="65"/>
                </a:cxn>
              </a:cxnLst>
              <a:rect l="0" t="0" r="r" b="b"/>
              <a:pathLst>
                <a:path w="53" h="65">
                  <a:moveTo>
                    <a:pt x="27" y="65"/>
                  </a:moveTo>
                  <a:lnTo>
                    <a:pt x="0" y="0"/>
                  </a:lnTo>
                  <a:lnTo>
                    <a:pt x="53" y="0"/>
                  </a:lnTo>
                  <a:lnTo>
                    <a:pt x="27" y="65"/>
                  </a:lnTo>
                  <a:close/>
                </a:path>
              </a:pathLst>
            </a:custGeom>
            <a:solidFill>
              <a:srgbClr val="0033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44441" name="Line 345"/>
            <p:cNvSpPr>
              <a:spLocks noChangeShapeType="1"/>
            </p:cNvSpPr>
            <p:nvPr/>
          </p:nvSpPr>
          <p:spPr bwMode="auto">
            <a:xfrm>
              <a:off x="1882" y="1583"/>
              <a:ext cx="1" cy="246"/>
            </a:xfrm>
            <a:prstGeom prst="line">
              <a:avLst/>
            </a:prstGeom>
            <a:noFill/>
            <a:ln w="17463">
              <a:solidFill>
                <a:srgbClr val="0033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44443" name="Rectangle 347"/>
          <p:cNvSpPr>
            <a:spLocks noChangeArrowheads="1"/>
          </p:cNvSpPr>
          <p:nvPr/>
        </p:nvSpPr>
        <p:spPr bwMode="auto">
          <a:xfrm>
            <a:off x="2714625" y="1973262"/>
            <a:ext cx="400050" cy="13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900" b="1">
                <a:solidFill>
                  <a:srgbClr val="0033FF"/>
                </a:solidFill>
                <a:latin typeface="Arial" charset="0"/>
              </a:rPr>
              <a:t>IRWrite</a:t>
            </a:r>
            <a:endParaRPr lang="en-US"/>
          </a:p>
        </p:txBody>
      </p:sp>
      <p:grpSp>
        <p:nvGrpSpPr>
          <p:cNvPr id="644253" name="Group 350"/>
          <p:cNvGrpSpPr>
            <a:grpSpLocks/>
          </p:cNvGrpSpPr>
          <p:nvPr/>
        </p:nvGrpSpPr>
        <p:grpSpPr bwMode="auto">
          <a:xfrm>
            <a:off x="1914525" y="3403600"/>
            <a:ext cx="85725" cy="230187"/>
            <a:chOff x="1206" y="2403"/>
            <a:chExt cx="54" cy="145"/>
          </a:xfrm>
        </p:grpSpPr>
        <p:sp>
          <p:nvSpPr>
            <p:cNvPr id="644444" name="Freeform 348"/>
            <p:cNvSpPr>
              <a:spLocks/>
            </p:cNvSpPr>
            <p:nvPr/>
          </p:nvSpPr>
          <p:spPr bwMode="auto">
            <a:xfrm>
              <a:off x="1206" y="2483"/>
              <a:ext cx="54" cy="65"/>
            </a:xfrm>
            <a:custGeom>
              <a:avLst/>
              <a:gdLst/>
              <a:ahLst/>
              <a:cxnLst>
                <a:cxn ang="0">
                  <a:pos x="27" y="65"/>
                </a:cxn>
                <a:cxn ang="0">
                  <a:pos x="0" y="0"/>
                </a:cxn>
                <a:cxn ang="0">
                  <a:pos x="54" y="0"/>
                </a:cxn>
                <a:cxn ang="0">
                  <a:pos x="27" y="65"/>
                </a:cxn>
              </a:cxnLst>
              <a:rect l="0" t="0" r="r" b="b"/>
              <a:pathLst>
                <a:path w="54" h="65">
                  <a:moveTo>
                    <a:pt x="27" y="65"/>
                  </a:moveTo>
                  <a:lnTo>
                    <a:pt x="0" y="0"/>
                  </a:lnTo>
                  <a:lnTo>
                    <a:pt x="54" y="0"/>
                  </a:lnTo>
                  <a:lnTo>
                    <a:pt x="27" y="65"/>
                  </a:lnTo>
                  <a:close/>
                </a:path>
              </a:pathLst>
            </a:custGeom>
            <a:solidFill>
              <a:srgbClr val="0033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44445" name="Line 349"/>
            <p:cNvSpPr>
              <a:spLocks noChangeShapeType="1"/>
            </p:cNvSpPr>
            <p:nvPr/>
          </p:nvSpPr>
          <p:spPr bwMode="auto">
            <a:xfrm>
              <a:off x="1233" y="2403"/>
              <a:ext cx="1" cy="123"/>
            </a:xfrm>
            <a:prstGeom prst="line">
              <a:avLst/>
            </a:prstGeom>
            <a:noFill/>
            <a:ln w="17463">
              <a:solidFill>
                <a:srgbClr val="0033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44261" name="Group 30"/>
          <p:cNvGrpSpPr>
            <a:grpSpLocks/>
          </p:cNvGrpSpPr>
          <p:nvPr/>
        </p:nvGrpSpPr>
        <p:grpSpPr bwMode="auto">
          <a:xfrm>
            <a:off x="228600" y="1827212"/>
            <a:ext cx="8709025" cy="3744913"/>
            <a:chOff x="144" y="1193"/>
            <a:chExt cx="5486" cy="2359"/>
          </a:xfrm>
        </p:grpSpPr>
        <p:sp>
          <p:nvSpPr>
            <p:cNvPr id="644127" name="Rectangle 31"/>
            <p:cNvSpPr>
              <a:spLocks noChangeArrowheads="1"/>
            </p:cNvSpPr>
            <p:nvPr/>
          </p:nvSpPr>
          <p:spPr bwMode="auto">
            <a:xfrm>
              <a:off x="2777" y="3169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44128" name="Rectangle 32"/>
            <p:cNvSpPr>
              <a:spLocks noChangeArrowheads="1"/>
            </p:cNvSpPr>
            <p:nvPr/>
          </p:nvSpPr>
          <p:spPr bwMode="auto">
            <a:xfrm>
              <a:off x="144" y="1694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44129" name="Rectangle 33"/>
            <p:cNvSpPr>
              <a:spLocks noChangeArrowheads="1"/>
            </p:cNvSpPr>
            <p:nvPr/>
          </p:nvSpPr>
          <p:spPr bwMode="auto">
            <a:xfrm>
              <a:off x="528" y="1865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44130" name="Rectangle 34"/>
            <p:cNvSpPr>
              <a:spLocks noChangeArrowheads="1"/>
            </p:cNvSpPr>
            <p:nvPr/>
          </p:nvSpPr>
          <p:spPr bwMode="auto">
            <a:xfrm>
              <a:off x="1125" y="1982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44131" name="Rectangle 35"/>
            <p:cNvSpPr>
              <a:spLocks noChangeArrowheads="1"/>
            </p:cNvSpPr>
            <p:nvPr/>
          </p:nvSpPr>
          <p:spPr bwMode="auto">
            <a:xfrm>
              <a:off x="1138" y="3134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44132" name="Rectangle 36"/>
            <p:cNvSpPr>
              <a:spLocks noChangeArrowheads="1"/>
            </p:cNvSpPr>
            <p:nvPr/>
          </p:nvSpPr>
          <p:spPr bwMode="auto">
            <a:xfrm>
              <a:off x="2016" y="1193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44133" name="Rectangle 37"/>
            <p:cNvSpPr>
              <a:spLocks noChangeArrowheads="1"/>
            </p:cNvSpPr>
            <p:nvPr/>
          </p:nvSpPr>
          <p:spPr bwMode="auto">
            <a:xfrm>
              <a:off x="2256" y="2983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44134" name="Rectangle 38"/>
            <p:cNvSpPr>
              <a:spLocks noChangeArrowheads="1"/>
            </p:cNvSpPr>
            <p:nvPr/>
          </p:nvSpPr>
          <p:spPr bwMode="auto">
            <a:xfrm>
              <a:off x="3600" y="2112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44135" name="Rectangle 39"/>
            <p:cNvSpPr>
              <a:spLocks noChangeArrowheads="1"/>
            </p:cNvSpPr>
            <p:nvPr/>
          </p:nvSpPr>
          <p:spPr bwMode="auto">
            <a:xfrm>
              <a:off x="4073" y="3360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44136" name="Rectangle 40"/>
            <p:cNvSpPr>
              <a:spLocks noChangeArrowheads="1"/>
            </p:cNvSpPr>
            <p:nvPr/>
          </p:nvSpPr>
          <p:spPr bwMode="auto">
            <a:xfrm>
              <a:off x="4080" y="1989"/>
              <a:ext cx="192" cy="136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44137" name="Rectangle 41"/>
            <p:cNvSpPr>
              <a:spLocks noChangeArrowheads="1"/>
            </p:cNvSpPr>
            <p:nvPr/>
          </p:nvSpPr>
          <p:spPr bwMode="auto">
            <a:xfrm>
              <a:off x="4368" y="2029"/>
              <a:ext cx="288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44138" name="Rectangle 42"/>
            <p:cNvSpPr>
              <a:spLocks noChangeArrowheads="1"/>
            </p:cNvSpPr>
            <p:nvPr/>
          </p:nvSpPr>
          <p:spPr bwMode="auto">
            <a:xfrm>
              <a:off x="5438" y="2510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350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Mayank Pandey, MNNIT, Allahabad, India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44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44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44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44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44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44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44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44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44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44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44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44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44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44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644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44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644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44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644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644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644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644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644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644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4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4113" grpId="0" autoUpdateAnimBg="0"/>
      <p:bldP spid="644114" grpId="0" autoUpdateAnimBg="0"/>
      <p:bldP spid="644115" grpId="0" autoUpdateAnimBg="0"/>
      <p:bldP spid="644116" grpId="0" autoUpdateAnimBg="0"/>
      <p:bldP spid="644117" grpId="0" autoUpdateAnimBg="0"/>
      <p:bldP spid="644118" grpId="0" autoUpdateAnimBg="0"/>
      <p:bldP spid="644119" grpId="0" autoUpdateAnimBg="0"/>
      <p:bldP spid="644120" grpId="0" autoUpdateAnimBg="0"/>
      <p:bldP spid="644121" grpId="0" autoUpdateAnimBg="0"/>
      <p:bldP spid="644122" grpId="0" autoUpdateAnimBg="0"/>
      <p:bldP spid="644123" grpId="0" autoUpdateAnimBg="0"/>
      <p:bldP spid="644124" grpId="0" autoUpdateAnimBg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30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2182" y="1480464"/>
            <a:ext cx="7772400" cy="4114800"/>
          </a:xfrm>
          <a:noFill/>
          <a:ln/>
        </p:spPr>
        <p:txBody>
          <a:bodyPr lIns="90488" tIns="44450" rIns="90488" bIns="44450"/>
          <a:lstStyle/>
          <a:p>
            <a:pPr>
              <a:lnSpc>
                <a:spcPct val="90000"/>
              </a:lnSpc>
            </a:pPr>
            <a:r>
              <a:rPr lang="en-US" sz="2000" i="1" dirty="0">
                <a:latin typeface="Times New Roman" pitchFamily="18" charset="0"/>
              </a:rPr>
              <a:t>How many cycles will it take to execute this code?</a:t>
            </a:r>
            <a:r>
              <a:rPr lang="en-US" sz="2000" dirty="0"/>
              <a:t> </a:t>
            </a:r>
            <a:br>
              <a:rPr lang="en-US" sz="2000" dirty="0"/>
            </a:b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>
                <a:latin typeface="Courier New" pitchFamily="49" charset="0"/>
              </a:rPr>
              <a:t>		</a:t>
            </a:r>
            <a:r>
              <a:rPr lang="en-US" sz="2000" dirty="0" err="1">
                <a:latin typeface="Courier New" pitchFamily="49" charset="0"/>
              </a:rPr>
              <a:t>lw</a:t>
            </a:r>
            <a:r>
              <a:rPr lang="en-US" sz="2000" dirty="0">
                <a:latin typeface="Courier New" pitchFamily="49" charset="0"/>
              </a:rPr>
              <a:t> $t2, 0($t3)</a:t>
            </a:r>
            <a:br>
              <a:rPr lang="en-US" sz="2000" dirty="0">
                <a:latin typeface="Courier New" pitchFamily="49" charset="0"/>
              </a:rPr>
            </a:br>
            <a:r>
              <a:rPr lang="en-US" sz="2000" dirty="0">
                <a:latin typeface="Courier New" pitchFamily="49" charset="0"/>
              </a:rPr>
              <a:t>		</a:t>
            </a:r>
            <a:r>
              <a:rPr lang="en-US" sz="2000" dirty="0" err="1">
                <a:latin typeface="Courier New" pitchFamily="49" charset="0"/>
              </a:rPr>
              <a:t>lw</a:t>
            </a:r>
            <a:r>
              <a:rPr lang="en-US" sz="2000" dirty="0">
                <a:latin typeface="Courier New" pitchFamily="49" charset="0"/>
              </a:rPr>
              <a:t> $t3, 4($t3)</a:t>
            </a:r>
            <a:br>
              <a:rPr lang="en-US" sz="2000" dirty="0">
                <a:latin typeface="Courier New" pitchFamily="49" charset="0"/>
              </a:rPr>
            </a:br>
            <a:r>
              <a:rPr lang="en-US" sz="2000" dirty="0">
                <a:latin typeface="Courier New" pitchFamily="49" charset="0"/>
              </a:rPr>
              <a:t>		</a:t>
            </a:r>
            <a:r>
              <a:rPr lang="en-US" sz="2000" dirty="0" err="1">
                <a:latin typeface="Courier New" pitchFamily="49" charset="0"/>
              </a:rPr>
              <a:t>beq</a:t>
            </a:r>
            <a:r>
              <a:rPr lang="en-US" sz="2000" dirty="0">
                <a:latin typeface="Courier New" pitchFamily="49" charset="0"/>
              </a:rPr>
              <a:t> $t2, $t3, Label #assume not equal</a:t>
            </a:r>
            <a:br>
              <a:rPr lang="en-US" sz="2000" dirty="0">
                <a:latin typeface="Courier New" pitchFamily="49" charset="0"/>
              </a:rPr>
            </a:br>
            <a:r>
              <a:rPr lang="en-US" sz="2000" dirty="0">
                <a:latin typeface="Courier New" pitchFamily="49" charset="0"/>
              </a:rPr>
              <a:t>		add $t5, $t2, $t3</a:t>
            </a:r>
            <a:br>
              <a:rPr lang="en-US" sz="2000" dirty="0">
                <a:latin typeface="Courier New" pitchFamily="49" charset="0"/>
              </a:rPr>
            </a:br>
            <a:r>
              <a:rPr lang="en-US" sz="2000" dirty="0">
                <a:latin typeface="Courier New" pitchFamily="49" charset="0"/>
              </a:rPr>
              <a:t>		</a:t>
            </a:r>
            <a:r>
              <a:rPr lang="en-US" sz="2000" dirty="0" err="1">
                <a:latin typeface="Courier New" pitchFamily="49" charset="0"/>
              </a:rPr>
              <a:t>sw</a:t>
            </a:r>
            <a:r>
              <a:rPr lang="en-US" sz="2000" dirty="0">
                <a:latin typeface="Courier New" pitchFamily="49" charset="0"/>
              </a:rPr>
              <a:t> $t5, 8($t3)</a:t>
            </a:r>
            <a:br>
              <a:rPr lang="en-US" sz="2000" dirty="0">
                <a:latin typeface="Courier New" pitchFamily="49" charset="0"/>
              </a:rPr>
            </a:br>
            <a:r>
              <a:rPr lang="en-US" sz="2000" dirty="0">
                <a:latin typeface="Courier New" pitchFamily="49" charset="0"/>
              </a:rPr>
              <a:t>Label:	...</a:t>
            </a:r>
            <a:br>
              <a:rPr lang="en-US" sz="2000" dirty="0">
                <a:latin typeface="Courier New" pitchFamily="49" charset="0"/>
              </a:rPr>
            </a:br>
            <a:endParaRPr lang="en-US" sz="2000" dirty="0">
              <a:latin typeface="Courier New" pitchFamily="49" charset="0"/>
            </a:endParaRPr>
          </a:p>
          <a:p>
            <a:pPr>
              <a:lnSpc>
                <a:spcPct val="90000"/>
              </a:lnSpc>
            </a:pPr>
            <a:r>
              <a:rPr lang="en-US" sz="2000" i="1" dirty="0">
                <a:latin typeface="Times New Roman" pitchFamily="18" charset="0"/>
              </a:rPr>
              <a:t>What is going on during the 8th cycle of execution?</a:t>
            </a:r>
          </a:p>
          <a:p>
            <a:pPr>
              <a:lnSpc>
                <a:spcPct val="90000"/>
              </a:lnSpc>
            </a:pPr>
            <a:endParaRPr lang="en-US" sz="2000" i="1" dirty="0">
              <a:latin typeface="Times New Roman" pitchFamily="18" charset="0"/>
            </a:endParaRPr>
          </a:p>
          <a:p>
            <a:pPr>
              <a:lnSpc>
                <a:spcPct val="90000"/>
              </a:lnSpc>
            </a:pPr>
            <a:endParaRPr lang="en-US" sz="2000" dirty="0"/>
          </a:p>
          <a:p>
            <a:pPr>
              <a:lnSpc>
                <a:spcPct val="90000"/>
              </a:lnSpc>
            </a:pPr>
            <a:endParaRPr lang="en-US" sz="2000" dirty="0"/>
          </a:p>
          <a:p>
            <a:pPr>
              <a:lnSpc>
                <a:spcPct val="90000"/>
              </a:lnSpc>
            </a:pPr>
            <a:r>
              <a:rPr lang="en-US" sz="2000" i="1" dirty="0">
                <a:latin typeface="Times New Roman" pitchFamily="18" charset="0"/>
              </a:rPr>
              <a:t>In what cycle does the actual addition of $t2 and $t3 takes place?</a:t>
            </a:r>
            <a:br>
              <a:rPr lang="en-US" sz="2000" i="1" dirty="0">
                <a:latin typeface="Times New Roman" pitchFamily="18" charset="0"/>
              </a:rPr>
            </a:b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>	</a:t>
            </a:r>
            <a:br>
              <a:rPr lang="en-US" sz="2800" dirty="0"/>
            </a:br>
            <a:r>
              <a:rPr lang="en-US" sz="2800" dirty="0"/>
              <a:t>	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702820" y="4528464"/>
            <a:ext cx="6738937" cy="236538"/>
            <a:chOff x="781" y="3359"/>
            <a:chExt cx="4245" cy="149"/>
          </a:xfrm>
        </p:grpSpPr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781" y="3359"/>
              <a:ext cx="1405" cy="149"/>
              <a:chOff x="781" y="3359"/>
              <a:chExt cx="1405" cy="149"/>
            </a:xfrm>
          </p:grpSpPr>
          <p:grpSp>
            <p:nvGrpSpPr>
              <p:cNvPr id="4" name="Group 6"/>
              <p:cNvGrpSpPr>
                <a:grpSpLocks/>
              </p:cNvGrpSpPr>
              <p:nvPr/>
            </p:nvGrpSpPr>
            <p:grpSpPr bwMode="auto">
              <a:xfrm>
                <a:off x="781" y="3359"/>
                <a:ext cx="174" cy="149"/>
                <a:chOff x="781" y="3359"/>
                <a:chExt cx="174" cy="149"/>
              </a:xfrm>
            </p:grpSpPr>
            <p:sp>
              <p:nvSpPr>
                <p:cNvPr id="482311" name="Line 7"/>
                <p:cNvSpPr>
                  <a:spLocks noChangeShapeType="1"/>
                </p:cNvSpPr>
                <p:nvPr/>
              </p:nvSpPr>
              <p:spPr bwMode="auto">
                <a:xfrm flipV="1">
                  <a:off x="781" y="3359"/>
                  <a:ext cx="0" cy="149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82312" name="Line 8"/>
                <p:cNvSpPr>
                  <a:spLocks noChangeShapeType="1"/>
                </p:cNvSpPr>
                <p:nvPr/>
              </p:nvSpPr>
              <p:spPr bwMode="auto">
                <a:xfrm>
                  <a:off x="786" y="3362"/>
                  <a:ext cx="78" cy="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82313" name="Line 9"/>
                <p:cNvSpPr>
                  <a:spLocks noChangeShapeType="1"/>
                </p:cNvSpPr>
                <p:nvPr/>
              </p:nvSpPr>
              <p:spPr bwMode="auto">
                <a:xfrm>
                  <a:off x="868" y="3367"/>
                  <a:ext cx="0" cy="133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82314" name="Line 10"/>
                <p:cNvSpPr>
                  <a:spLocks noChangeShapeType="1"/>
                </p:cNvSpPr>
                <p:nvPr/>
              </p:nvSpPr>
              <p:spPr bwMode="auto">
                <a:xfrm>
                  <a:off x="873" y="3504"/>
                  <a:ext cx="78" cy="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82315" name="Line 11"/>
                <p:cNvSpPr>
                  <a:spLocks noChangeShapeType="1"/>
                </p:cNvSpPr>
                <p:nvPr/>
              </p:nvSpPr>
              <p:spPr bwMode="auto">
                <a:xfrm>
                  <a:off x="955" y="3504"/>
                  <a:ext cx="0" cy="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IN"/>
                </a:p>
              </p:txBody>
            </p:sp>
          </p:grpSp>
          <p:grpSp>
            <p:nvGrpSpPr>
              <p:cNvPr id="5" name="Group 12"/>
              <p:cNvGrpSpPr>
                <a:grpSpLocks/>
              </p:cNvGrpSpPr>
              <p:nvPr/>
            </p:nvGrpSpPr>
            <p:grpSpPr bwMode="auto">
              <a:xfrm>
                <a:off x="955" y="3359"/>
                <a:ext cx="173" cy="149"/>
                <a:chOff x="955" y="3359"/>
                <a:chExt cx="173" cy="149"/>
              </a:xfrm>
            </p:grpSpPr>
            <p:sp>
              <p:nvSpPr>
                <p:cNvPr id="482317" name="Line 13"/>
                <p:cNvSpPr>
                  <a:spLocks noChangeShapeType="1"/>
                </p:cNvSpPr>
                <p:nvPr/>
              </p:nvSpPr>
              <p:spPr bwMode="auto">
                <a:xfrm flipV="1">
                  <a:off x="955" y="3359"/>
                  <a:ext cx="0" cy="149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82318" name="Line 14"/>
                <p:cNvSpPr>
                  <a:spLocks noChangeShapeType="1"/>
                </p:cNvSpPr>
                <p:nvPr/>
              </p:nvSpPr>
              <p:spPr bwMode="auto">
                <a:xfrm>
                  <a:off x="960" y="3362"/>
                  <a:ext cx="78" cy="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82319" name="Line 15"/>
                <p:cNvSpPr>
                  <a:spLocks noChangeShapeType="1"/>
                </p:cNvSpPr>
                <p:nvPr/>
              </p:nvSpPr>
              <p:spPr bwMode="auto">
                <a:xfrm>
                  <a:off x="1042" y="3367"/>
                  <a:ext cx="0" cy="133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82320" name="Line 16"/>
                <p:cNvSpPr>
                  <a:spLocks noChangeShapeType="1"/>
                </p:cNvSpPr>
                <p:nvPr/>
              </p:nvSpPr>
              <p:spPr bwMode="auto">
                <a:xfrm>
                  <a:off x="1047" y="3504"/>
                  <a:ext cx="77" cy="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82321" name="Line 17"/>
                <p:cNvSpPr>
                  <a:spLocks noChangeShapeType="1"/>
                </p:cNvSpPr>
                <p:nvPr/>
              </p:nvSpPr>
              <p:spPr bwMode="auto">
                <a:xfrm>
                  <a:off x="1128" y="3504"/>
                  <a:ext cx="0" cy="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IN"/>
                </a:p>
              </p:txBody>
            </p:sp>
          </p:grpSp>
          <p:grpSp>
            <p:nvGrpSpPr>
              <p:cNvPr id="6" name="Group 18"/>
              <p:cNvGrpSpPr>
                <a:grpSpLocks/>
              </p:cNvGrpSpPr>
              <p:nvPr/>
            </p:nvGrpSpPr>
            <p:grpSpPr bwMode="auto">
              <a:xfrm>
                <a:off x="1128" y="3359"/>
                <a:ext cx="182" cy="149"/>
                <a:chOff x="1128" y="3359"/>
                <a:chExt cx="182" cy="149"/>
              </a:xfrm>
            </p:grpSpPr>
            <p:sp>
              <p:nvSpPr>
                <p:cNvPr id="482323" name="Line 19"/>
                <p:cNvSpPr>
                  <a:spLocks noChangeShapeType="1"/>
                </p:cNvSpPr>
                <p:nvPr/>
              </p:nvSpPr>
              <p:spPr bwMode="auto">
                <a:xfrm flipV="1">
                  <a:off x="1128" y="3359"/>
                  <a:ext cx="0" cy="149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82324" name="Line 20"/>
                <p:cNvSpPr>
                  <a:spLocks noChangeShapeType="1"/>
                </p:cNvSpPr>
                <p:nvPr/>
              </p:nvSpPr>
              <p:spPr bwMode="auto">
                <a:xfrm>
                  <a:off x="1133" y="3362"/>
                  <a:ext cx="78" cy="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82325" name="Line 21"/>
                <p:cNvSpPr>
                  <a:spLocks noChangeShapeType="1"/>
                </p:cNvSpPr>
                <p:nvPr/>
              </p:nvSpPr>
              <p:spPr bwMode="auto">
                <a:xfrm>
                  <a:off x="1215" y="3367"/>
                  <a:ext cx="0" cy="133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82326" name="Line 22"/>
                <p:cNvSpPr>
                  <a:spLocks noChangeShapeType="1"/>
                </p:cNvSpPr>
                <p:nvPr/>
              </p:nvSpPr>
              <p:spPr bwMode="auto">
                <a:xfrm>
                  <a:off x="1220" y="3504"/>
                  <a:ext cx="86" cy="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82327" name="Line 23"/>
                <p:cNvSpPr>
                  <a:spLocks noChangeShapeType="1"/>
                </p:cNvSpPr>
                <p:nvPr/>
              </p:nvSpPr>
              <p:spPr bwMode="auto">
                <a:xfrm>
                  <a:off x="1310" y="3504"/>
                  <a:ext cx="0" cy="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IN"/>
                </a:p>
              </p:txBody>
            </p:sp>
          </p:grpSp>
          <p:grpSp>
            <p:nvGrpSpPr>
              <p:cNvPr id="7" name="Group 24"/>
              <p:cNvGrpSpPr>
                <a:grpSpLocks/>
              </p:cNvGrpSpPr>
              <p:nvPr/>
            </p:nvGrpSpPr>
            <p:grpSpPr bwMode="auto">
              <a:xfrm>
                <a:off x="1310" y="3359"/>
                <a:ext cx="173" cy="149"/>
                <a:chOff x="1310" y="3359"/>
                <a:chExt cx="173" cy="149"/>
              </a:xfrm>
            </p:grpSpPr>
            <p:sp>
              <p:nvSpPr>
                <p:cNvPr id="482329" name="Line 25"/>
                <p:cNvSpPr>
                  <a:spLocks noChangeShapeType="1"/>
                </p:cNvSpPr>
                <p:nvPr/>
              </p:nvSpPr>
              <p:spPr bwMode="auto">
                <a:xfrm flipV="1">
                  <a:off x="1310" y="3359"/>
                  <a:ext cx="0" cy="149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82330" name="Line 26"/>
                <p:cNvSpPr>
                  <a:spLocks noChangeShapeType="1"/>
                </p:cNvSpPr>
                <p:nvPr/>
              </p:nvSpPr>
              <p:spPr bwMode="auto">
                <a:xfrm>
                  <a:off x="1315" y="3362"/>
                  <a:ext cx="78" cy="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82331" name="Line 27"/>
                <p:cNvSpPr>
                  <a:spLocks noChangeShapeType="1"/>
                </p:cNvSpPr>
                <p:nvPr/>
              </p:nvSpPr>
              <p:spPr bwMode="auto">
                <a:xfrm>
                  <a:off x="1397" y="3367"/>
                  <a:ext cx="0" cy="133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82332" name="Line 28"/>
                <p:cNvSpPr>
                  <a:spLocks noChangeShapeType="1"/>
                </p:cNvSpPr>
                <p:nvPr/>
              </p:nvSpPr>
              <p:spPr bwMode="auto">
                <a:xfrm>
                  <a:off x="1402" y="3504"/>
                  <a:ext cx="77" cy="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82333" name="Line 29"/>
                <p:cNvSpPr>
                  <a:spLocks noChangeShapeType="1"/>
                </p:cNvSpPr>
                <p:nvPr/>
              </p:nvSpPr>
              <p:spPr bwMode="auto">
                <a:xfrm>
                  <a:off x="1483" y="3504"/>
                  <a:ext cx="0" cy="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IN"/>
                </a:p>
              </p:txBody>
            </p:sp>
          </p:grpSp>
          <p:grpSp>
            <p:nvGrpSpPr>
              <p:cNvPr id="8" name="Group 30"/>
              <p:cNvGrpSpPr>
                <a:grpSpLocks/>
              </p:cNvGrpSpPr>
              <p:nvPr/>
            </p:nvGrpSpPr>
            <p:grpSpPr bwMode="auto">
              <a:xfrm>
                <a:off x="1483" y="3359"/>
                <a:ext cx="174" cy="149"/>
                <a:chOff x="1483" y="3359"/>
                <a:chExt cx="174" cy="149"/>
              </a:xfrm>
            </p:grpSpPr>
            <p:sp>
              <p:nvSpPr>
                <p:cNvPr id="482335" name="Line 31"/>
                <p:cNvSpPr>
                  <a:spLocks noChangeShapeType="1"/>
                </p:cNvSpPr>
                <p:nvPr/>
              </p:nvSpPr>
              <p:spPr bwMode="auto">
                <a:xfrm flipV="1">
                  <a:off x="1483" y="3359"/>
                  <a:ext cx="0" cy="149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82336" name="Line 32"/>
                <p:cNvSpPr>
                  <a:spLocks noChangeShapeType="1"/>
                </p:cNvSpPr>
                <p:nvPr/>
              </p:nvSpPr>
              <p:spPr bwMode="auto">
                <a:xfrm>
                  <a:off x="1488" y="3362"/>
                  <a:ext cx="78" cy="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82337" name="Line 33"/>
                <p:cNvSpPr>
                  <a:spLocks noChangeShapeType="1"/>
                </p:cNvSpPr>
                <p:nvPr/>
              </p:nvSpPr>
              <p:spPr bwMode="auto">
                <a:xfrm>
                  <a:off x="1570" y="3367"/>
                  <a:ext cx="0" cy="133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82338" name="Line 34"/>
                <p:cNvSpPr>
                  <a:spLocks noChangeShapeType="1"/>
                </p:cNvSpPr>
                <p:nvPr/>
              </p:nvSpPr>
              <p:spPr bwMode="auto">
                <a:xfrm>
                  <a:off x="1575" y="3504"/>
                  <a:ext cx="78" cy="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82339" name="Line 35"/>
                <p:cNvSpPr>
                  <a:spLocks noChangeShapeType="1"/>
                </p:cNvSpPr>
                <p:nvPr/>
              </p:nvSpPr>
              <p:spPr bwMode="auto">
                <a:xfrm>
                  <a:off x="1657" y="3504"/>
                  <a:ext cx="0" cy="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IN"/>
                </a:p>
              </p:txBody>
            </p:sp>
          </p:grpSp>
          <p:grpSp>
            <p:nvGrpSpPr>
              <p:cNvPr id="9" name="Group 36"/>
              <p:cNvGrpSpPr>
                <a:grpSpLocks/>
              </p:cNvGrpSpPr>
              <p:nvPr/>
            </p:nvGrpSpPr>
            <p:grpSpPr bwMode="auto">
              <a:xfrm>
                <a:off x="1657" y="3359"/>
                <a:ext cx="181" cy="149"/>
                <a:chOff x="1657" y="3359"/>
                <a:chExt cx="181" cy="149"/>
              </a:xfrm>
            </p:grpSpPr>
            <p:sp>
              <p:nvSpPr>
                <p:cNvPr id="482341" name="Line 37"/>
                <p:cNvSpPr>
                  <a:spLocks noChangeShapeType="1"/>
                </p:cNvSpPr>
                <p:nvPr/>
              </p:nvSpPr>
              <p:spPr bwMode="auto">
                <a:xfrm flipV="1">
                  <a:off x="1657" y="3359"/>
                  <a:ext cx="0" cy="149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82342" name="Line 38"/>
                <p:cNvSpPr>
                  <a:spLocks noChangeShapeType="1"/>
                </p:cNvSpPr>
                <p:nvPr/>
              </p:nvSpPr>
              <p:spPr bwMode="auto">
                <a:xfrm>
                  <a:off x="1662" y="3362"/>
                  <a:ext cx="78" cy="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82343" name="Line 39"/>
                <p:cNvSpPr>
                  <a:spLocks noChangeShapeType="1"/>
                </p:cNvSpPr>
                <p:nvPr/>
              </p:nvSpPr>
              <p:spPr bwMode="auto">
                <a:xfrm>
                  <a:off x="1744" y="3367"/>
                  <a:ext cx="0" cy="133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82344" name="Line 40"/>
                <p:cNvSpPr>
                  <a:spLocks noChangeShapeType="1"/>
                </p:cNvSpPr>
                <p:nvPr/>
              </p:nvSpPr>
              <p:spPr bwMode="auto">
                <a:xfrm>
                  <a:off x="1749" y="3504"/>
                  <a:ext cx="85" cy="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82345" name="Line 41"/>
                <p:cNvSpPr>
                  <a:spLocks noChangeShapeType="1"/>
                </p:cNvSpPr>
                <p:nvPr/>
              </p:nvSpPr>
              <p:spPr bwMode="auto">
                <a:xfrm>
                  <a:off x="1838" y="3504"/>
                  <a:ext cx="0" cy="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IN"/>
                </a:p>
              </p:txBody>
            </p:sp>
          </p:grpSp>
          <p:grpSp>
            <p:nvGrpSpPr>
              <p:cNvPr id="10" name="Group 42"/>
              <p:cNvGrpSpPr>
                <a:grpSpLocks/>
              </p:cNvGrpSpPr>
              <p:nvPr/>
            </p:nvGrpSpPr>
            <p:grpSpPr bwMode="auto">
              <a:xfrm>
                <a:off x="1838" y="3359"/>
                <a:ext cx="174" cy="149"/>
                <a:chOff x="1838" y="3359"/>
                <a:chExt cx="174" cy="149"/>
              </a:xfrm>
            </p:grpSpPr>
            <p:sp>
              <p:nvSpPr>
                <p:cNvPr id="482347" name="Line 43"/>
                <p:cNvSpPr>
                  <a:spLocks noChangeShapeType="1"/>
                </p:cNvSpPr>
                <p:nvPr/>
              </p:nvSpPr>
              <p:spPr bwMode="auto">
                <a:xfrm flipV="1">
                  <a:off x="1838" y="3359"/>
                  <a:ext cx="0" cy="149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82348" name="Line 44"/>
                <p:cNvSpPr>
                  <a:spLocks noChangeShapeType="1"/>
                </p:cNvSpPr>
                <p:nvPr/>
              </p:nvSpPr>
              <p:spPr bwMode="auto">
                <a:xfrm>
                  <a:off x="1843" y="3362"/>
                  <a:ext cx="78" cy="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82349" name="Line 45"/>
                <p:cNvSpPr>
                  <a:spLocks noChangeShapeType="1"/>
                </p:cNvSpPr>
                <p:nvPr/>
              </p:nvSpPr>
              <p:spPr bwMode="auto">
                <a:xfrm>
                  <a:off x="1925" y="3367"/>
                  <a:ext cx="0" cy="133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82350" name="Line 46"/>
                <p:cNvSpPr>
                  <a:spLocks noChangeShapeType="1"/>
                </p:cNvSpPr>
                <p:nvPr/>
              </p:nvSpPr>
              <p:spPr bwMode="auto">
                <a:xfrm>
                  <a:off x="1930" y="3504"/>
                  <a:ext cx="78" cy="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82351" name="Line 47"/>
                <p:cNvSpPr>
                  <a:spLocks noChangeShapeType="1"/>
                </p:cNvSpPr>
                <p:nvPr/>
              </p:nvSpPr>
              <p:spPr bwMode="auto">
                <a:xfrm>
                  <a:off x="2012" y="3504"/>
                  <a:ext cx="0" cy="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IN"/>
                </a:p>
              </p:txBody>
            </p:sp>
          </p:grpSp>
          <p:grpSp>
            <p:nvGrpSpPr>
              <p:cNvPr id="11" name="Group 48"/>
              <p:cNvGrpSpPr>
                <a:grpSpLocks/>
              </p:cNvGrpSpPr>
              <p:nvPr/>
            </p:nvGrpSpPr>
            <p:grpSpPr bwMode="auto">
              <a:xfrm>
                <a:off x="2012" y="3359"/>
                <a:ext cx="174" cy="149"/>
                <a:chOff x="2012" y="3359"/>
                <a:chExt cx="174" cy="149"/>
              </a:xfrm>
            </p:grpSpPr>
            <p:sp>
              <p:nvSpPr>
                <p:cNvPr id="482353" name="Line 49"/>
                <p:cNvSpPr>
                  <a:spLocks noChangeShapeType="1"/>
                </p:cNvSpPr>
                <p:nvPr/>
              </p:nvSpPr>
              <p:spPr bwMode="auto">
                <a:xfrm flipV="1">
                  <a:off x="2012" y="3359"/>
                  <a:ext cx="0" cy="149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82354" name="Line 50"/>
                <p:cNvSpPr>
                  <a:spLocks noChangeShapeType="1"/>
                </p:cNvSpPr>
                <p:nvPr/>
              </p:nvSpPr>
              <p:spPr bwMode="auto">
                <a:xfrm>
                  <a:off x="2017" y="3362"/>
                  <a:ext cx="78" cy="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82355" name="Line 51"/>
                <p:cNvSpPr>
                  <a:spLocks noChangeShapeType="1"/>
                </p:cNvSpPr>
                <p:nvPr/>
              </p:nvSpPr>
              <p:spPr bwMode="auto">
                <a:xfrm>
                  <a:off x="2099" y="3367"/>
                  <a:ext cx="0" cy="133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82356" name="Line 52"/>
                <p:cNvSpPr>
                  <a:spLocks noChangeShapeType="1"/>
                </p:cNvSpPr>
                <p:nvPr/>
              </p:nvSpPr>
              <p:spPr bwMode="auto">
                <a:xfrm>
                  <a:off x="2104" y="3504"/>
                  <a:ext cx="78" cy="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82357" name="Line 53"/>
                <p:cNvSpPr>
                  <a:spLocks noChangeShapeType="1"/>
                </p:cNvSpPr>
                <p:nvPr/>
              </p:nvSpPr>
              <p:spPr bwMode="auto">
                <a:xfrm>
                  <a:off x="2186" y="3504"/>
                  <a:ext cx="0" cy="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IN"/>
                </a:p>
              </p:txBody>
            </p:sp>
          </p:grpSp>
        </p:grpSp>
        <p:grpSp>
          <p:nvGrpSpPr>
            <p:cNvPr id="12" name="Group 54"/>
            <p:cNvGrpSpPr>
              <a:grpSpLocks/>
            </p:cNvGrpSpPr>
            <p:nvPr/>
          </p:nvGrpSpPr>
          <p:grpSpPr bwMode="auto">
            <a:xfrm>
              <a:off x="2201" y="3359"/>
              <a:ext cx="1405" cy="149"/>
              <a:chOff x="2201" y="3359"/>
              <a:chExt cx="1405" cy="149"/>
            </a:xfrm>
          </p:grpSpPr>
          <p:grpSp>
            <p:nvGrpSpPr>
              <p:cNvPr id="13" name="Group 55"/>
              <p:cNvGrpSpPr>
                <a:grpSpLocks/>
              </p:cNvGrpSpPr>
              <p:nvPr/>
            </p:nvGrpSpPr>
            <p:grpSpPr bwMode="auto">
              <a:xfrm>
                <a:off x="2201" y="3359"/>
                <a:ext cx="174" cy="149"/>
                <a:chOff x="2201" y="3359"/>
                <a:chExt cx="174" cy="149"/>
              </a:xfrm>
            </p:grpSpPr>
            <p:sp>
              <p:nvSpPr>
                <p:cNvPr id="482360" name="Line 56"/>
                <p:cNvSpPr>
                  <a:spLocks noChangeShapeType="1"/>
                </p:cNvSpPr>
                <p:nvPr/>
              </p:nvSpPr>
              <p:spPr bwMode="auto">
                <a:xfrm flipV="1">
                  <a:off x="2201" y="3359"/>
                  <a:ext cx="0" cy="149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82361" name="Line 57"/>
                <p:cNvSpPr>
                  <a:spLocks noChangeShapeType="1"/>
                </p:cNvSpPr>
                <p:nvPr/>
              </p:nvSpPr>
              <p:spPr bwMode="auto">
                <a:xfrm>
                  <a:off x="2206" y="3362"/>
                  <a:ext cx="78" cy="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82362" name="Line 58"/>
                <p:cNvSpPr>
                  <a:spLocks noChangeShapeType="1"/>
                </p:cNvSpPr>
                <p:nvPr/>
              </p:nvSpPr>
              <p:spPr bwMode="auto">
                <a:xfrm>
                  <a:off x="2288" y="3367"/>
                  <a:ext cx="0" cy="133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82363" name="Line 59"/>
                <p:cNvSpPr>
                  <a:spLocks noChangeShapeType="1"/>
                </p:cNvSpPr>
                <p:nvPr/>
              </p:nvSpPr>
              <p:spPr bwMode="auto">
                <a:xfrm>
                  <a:off x="2293" y="3504"/>
                  <a:ext cx="78" cy="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82364" name="Line 60"/>
                <p:cNvSpPr>
                  <a:spLocks noChangeShapeType="1"/>
                </p:cNvSpPr>
                <p:nvPr/>
              </p:nvSpPr>
              <p:spPr bwMode="auto">
                <a:xfrm>
                  <a:off x="2375" y="3504"/>
                  <a:ext cx="0" cy="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IN"/>
                </a:p>
              </p:txBody>
            </p:sp>
          </p:grpSp>
          <p:grpSp>
            <p:nvGrpSpPr>
              <p:cNvPr id="14" name="Group 61"/>
              <p:cNvGrpSpPr>
                <a:grpSpLocks/>
              </p:cNvGrpSpPr>
              <p:nvPr/>
            </p:nvGrpSpPr>
            <p:grpSpPr bwMode="auto">
              <a:xfrm>
                <a:off x="2375" y="3359"/>
                <a:ext cx="174" cy="149"/>
                <a:chOff x="2375" y="3359"/>
                <a:chExt cx="174" cy="149"/>
              </a:xfrm>
            </p:grpSpPr>
            <p:sp>
              <p:nvSpPr>
                <p:cNvPr id="482366" name="Line 62"/>
                <p:cNvSpPr>
                  <a:spLocks noChangeShapeType="1"/>
                </p:cNvSpPr>
                <p:nvPr/>
              </p:nvSpPr>
              <p:spPr bwMode="auto">
                <a:xfrm flipV="1">
                  <a:off x="2375" y="3359"/>
                  <a:ext cx="0" cy="149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82367" name="Line 63"/>
                <p:cNvSpPr>
                  <a:spLocks noChangeShapeType="1"/>
                </p:cNvSpPr>
                <p:nvPr/>
              </p:nvSpPr>
              <p:spPr bwMode="auto">
                <a:xfrm>
                  <a:off x="2380" y="3362"/>
                  <a:ext cx="78" cy="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82368" name="Line 64"/>
                <p:cNvSpPr>
                  <a:spLocks noChangeShapeType="1"/>
                </p:cNvSpPr>
                <p:nvPr/>
              </p:nvSpPr>
              <p:spPr bwMode="auto">
                <a:xfrm>
                  <a:off x="2462" y="3367"/>
                  <a:ext cx="0" cy="133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82369" name="Line 65"/>
                <p:cNvSpPr>
                  <a:spLocks noChangeShapeType="1"/>
                </p:cNvSpPr>
                <p:nvPr/>
              </p:nvSpPr>
              <p:spPr bwMode="auto">
                <a:xfrm>
                  <a:off x="2467" y="3504"/>
                  <a:ext cx="78" cy="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82370" name="Line 66"/>
                <p:cNvSpPr>
                  <a:spLocks noChangeShapeType="1"/>
                </p:cNvSpPr>
                <p:nvPr/>
              </p:nvSpPr>
              <p:spPr bwMode="auto">
                <a:xfrm>
                  <a:off x="2549" y="3504"/>
                  <a:ext cx="0" cy="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IN"/>
                </a:p>
              </p:txBody>
            </p:sp>
          </p:grpSp>
          <p:grpSp>
            <p:nvGrpSpPr>
              <p:cNvPr id="15" name="Group 67"/>
              <p:cNvGrpSpPr>
                <a:grpSpLocks/>
              </p:cNvGrpSpPr>
              <p:nvPr/>
            </p:nvGrpSpPr>
            <p:grpSpPr bwMode="auto">
              <a:xfrm>
                <a:off x="2549" y="3359"/>
                <a:ext cx="181" cy="149"/>
                <a:chOff x="2549" y="3359"/>
                <a:chExt cx="181" cy="149"/>
              </a:xfrm>
            </p:grpSpPr>
            <p:sp>
              <p:nvSpPr>
                <p:cNvPr id="482372" name="Line 68"/>
                <p:cNvSpPr>
                  <a:spLocks noChangeShapeType="1"/>
                </p:cNvSpPr>
                <p:nvPr/>
              </p:nvSpPr>
              <p:spPr bwMode="auto">
                <a:xfrm flipV="1">
                  <a:off x="2549" y="3359"/>
                  <a:ext cx="0" cy="149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82373" name="Line 69"/>
                <p:cNvSpPr>
                  <a:spLocks noChangeShapeType="1"/>
                </p:cNvSpPr>
                <p:nvPr/>
              </p:nvSpPr>
              <p:spPr bwMode="auto">
                <a:xfrm>
                  <a:off x="2554" y="3362"/>
                  <a:ext cx="77" cy="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82374" name="Line 70"/>
                <p:cNvSpPr>
                  <a:spLocks noChangeShapeType="1"/>
                </p:cNvSpPr>
                <p:nvPr/>
              </p:nvSpPr>
              <p:spPr bwMode="auto">
                <a:xfrm>
                  <a:off x="2635" y="3367"/>
                  <a:ext cx="0" cy="133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82375" name="Line 71"/>
                <p:cNvSpPr>
                  <a:spLocks noChangeShapeType="1"/>
                </p:cNvSpPr>
                <p:nvPr/>
              </p:nvSpPr>
              <p:spPr bwMode="auto">
                <a:xfrm>
                  <a:off x="2640" y="3504"/>
                  <a:ext cx="86" cy="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82376" name="Line 72"/>
                <p:cNvSpPr>
                  <a:spLocks noChangeShapeType="1"/>
                </p:cNvSpPr>
                <p:nvPr/>
              </p:nvSpPr>
              <p:spPr bwMode="auto">
                <a:xfrm>
                  <a:off x="2730" y="3504"/>
                  <a:ext cx="0" cy="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IN"/>
                </a:p>
              </p:txBody>
            </p:sp>
          </p:grpSp>
          <p:grpSp>
            <p:nvGrpSpPr>
              <p:cNvPr id="16" name="Group 73"/>
              <p:cNvGrpSpPr>
                <a:grpSpLocks/>
              </p:cNvGrpSpPr>
              <p:nvPr/>
            </p:nvGrpSpPr>
            <p:grpSpPr bwMode="auto">
              <a:xfrm>
                <a:off x="2730" y="3359"/>
                <a:ext cx="174" cy="149"/>
                <a:chOff x="2730" y="3359"/>
                <a:chExt cx="174" cy="149"/>
              </a:xfrm>
            </p:grpSpPr>
            <p:sp>
              <p:nvSpPr>
                <p:cNvPr id="482378" name="Line 74"/>
                <p:cNvSpPr>
                  <a:spLocks noChangeShapeType="1"/>
                </p:cNvSpPr>
                <p:nvPr/>
              </p:nvSpPr>
              <p:spPr bwMode="auto">
                <a:xfrm flipV="1">
                  <a:off x="2730" y="3359"/>
                  <a:ext cx="0" cy="149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82379" name="Line 75"/>
                <p:cNvSpPr>
                  <a:spLocks noChangeShapeType="1"/>
                </p:cNvSpPr>
                <p:nvPr/>
              </p:nvSpPr>
              <p:spPr bwMode="auto">
                <a:xfrm>
                  <a:off x="2735" y="3362"/>
                  <a:ext cx="78" cy="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82380" name="Line 76"/>
                <p:cNvSpPr>
                  <a:spLocks noChangeShapeType="1"/>
                </p:cNvSpPr>
                <p:nvPr/>
              </p:nvSpPr>
              <p:spPr bwMode="auto">
                <a:xfrm>
                  <a:off x="2817" y="3367"/>
                  <a:ext cx="0" cy="133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82381" name="Line 77"/>
                <p:cNvSpPr>
                  <a:spLocks noChangeShapeType="1"/>
                </p:cNvSpPr>
                <p:nvPr/>
              </p:nvSpPr>
              <p:spPr bwMode="auto">
                <a:xfrm>
                  <a:off x="2822" y="3504"/>
                  <a:ext cx="78" cy="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82382" name="Line 78"/>
                <p:cNvSpPr>
                  <a:spLocks noChangeShapeType="1"/>
                </p:cNvSpPr>
                <p:nvPr/>
              </p:nvSpPr>
              <p:spPr bwMode="auto">
                <a:xfrm>
                  <a:off x="2904" y="3504"/>
                  <a:ext cx="0" cy="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IN"/>
                </a:p>
              </p:txBody>
            </p:sp>
          </p:grpSp>
          <p:grpSp>
            <p:nvGrpSpPr>
              <p:cNvPr id="17" name="Group 79"/>
              <p:cNvGrpSpPr>
                <a:grpSpLocks/>
              </p:cNvGrpSpPr>
              <p:nvPr/>
            </p:nvGrpSpPr>
            <p:grpSpPr bwMode="auto">
              <a:xfrm>
                <a:off x="2904" y="3359"/>
                <a:ext cx="173" cy="149"/>
                <a:chOff x="2904" y="3359"/>
                <a:chExt cx="173" cy="149"/>
              </a:xfrm>
            </p:grpSpPr>
            <p:sp>
              <p:nvSpPr>
                <p:cNvPr id="482384" name="Line 80"/>
                <p:cNvSpPr>
                  <a:spLocks noChangeShapeType="1"/>
                </p:cNvSpPr>
                <p:nvPr/>
              </p:nvSpPr>
              <p:spPr bwMode="auto">
                <a:xfrm flipV="1">
                  <a:off x="2904" y="3359"/>
                  <a:ext cx="0" cy="149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82385" name="Line 81"/>
                <p:cNvSpPr>
                  <a:spLocks noChangeShapeType="1"/>
                </p:cNvSpPr>
                <p:nvPr/>
              </p:nvSpPr>
              <p:spPr bwMode="auto">
                <a:xfrm>
                  <a:off x="2909" y="3362"/>
                  <a:ext cx="77" cy="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82386" name="Line 82"/>
                <p:cNvSpPr>
                  <a:spLocks noChangeShapeType="1"/>
                </p:cNvSpPr>
                <p:nvPr/>
              </p:nvSpPr>
              <p:spPr bwMode="auto">
                <a:xfrm>
                  <a:off x="2990" y="3367"/>
                  <a:ext cx="0" cy="133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82387" name="Line 83"/>
                <p:cNvSpPr>
                  <a:spLocks noChangeShapeType="1"/>
                </p:cNvSpPr>
                <p:nvPr/>
              </p:nvSpPr>
              <p:spPr bwMode="auto">
                <a:xfrm>
                  <a:off x="2995" y="3504"/>
                  <a:ext cx="78" cy="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82388" name="Line 84"/>
                <p:cNvSpPr>
                  <a:spLocks noChangeShapeType="1"/>
                </p:cNvSpPr>
                <p:nvPr/>
              </p:nvSpPr>
              <p:spPr bwMode="auto">
                <a:xfrm>
                  <a:off x="3077" y="3504"/>
                  <a:ext cx="0" cy="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IN"/>
                </a:p>
              </p:txBody>
            </p:sp>
          </p:grpSp>
          <p:grpSp>
            <p:nvGrpSpPr>
              <p:cNvPr id="18" name="Group 85"/>
              <p:cNvGrpSpPr>
                <a:grpSpLocks/>
              </p:cNvGrpSpPr>
              <p:nvPr/>
            </p:nvGrpSpPr>
            <p:grpSpPr bwMode="auto">
              <a:xfrm>
                <a:off x="3077" y="3359"/>
                <a:ext cx="182" cy="149"/>
                <a:chOff x="3077" y="3359"/>
                <a:chExt cx="182" cy="149"/>
              </a:xfrm>
            </p:grpSpPr>
            <p:sp>
              <p:nvSpPr>
                <p:cNvPr id="482390" name="Line 86"/>
                <p:cNvSpPr>
                  <a:spLocks noChangeShapeType="1"/>
                </p:cNvSpPr>
                <p:nvPr/>
              </p:nvSpPr>
              <p:spPr bwMode="auto">
                <a:xfrm flipV="1">
                  <a:off x="3077" y="3359"/>
                  <a:ext cx="0" cy="149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82391" name="Line 87"/>
                <p:cNvSpPr>
                  <a:spLocks noChangeShapeType="1"/>
                </p:cNvSpPr>
                <p:nvPr/>
              </p:nvSpPr>
              <p:spPr bwMode="auto">
                <a:xfrm>
                  <a:off x="3082" y="3362"/>
                  <a:ext cx="78" cy="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82392" name="Line 88"/>
                <p:cNvSpPr>
                  <a:spLocks noChangeShapeType="1"/>
                </p:cNvSpPr>
                <p:nvPr/>
              </p:nvSpPr>
              <p:spPr bwMode="auto">
                <a:xfrm>
                  <a:off x="3164" y="3367"/>
                  <a:ext cx="0" cy="133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82393" name="Line 89"/>
                <p:cNvSpPr>
                  <a:spLocks noChangeShapeType="1"/>
                </p:cNvSpPr>
                <p:nvPr/>
              </p:nvSpPr>
              <p:spPr bwMode="auto">
                <a:xfrm>
                  <a:off x="3169" y="3504"/>
                  <a:ext cx="86" cy="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82394" name="Line 90"/>
                <p:cNvSpPr>
                  <a:spLocks noChangeShapeType="1"/>
                </p:cNvSpPr>
                <p:nvPr/>
              </p:nvSpPr>
              <p:spPr bwMode="auto">
                <a:xfrm>
                  <a:off x="3259" y="3504"/>
                  <a:ext cx="0" cy="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IN"/>
                </a:p>
              </p:txBody>
            </p:sp>
          </p:grpSp>
          <p:grpSp>
            <p:nvGrpSpPr>
              <p:cNvPr id="19" name="Group 91"/>
              <p:cNvGrpSpPr>
                <a:grpSpLocks/>
              </p:cNvGrpSpPr>
              <p:nvPr/>
            </p:nvGrpSpPr>
            <p:grpSpPr bwMode="auto">
              <a:xfrm>
                <a:off x="3259" y="3359"/>
                <a:ext cx="173" cy="149"/>
                <a:chOff x="3259" y="3359"/>
                <a:chExt cx="173" cy="149"/>
              </a:xfrm>
            </p:grpSpPr>
            <p:sp>
              <p:nvSpPr>
                <p:cNvPr id="482396" name="Line 92"/>
                <p:cNvSpPr>
                  <a:spLocks noChangeShapeType="1"/>
                </p:cNvSpPr>
                <p:nvPr/>
              </p:nvSpPr>
              <p:spPr bwMode="auto">
                <a:xfrm flipV="1">
                  <a:off x="3259" y="3359"/>
                  <a:ext cx="0" cy="149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82397" name="Line 93"/>
                <p:cNvSpPr>
                  <a:spLocks noChangeShapeType="1"/>
                </p:cNvSpPr>
                <p:nvPr/>
              </p:nvSpPr>
              <p:spPr bwMode="auto">
                <a:xfrm>
                  <a:off x="3264" y="3362"/>
                  <a:ext cx="78" cy="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82398" name="Line 94"/>
                <p:cNvSpPr>
                  <a:spLocks noChangeShapeType="1"/>
                </p:cNvSpPr>
                <p:nvPr/>
              </p:nvSpPr>
              <p:spPr bwMode="auto">
                <a:xfrm>
                  <a:off x="3346" y="3367"/>
                  <a:ext cx="0" cy="133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82399" name="Line 95"/>
                <p:cNvSpPr>
                  <a:spLocks noChangeShapeType="1"/>
                </p:cNvSpPr>
                <p:nvPr/>
              </p:nvSpPr>
              <p:spPr bwMode="auto">
                <a:xfrm>
                  <a:off x="3351" y="3504"/>
                  <a:ext cx="77" cy="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82400" name="Line 96"/>
                <p:cNvSpPr>
                  <a:spLocks noChangeShapeType="1"/>
                </p:cNvSpPr>
                <p:nvPr/>
              </p:nvSpPr>
              <p:spPr bwMode="auto">
                <a:xfrm>
                  <a:off x="3432" y="3504"/>
                  <a:ext cx="0" cy="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IN"/>
                </a:p>
              </p:txBody>
            </p:sp>
          </p:grpSp>
          <p:grpSp>
            <p:nvGrpSpPr>
              <p:cNvPr id="20" name="Group 97"/>
              <p:cNvGrpSpPr>
                <a:grpSpLocks/>
              </p:cNvGrpSpPr>
              <p:nvPr/>
            </p:nvGrpSpPr>
            <p:grpSpPr bwMode="auto">
              <a:xfrm>
                <a:off x="3432" y="3359"/>
                <a:ext cx="174" cy="149"/>
                <a:chOff x="3432" y="3359"/>
                <a:chExt cx="174" cy="149"/>
              </a:xfrm>
            </p:grpSpPr>
            <p:sp>
              <p:nvSpPr>
                <p:cNvPr id="482402" name="Line 98"/>
                <p:cNvSpPr>
                  <a:spLocks noChangeShapeType="1"/>
                </p:cNvSpPr>
                <p:nvPr/>
              </p:nvSpPr>
              <p:spPr bwMode="auto">
                <a:xfrm flipV="1">
                  <a:off x="3432" y="3359"/>
                  <a:ext cx="0" cy="149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82403" name="Line 99"/>
                <p:cNvSpPr>
                  <a:spLocks noChangeShapeType="1"/>
                </p:cNvSpPr>
                <p:nvPr/>
              </p:nvSpPr>
              <p:spPr bwMode="auto">
                <a:xfrm>
                  <a:off x="3437" y="3362"/>
                  <a:ext cx="78" cy="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82404" name="Line 100"/>
                <p:cNvSpPr>
                  <a:spLocks noChangeShapeType="1"/>
                </p:cNvSpPr>
                <p:nvPr/>
              </p:nvSpPr>
              <p:spPr bwMode="auto">
                <a:xfrm>
                  <a:off x="3519" y="3367"/>
                  <a:ext cx="0" cy="133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82405" name="Line 101"/>
                <p:cNvSpPr>
                  <a:spLocks noChangeShapeType="1"/>
                </p:cNvSpPr>
                <p:nvPr/>
              </p:nvSpPr>
              <p:spPr bwMode="auto">
                <a:xfrm>
                  <a:off x="3524" y="3504"/>
                  <a:ext cx="78" cy="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82406" name="Line 102"/>
                <p:cNvSpPr>
                  <a:spLocks noChangeShapeType="1"/>
                </p:cNvSpPr>
                <p:nvPr/>
              </p:nvSpPr>
              <p:spPr bwMode="auto">
                <a:xfrm>
                  <a:off x="3606" y="3504"/>
                  <a:ext cx="0" cy="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IN"/>
                </a:p>
              </p:txBody>
            </p:sp>
          </p:grpSp>
        </p:grpSp>
        <p:grpSp>
          <p:nvGrpSpPr>
            <p:cNvPr id="21" name="Group 103"/>
            <p:cNvGrpSpPr>
              <a:grpSpLocks/>
            </p:cNvGrpSpPr>
            <p:nvPr/>
          </p:nvGrpSpPr>
          <p:grpSpPr bwMode="auto">
            <a:xfrm>
              <a:off x="3622" y="3359"/>
              <a:ext cx="1404" cy="149"/>
              <a:chOff x="3622" y="3359"/>
              <a:chExt cx="1404" cy="149"/>
            </a:xfrm>
          </p:grpSpPr>
          <p:grpSp>
            <p:nvGrpSpPr>
              <p:cNvPr id="22" name="Group 104"/>
              <p:cNvGrpSpPr>
                <a:grpSpLocks/>
              </p:cNvGrpSpPr>
              <p:nvPr/>
            </p:nvGrpSpPr>
            <p:grpSpPr bwMode="auto">
              <a:xfrm>
                <a:off x="3622" y="3359"/>
                <a:ext cx="173" cy="149"/>
                <a:chOff x="3622" y="3359"/>
                <a:chExt cx="173" cy="149"/>
              </a:xfrm>
            </p:grpSpPr>
            <p:sp>
              <p:nvSpPr>
                <p:cNvPr id="482409" name="Line 105"/>
                <p:cNvSpPr>
                  <a:spLocks noChangeShapeType="1"/>
                </p:cNvSpPr>
                <p:nvPr/>
              </p:nvSpPr>
              <p:spPr bwMode="auto">
                <a:xfrm flipV="1">
                  <a:off x="3622" y="3359"/>
                  <a:ext cx="0" cy="149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82410" name="Line 106"/>
                <p:cNvSpPr>
                  <a:spLocks noChangeShapeType="1"/>
                </p:cNvSpPr>
                <p:nvPr/>
              </p:nvSpPr>
              <p:spPr bwMode="auto">
                <a:xfrm>
                  <a:off x="3627" y="3362"/>
                  <a:ext cx="77" cy="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82411" name="Line 107"/>
                <p:cNvSpPr>
                  <a:spLocks noChangeShapeType="1"/>
                </p:cNvSpPr>
                <p:nvPr/>
              </p:nvSpPr>
              <p:spPr bwMode="auto">
                <a:xfrm>
                  <a:off x="3708" y="3367"/>
                  <a:ext cx="0" cy="133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82412" name="Line 108"/>
                <p:cNvSpPr>
                  <a:spLocks noChangeShapeType="1"/>
                </p:cNvSpPr>
                <p:nvPr/>
              </p:nvSpPr>
              <p:spPr bwMode="auto">
                <a:xfrm>
                  <a:off x="3713" y="3504"/>
                  <a:ext cx="78" cy="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82413" name="Line 109"/>
                <p:cNvSpPr>
                  <a:spLocks noChangeShapeType="1"/>
                </p:cNvSpPr>
                <p:nvPr/>
              </p:nvSpPr>
              <p:spPr bwMode="auto">
                <a:xfrm>
                  <a:off x="3795" y="3504"/>
                  <a:ext cx="0" cy="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IN"/>
                </a:p>
              </p:txBody>
            </p:sp>
          </p:grpSp>
          <p:grpSp>
            <p:nvGrpSpPr>
              <p:cNvPr id="23" name="Group 110"/>
              <p:cNvGrpSpPr>
                <a:grpSpLocks/>
              </p:cNvGrpSpPr>
              <p:nvPr/>
            </p:nvGrpSpPr>
            <p:grpSpPr bwMode="auto">
              <a:xfrm>
                <a:off x="3795" y="3359"/>
                <a:ext cx="174" cy="149"/>
                <a:chOff x="3795" y="3359"/>
                <a:chExt cx="174" cy="149"/>
              </a:xfrm>
            </p:grpSpPr>
            <p:sp>
              <p:nvSpPr>
                <p:cNvPr id="482415" name="Line 111"/>
                <p:cNvSpPr>
                  <a:spLocks noChangeShapeType="1"/>
                </p:cNvSpPr>
                <p:nvPr/>
              </p:nvSpPr>
              <p:spPr bwMode="auto">
                <a:xfrm flipV="1">
                  <a:off x="3795" y="3359"/>
                  <a:ext cx="0" cy="149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82416" name="Line 112"/>
                <p:cNvSpPr>
                  <a:spLocks noChangeShapeType="1"/>
                </p:cNvSpPr>
                <p:nvPr/>
              </p:nvSpPr>
              <p:spPr bwMode="auto">
                <a:xfrm>
                  <a:off x="3800" y="3362"/>
                  <a:ext cx="78" cy="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82417" name="Line 113"/>
                <p:cNvSpPr>
                  <a:spLocks noChangeShapeType="1"/>
                </p:cNvSpPr>
                <p:nvPr/>
              </p:nvSpPr>
              <p:spPr bwMode="auto">
                <a:xfrm>
                  <a:off x="3882" y="3367"/>
                  <a:ext cx="0" cy="133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82418" name="Line 114"/>
                <p:cNvSpPr>
                  <a:spLocks noChangeShapeType="1"/>
                </p:cNvSpPr>
                <p:nvPr/>
              </p:nvSpPr>
              <p:spPr bwMode="auto">
                <a:xfrm>
                  <a:off x="3887" y="3504"/>
                  <a:ext cx="78" cy="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82419" name="Line 115"/>
                <p:cNvSpPr>
                  <a:spLocks noChangeShapeType="1"/>
                </p:cNvSpPr>
                <p:nvPr/>
              </p:nvSpPr>
              <p:spPr bwMode="auto">
                <a:xfrm>
                  <a:off x="3969" y="3504"/>
                  <a:ext cx="0" cy="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IN"/>
                </a:p>
              </p:txBody>
            </p:sp>
          </p:grpSp>
          <p:grpSp>
            <p:nvGrpSpPr>
              <p:cNvPr id="24" name="Group 116"/>
              <p:cNvGrpSpPr>
                <a:grpSpLocks/>
              </p:cNvGrpSpPr>
              <p:nvPr/>
            </p:nvGrpSpPr>
            <p:grpSpPr bwMode="auto">
              <a:xfrm>
                <a:off x="3969" y="3359"/>
                <a:ext cx="181" cy="149"/>
                <a:chOff x="3969" y="3359"/>
                <a:chExt cx="181" cy="149"/>
              </a:xfrm>
            </p:grpSpPr>
            <p:sp>
              <p:nvSpPr>
                <p:cNvPr id="482421" name="Line 117"/>
                <p:cNvSpPr>
                  <a:spLocks noChangeShapeType="1"/>
                </p:cNvSpPr>
                <p:nvPr/>
              </p:nvSpPr>
              <p:spPr bwMode="auto">
                <a:xfrm flipV="1">
                  <a:off x="3969" y="3359"/>
                  <a:ext cx="0" cy="149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82422" name="Line 118"/>
                <p:cNvSpPr>
                  <a:spLocks noChangeShapeType="1"/>
                </p:cNvSpPr>
                <p:nvPr/>
              </p:nvSpPr>
              <p:spPr bwMode="auto">
                <a:xfrm>
                  <a:off x="3974" y="3362"/>
                  <a:ext cx="78" cy="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82423" name="Line 119"/>
                <p:cNvSpPr>
                  <a:spLocks noChangeShapeType="1"/>
                </p:cNvSpPr>
                <p:nvPr/>
              </p:nvSpPr>
              <p:spPr bwMode="auto">
                <a:xfrm>
                  <a:off x="4056" y="3367"/>
                  <a:ext cx="0" cy="133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82424" name="Line 120"/>
                <p:cNvSpPr>
                  <a:spLocks noChangeShapeType="1"/>
                </p:cNvSpPr>
                <p:nvPr/>
              </p:nvSpPr>
              <p:spPr bwMode="auto">
                <a:xfrm>
                  <a:off x="4061" y="3504"/>
                  <a:ext cx="85" cy="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82425" name="Line 121"/>
                <p:cNvSpPr>
                  <a:spLocks noChangeShapeType="1"/>
                </p:cNvSpPr>
                <p:nvPr/>
              </p:nvSpPr>
              <p:spPr bwMode="auto">
                <a:xfrm>
                  <a:off x="4150" y="3504"/>
                  <a:ext cx="0" cy="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IN"/>
                </a:p>
              </p:txBody>
            </p:sp>
          </p:grpSp>
          <p:grpSp>
            <p:nvGrpSpPr>
              <p:cNvPr id="25" name="Group 122"/>
              <p:cNvGrpSpPr>
                <a:grpSpLocks/>
              </p:cNvGrpSpPr>
              <p:nvPr/>
            </p:nvGrpSpPr>
            <p:grpSpPr bwMode="auto">
              <a:xfrm>
                <a:off x="4150" y="3359"/>
                <a:ext cx="174" cy="149"/>
                <a:chOff x="4150" y="3359"/>
                <a:chExt cx="174" cy="149"/>
              </a:xfrm>
            </p:grpSpPr>
            <p:sp>
              <p:nvSpPr>
                <p:cNvPr id="482427" name="Line 123"/>
                <p:cNvSpPr>
                  <a:spLocks noChangeShapeType="1"/>
                </p:cNvSpPr>
                <p:nvPr/>
              </p:nvSpPr>
              <p:spPr bwMode="auto">
                <a:xfrm flipV="1">
                  <a:off x="4150" y="3359"/>
                  <a:ext cx="0" cy="149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82428" name="Line 124"/>
                <p:cNvSpPr>
                  <a:spLocks noChangeShapeType="1"/>
                </p:cNvSpPr>
                <p:nvPr/>
              </p:nvSpPr>
              <p:spPr bwMode="auto">
                <a:xfrm>
                  <a:off x="4155" y="3362"/>
                  <a:ext cx="78" cy="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82429" name="Line 125"/>
                <p:cNvSpPr>
                  <a:spLocks noChangeShapeType="1"/>
                </p:cNvSpPr>
                <p:nvPr/>
              </p:nvSpPr>
              <p:spPr bwMode="auto">
                <a:xfrm>
                  <a:off x="4237" y="3367"/>
                  <a:ext cx="0" cy="133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82430" name="Line 126"/>
                <p:cNvSpPr>
                  <a:spLocks noChangeShapeType="1"/>
                </p:cNvSpPr>
                <p:nvPr/>
              </p:nvSpPr>
              <p:spPr bwMode="auto">
                <a:xfrm>
                  <a:off x="4242" y="3504"/>
                  <a:ext cx="78" cy="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82431" name="Line 127"/>
                <p:cNvSpPr>
                  <a:spLocks noChangeShapeType="1"/>
                </p:cNvSpPr>
                <p:nvPr/>
              </p:nvSpPr>
              <p:spPr bwMode="auto">
                <a:xfrm>
                  <a:off x="4324" y="3504"/>
                  <a:ext cx="0" cy="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IN"/>
                </a:p>
              </p:txBody>
            </p:sp>
          </p:grpSp>
          <p:grpSp>
            <p:nvGrpSpPr>
              <p:cNvPr id="26" name="Group 128"/>
              <p:cNvGrpSpPr>
                <a:grpSpLocks/>
              </p:cNvGrpSpPr>
              <p:nvPr/>
            </p:nvGrpSpPr>
            <p:grpSpPr bwMode="auto">
              <a:xfrm>
                <a:off x="4324" y="3359"/>
                <a:ext cx="174" cy="149"/>
                <a:chOff x="4324" y="3359"/>
                <a:chExt cx="174" cy="149"/>
              </a:xfrm>
            </p:grpSpPr>
            <p:sp>
              <p:nvSpPr>
                <p:cNvPr id="482433" name="Line 129"/>
                <p:cNvSpPr>
                  <a:spLocks noChangeShapeType="1"/>
                </p:cNvSpPr>
                <p:nvPr/>
              </p:nvSpPr>
              <p:spPr bwMode="auto">
                <a:xfrm flipV="1">
                  <a:off x="4324" y="3359"/>
                  <a:ext cx="0" cy="149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82434" name="Line 130"/>
                <p:cNvSpPr>
                  <a:spLocks noChangeShapeType="1"/>
                </p:cNvSpPr>
                <p:nvPr/>
              </p:nvSpPr>
              <p:spPr bwMode="auto">
                <a:xfrm>
                  <a:off x="4329" y="3362"/>
                  <a:ext cx="78" cy="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82435" name="Line 131"/>
                <p:cNvSpPr>
                  <a:spLocks noChangeShapeType="1"/>
                </p:cNvSpPr>
                <p:nvPr/>
              </p:nvSpPr>
              <p:spPr bwMode="auto">
                <a:xfrm>
                  <a:off x="4411" y="3367"/>
                  <a:ext cx="0" cy="133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82436" name="Line 132"/>
                <p:cNvSpPr>
                  <a:spLocks noChangeShapeType="1"/>
                </p:cNvSpPr>
                <p:nvPr/>
              </p:nvSpPr>
              <p:spPr bwMode="auto">
                <a:xfrm>
                  <a:off x="4416" y="3504"/>
                  <a:ext cx="78" cy="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82437" name="Line 133"/>
                <p:cNvSpPr>
                  <a:spLocks noChangeShapeType="1"/>
                </p:cNvSpPr>
                <p:nvPr/>
              </p:nvSpPr>
              <p:spPr bwMode="auto">
                <a:xfrm>
                  <a:off x="4498" y="3504"/>
                  <a:ext cx="0" cy="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IN"/>
                </a:p>
              </p:txBody>
            </p:sp>
          </p:grpSp>
          <p:grpSp>
            <p:nvGrpSpPr>
              <p:cNvPr id="27" name="Group 134"/>
              <p:cNvGrpSpPr>
                <a:grpSpLocks/>
              </p:cNvGrpSpPr>
              <p:nvPr/>
            </p:nvGrpSpPr>
            <p:grpSpPr bwMode="auto">
              <a:xfrm>
                <a:off x="4498" y="3359"/>
                <a:ext cx="181" cy="149"/>
                <a:chOff x="4498" y="3359"/>
                <a:chExt cx="181" cy="149"/>
              </a:xfrm>
            </p:grpSpPr>
            <p:sp>
              <p:nvSpPr>
                <p:cNvPr id="482439" name="Line 135"/>
                <p:cNvSpPr>
                  <a:spLocks noChangeShapeType="1"/>
                </p:cNvSpPr>
                <p:nvPr/>
              </p:nvSpPr>
              <p:spPr bwMode="auto">
                <a:xfrm flipV="1">
                  <a:off x="4498" y="3359"/>
                  <a:ext cx="0" cy="149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82440" name="Line 136"/>
                <p:cNvSpPr>
                  <a:spLocks noChangeShapeType="1"/>
                </p:cNvSpPr>
                <p:nvPr/>
              </p:nvSpPr>
              <p:spPr bwMode="auto">
                <a:xfrm>
                  <a:off x="4503" y="3362"/>
                  <a:ext cx="77" cy="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82441" name="Line 137"/>
                <p:cNvSpPr>
                  <a:spLocks noChangeShapeType="1"/>
                </p:cNvSpPr>
                <p:nvPr/>
              </p:nvSpPr>
              <p:spPr bwMode="auto">
                <a:xfrm>
                  <a:off x="4584" y="3367"/>
                  <a:ext cx="0" cy="133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82442" name="Line 138"/>
                <p:cNvSpPr>
                  <a:spLocks noChangeShapeType="1"/>
                </p:cNvSpPr>
                <p:nvPr/>
              </p:nvSpPr>
              <p:spPr bwMode="auto">
                <a:xfrm>
                  <a:off x="4589" y="3504"/>
                  <a:ext cx="86" cy="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82443" name="Line 139"/>
                <p:cNvSpPr>
                  <a:spLocks noChangeShapeType="1"/>
                </p:cNvSpPr>
                <p:nvPr/>
              </p:nvSpPr>
              <p:spPr bwMode="auto">
                <a:xfrm>
                  <a:off x="4679" y="3504"/>
                  <a:ext cx="0" cy="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IN"/>
                </a:p>
              </p:txBody>
            </p:sp>
          </p:grpSp>
          <p:grpSp>
            <p:nvGrpSpPr>
              <p:cNvPr id="28" name="Group 140"/>
              <p:cNvGrpSpPr>
                <a:grpSpLocks/>
              </p:cNvGrpSpPr>
              <p:nvPr/>
            </p:nvGrpSpPr>
            <p:grpSpPr bwMode="auto">
              <a:xfrm>
                <a:off x="4679" y="3359"/>
                <a:ext cx="174" cy="149"/>
                <a:chOff x="4679" y="3359"/>
                <a:chExt cx="174" cy="149"/>
              </a:xfrm>
            </p:grpSpPr>
            <p:sp>
              <p:nvSpPr>
                <p:cNvPr id="482445" name="Line 141"/>
                <p:cNvSpPr>
                  <a:spLocks noChangeShapeType="1"/>
                </p:cNvSpPr>
                <p:nvPr/>
              </p:nvSpPr>
              <p:spPr bwMode="auto">
                <a:xfrm flipV="1">
                  <a:off x="4679" y="3359"/>
                  <a:ext cx="0" cy="149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82446" name="Line 142"/>
                <p:cNvSpPr>
                  <a:spLocks noChangeShapeType="1"/>
                </p:cNvSpPr>
                <p:nvPr/>
              </p:nvSpPr>
              <p:spPr bwMode="auto">
                <a:xfrm>
                  <a:off x="4684" y="3362"/>
                  <a:ext cx="78" cy="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82447" name="Line 143"/>
                <p:cNvSpPr>
                  <a:spLocks noChangeShapeType="1"/>
                </p:cNvSpPr>
                <p:nvPr/>
              </p:nvSpPr>
              <p:spPr bwMode="auto">
                <a:xfrm>
                  <a:off x="4766" y="3367"/>
                  <a:ext cx="0" cy="133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82448" name="Line 144"/>
                <p:cNvSpPr>
                  <a:spLocks noChangeShapeType="1"/>
                </p:cNvSpPr>
                <p:nvPr/>
              </p:nvSpPr>
              <p:spPr bwMode="auto">
                <a:xfrm>
                  <a:off x="4771" y="3504"/>
                  <a:ext cx="78" cy="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82449" name="Line 145"/>
                <p:cNvSpPr>
                  <a:spLocks noChangeShapeType="1"/>
                </p:cNvSpPr>
                <p:nvPr/>
              </p:nvSpPr>
              <p:spPr bwMode="auto">
                <a:xfrm>
                  <a:off x="4853" y="3504"/>
                  <a:ext cx="0" cy="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IN"/>
                </a:p>
              </p:txBody>
            </p:sp>
          </p:grpSp>
          <p:grpSp>
            <p:nvGrpSpPr>
              <p:cNvPr id="29" name="Group 146"/>
              <p:cNvGrpSpPr>
                <a:grpSpLocks/>
              </p:cNvGrpSpPr>
              <p:nvPr/>
            </p:nvGrpSpPr>
            <p:grpSpPr bwMode="auto">
              <a:xfrm>
                <a:off x="4853" y="3359"/>
                <a:ext cx="173" cy="149"/>
                <a:chOff x="4853" y="3359"/>
                <a:chExt cx="173" cy="149"/>
              </a:xfrm>
            </p:grpSpPr>
            <p:sp>
              <p:nvSpPr>
                <p:cNvPr id="482451" name="Line 147"/>
                <p:cNvSpPr>
                  <a:spLocks noChangeShapeType="1"/>
                </p:cNvSpPr>
                <p:nvPr/>
              </p:nvSpPr>
              <p:spPr bwMode="auto">
                <a:xfrm flipV="1">
                  <a:off x="4853" y="3359"/>
                  <a:ext cx="0" cy="149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82452" name="Line 148"/>
                <p:cNvSpPr>
                  <a:spLocks noChangeShapeType="1"/>
                </p:cNvSpPr>
                <p:nvPr/>
              </p:nvSpPr>
              <p:spPr bwMode="auto">
                <a:xfrm>
                  <a:off x="4858" y="3362"/>
                  <a:ext cx="77" cy="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82453" name="Line 149"/>
                <p:cNvSpPr>
                  <a:spLocks noChangeShapeType="1"/>
                </p:cNvSpPr>
                <p:nvPr/>
              </p:nvSpPr>
              <p:spPr bwMode="auto">
                <a:xfrm>
                  <a:off x="4939" y="3367"/>
                  <a:ext cx="0" cy="133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82454" name="Line 150"/>
                <p:cNvSpPr>
                  <a:spLocks noChangeShapeType="1"/>
                </p:cNvSpPr>
                <p:nvPr/>
              </p:nvSpPr>
              <p:spPr bwMode="auto">
                <a:xfrm>
                  <a:off x="4944" y="3504"/>
                  <a:ext cx="78" cy="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82455" name="Line 151"/>
                <p:cNvSpPr>
                  <a:spLocks noChangeShapeType="1"/>
                </p:cNvSpPr>
                <p:nvPr/>
              </p:nvSpPr>
              <p:spPr bwMode="auto">
                <a:xfrm>
                  <a:off x="5026" y="3504"/>
                  <a:ext cx="0" cy="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IN"/>
                </a:p>
              </p:txBody>
            </p:sp>
          </p:grpSp>
        </p:grpSp>
      </p:grpSp>
      <p:sp>
        <p:nvSpPr>
          <p:cNvPr id="482456" name="Rectangle 15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0488" tIns="44450" rIns="90488" bIns="44450" anchor="ctr"/>
          <a:lstStyle/>
          <a:p>
            <a:r>
              <a:rPr lang="en-US"/>
              <a:t>Simple Questions</a:t>
            </a:r>
          </a:p>
        </p:txBody>
      </p:sp>
      <p:sp>
        <p:nvSpPr>
          <p:cNvPr id="482457" name="Text Box 153"/>
          <p:cNvSpPr txBox="1">
            <a:spLocks noChangeArrowheads="1"/>
          </p:cNvSpPr>
          <p:nvPr/>
        </p:nvSpPr>
        <p:spPr bwMode="auto">
          <a:xfrm>
            <a:off x="2815782" y="4833264"/>
            <a:ext cx="171926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b="1">
                <a:latin typeface="Tahoma" pitchFamily="34" charset="0"/>
              </a:rPr>
              <a:t>Clock time-line</a:t>
            </a:r>
          </a:p>
        </p:txBody>
      </p:sp>
      <p:sp>
        <p:nvSpPr>
          <p:cNvPr id="153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Mayank Pandey, MNNIT, Allahabad, India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354" name="Rectangle 2"/>
          <p:cNvSpPr>
            <a:spLocks noChangeArrowheads="1"/>
          </p:cNvSpPr>
          <p:nvPr/>
        </p:nvSpPr>
        <p:spPr bwMode="auto">
          <a:xfrm>
            <a:off x="225425" y="312738"/>
            <a:ext cx="7716838" cy="4778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4843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7772400" cy="4114800"/>
          </a:xfrm>
          <a:noFill/>
          <a:ln/>
        </p:spPr>
        <p:txBody>
          <a:bodyPr lIns="90488" tIns="44450" rIns="90488" bIns="44450"/>
          <a:lstStyle/>
          <a:p>
            <a:r>
              <a:rPr lang="en-US" sz="2000" dirty="0"/>
              <a:t>Value of control signals is dependent upon:</a:t>
            </a:r>
          </a:p>
          <a:p>
            <a:pPr lvl="1"/>
            <a:r>
              <a:rPr lang="en-US" sz="1800" dirty="0"/>
              <a:t>what instruction is being executed</a:t>
            </a:r>
          </a:p>
          <a:p>
            <a:pPr lvl="1"/>
            <a:r>
              <a:rPr lang="en-US" sz="1800" dirty="0"/>
              <a:t>which step is being performed</a:t>
            </a:r>
            <a:br>
              <a:rPr lang="en-US" sz="1800" dirty="0"/>
            </a:br>
            <a:endParaRPr lang="en-US" sz="1800" dirty="0"/>
          </a:p>
          <a:p>
            <a:r>
              <a:rPr lang="en-US" sz="2000" dirty="0"/>
              <a:t>Use the information we have accumulated to specify a finite state machine</a:t>
            </a:r>
          </a:p>
          <a:p>
            <a:pPr lvl="1"/>
            <a:r>
              <a:rPr lang="en-US" sz="1800" dirty="0"/>
              <a:t>specify the finite state machine graphically, or</a:t>
            </a:r>
          </a:p>
          <a:p>
            <a:pPr lvl="1"/>
            <a:r>
              <a:rPr lang="en-US" sz="1800" dirty="0"/>
              <a:t>use microprogramming</a:t>
            </a:r>
            <a:br>
              <a:rPr lang="en-US" sz="1800" dirty="0"/>
            </a:br>
            <a:endParaRPr lang="en-US" sz="1800" dirty="0"/>
          </a:p>
          <a:p>
            <a:r>
              <a:rPr lang="en-US" sz="2000" dirty="0"/>
              <a:t>Implementation is then derived from the specification</a:t>
            </a:r>
            <a:r>
              <a:rPr lang="en-US" sz="2400" dirty="0"/>
              <a:t/>
            </a:r>
            <a:br>
              <a:rPr lang="en-US" sz="2400" dirty="0"/>
            </a:br>
            <a:endParaRPr lang="en-US" sz="2400" dirty="0"/>
          </a:p>
        </p:txBody>
      </p:sp>
      <p:sp>
        <p:nvSpPr>
          <p:cNvPr id="484356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8229600" cy="1143000"/>
          </a:xfrm>
          <a:noFill/>
          <a:ln/>
        </p:spPr>
        <p:txBody>
          <a:bodyPr lIns="90488" tIns="44450" rIns="90488" bIns="44450" anchor="ctr"/>
          <a:lstStyle/>
          <a:p>
            <a:r>
              <a:rPr lang="en-US" dirty="0"/>
              <a:t>Implementing Control</a:t>
            </a:r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Mayank Pandey, MNNIT, Allahabad, India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60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838200" y="1752600"/>
            <a:ext cx="7772400" cy="4114800"/>
          </a:xfrm>
          <a:noFill/>
          <a:ln/>
        </p:spPr>
        <p:txBody>
          <a:bodyPr lIns="90488" tIns="44450" rIns="90488" bIns="44450"/>
          <a:lstStyle/>
          <a:p>
            <a:pPr>
              <a:lnSpc>
                <a:spcPct val="90000"/>
              </a:lnSpc>
            </a:pPr>
            <a:r>
              <a:rPr lang="en-US" sz="2000"/>
              <a:t>Finite state machines (FSMs):</a:t>
            </a:r>
          </a:p>
          <a:p>
            <a:pPr lvl="1">
              <a:lnSpc>
                <a:spcPct val="90000"/>
              </a:lnSpc>
            </a:pPr>
            <a:r>
              <a:rPr lang="en-US" sz="1800"/>
              <a:t>a set of states and </a:t>
            </a:r>
          </a:p>
          <a:p>
            <a:pPr lvl="1">
              <a:lnSpc>
                <a:spcPct val="90000"/>
              </a:lnSpc>
            </a:pPr>
            <a:r>
              <a:rPr lang="en-US" sz="1800"/>
              <a:t>next state function, determined by current state and the input</a:t>
            </a:r>
          </a:p>
          <a:p>
            <a:pPr lvl="1">
              <a:lnSpc>
                <a:spcPct val="90000"/>
              </a:lnSpc>
            </a:pPr>
            <a:r>
              <a:rPr lang="en-US" sz="1800"/>
              <a:t>output function, determined by current state and possibly input</a:t>
            </a:r>
            <a:br>
              <a:rPr lang="en-US" sz="1800"/>
            </a:br>
            <a:r>
              <a:rPr lang="en-US" sz="2400"/>
              <a:t/>
            </a:r>
            <a:br>
              <a:rPr lang="en-US" sz="2400"/>
            </a:br>
            <a:r>
              <a:rPr lang="en-US" sz="2400"/>
              <a:t/>
            </a:r>
            <a:br>
              <a:rPr lang="en-US" sz="2400"/>
            </a:br>
            <a:r>
              <a:rPr lang="en-US" sz="2400"/>
              <a:t/>
            </a:r>
            <a:br>
              <a:rPr lang="en-US" sz="2400"/>
            </a:br>
            <a:r>
              <a:rPr lang="en-US" sz="2400"/>
              <a:t/>
            </a:r>
            <a:br>
              <a:rPr lang="en-US" sz="2400"/>
            </a:br>
            <a:endParaRPr lang="en-US" sz="2400"/>
          </a:p>
          <a:p>
            <a:pPr lvl="1">
              <a:lnSpc>
                <a:spcPct val="90000"/>
              </a:lnSpc>
            </a:pPr>
            <a:endParaRPr lang="en-US" sz="2000"/>
          </a:p>
          <a:p>
            <a:pPr lvl="1">
              <a:lnSpc>
                <a:spcPct val="90000"/>
              </a:lnSpc>
            </a:pPr>
            <a:endParaRPr lang="en-US" sz="2000"/>
          </a:p>
          <a:p>
            <a:pPr lvl="1">
              <a:lnSpc>
                <a:spcPct val="90000"/>
              </a:lnSpc>
            </a:pPr>
            <a:endParaRPr lang="en-US" sz="1800"/>
          </a:p>
          <a:p>
            <a:pPr lvl="1">
              <a:lnSpc>
                <a:spcPct val="90000"/>
              </a:lnSpc>
            </a:pPr>
            <a:endParaRPr lang="en-US" sz="1800"/>
          </a:p>
          <a:p>
            <a:pPr lvl="1">
              <a:lnSpc>
                <a:spcPct val="90000"/>
              </a:lnSpc>
            </a:pPr>
            <a:r>
              <a:rPr lang="en-US" sz="1800"/>
              <a:t>We’ll use a </a:t>
            </a:r>
            <a:r>
              <a:rPr lang="en-US" sz="1800" i="1"/>
              <a:t>Moore machine</a:t>
            </a:r>
            <a:r>
              <a:rPr lang="en-US" sz="1800"/>
              <a:t> – output based </a:t>
            </a:r>
            <a:r>
              <a:rPr lang="en-US" sz="1800" i="1"/>
              <a:t>only</a:t>
            </a:r>
            <a:r>
              <a:rPr lang="en-US" sz="1800"/>
              <a:t> on current state</a:t>
            </a:r>
          </a:p>
        </p:txBody>
      </p:sp>
      <p:sp>
        <p:nvSpPr>
          <p:cNvPr id="537603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8229600" cy="1143000"/>
          </a:xfrm>
          <a:noFill/>
          <a:ln/>
        </p:spPr>
        <p:txBody>
          <a:bodyPr lIns="90488" tIns="44450" rIns="90488" bIns="44450" anchor="ctr"/>
          <a:lstStyle/>
          <a:p>
            <a:r>
              <a:rPr lang="en-US" dirty="0"/>
              <a:t>Review: Finite State Machines</a:t>
            </a:r>
          </a:p>
        </p:txBody>
      </p:sp>
      <p:pic>
        <p:nvPicPr>
          <p:cNvPr id="537604" name="Picture 4"/>
          <p:cNvPicPr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81200" y="3124200"/>
            <a:ext cx="5334000" cy="2590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</p:pic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Mayank Pandey, MNNIT, Allahabad, India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22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/>
          <a:lstStyle/>
          <a:p>
            <a:r>
              <a:rPr lang="en-US" dirty="0"/>
              <a:t>Example: Moore Machine</a:t>
            </a:r>
          </a:p>
        </p:txBody>
      </p:sp>
      <p:sp>
        <p:nvSpPr>
          <p:cNvPr id="564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6425" y="1371600"/>
            <a:ext cx="7772400" cy="4114800"/>
          </a:xfrm>
        </p:spPr>
        <p:txBody>
          <a:bodyPr/>
          <a:lstStyle/>
          <a:p>
            <a:r>
              <a:rPr lang="en-US" sz="2000" dirty="0"/>
              <a:t>The Moore machine below, given </a:t>
            </a:r>
            <a:r>
              <a:rPr lang="en-US" sz="2000" i="1" dirty="0"/>
              <a:t>input </a:t>
            </a:r>
            <a:r>
              <a:rPr lang="en-US" sz="2000" dirty="0"/>
              <a:t>a binary string terminated by “</a:t>
            </a:r>
            <a:r>
              <a:rPr lang="en-US" sz="2000" dirty="0">
                <a:latin typeface="Courier New" pitchFamily="49" charset="0"/>
              </a:rPr>
              <a:t>#</a:t>
            </a:r>
            <a:r>
              <a:rPr lang="en-US" sz="2000" dirty="0"/>
              <a:t>”, will </a:t>
            </a:r>
            <a:r>
              <a:rPr lang="en-US" sz="2000" i="1" dirty="0"/>
              <a:t>output</a:t>
            </a:r>
            <a:r>
              <a:rPr lang="en-US" sz="2000" dirty="0"/>
              <a:t> “</a:t>
            </a:r>
            <a:r>
              <a:rPr lang="en-US" sz="2000" dirty="0">
                <a:latin typeface="Courier New" pitchFamily="49" charset="0"/>
              </a:rPr>
              <a:t>even</a:t>
            </a:r>
            <a:r>
              <a:rPr lang="en-US" sz="2000" dirty="0"/>
              <a:t>” if the string has an even number of </a:t>
            </a:r>
            <a:r>
              <a:rPr lang="en-US" sz="2000" dirty="0">
                <a:latin typeface="Courier New" pitchFamily="49" charset="0"/>
              </a:rPr>
              <a:t>0</a:t>
            </a:r>
            <a:r>
              <a:rPr lang="en-US" sz="2000" dirty="0"/>
              <a:t>’s and “</a:t>
            </a:r>
            <a:r>
              <a:rPr lang="en-US" sz="2000" dirty="0">
                <a:latin typeface="Courier New" pitchFamily="49" charset="0"/>
              </a:rPr>
              <a:t>odd</a:t>
            </a:r>
            <a:r>
              <a:rPr lang="en-US" sz="2000" dirty="0"/>
              <a:t>” if the string has an odd number of </a:t>
            </a:r>
            <a:r>
              <a:rPr lang="en-US" sz="2000" dirty="0">
                <a:latin typeface="Courier New" pitchFamily="49" charset="0"/>
              </a:rPr>
              <a:t>0</a:t>
            </a:r>
            <a:r>
              <a:rPr lang="en-US" sz="2000" dirty="0"/>
              <a:t>’s</a:t>
            </a:r>
          </a:p>
        </p:txBody>
      </p:sp>
      <p:sp>
        <p:nvSpPr>
          <p:cNvPr id="564228" name="Oval 4"/>
          <p:cNvSpPr>
            <a:spLocks noChangeArrowheads="1"/>
          </p:cNvSpPr>
          <p:nvPr/>
        </p:nvSpPr>
        <p:spPr bwMode="auto">
          <a:xfrm>
            <a:off x="1862137" y="2819400"/>
            <a:ext cx="1219200" cy="1143000"/>
          </a:xfrm>
          <a:prstGeom prst="ellips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564229" name="Oval 5"/>
          <p:cNvSpPr>
            <a:spLocks noChangeArrowheads="1"/>
          </p:cNvSpPr>
          <p:nvPr/>
        </p:nvSpPr>
        <p:spPr bwMode="auto">
          <a:xfrm>
            <a:off x="4605337" y="2819400"/>
            <a:ext cx="1219200" cy="1143000"/>
          </a:xfrm>
          <a:prstGeom prst="ellips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564230" name="Oval 6"/>
          <p:cNvSpPr>
            <a:spLocks noChangeArrowheads="1"/>
          </p:cNvSpPr>
          <p:nvPr/>
        </p:nvSpPr>
        <p:spPr bwMode="auto">
          <a:xfrm>
            <a:off x="1862137" y="4724400"/>
            <a:ext cx="1219200" cy="1143000"/>
          </a:xfrm>
          <a:prstGeom prst="ellips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564231" name="Oval 7"/>
          <p:cNvSpPr>
            <a:spLocks noChangeArrowheads="1"/>
          </p:cNvSpPr>
          <p:nvPr/>
        </p:nvSpPr>
        <p:spPr bwMode="auto">
          <a:xfrm>
            <a:off x="4681537" y="4724400"/>
            <a:ext cx="1219200" cy="1143000"/>
          </a:xfrm>
          <a:prstGeom prst="ellips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564232" name="Line 8"/>
          <p:cNvSpPr>
            <a:spLocks noChangeShapeType="1"/>
          </p:cNvSpPr>
          <p:nvPr/>
        </p:nvSpPr>
        <p:spPr bwMode="auto">
          <a:xfrm>
            <a:off x="3005137" y="3124200"/>
            <a:ext cx="1676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IN"/>
          </a:p>
        </p:txBody>
      </p:sp>
      <p:sp>
        <p:nvSpPr>
          <p:cNvPr id="564234" name="Line 10"/>
          <p:cNvSpPr>
            <a:spLocks noChangeShapeType="1"/>
          </p:cNvSpPr>
          <p:nvPr/>
        </p:nvSpPr>
        <p:spPr bwMode="auto">
          <a:xfrm flipH="1">
            <a:off x="3005137" y="3657600"/>
            <a:ext cx="1676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IN"/>
          </a:p>
        </p:txBody>
      </p:sp>
      <p:sp>
        <p:nvSpPr>
          <p:cNvPr id="564235" name="Freeform 11"/>
          <p:cNvSpPr>
            <a:spLocks/>
          </p:cNvSpPr>
          <p:nvPr/>
        </p:nvSpPr>
        <p:spPr bwMode="auto">
          <a:xfrm>
            <a:off x="998537" y="2552700"/>
            <a:ext cx="1168400" cy="1028700"/>
          </a:xfrm>
          <a:custGeom>
            <a:avLst/>
            <a:gdLst/>
            <a:ahLst/>
            <a:cxnLst>
              <a:cxn ang="0">
                <a:pos x="544" y="648"/>
              </a:cxn>
              <a:cxn ang="0">
                <a:pos x="64" y="360"/>
              </a:cxn>
              <a:cxn ang="0">
                <a:pos x="160" y="24"/>
              </a:cxn>
              <a:cxn ang="0">
                <a:pos x="736" y="216"/>
              </a:cxn>
            </a:cxnLst>
            <a:rect l="0" t="0" r="r" b="b"/>
            <a:pathLst>
              <a:path w="736" h="648">
                <a:moveTo>
                  <a:pt x="544" y="648"/>
                </a:moveTo>
                <a:cubicBezTo>
                  <a:pt x="336" y="556"/>
                  <a:pt x="128" y="464"/>
                  <a:pt x="64" y="360"/>
                </a:cubicBezTo>
                <a:cubicBezTo>
                  <a:pt x="0" y="256"/>
                  <a:pt x="48" y="48"/>
                  <a:pt x="160" y="24"/>
                </a:cubicBezTo>
                <a:cubicBezTo>
                  <a:pt x="272" y="0"/>
                  <a:pt x="504" y="108"/>
                  <a:pt x="736" y="216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txBody>
          <a:bodyPr wrap="none"/>
          <a:lstStyle/>
          <a:p>
            <a:endParaRPr lang="en-IN"/>
          </a:p>
        </p:txBody>
      </p:sp>
      <p:sp>
        <p:nvSpPr>
          <p:cNvPr id="564237" name="Freeform 13"/>
          <p:cNvSpPr>
            <a:spLocks/>
          </p:cNvSpPr>
          <p:nvPr/>
        </p:nvSpPr>
        <p:spPr bwMode="auto">
          <a:xfrm>
            <a:off x="5672137" y="2768600"/>
            <a:ext cx="1155700" cy="812800"/>
          </a:xfrm>
          <a:custGeom>
            <a:avLst/>
            <a:gdLst/>
            <a:ahLst/>
            <a:cxnLst>
              <a:cxn ang="0">
                <a:pos x="96" y="512"/>
              </a:cxn>
              <a:cxn ang="0">
                <a:pos x="624" y="320"/>
              </a:cxn>
              <a:cxn ang="0">
                <a:pos x="624" y="32"/>
              </a:cxn>
              <a:cxn ang="0">
                <a:pos x="0" y="128"/>
              </a:cxn>
            </a:cxnLst>
            <a:rect l="0" t="0" r="r" b="b"/>
            <a:pathLst>
              <a:path w="728" h="512">
                <a:moveTo>
                  <a:pt x="96" y="512"/>
                </a:moveTo>
                <a:cubicBezTo>
                  <a:pt x="316" y="456"/>
                  <a:pt x="536" y="400"/>
                  <a:pt x="624" y="320"/>
                </a:cubicBezTo>
                <a:cubicBezTo>
                  <a:pt x="712" y="240"/>
                  <a:pt x="728" y="64"/>
                  <a:pt x="624" y="32"/>
                </a:cubicBezTo>
                <a:cubicBezTo>
                  <a:pt x="520" y="0"/>
                  <a:pt x="260" y="64"/>
                  <a:pt x="0" y="12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txBody>
          <a:bodyPr wrap="none"/>
          <a:lstStyle/>
          <a:p>
            <a:endParaRPr lang="en-IN"/>
          </a:p>
        </p:txBody>
      </p:sp>
      <p:sp>
        <p:nvSpPr>
          <p:cNvPr id="564238" name="Line 14"/>
          <p:cNvSpPr>
            <a:spLocks noChangeShapeType="1"/>
          </p:cNvSpPr>
          <p:nvPr/>
        </p:nvSpPr>
        <p:spPr bwMode="auto">
          <a:xfrm>
            <a:off x="2471737" y="39624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IN"/>
          </a:p>
        </p:txBody>
      </p:sp>
      <p:sp>
        <p:nvSpPr>
          <p:cNvPr id="564239" name="Line 15"/>
          <p:cNvSpPr>
            <a:spLocks noChangeShapeType="1"/>
          </p:cNvSpPr>
          <p:nvPr/>
        </p:nvSpPr>
        <p:spPr bwMode="auto">
          <a:xfrm>
            <a:off x="5214937" y="39624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IN"/>
          </a:p>
        </p:txBody>
      </p:sp>
      <p:sp>
        <p:nvSpPr>
          <p:cNvPr id="564240" name="Text Box 16"/>
          <p:cNvSpPr txBox="1">
            <a:spLocks noChangeArrowheads="1"/>
          </p:cNvSpPr>
          <p:nvPr/>
        </p:nvSpPr>
        <p:spPr bwMode="auto">
          <a:xfrm>
            <a:off x="2090737" y="2514600"/>
            <a:ext cx="14065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latin typeface="Courier New" pitchFamily="49" charset="0"/>
              </a:rPr>
              <a:t>Even state</a:t>
            </a:r>
          </a:p>
        </p:txBody>
      </p:sp>
      <p:sp>
        <p:nvSpPr>
          <p:cNvPr id="564241" name="Text Box 17"/>
          <p:cNvSpPr txBox="1">
            <a:spLocks noChangeArrowheads="1"/>
          </p:cNvSpPr>
          <p:nvPr/>
        </p:nvSpPr>
        <p:spPr bwMode="auto">
          <a:xfrm>
            <a:off x="4376737" y="2559050"/>
            <a:ext cx="128428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latin typeface="Courier New" pitchFamily="49" charset="0"/>
              </a:rPr>
              <a:t>Odd state</a:t>
            </a:r>
          </a:p>
        </p:txBody>
      </p:sp>
      <p:sp>
        <p:nvSpPr>
          <p:cNvPr id="564242" name="Text Box 18"/>
          <p:cNvSpPr txBox="1">
            <a:spLocks noChangeArrowheads="1"/>
          </p:cNvSpPr>
          <p:nvPr/>
        </p:nvSpPr>
        <p:spPr bwMode="auto">
          <a:xfrm>
            <a:off x="1481137" y="5791200"/>
            <a:ext cx="226218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latin typeface="Courier New" pitchFamily="49" charset="0"/>
              </a:rPr>
              <a:t>Output even state</a:t>
            </a:r>
          </a:p>
        </p:txBody>
      </p:sp>
      <p:sp>
        <p:nvSpPr>
          <p:cNvPr id="564243" name="Text Box 19"/>
          <p:cNvSpPr txBox="1">
            <a:spLocks noChangeArrowheads="1"/>
          </p:cNvSpPr>
          <p:nvPr/>
        </p:nvSpPr>
        <p:spPr bwMode="auto">
          <a:xfrm>
            <a:off x="4224337" y="5791200"/>
            <a:ext cx="21399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latin typeface="Courier New" pitchFamily="49" charset="0"/>
              </a:rPr>
              <a:t>Output odd state</a:t>
            </a:r>
          </a:p>
        </p:txBody>
      </p:sp>
      <p:sp>
        <p:nvSpPr>
          <p:cNvPr id="564244" name="Text Box 20"/>
          <p:cNvSpPr txBox="1">
            <a:spLocks noChangeArrowheads="1"/>
          </p:cNvSpPr>
          <p:nvPr/>
        </p:nvSpPr>
        <p:spPr bwMode="auto">
          <a:xfrm>
            <a:off x="2087562" y="2971800"/>
            <a:ext cx="917575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latin typeface="Courier New" pitchFamily="49" charset="0"/>
              </a:rPr>
              <a:t>No</a:t>
            </a:r>
          </a:p>
          <a:p>
            <a:r>
              <a:rPr lang="en-US" sz="1600">
                <a:latin typeface="Courier New" pitchFamily="49" charset="0"/>
              </a:rPr>
              <a:t>output</a:t>
            </a:r>
          </a:p>
        </p:txBody>
      </p:sp>
      <p:sp>
        <p:nvSpPr>
          <p:cNvPr id="564245" name="Text Box 21"/>
          <p:cNvSpPr txBox="1">
            <a:spLocks noChangeArrowheads="1"/>
          </p:cNvSpPr>
          <p:nvPr/>
        </p:nvSpPr>
        <p:spPr bwMode="auto">
          <a:xfrm>
            <a:off x="4757737" y="2971800"/>
            <a:ext cx="917575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latin typeface="Courier New" pitchFamily="49" charset="0"/>
              </a:rPr>
              <a:t>No</a:t>
            </a:r>
          </a:p>
          <a:p>
            <a:r>
              <a:rPr lang="en-US" sz="1600">
                <a:latin typeface="Courier New" pitchFamily="49" charset="0"/>
              </a:rPr>
              <a:t>output</a:t>
            </a:r>
          </a:p>
        </p:txBody>
      </p:sp>
      <p:sp>
        <p:nvSpPr>
          <p:cNvPr id="564246" name="Text Box 22"/>
          <p:cNvSpPr txBox="1">
            <a:spLocks noChangeArrowheads="1"/>
          </p:cNvSpPr>
          <p:nvPr/>
        </p:nvSpPr>
        <p:spPr bwMode="auto">
          <a:xfrm>
            <a:off x="1965325" y="4953000"/>
            <a:ext cx="1039812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latin typeface="Courier New" pitchFamily="49" charset="0"/>
              </a:rPr>
              <a:t>Output </a:t>
            </a:r>
          </a:p>
          <a:p>
            <a:r>
              <a:rPr lang="en-US" sz="1600">
                <a:latin typeface="Courier New" pitchFamily="49" charset="0"/>
              </a:rPr>
              <a:t>“even”</a:t>
            </a:r>
          </a:p>
        </p:txBody>
      </p:sp>
      <p:sp>
        <p:nvSpPr>
          <p:cNvPr id="564247" name="Text Box 23"/>
          <p:cNvSpPr txBox="1">
            <a:spLocks noChangeArrowheads="1"/>
          </p:cNvSpPr>
          <p:nvPr/>
        </p:nvSpPr>
        <p:spPr bwMode="auto">
          <a:xfrm>
            <a:off x="4757737" y="4953000"/>
            <a:ext cx="1039813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latin typeface="Courier New" pitchFamily="49" charset="0"/>
              </a:rPr>
              <a:t>Output </a:t>
            </a:r>
          </a:p>
          <a:p>
            <a:r>
              <a:rPr lang="en-US" sz="1600">
                <a:latin typeface="Courier New" pitchFamily="49" charset="0"/>
              </a:rPr>
              <a:t>“odd”</a:t>
            </a:r>
          </a:p>
        </p:txBody>
      </p:sp>
      <p:sp>
        <p:nvSpPr>
          <p:cNvPr id="564248" name="Text Box 24"/>
          <p:cNvSpPr txBox="1">
            <a:spLocks noChangeArrowheads="1"/>
          </p:cNvSpPr>
          <p:nvPr/>
        </p:nvSpPr>
        <p:spPr bwMode="auto">
          <a:xfrm>
            <a:off x="3689350" y="2863850"/>
            <a:ext cx="30638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latin typeface="Courier New" pitchFamily="49" charset="0"/>
              </a:rPr>
              <a:t>0</a:t>
            </a:r>
          </a:p>
        </p:txBody>
      </p:sp>
      <p:sp>
        <p:nvSpPr>
          <p:cNvPr id="564249" name="Text Box 25"/>
          <p:cNvSpPr txBox="1">
            <a:spLocks noChangeArrowheads="1"/>
          </p:cNvSpPr>
          <p:nvPr/>
        </p:nvSpPr>
        <p:spPr bwMode="auto">
          <a:xfrm>
            <a:off x="3690937" y="3397250"/>
            <a:ext cx="30638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latin typeface="Courier New" pitchFamily="49" charset="0"/>
              </a:rPr>
              <a:t>0</a:t>
            </a:r>
          </a:p>
        </p:txBody>
      </p:sp>
      <p:sp>
        <p:nvSpPr>
          <p:cNvPr id="564250" name="Text Box 26"/>
          <p:cNvSpPr txBox="1">
            <a:spLocks noChangeArrowheads="1"/>
          </p:cNvSpPr>
          <p:nvPr/>
        </p:nvSpPr>
        <p:spPr bwMode="auto">
          <a:xfrm>
            <a:off x="6737350" y="2787650"/>
            <a:ext cx="30638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latin typeface="Courier New" pitchFamily="49" charset="0"/>
              </a:rPr>
              <a:t>1</a:t>
            </a:r>
          </a:p>
        </p:txBody>
      </p:sp>
      <p:sp>
        <p:nvSpPr>
          <p:cNvPr id="564251" name="Text Box 27"/>
          <p:cNvSpPr txBox="1">
            <a:spLocks noChangeArrowheads="1"/>
          </p:cNvSpPr>
          <p:nvPr/>
        </p:nvSpPr>
        <p:spPr bwMode="auto">
          <a:xfrm>
            <a:off x="795337" y="2667000"/>
            <a:ext cx="30638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latin typeface="Courier New" pitchFamily="49" charset="0"/>
              </a:rPr>
              <a:t>1</a:t>
            </a:r>
          </a:p>
        </p:txBody>
      </p:sp>
      <p:sp>
        <p:nvSpPr>
          <p:cNvPr id="564253" name="Text Box 29"/>
          <p:cNvSpPr txBox="1">
            <a:spLocks noChangeArrowheads="1"/>
          </p:cNvSpPr>
          <p:nvPr/>
        </p:nvSpPr>
        <p:spPr bwMode="auto">
          <a:xfrm>
            <a:off x="2395537" y="4159250"/>
            <a:ext cx="30638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latin typeface="Courier New" pitchFamily="49" charset="0"/>
              </a:rPr>
              <a:t>#</a:t>
            </a:r>
          </a:p>
        </p:txBody>
      </p:sp>
      <p:sp>
        <p:nvSpPr>
          <p:cNvPr id="564254" name="Text Box 30"/>
          <p:cNvSpPr txBox="1">
            <a:spLocks noChangeArrowheads="1"/>
          </p:cNvSpPr>
          <p:nvPr/>
        </p:nvSpPr>
        <p:spPr bwMode="auto">
          <a:xfrm>
            <a:off x="5138737" y="4191000"/>
            <a:ext cx="30638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latin typeface="Courier New" pitchFamily="49" charset="0"/>
              </a:rPr>
              <a:t>#</a:t>
            </a:r>
          </a:p>
        </p:txBody>
      </p:sp>
      <p:sp>
        <p:nvSpPr>
          <p:cNvPr id="564255" name="Line 31"/>
          <p:cNvSpPr>
            <a:spLocks noChangeShapeType="1"/>
          </p:cNvSpPr>
          <p:nvPr/>
        </p:nvSpPr>
        <p:spPr bwMode="auto">
          <a:xfrm>
            <a:off x="947737" y="3810000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IN"/>
          </a:p>
        </p:txBody>
      </p:sp>
      <p:sp>
        <p:nvSpPr>
          <p:cNvPr id="564256" name="Text Box 32"/>
          <p:cNvSpPr txBox="1">
            <a:spLocks noChangeArrowheads="1"/>
          </p:cNvSpPr>
          <p:nvPr/>
        </p:nvSpPr>
        <p:spPr bwMode="auto">
          <a:xfrm>
            <a:off x="228600" y="3625850"/>
            <a:ext cx="79533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latin typeface="Courier New" pitchFamily="49" charset="0"/>
              </a:rPr>
              <a:t>Start</a:t>
            </a:r>
          </a:p>
        </p:txBody>
      </p:sp>
      <p:sp>
        <p:nvSpPr>
          <p:cNvPr id="30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Mayank Pandey, MNNIT, Allahabad, India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FSM Control: High-level View</a:t>
            </a:r>
            <a:br>
              <a:rPr lang="en-US"/>
            </a:br>
            <a:endParaRPr lang="en-US"/>
          </a:p>
        </p:txBody>
      </p:sp>
      <p:pic>
        <p:nvPicPr>
          <p:cNvPr id="541700" name="Picture 4" descr="F053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5000" y="990600"/>
            <a:ext cx="5334000" cy="2216150"/>
          </a:xfrm>
          <a:prstGeom prst="rect">
            <a:avLst/>
          </a:prstGeom>
          <a:noFill/>
        </p:spPr>
      </p:pic>
      <p:pic>
        <p:nvPicPr>
          <p:cNvPr id="541701" name="Picture 5" descr="F053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0" y="3570287"/>
            <a:ext cx="4953000" cy="2814638"/>
          </a:xfrm>
          <a:prstGeom prst="rect">
            <a:avLst/>
          </a:prstGeom>
          <a:noFill/>
        </p:spPr>
      </p:pic>
      <p:sp>
        <p:nvSpPr>
          <p:cNvPr id="541702" name="Text Box 6"/>
          <p:cNvSpPr txBox="1">
            <a:spLocks noChangeArrowheads="1"/>
          </p:cNvSpPr>
          <p:nvPr/>
        </p:nvSpPr>
        <p:spPr bwMode="auto">
          <a:xfrm>
            <a:off x="2895600" y="3200400"/>
            <a:ext cx="330676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b="1" dirty="0">
                <a:latin typeface="Tahoma" pitchFamily="34" charset="0"/>
              </a:rPr>
              <a:t>High-level view of FSM control</a:t>
            </a:r>
          </a:p>
        </p:txBody>
      </p:sp>
      <p:sp>
        <p:nvSpPr>
          <p:cNvPr id="541703" name="Text Box 7"/>
          <p:cNvSpPr txBox="1">
            <a:spLocks noChangeArrowheads="1"/>
          </p:cNvSpPr>
          <p:nvPr/>
        </p:nvSpPr>
        <p:spPr bwMode="auto">
          <a:xfrm>
            <a:off x="1355725" y="6369050"/>
            <a:ext cx="697388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b="1">
                <a:latin typeface="Tahoma" pitchFamily="34" charset="0"/>
              </a:rPr>
              <a:t>Instruction fetch and decode steps of every instruction is identical</a:t>
            </a:r>
          </a:p>
        </p:txBody>
      </p:sp>
      <p:sp>
        <p:nvSpPr>
          <p:cNvPr id="541704" name="Text Box 8"/>
          <p:cNvSpPr txBox="1">
            <a:spLocks noChangeArrowheads="1"/>
          </p:cNvSpPr>
          <p:nvPr/>
        </p:nvSpPr>
        <p:spPr bwMode="auto">
          <a:xfrm>
            <a:off x="587375" y="4103687"/>
            <a:ext cx="1851025" cy="82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chemeClr val="hlink"/>
                </a:solidFill>
                <a:latin typeface="Tahoma" pitchFamily="34" charset="0"/>
              </a:rPr>
              <a:t>Asserted signals</a:t>
            </a:r>
          </a:p>
          <a:p>
            <a:r>
              <a:rPr lang="en-US" sz="1600" b="1">
                <a:solidFill>
                  <a:schemeClr val="hlink"/>
                </a:solidFill>
                <a:latin typeface="Tahoma" pitchFamily="34" charset="0"/>
              </a:rPr>
              <a:t>shown inside</a:t>
            </a:r>
          </a:p>
          <a:p>
            <a:r>
              <a:rPr lang="en-US" sz="1600" b="1">
                <a:solidFill>
                  <a:schemeClr val="hlink"/>
                </a:solidFill>
                <a:latin typeface="Tahoma" pitchFamily="34" charset="0"/>
              </a:rPr>
              <a:t>state circles</a:t>
            </a:r>
          </a:p>
        </p:txBody>
      </p:sp>
    </p:spTree>
  </p:cSld>
  <p:clrMapOvr>
    <a:masterClrMapping/>
  </p:clrMapOvr>
  <p:transition/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2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04800"/>
            <a:ext cx="8410575" cy="1143000"/>
          </a:xfrm>
        </p:spPr>
        <p:txBody>
          <a:bodyPr/>
          <a:lstStyle/>
          <a:p>
            <a:r>
              <a:rPr lang="en-US" dirty="0"/>
              <a:t>FSM Control: Memory Reference</a:t>
            </a:r>
            <a:br>
              <a:rPr lang="en-US" dirty="0"/>
            </a:br>
            <a:endParaRPr lang="en-US" dirty="0"/>
          </a:p>
        </p:txBody>
      </p:sp>
      <p:pic>
        <p:nvPicPr>
          <p:cNvPr id="542724" name="Picture 4" descr="F0538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24200" y="990600"/>
            <a:ext cx="3800475" cy="5507038"/>
          </a:xfrm>
          <a:prstGeom prst="rect">
            <a:avLst/>
          </a:prstGeom>
          <a:noFill/>
        </p:spPr>
      </p:pic>
      <p:sp>
        <p:nvSpPr>
          <p:cNvPr id="542725" name="Text Box 5"/>
          <p:cNvSpPr txBox="1">
            <a:spLocks noChangeArrowheads="1"/>
          </p:cNvSpPr>
          <p:nvPr/>
        </p:nvSpPr>
        <p:spPr bwMode="auto">
          <a:xfrm>
            <a:off x="1752600" y="6400800"/>
            <a:ext cx="50006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b="1">
                <a:latin typeface="Tahoma" pitchFamily="34" charset="0"/>
              </a:rPr>
              <a:t>FSM control for memory-reference has 4 states</a:t>
            </a:r>
          </a:p>
        </p:txBody>
      </p:sp>
    </p:spTree>
  </p:cSld>
  <p:clrMapOvr>
    <a:masterClrMapping/>
  </p:clrMapOvr>
  <p:transition/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746" name="Rectangle 2"/>
          <p:cNvSpPr>
            <a:spLocks noGrp="1" noChangeArrowheads="1"/>
          </p:cNvSpPr>
          <p:nvPr>
            <p:ph type="title"/>
          </p:nvPr>
        </p:nvSpPr>
        <p:spPr>
          <a:xfrm>
            <a:off x="581025" y="685800"/>
            <a:ext cx="8562975" cy="1143000"/>
          </a:xfrm>
        </p:spPr>
        <p:txBody>
          <a:bodyPr/>
          <a:lstStyle/>
          <a:p>
            <a:r>
              <a:rPr lang="en-US"/>
              <a:t>FSM Control: R-type Instruction</a:t>
            </a:r>
            <a:br>
              <a:rPr lang="en-US"/>
            </a:br>
            <a:endParaRPr lang="en-US"/>
          </a:p>
        </p:txBody>
      </p:sp>
      <p:pic>
        <p:nvPicPr>
          <p:cNvPr id="543748" name="Picture 4" descr="F0539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447800"/>
            <a:ext cx="2216150" cy="4903788"/>
          </a:xfrm>
          <a:prstGeom prst="rect">
            <a:avLst/>
          </a:prstGeom>
          <a:noFill/>
        </p:spPr>
      </p:pic>
      <p:sp>
        <p:nvSpPr>
          <p:cNvPr id="543749" name="Text Box 5"/>
          <p:cNvSpPr txBox="1">
            <a:spLocks noChangeArrowheads="1"/>
          </p:cNvSpPr>
          <p:nvPr/>
        </p:nvSpPr>
        <p:spPr bwMode="auto">
          <a:xfrm>
            <a:off x="1524000" y="6369050"/>
            <a:ext cx="61309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b="1" dirty="0">
                <a:latin typeface="Tahoma" pitchFamily="34" charset="0"/>
              </a:rPr>
              <a:t>FSM control to implement R-type instructions has 2 states</a:t>
            </a:r>
          </a:p>
        </p:txBody>
      </p:sp>
    </p:spTree>
  </p:cSld>
  <p:clrMapOvr>
    <a:masterClrMapping/>
  </p:clrMapOvr>
  <p:transition/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770" name="Rectangle 1026"/>
          <p:cNvSpPr>
            <a:spLocks noGrp="1" noChangeArrowheads="1"/>
          </p:cNvSpPr>
          <p:nvPr>
            <p:ph type="title"/>
          </p:nvPr>
        </p:nvSpPr>
        <p:spPr>
          <a:xfrm>
            <a:off x="733425" y="304800"/>
            <a:ext cx="8410575" cy="1143000"/>
          </a:xfrm>
        </p:spPr>
        <p:txBody>
          <a:bodyPr/>
          <a:lstStyle/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FSM Control: Branch Instruction</a:t>
            </a:r>
            <a:br>
              <a:rPr lang="en-US" dirty="0"/>
            </a:br>
            <a:endParaRPr lang="en-US" dirty="0"/>
          </a:p>
        </p:txBody>
      </p:sp>
      <p:pic>
        <p:nvPicPr>
          <p:cNvPr id="544772" name="Picture 1028" descr="F054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8050" y="2514600"/>
            <a:ext cx="2246313" cy="2882900"/>
          </a:xfrm>
          <a:prstGeom prst="rect">
            <a:avLst/>
          </a:prstGeom>
          <a:noFill/>
        </p:spPr>
      </p:pic>
      <p:sp>
        <p:nvSpPr>
          <p:cNvPr id="544774" name="Text Box 1030"/>
          <p:cNvSpPr txBox="1">
            <a:spLocks noChangeArrowheads="1"/>
          </p:cNvSpPr>
          <p:nvPr/>
        </p:nvSpPr>
        <p:spPr bwMode="auto">
          <a:xfrm>
            <a:off x="2163763" y="5638800"/>
            <a:ext cx="499903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b="1">
                <a:latin typeface="Tahoma" pitchFamily="34" charset="0"/>
              </a:rPr>
              <a:t>FSM control to implement branches has 1 state</a:t>
            </a:r>
          </a:p>
        </p:txBody>
      </p:sp>
    </p:spTree>
  </p:cSld>
  <p:clrMapOvr>
    <a:masterClrMapping/>
  </p:clrMapOvr>
  <p:transition/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7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/>
          <a:lstStyle/>
          <a:p>
            <a:r>
              <a:rPr lang="en-US" dirty="0"/>
              <a:t>FSM Control: Jump Instruction</a:t>
            </a:r>
          </a:p>
        </p:txBody>
      </p:sp>
      <p:pic>
        <p:nvPicPr>
          <p:cNvPr id="545797" name="Picture 5" descr="F054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87738" y="2819400"/>
            <a:ext cx="2168525" cy="2947988"/>
          </a:xfrm>
          <a:prstGeom prst="rect">
            <a:avLst/>
          </a:prstGeom>
          <a:noFill/>
        </p:spPr>
      </p:pic>
      <p:sp>
        <p:nvSpPr>
          <p:cNvPr id="545798" name="Text Box 6"/>
          <p:cNvSpPr txBox="1">
            <a:spLocks noChangeArrowheads="1"/>
          </p:cNvSpPr>
          <p:nvPr/>
        </p:nvSpPr>
        <p:spPr bwMode="auto">
          <a:xfrm>
            <a:off x="2178050" y="5835650"/>
            <a:ext cx="47561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b="1">
                <a:latin typeface="Tahoma" pitchFamily="34" charset="0"/>
              </a:rPr>
              <a:t>FSM control to implement jumps  has 1 state</a:t>
            </a:r>
          </a:p>
        </p:txBody>
      </p:sp>
    </p:spTree>
  </p:cSld>
  <p:clrMapOvr>
    <a:masterClrMapping/>
  </p:clrMapOvr>
  <p:transition/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074" name="Rectangle 1026"/>
          <p:cNvSpPr>
            <a:spLocks noGrp="1" noChangeArrowheads="1"/>
          </p:cNvSpPr>
          <p:nvPr>
            <p:ph type="title"/>
          </p:nvPr>
        </p:nvSpPr>
        <p:spPr>
          <a:xfrm>
            <a:off x="1066800" y="304800"/>
            <a:ext cx="7793038" cy="1143000"/>
          </a:xfrm>
        </p:spPr>
        <p:txBody>
          <a:bodyPr/>
          <a:lstStyle/>
          <a:p>
            <a:r>
              <a:rPr lang="en-US"/>
              <a:t>FSM Control: Complete View</a:t>
            </a:r>
            <a:br>
              <a:rPr lang="en-US"/>
            </a:br>
            <a:endParaRPr lang="en-US"/>
          </a:p>
        </p:txBody>
      </p:sp>
      <p:pic>
        <p:nvPicPr>
          <p:cNvPr id="515081" name="Picture 1033" descr="F054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1600" y="762000"/>
            <a:ext cx="5634038" cy="5830888"/>
          </a:xfrm>
          <a:prstGeom prst="rect">
            <a:avLst/>
          </a:prstGeom>
          <a:noFill/>
        </p:spPr>
      </p:pic>
      <p:sp>
        <p:nvSpPr>
          <p:cNvPr id="515082" name="Text Box 1034"/>
          <p:cNvSpPr txBox="1">
            <a:spLocks noChangeArrowheads="1"/>
          </p:cNvSpPr>
          <p:nvPr/>
        </p:nvSpPr>
        <p:spPr bwMode="auto">
          <a:xfrm>
            <a:off x="2574925" y="6151563"/>
            <a:ext cx="6348413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b="1">
                <a:latin typeface="Tahoma" pitchFamily="34" charset="0"/>
              </a:rPr>
              <a:t>The complete FSM control for the multicycle MIPS datapath:</a:t>
            </a:r>
          </a:p>
          <a:p>
            <a:r>
              <a:rPr lang="en-US" sz="1600" b="1">
                <a:latin typeface="Tahoma" pitchFamily="34" charset="0"/>
              </a:rPr>
              <a:t>refer Multicycle Datapath with Control II</a:t>
            </a:r>
          </a:p>
        </p:txBody>
      </p:sp>
      <p:sp>
        <p:nvSpPr>
          <p:cNvPr id="515083" name="Text Box 1035"/>
          <p:cNvSpPr txBox="1">
            <a:spLocks noChangeArrowheads="1"/>
          </p:cNvSpPr>
          <p:nvPr/>
        </p:nvSpPr>
        <p:spPr bwMode="auto">
          <a:xfrm>
            <a:off x="5307013" y="4343400"/>
            <a:ext cx="3151187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b="1" dirty="0">
                <a:solidFill>
                  <a:schemeClr val="hlink"/>
                </a:solidFill>
                <a:latin typeface="Tahoma" pitchFamily="34" charset="0"/>
              </a:rPr>
              <a:t>Labels on arcs are conditions</a:t>
            </a:r>
          </a:p>
          <a:p>
            <a:r>
              <a:rPr lang="en-US" sz="1600" b="1" dirty="0">
                <a:solidFill>
                  <a:schemeClr val="hlink"/>
                </a:solidFill>
                <a:latin typeface="Tahoma" pitchFamily="34" charset="0"/>
              </a:rPr>
              <a:t>that determine next state</a:t>
            </a:r>
          </a:p>
        </p:txBody>
      </p:sp>
      <p:sp>
        <p:nvSpPr>
          <p:cNvPr id="515084" name="Text Box 1036"/>
          <p:cNvSpPr txBox="1">
            <a:spLocks noChangeArrowheads="1"/>
          </p:cNvSpPr>
          <p:nvPr/>
        </p:nvSpPr>
        <p:spPr bwMode="auto">
          <a:xfrm>
            <a:off x="3048000" y="1066800"/>
            <a:ext cx="4095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IF</a:t>
            </a:r>
          </a:p>
        </p:txBody>
      </p:sp>
      <p:sp>
        <p:nvSpPr>
          <p:cNvPr id="515085" name="Text Box 1037"/>
          <p:cNvSpPr txBox="1">
            <a:spLocks noChangeArrowheads="1"/>
          </p:cNvSpPr>
          <p:nvPr/>
        </p:nvSpPr>
        <p:spPr bwMode="auto">
          <a:xfrm>
            <a:off x="5257800" y="1066800"/>
            <a:ext cx="4524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ID</a:t>
            </a:r>
          </a:p>
        </p:txBody>
      </p:sp>
      <p:sp>
        <p:nvSpPr>
          <p:cNvPr id="515086" name="Text Box 1038"/>
          <p:cNvSpPr txBox="1">
            <a:spLocks noChangeArrowheads="1"/>
          </p:cNvSpPr>
          <p:nvPr/>
        </p:nvSpPr>
        <p:spPr bwMode="auto">
          <a:xfrm>
            <a:off x="609600" y="2879725"/>
            <a:ext cx="5238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EX</a:t>
            </a:r>
          </a:p>
        </p:txBody>
      </p:sp>
      <p:sp>
        <p:nvSpPr>
          <p:cNvPr id="515087" name="Text Box 1039"/>
          <p:cNvSpPr txBox="1">
            <a:spLocks noChangeArrowheads="1"/>
          </p:cNvSpPr>
          <p:nvPr/>
        </p:nvSpPr>
        <p:spPr bwMode="auto">
          <a:xfrm>
            <a:off x="365125" y="4479925"/>
            <a:ext cx="7905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MEM</a:t>
            </a:r>
          </a:p>
        </p:txBody>
      </p:sp>
      <p:sp>
        <p:nvSpPr>
          <p:cNvPr id="515088" name="Text Box 1040"/>
          <p:cNvSpPr txBox="1">
            <a:spLocks noChangeArrowheads="1"/>
          </p:cNvSpPr>
          <p:nvPr/>
        </p:nvSpPr>
        <p:spPr bwMode="auto">
          <a:xfrm>
            <a:off x="549275" y="5775325"/>
            <a:ext cx="5937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WB</a:t>
            </a: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15986</TotalTime>
  <Words>4094</Words>
  <Application>Microsoft Office PowerPoint</Application>
  <PresentationFormat>On-screen Show (4:3)</PresentationFormat>
  <Paragraphs>1169</Paragraphs>
  <Slides>92</Slides>
  <Notes>19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94" baseType="lpstr">
      <vt:lpstr>Office Theme</vt:lpstr>
      <vt:lpstr>Worksheet</vt:lpstr>
      <vt:lpstr>Slide 1</vt:lpstr>
      <vt:lpstr>Implementing MIPS</vt:lpstr>
      <vt:lpstr>Implementing MIPS</vt:lpstr>
      <vt:lpstr>Processor Implementation Styles</vt:lpstr>
      <vt:lpstr>Functional Elements</vt:lpstr>
      <vt:lpstr>Combinational Elements</vt:lpstr>
      <vt:lpstr>Synchronous Logic</vt:lpstr>
      <vt:lpstr>Single-cycle Data-Path</vt:lpstr>
      <vt:lpstr>Data-path:</vt:lpstr>
      <vt:lpstr>Animating the Datapath</vt:lpstr>
      <vt:lpstr>Datapath: R-Type Instruction</vt:lpstr>
      <vt:lpstr>Animating the Datapath</vt:lpstr>
      <vt:lpstr>Data-path: Load/Store Instruction</vt:lpstr>
      <vt:lpstr>Animating the Data-path</vt:lpstr>
      <vt:lpstr>Animating the Data-path</vt:lpstr>
      <vt:lpstr>Data-path: Branch Instruction</vt:lpstr>
      <vt:lpstr>Animating the Data-path</vt:lpstr>
      <vt:lpstr>MIPS Datapath I: Single-Cycle</vt:lpstr>
      <vt:lpstr>Animating the Data-path: R-type Instruction</vt:lpstr>
      <vt:lpstr>Animating the Data-path: Load Instruction</vt:lpstr>
      <vt:lpstr>Animating the Data-path: Store Instruction</vt:lpstr>
      <vt:lpstr>MIPS Data-path II: Single-Cycle</vt:lpstr>
      <vt:lpstr>MIPS Datapath III: Single-Cycle</vt:lpstr>
      <vt:lpstr>Datapath Executing add</vt:lpstr>
      <vt:lpstr>Datapath Executing lw</vt:lpstr>
      <vt:lpstr>Datapath Executing sw</vt:lpstr>
      <vt:lpstr>Datapath Executing beq</vt:lpstr>
      <vt:lpstr>Control</vt:lpstr>
      <vt:lpstr>ALU Control</vt:lpstr>
      <vt:lpstr>Setting ALU Control Bits</vt:lpstr>
      <vt:lpstr>Truth Table: ALU Control bits</vt:lpstr>
      <vt:lpstr>Designing the Main Control</vt:lpstr>
      <vt:lpstr>Data-path with Control I</vt:lpstr>
      <vt:lpstr>Control Signals</vt:lpstr>
      <vt:lpstr> Datapath with Control II </vt:lpstr>
      <vt:lpstr>Datapath with Control II (cont.) </vt:lpstr>
      <vt:lpstr>Control Signals: R-Type Instruction</vt:lpstr>
      <vt:lpstr>Control Signals: lw Instruction</vt:lpstr>
      <vt:lpstr>Control Signals: sw Instruction</vt:lpstr>
      <vt:lpstr>Control Signals: beq Instruction</vt:lpstr>
      <vt:lpstr>Data-path with Control III </vt:lpstr>
      <vt:lpstr>Datapath Executing j</vt:lpstr>
      <vt:lpstr>Single-cycle Implementation Notes</vt:lpstr>
      <vt:lpstr>Implementation: ALU Control Block </vt:lpstr>
      <vt:lpstr>Implementation: Main Control Block</vt:lpstr>
      <vt:lpstr> Single-Cycle Design Problems </vt:lpstr>
      <vt:lpstr> Fixing the problem with single-cycle designs  </vt:lpstr>
      <vt:lpstr>Multi-cycle Approach</vt:lpstr>
      <vt:lpstr>Single Vs Multi Cycle</vt:lpstr>
      <vt:lpstr>Multi-cycle Data-path</vt:lpstr>
      <vt:lpstr>Breaking instructions into steps</vt:lpstr>
      <vt:lpstr>Breaking instructions into steps</vt:lpstr>
      <vt:lpstr>Step 1:</vt:lpstr>
      <vt:lpstr>Step 2:</vt:lpstr>
      <vt:lpstr>Step 3:</vt:lpstr>
      <vt:lpstr>Step 4:</vt:lpstr>
      <vt:lpstr>Step 5:</vt:lpstr>
      <vt:lpstr>Instruction Execution: Summary</vt:lpstr>
      <vt:lpstr>Multi=cycle Execution Step (1): Instruction Fetch</vt:lpstr>
      <vt:lpstr>Step (2): Instruction Decode &amp; Register Fetch</vt:lpstr>
      <vt:lpstr>Step (3): Memory Reference Instructions</vt:lpstr>
      <vt:lpstr>Step (3): ALU Instruction (R-Type)</vt:lpstr>
      <vt:lpstr>Step (3): Branch Instructions</vt:lpstr>
      <vt:lpstr>Step (3): Jump Instruction</vt:lpstr>
      <vt:lpstr>Step (4): Memory Access - Read (lw)</vt:lpstr>
      <vt:lpstr>Step (4): Memory Access - Write (sw)</vt:lpstr>
      <vt:lpstr>Step (4): ALU Instruction (R-Type)</vt:lpstr>
      <vt:lpstr>Step (5): Memory Read Completion (lw)</vt:lpstr>
      <vt:lpstr>Multi-cycle Data-path with Control 1</vt:lpstr>
      <vt:lpstr>Multi-cycle Data-path with Control 2</vt:lpstr>
      <vt:lpstr>1-bit Control Signals</vt:lpstr>
      <vt:lpstr>2-bit Control Signals</vt:lpstr>
      <vt:lpstr>Multi-cycle Control Step (1): Fetch</vt:lpstr>
      <vt:lpstr>Control Step (2): Instruction Decode &amp; Register Fetch</vt:lpstr>
      <vt:lpstr>Control Step (3): Memory Reference Instructions</vt:lpstr>
      <vt:lpstr>Control Step (3): ALU Instruction (R-Type)</vt:lpstr>
      <vt:lpstr>Control Step (3): Branch Instructions</vt:lpstr>
      <vt:lpstr>Multi-cycle Execution Step (3): Jump </vt:lpstr>
      <vt:lpstr>Control Step (4): Memory Access - Read (lw)</vt:lpstr>
      <vt:lpstr>Execution Steps (4) Memory Access - Write (sw)</vt:lpstr>
      <vt:lpstr>Control Step (4): ALU Instruction (R-Type)</vt:lpstr>
      <vt:lpstr>Execution Steps (5) Memory Read Completion (lw)</vt:lpstr>
      <vt:lpstr>Simple Questions</vt:lpstr>
      <vt:lpstr>Implementing Control</vt:lpstr>
      <vt:lpstr>Review: Finite State Machines</vt:lpstr>
      <vt:lpstr>Example: Moore Machine</vt:lpstr>
      <vt:lpstr>FSM Control: High-level View </vt:lpstr>
      <vt:lpstr>FSM Control: Memory Reference </vt:lpstr>
      <vt:lpstr>FSM Control: R-type Instruction </vt:lpstr>
      <vt:lpstr> FSM Control: Branch Instruction </vt:lpstr>
      <vt:lpstr>FSM Control: Jump Instruction</vt:lpstr>
      <vt:lpstr>FSM Control: Complete View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Content Based Publish Subscribe over 2-Tier DHT Utilizing Domain Ontology</dc:title>
  <dc:creator>MNNIT</dc:creator>
  <cp:lastModifiedBy>Dr. Mayank Pandey</cp:lastModifiedBy>
  <cp:revision>1073</cp:revision>
  <dcterms:created xsi:type="dcterms:W3CDTF">2011-03-15T06:08:11Z</dcterms:created>
  <dcterms:modified xsi:type="dcterms:W3CDTF">2015-04-01T03:44:29Z</dcterms:modified>
</cp:coreProperties>
</file>